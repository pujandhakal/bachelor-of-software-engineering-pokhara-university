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F720B-3A30-83D2-7B3B-668E678642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947E9C-BE87-78C6-C027-BB49F2E71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AD266D-F240-2F1E-AED0-0DFA10DDB11B}"/>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DD3AC0FB-F0BF-1BAF-53F6-767536BD57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6295E7-9BAF-D81D-308A-99926A5CA8C5}"/>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3777009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811C4-4625-0D2A-6660-2B2EFC2A9B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21CAF3-8529-2436-82B4-C07E657FED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871996-8983-B869-9839-77CFB62203A1}"/>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509E5AA4-A5A3-B7E2-58F4-927B41E376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123003-EC7D-A419-F61A-2A5BCDEAA4A5}"/>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631374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8309-BDB1-0F5A-AD1B-C97408887D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BBF0EA-D8D6-428D-204D-7BC1B9752D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A0121D-F5FA-F145-FC6D-B433BBB2E72D}"/>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7C5FB5AF-C7F9-09B3-F43A-DEDEDD9DF0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635F9C-A401-594B-EEE9-E60FA8D94F98}"/>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3116810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52D0-7B3A-CD76-A8E8-B5659C6900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C5F52B-1567-C045-AA04-1CAA46943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C1DE98-D7CD-4EC7-A738-DB22809818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2875ED-7711-D5A5-7E30-EB6D8BA5D65E}"/>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6" name="Footer Placeholder 5">
            <a:extLst>
              <a:ext uri="{FF2B5EF4-FFF2-40B4-BE49-F238E27FC236}">
                <a16:creationId xmlns:a16="http://schemas.microsoft.com/office/drawing/2014/main" id="{C9294C54-1A98-4CE5-35A2-363AA0C886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0A17BC-0D4D-E550-9B61-FF1CACD39B97}"/>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4110195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B2A51-C02A-042A-1929-46057679D8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9F50F8-49AE-ABCF-A11B-F911FFB23A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E2B60C-8152-BB50-90CA-E2CB783A8D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6F4AB7-DECE-7DB2-032E-6E17255455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C0D763-D855-0D01-1F60-E0DA6B95E4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FB6210-A47A-6143-5D7D-87EFEF6377B1}"/>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8" name="Footer Placeholder 7">
            <a:extLst>
              <a:ext uri="{FF2B5EF4-FFF2-40B4-BE49-F238E27FC236}">
                <a16:creationId xmlns:a16="http://schemas.microsoft.com/office/drawing/2014/main" id="{DC42912D-9BAE-CD09-A659-68B0B0A0EF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913E60-7313-4CCA-54B8-609DFDBA0235}"/>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45662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01DA-1FE6-F545-1461-7761378955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D1CF34-B606-4FDE-0340-AE950B1DD366}"/>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4" name="Footer Placeholder 3">
            <a:extLst>
              <a:ext uri="{FF2B5EF4-FFF2-40B4-BE49-F238E27FC236}">
                <a16:creationId xmlns:a16="http://schemas.microsoft.com/office/drawing/2014/main" id="{30FFC131-1136-6AC0-7EBD-0257973FCB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68FEB5-B5E6-3490-5800-6B9BE6F46D2D}"/>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4293017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84CA0D-5107-2B29-763F-36F20EE484FA}"/>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3" name="Footer Placeholder 2">
            <a:extLst>
              <a:ext uri="{FF2B5EF4-FFF2-40B4-BE49-F238E27FC236}">
                <a16:creationId xmlns:a16="http://schemas.microsoft.com/office/drawing/2014/main" id="{552C117C-910F-DD99-B6D5-51774F60106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201CE1-A740-3E6E-43A4-2E1425F43E71}"/>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35670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FB5B7-163F-B69E-4EA9-25CF436E80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ECACB8-B305-C0C3-C2A3-79E7F6BE17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83D8D7-463E-DFF9-848A-A46742D92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6591BC-4CCE-3ECB-121F-3D4248A6F923}"/>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6" name="Footer Placeholder 5">
            <a:extLst>
              <a:ext uri="{FF2B5EF4-FFF2-40B4-BE49-F238E27FC236}">
                <a16:creationId xmlns:a16="http://schemas.microsoft.com/office/drawing/2014/main" id="{09AC5DB5-FCCF-E57F-667A-DF058F2250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B6A003-2F00-95E1-BFCD-8A5B5F193326}"/>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084300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6D23-99A5-7C57-4F9C-527948F913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29B43D-8BFE-6C48-8558-B680CD9A77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C1DB32-1DDD-95C2-FD88-38259456D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67B71-CEA8-F1FB-A96C-B17E83CB8C27}"/>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6" name="Footer Placeholder 5">
            <a:extLst>
              <a:ext uri="{FF2B5EF4-FFF2-40B4-BE49-F238E27FC236}">
                <a16:creationId xmlns:a16="http://schemas.microsoft.com/office/drawing/2014/main" id="{D53CCEA4-ECBF-B3BF-9B59-F524C9A806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F7A649-6EA5-1FC5-0002-DBF189B91DD2}"/>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148402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8B2BF-7D6D-C87F-E0FC-2B0BDF05F8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B04723-3192-D425-43FF-5EE9CF0828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8A126A-6E0F-7380-3368-C682DF890F3C}"/>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82709241-AA00-041E-A81F-583A3CE95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B5B974-0787-9E28-6302-5595FE83689A}"/>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605327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B60140-B707-B498-E31F-786611C846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A3EB92-AAB1-83B9-8D78-F0701214EB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F0BCC2-70C4-7F42-7D8D-3111E02F8D83}"/>
              </a:ext>
            </a:extLst>
          </p:cNvPr>
          <p:cNvSpPr>
            <a:spLocks noGrp="1"/>
          </p:cNvSpPr>
          <p:nvPr>
            <p:ph type="dt" sz="half" idx="10"/>
          </p:nvPr>
        </p:nvSpPr>
        <p:spPr/>
        <p:txBody>
          <a:body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A7C7C9AA-7783-FE34-2130-103B8BBE47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A25B10-064A-A1CE-3143-0C35C98515A3}"/>
              </a:ext>
            </a:extLst>
          </p:cNvPr>
          <p:cNvSpPr>
            <a:spLocks noGrp="1"/>
          </p:cNvSpPr>
          <p:nvPr>
            <p:ph type="sldNum" sz="quarter" idx="12"/>
          </p:nvPr>
        </p:nvSpPr>
        <p:spPr/>
        <p:txBody>
          <a:bodyPr/>
          <a:lstStyle/>
          <a:p>
            <a:fld id="{BAD40D63-2D9E-4BA8-B1D2-62B104520FC4}" type="slidenum">
              <a:rPr lang="en-IN" smtClean="0"/>
              <a:t>‹#›</a:t>
            </a:fld>
            <a:endParaRPr lang="en-IN"/>
          </a:p>
        </p:txBody>
      </p:sp>
    </p:spTree>
    <p:extLst>
      <p:ext uri="{BB962C8B-B14F-4D97-AF65-F5344CB8AC3E}">
        <p14:creationId xmlns:p14="http://schemas.microsoft.com/office/powerpoint/2010/main" val="26750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FAAE5-A298-C6D8-89E0-E68ED5B2AB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882D10-354F-EBF6-A33B-3B75813A17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8A98E9-CDE4-DA71-9DDF-ED061204F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A4AD0-727C-4EF0-8295-CC678A53DB47}" type="datetimeFigureOut">
              <a:rPr lang="en-IN" smtClean="0"/>
              <a:t>23-11-2024</a:t>
            </a:fld>
            <a:endParaRPr lang="en-IN"/>
          </a:p>
        </p:txBody>
      </p:sp>
      <p:sp>
        <p:nvSpPr>
          <p:cNvPr id="5" name="Footer Placeholder 4">
            <a:extLst>
              <a:ext uri="{FF2B5EF4-FFF2-40B4-BE49-F238E27FC236}">
                <a16:creationId xmlns:a16="http://schemas.microsoft.com/office/drawing/2014/main" id="{18277EBD-7F06-38FE-AEA6-E66DF1D611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0F8973-1D89-E009-B31E-D9923D91D1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D40D63-2D9E-4BA8-B1D2-62B104520FC4}" type="slidenum">
              <a:rPr lang="en-IN" smtClean="0"/>
              <a:t>‹#›</a:t>
            </a:fld>
            <a:endParaRPr lang="en-IN"/>
          </a:p>
        </p:txBody>
      </p:sp>
    </p:spTree>
    <p:extLst>
      <p:ext uri="{BB962C8B-B14F-4D97-AF65-F5344CB8AC3E}">
        <p14:creationId xmlns:p14="http://schemas.microsoft.com/office/powerpoint/2010/main" val="218529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56D991-1890-BB77-F7FB-D47ABC757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752" y="130058"/>
            <a:ext cx="8540496" cy="6597883"/>
          </a:xfrm>
          <a:prstGeom prst="rect">
            <a:avLst/>
          </a:prstGeom>
        </p:spPr>
      </p:pic>
    </p:spTree>
    <p:extLst>
      <p:ext uri="{BB962C8B-B14F-4D97-AF65-F5344CB8AC3E}">
        <p14:creationId xmlns:p14="http://schemas.microsoft.com/office/powerpoint/2010/main" val="677294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D7C1EA-F8A9-363A-FBEF-CE45763A51C4}"/>
              </a:ext>
            </a:extLst>
          </p:cNvPr>
          <p:cNvPicPr>
            <a:picLocks noChangeAspect="1"/>
          </p:cNvPicPr>
          <p:nvPr/>
        </p:nvPicPr>
        <p:blipFill>
          <a:blip r:embed="rId2"/>
          <a:stretch>
            <a:fillRect/>
          </a:stretch>
        </p:blipFill>
        <p:spPr>
          <a:xfrm>
            <a:off x="1618492" y="0"/>
            <a:ext cx="8955016" cy="6725437"/>
          </a:xfrm>
          <a:prstGeom prst="rect">
            <a:avLst/>
          </a:prstGeom>
        </p:spPr>
      </p:pic>
    </p:spTree>
    <p:extLst>
      <p:ext uri="{BB962C8B-B14F-4D97-AF65-F5344CB8AC3E}">
        <p14:creationId xmlns:p14="http://schemas.microsoft.com/office/powerpoint/2010/main" val="2888940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0461-E50F-FAF3-1E44-7B507E45C0BE}"/>
              </a:ext>
            </a:extLst>
          </p:cNvPr>
          <p:cNvSpPr>
            <a:spLocks noGrp="1"/>
          </p:cNvSpPr>
          <p:nvPr>
            <p:ph type="title"/>
          </p:nvPr>
        </p:nvSpPr>
        <p:spPr/>
        <p:txBody>
          <a:bodyPr/>
          <a:lstStyle/>
          <a:p>
            <a:pPr algn="ctr"/>
            <a:r>
              <a:rPr lang="en-IN" b="1" dirty="0"/>
              <a:t>Reflective Code</a:t>
            </a:r>
          </a:p>
        </p:txBody>
      </p:sp>
      <p:sp>
        <p:nvSpPr>
          <p:cNvPr id="3" name="Content Placeholder 2">
            <a:extLst>
              <a:ext uri="{FF2B5EF4-FFF2-40B4-BE49-F238E27FC236}">
                <a16:creationId xmlns:a16="http://schemas.microsoft.com/office/drawing/2014/main" id="{4CE637B8-8BA5-79DB-600F-7A3AF727385D}"/>
              </a:ext>
            </a:extLst>
          </p:cNvPr>
          <p:cNvSpPr>
            <a:spLocks noGrp="1"/>
          </p:cNvSpPr>
          <p:nvPr>
            <p:ph idx="1"/>
          </p:nvPr>
        </p:nvSpPr>
        <p:spPr/>
        <p:txBody>
          <a:bodyPr/>
          <a:lstStyle/>
          <a:p>
            <a:r>
              <a:rPr lang="en-US" dirty="0"/>
              <a:t>A code is said to be reflective when code for 9 is complement for the code for 0, and so is for 8 and 1 codes, 7 and 2, 6 and 3, 5 and 4. Codes 2421, 5211, and excess-3 are reflective, whereas the 8421 code is not. </a:t>
            </a:r>
            <a:endParaRPr lang="en-IN" dirty="0"/>
          </a:p>
        </p:txBody>
      </p:sp>
    </p:spTree>
    <p:extLst>
      <p:ext uri="{BB962C8B-B14F-4D97-AF65-F5344CB8AC3E}">
        <p14:creationId xmlns:p14="http://schemas.microsoft.com/office/powerpoint/2010/main" val="635202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0461-E50F-FAF3-1E44-7B507E45C0BE}"/>
              </a:ext>
            </a:extLst>
          </p:cNvPr>
          <p:cNvSpPr>
            <a:spLocks noGrp="1"/>
          </p:cNvSpPr>
          <p:nvPr>
            <p:ph type="title"/>
          </p:nvPr>
        </p:nvSpPr>
        <p:spPr/>
        <p:txBody>
          <a:bodyPr/>
          <a:lstStyle/>
          <a:p>
            <a:pPr algn="ctr"/>
            <a:r>
              <a:rPr lang="en-IN" b="1" dirty="0"/>
              <a:t> Sequential Codes </a:t>
            </a:r>
          </a:p>
        </p:txBody>
      </p:sp>
      <p:sp>
        <p:nvSpPr>
          <p:cNvPr id="3" name="Content Placeholder 2">
            <a:extLst>
              <a:ext uri="{FF2B5EF4-FFF2-40B4-BE49-F238E27FC236}">
                <a16:creationId xmlns:a16="http://schemas.microsoft.com/office/drawing/2014/main" id="{4CE637B8-8BA5-79DB-600F-7A3AF727385D}"/>
              </a:ext>
            </a:extLst>
          </p:cNvPr>
          <p:cNvSpPr>
            <a:spLocks noGrp="1"/>
          </p:cNvSpPr>
          <p:nvPr>
            <p:ph idx="1"/>
          </p:nvPr>
        </p:nvSpPr>
        <p:spPr/>
        <p:txBody>
          <a:bodyPr/>
          <a:lstStyle/>
          <a:p>
            <a:r>
              <a:rPr lang="en-US" dirty="0"/>
              <a:t>A code is said to be sequential when two subsequent codes, seen as numbers in binary representation, differ by one. This greatly aids mathematical manipulation of data. The 8421 and Excess-3 codes are sequential, whereas the 2421 and 5211 codes are not.</a:t>
            </a:r>
            <a:endParaRPr lang="en-IN" dirty="0"/>
          </a:p>
        </p:txBody>
      </p:sp>
    </p:spTree>
    <p:extLst>
      <p:ext uri="{BB962C8B-B14F-4D97-AF65-F5344CB8AC3E}">
        <p14:creationId xmlns:p14="http://schemas.microsoft.com/office/powerpoint/2010/main" val="3616763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9C45DE-CDE9-9F1A-9179-93C945232A3F}"/>
              </a:ext>
            </a:extLst>
          </p:cNvPr>
          <p:cNvSpPr txBox="1"/>
          <p:nvPr/>
        </p:nvSpPr>
        <p:spPr>
          <a:xfrm>
            <a:off x="310896" y="192024"/>
            <a:ext cx="11640312" cy="4770537"/>
          </a:xfrm>
          <a:prstGeom prst="rect">
            <a:avLst/>
          </a:prstGeom>
          <a:noFill/>
        </p:spPr>
        <p:txBody>
          <a:bodyPr wrap="square" rtlCol="0">
            <a:spAutoFit/>
          </a:bodyPr>
          <a:lstStyle/>
          <a:p>
            <a:r>
              <a:rPr lang="en-US" sz="3200" b="1" dirty="0"/>
              <a:t>Non weighted codes</a:t>
            </a:r>
          </a:p>
          <a:p>
            <a:r>
              <a:rPr lang="en-US" dirty="0"/>
              <a:t> </a:t>
            </a:r>
          </a:p>
          <a:p>
            <a:r>
              <a:rPr lang="en-US" sz="2800" dirty="0"/>
              <a:t>Non weighted codes are codes that are not positionally weighted. That is, each position within the binary number is not assigned a fixed value. Ex: Excess-3 code </a:t>
            </a:r>
            <a:endParaRPr lang="en-US" dirty="0"/>
          </a:p>
          <a:p>
            <a:endParaRPr lang="en-US" dirty="0"/>
          </a:p>
          <a:p>
            <a:endParaRPr lang="en-US" dirty="0"/>
          </a:p>
          <a:p>
            <a:r>
              <a:rPr lang="en-US" sz="3200" b="1" dirty="0"/>
              <a:t>Excess-3 Code</a:t>
            </a:r>
          </a:p>
          <a:p>
            <a:endParaRPr lang="en-US" dirty="0"/>
          </a:p>
          <a:p>
            <a:r>
              <a:rPr lang="en-US" dirty="0"/>
              <a:t> </a:t>
            </a:r>
            <a:r>
              <a:rPr lang="en-US" sz="2800" dirty="0"/>
              <a:t>Excess-3 is a non weighted code used to express decimal numbers. The code derives its name from the fact that each binary code is the corresponding 8421 code plus 0011(3).</a:t>
            </a:r>
            <a:endParaRPr lang="en-IN" sz="2800" dirty="0"/>
          </a:p>
        </p:txBody>
      </p:sp>
    </p:spTree>
    <p:extLst>
      <p:ext uri="{BB962C8B-B14F-4D97-AF65-F5344CB8AC3E}">
        <p14:creationId xmlns:p14="http://schemas.microsoft.com/office/powerpoint/2010/main" val="3795797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9C45DE-CDE9-9F1A-9179-93C945232A3F}"/>
              </a:ext>
            </a:extLst>
          </p:cNvPr>
          <p:cNvSpPr txBox="1"/>
          <p:nvPr/>
        </p:nvSpPr>
        <p:spPr>
          <a:xfrm>
            <a:off x="310896" y="192024"/>
            <a:ext cx="11640312" cy="3108543"/>
          </a:xfrm>
          <a:prstGeom prst="rect">
            <a:avLst/>
          </a:prstGeom>
          <a:noFill/>
        </p:spPr>
        <p:txBody>
          <a:bodyPr wrap="square" rtlCol="0">
            <a:spAutoFit/>
          </a:bodyPr>
          <a:lstStyle/>
          <a:p>
            <a:r>
              <a:rPr lang="en-US" sz="3600" b="1" dirty="0"/>
              <a:t>Complements:</a:t>
            </a:r>
          </a:p>
          <a:p>
            <a:r>
              <a:rPr lang="en-US" sz="3200" dirty="0"/>
              <a:t> In digital computers to simplify the subtraction operation &amp; for logical manipulation complements are used. There are two types of complements used in each radix system.</a:t>
            </a:r>
          </a:p>
          <a:p>
            <a:r>
              <a:rPr lang="en-US" sz="3200" dirty="0"/>
              <a:t> </a:t>
            </a:r>
            <a:r>
              <a:rPr lang="en-US" sz="3200" dirty="0" err="1"/>
              <a:t>i</a:t>
            </a:r>
            <a:r>
              <a:rPr lang="en-US" sz="3200" dirty="0"/>
              <a:t>) The radix complement or r’s complement </a:t>
            </a:r>
          </a:p>
          <a:p>
            <a:r>
              <a:rPr lang="en-US" sz="3200" dirty="0"/>
              <a:t>ii) The diminished radix complement or (r-1)’s complement</a:t>
            </a:r>
            <a:endParaRPr lang="en-IN" sz="2800" dirty="0"/>
          </a:p>
        </p:txBody>
      </p:sp>
    </p:spTree>
    <p:extLst>
      <p:ext uri="{BB962C8B-B14F-4D97-AF65-F5344CB8AC3E}">
        <p14:creationId xmlns:p14="http://schemas.microsoft.com/office/powerpoint/2010/main" val="3925338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9C45DE-CDE9-9F1A-9179-93C945232A3F}"/>
              </a:ext>
            </a:extLst>
          </p:cNvPr>
          <p:cNvSpPr txBox="1"/>
          <p:nvPr/>
        </p:nvSpPr>
        <p:spPr>
          <a:xfrm>
            <a:off x="310896" y="192024"/>
            <a:ext cx="11640312" cy="6186309"/>
          </a:xfrm>
          <a:prstGeom prst="rect">
            <a:avLst/>
          </a:prstGeom>
          <a:noFill/>
        </p:spPr>
        <p:txBody>
          <a:bodyPr wrap="square" rtlCol="0">
            <a:spAutoFit/>
          </a:bodyPr>
          <a:lstStyle/>
          <a:p>
            <a:r>
              <a:rPr lang="en-US" sz="3600" dirty="0"/>
              <a:t>Representation of signed </a:t>
            </a:r>
            <a:r>
              <a:rPr lang="en-US" sz="3600" dirty="0" err="1"/>
              <a:t>no.s</a:t>
            </a:r>
            <a:r>
              <a:rPr lang="en-US" sz="3600" dirty="0"/>
              <a:t> binary arithmetic in computers: • Two ways of rep signed </a:t>
            </a:r>
            <a:r>
              <a:rPr lang="en-US" sz="3600" dirty="0" err="1"/>
              <a:t>no.s</a:t>
            </a:r>
            <a:r>
              <a:rPr lang="en-US" sz="3600" dirty="0"/>
              <a:t> </a:t>
            </a:r>
          </a:p>
          <a:p>
            <a:pPr marL="742950" indent="-742950">
              <a:buAutoNum type="arabicPeriod"/>
            </a:pPr>
            <a:r>
              <a:rPr lang="en-US" sz="3600" dirty="0"/>
              <a:t>Sign Magnitude form </a:t>
            </a:r>
          </a:p>
          <a:p>
            <a:pPr marL="742950" indent="-742950">
              <a:buAutoNum type="arabicPeriod"/>
            </a:pPr>
            <a:r>
              <a:rPr lang="en-US" sz="3600" dirty="0"/>
              <a:t>2. Complemented form </a:t>
            </a:r>
          </a:p>
          <a:p>
            <a:r>
              <a:rPr lang="en-US" sz="3600" dirty="0"/>
              <a:t>• Two complimented forms </a:t>
            </a:r>
          </a:p>
          <a:p>
            <a:pPr marL="742950" indent="-742950">
              <a:buAutoNum type="arabicPeriod"/>
            </a:pPr>
            <a:r>
              <a:rPr lang="en-US" sz="3600" dirty="0"/>
              <a:t>1‘s compliment form </a:t>
            </a:r>
          </a:p>
          <a:p>
            <a:pPr marL="742950" indent="-742950">
              <a:buAutoNum type="arabicPeriod"/>
            </a:pPr>
            <a:r>
              <a:rPr lang="en-US" sz="3600" dirty="0"/>
              <a:t>2. 2‘s compliment form </a:t>
            </a:r>
          </a:p>
          <a:p>
            <a:r>
              <a:rPr lang="en-US" sz="3600" dirty="0"/>
              <a:t>Advantage of performing subtraction by the compliment method is reduction in the hardware.( instead of addition &amp; subtraction only adding circuit‘s are needed.) </a:t>
            </a:r>
            <a:r>
              <a:rPr lang="en-US" sz="3600" dirty="0" err="1"/>
              <a:t>i</a:t>
            </a:r>
            <a:r>
              <a:rPr lang="en-US" sz="3600" dirty="0"/>
              <a:t>. e, subtraction is also performed by adders only. </a:t>
            </a:r>
            <a:endParaRPr lang="en-IN" sz="2800" dirty="0"/>
          </a:p>
        </p:txBody>
      </p:sp>
    </p:spTree>
    <p:extLst>
      <p:ext uri="{BB962C8B-B14F-4D97-AF65-F5344CB8AC3E}">
        <p14:creationId xmlns:p14="http://schemas.microsoft.com/office/powerpoint/2010/main" val="2381484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BEF9C-AD67-3DAE-2931-BAA22BB3AD2B}"/>
              </a:ext>
            </a:extLst>
          </p:cNvPr>
          <p:cNvSpPr>
            <a:spLocks noGrp="1"/>
          </p:cNvSpPr>
          <p:nvPr>
            <p:ph type="title"/>
          </p:nvPr>
        </p:nvSpPr>
        <p:spPr>
          <a:xfrm>
            <a:off x="356616" y="192024"/>
            <a:ext cx="10997184" cy="1792223"/>
          </a:xfrm>
        </p:spPr>
        <p:txBody>
          <a:bodyPr>
            <a:noAutofit/>
          </a:bodyPr>
          <a:lstStyle/>
          <a:p>
            <a:pPr algn="just"/>
            <a:r>
              <a:rPr lang="en-US" sz="2800" dirty="0"/>
              <a:t>Instead of subtracting one no. from other the compliment of the subtrahend is added to minuend. In sign magnitude form, an additional bit called the sign bit is placed in front of the no. If the sign bit is 0, the no. is +</a:t>
            </a:r>
            <a:r>
              <a:rPr lang="en-US" sz="2800" dirty="0" err="1"/>
              <a:t>ve</a:t>
            </a:r>
            <a:r>
              <a:rPr lang="en-US" sz="2800" dirty="0"/>
              <a:t>, If it is a 1, the no is _</a:t>
            </a:r>
            <a:r>
              <a:rPr lang="en-US" sz="2800" dirty="0" err="1"/>
              <a:t>ve</a:t>
            </a:r>
            <a:r>
              <a:rPr lang="en-US" sz="2800" dirty="0"/>
              <a:t>. </a:t>
            </a:r>
            <a:endParaRPr lang="en-IN" sz="2800" dirty="0"/>
          </a:p>
        </p:txBody>
      </p:sp>
      <p:pic>
        <p:nvPicPr>
          <p:cNvPr id="5" name="Content Placeholder 4">
            <a:extLst>
              <a:ext uri="{FF2B5EF4-FFF2-40B4-BE49-F238E27FC236}">
                <a16:creationId xmlns:a16="http://schemas.microsoft.com/office/drawing/2014/main" id="{02003AF3-2E70-4096-7EF5-D8ED5A6F24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4520" y="2275688"/>
            <a:ext cx="8548068" cy="3494176"/>
          </a:xfrm>
        </p:spPr>
      </p:pic>
    </p:spTree>
    <p:extLst>
      <p:ext uri="{BB962C8B-B14F-4D97-AF65-F5344CB8AC3E}">
        <p14:creationId xmlns:p14="http://schemas.microsoft.com/office/powerpoint/2010/main" val="234569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0AE80-45ED-0FE0-D4D0-5B34B965CAA0}"/>
              </a:ext>
            </a:extLst>
          </p:cNvPr>
          <p:cNvSpPr>
            <a:spLocks noGrp="1"/>
          </p:cNvSpPr>
          <p:nvPr>
            <p:ph type="title"/>
          </p:nvPr>
        </p:nvSpPr>
        <p:spPr/>
        <p:txBody>
          <a:bodyPr/>
          <a:lstStyle/>
          <a:p>
            <a:r>
              <a:rPr lang="en-IN" b="1" dirty="0"/>
              <a:t>1’s  Complement Arithmetic</a:t>
            </a:r>
          </a:p>
        </p:txBody>
      </p:sp>
      <p:sp>
        <p:nvSpPr>
          <p:cNvPr id="3" name="Content Placeholder 2">
            <a:extLst>
              <a:ext uri="{FF2B5EF4-FFF2-40B4-BE49-F238E27FC236}">
                <a16:creationId xmlns:a16="http://schemas.microsoft.com/office/drawing/2014/main" id="{FBCCDB56-58E2-4BC0-E296-2DE5FE0A4BAD}"/>
              </a:ext>
            </a:extLst>
          </p:cNvPr>
          <p:cNvSpPr>
            <a:spLocks noGrp="1"/>
          </p:cNvSpPr>
          <p:nvPr>
            <p:ph idx="1"/>
          </p:nvPr>
        </p:nvSpPr>
        <p:spPr/>
        <p:txBody>
          <a:bodyPr/>
          <a:lstStyle/>
          <a:p>
            <a:pPr marL="0" indent="0">
              <a:buNone/>
            </a:pPr>
            <a:r>
              <a:rPr lang="en-IN" dirty="0"/>
              <a:t>Steps:</a:t>
            </a:r>
          </a:p>
          <a:p>
            <a:pPr>
              <a:buFont typeface="Wingdings" panose="05000000000000000000" pitchFamily="2" charset="2"/>
              <a:buChar char="§"/>
            </a:pPr>
            <a:r>
              <a:rPr lang="en-IN" dirty="0"/>
              <a:t>Convert the given numbers in 1’s complement form.</a:t>
            </a:r>
          </a:p>
          <a:p>
            <a:pPr>
              <a:buFont typeface="Wingdings" panose="05000000000000000000" pitchFamily="2" charset="2"/>
              <a:buChar char="§"/>
            </a:pPr>
            <a:r>
              <a:rPr lang="en-IN" dirty="0"/>
              <a:t>ADD them.</a:t>
            </a:r>
          </a:p>
          <a:p>
            <a:pPr marL="361950" indent="85725">
              <a:buFont typeface="Wingdings" panose="05000000000000000000" pitchFamily="2" charset="2"/>
              <a:buChar char="Ø"/>
            </a:pPr>
            <a:r>
              <a:rPr lang="en-IN" dirty="0"/>
              <a:t>     Carry: Add to the result (at the end)</a:t>
            </a:r>
          </a:p>
          <a:p>
            <a:pPr marL="361950" indent="85725">
              <a:buFont typeface="Wingdings" panose="05000000000000000000" pitchFamily="2" charset="2"/>
              <a:buChar char="Ø"/>
            </a:pPr>
            <a:r>
              <a:rPr lang="en-IN" dirty="0"/>
              <a:t>     No carry.</a:t>
            </a:r>
          </a:p>
          <a:p>
            <a:pPr marL="542925" indent="-457200">
              <a:buFont typeface="Wingdings" panose="05000000000000000000" pitchFamily="2" charset="2"/>
              <a:buChar char="§"/>
            </a:pPr>
            <a:r>
              <a:rPr lang="en-IN" dirty="0"/>
              <a:t>MSB , If  0 …check result is +</a:t>
            </a:r>
            <a:r>
              <a:rPr lang="en-IN" dirty="0" err="1"/>
              <a:t>ve</a:t>
            </a:r>
            <a:r>
              <a:rPr lang="en-IN" dirty="0"/>
              <a:t> ….pure binary form</a:t>
            </a:r>
          </a:p>
          <a:p>
            <a:pPr marL="85725" indent="0">
              <a:buNone/>
            </a:pPr>
            <a:r>
              <a:rPr lang="en-IN" dirty="0"/>
              <a:t>   If 1, result is negative</a:t>
            </a:r>
          </a:p>
          <a:p>
            <a:pPr marL="85725" indent="0">
              <a:buNone/>
            </a:pPr>
            <a:r>
              <a:rPr lang="en-IN" dirty="0"/>
              <a:t>   Result is 1’s complement </a:t>
            </a:r>
          </a:p>
          <a:p>
            <a:pPr marL="895350" indent="-266700">
              <a:buFont typeface="Wingdings" panose="05000000000000000000" pitchFamily="2" charset="2"/>
              <a:buChar char="Ø"/>
            </a:pPr>
            <a:endParaRPr lang="en-IN" dirty="0"/>
          </a:p>
        </p:txBody>
      </p:sp>
    </p:spTree>
    <p:extLst>
      <p:ext uri="{BB962C8B-B14F-4D97-AF65-F5344CB8AC3E}">
        <p14:creationId xmlns:p14="http://schemas.microsoft.com/office/powerpoint/2010/main" val="2455989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0AE80-45ED-0FE0-D4D0-5B34B965CAA0}"/>
              </a:ext>
            </a:extLst>
          </p:cNvPr>
          <p:cNvSpPr>
            <a:spLocks noGrp="1"/>
          </p:cNvSpPr>
          <p:nvPr>
            <p:ph type="title"/>
          </p:nvPr>
        </p:nvSpPr>
        <p:spPr/>
        <p:txBody>
          <a:bodyPr/>
          <a:lstStyle/>
          <a:p>
            <a:r>
              <a:rPr lang="en-IN" b="1" dirty="0"/>
              <a:t>2’s  Complement Arithmetic</a:t>
            </a:r>
          </a:p>
        </p:txBody>
      </p:sp>
      <p:sp>
        <p:nvSpPr>
          <p:cNvPr id="3" name="Content Placeholder 2">
            <a:extLst>
              <a:ext uri="{FF2B5EF4-FFF2-40B4-BE49-F238E27FC236}">
                <a16:creationId xmlns:a16="http://schemas.microsoft.com/office/drawing/2014/main" id="{FBCCDB56-58E2-4BC0-E296-2DE5FE0A4BAD}"/>
              </a:ext>
            </a:extLst>
          </p:cNvPr>
          <p:cNvSpPr>
            <a:spLocks noGrp="1"/>
          </p:cNvSpPr>
          <p:nvPr>
            <p:ph idx="1"/>
          </p:nvPr>
        </p:nvSpPr>
        <p:spPr/>
        <p:txBody>
          <a:bodyPr/>
          <a:lstStyle/>
          <a:p>
            <a:pPr marL="0" indent="0">
              <a:buNone/>
            </a:pPr>
            <a:r>
              <a:rPr lang="en-IN" dirty="0"/>
              <a:t>Steps:</a:t>
            </a:r>
          </a:p>
          <a:p>
            <a:pPr>
              <a:buFont typeface="Wingdings" panose="05000000000000000000" pitchFamily="2" charset="2"/>
              <a:buChar char="§"/>
            </a:pPr>
            <a:r>
              <a:rPr lang="en-IN" dirty="0"/>
              <a:t>Convert the given numbers in 2’s complement form.</a:t>
            </a:r>
          </a:p>
          <a:p>
            <a:pPr>
              <a:buFont typeface="Wingdings" panose="05000000000000000000" pitchFamily="2" charset="2"/>
              <a:buChar char="§"/>
            </a:pPr>
            <a:r>
              <a:rPr lang="en-IN" dirty="0"/>
              <a:t>ADD them.</a:t>
            </a:r>
          </a:p>
          <a:p>
            <a:pPr marL="361950" indent="85725">
              <a:buFont typeface="Wingdings" panose="05000000000000000000" pitchFamily="2" charset="2"/>
              <a:buChar char="Ø"/>
            </a:pPr>
            <a:r>
              <a:rPr lang="en-IN" dirty="0"/>
              <a:t>     if Carry neglect them</a:t>
            </a:r>
          </a:p>
          <a:p>
            <a:pPr marL="542925" indent="-457200">
              <a:buFont typeface="Wingdings" panose="05000000000000000000" pitchFamily="2" charset="2"/>
              <a:buChar char="§"/>
            </a:pPr>
            <a:r>
              <a:rPr lang="en-IN" dirty="0"/>
              <a:t>Check MSB , If  0 …check result is +</a:t>
            </a:r>
            <a:r>
              <a:rPr lang="en-IN" dirty="0" err="1"/>
              <a:t>ve</a:t>
            </a:r>
            <a:r>
              <a:rPr lang="en-IN" dirty="0"/>
              <a:t> ….pure binary form</a:t>
            </a:r>
          </a:p>
          <a:p>
            <a:pPr marL="85725" indent="0">
              <a:buNone/>
            </a:pPr>
            <a:r>
              <a:rPr lang="en-IN" dirty="0"/>
              <a:t>   If 1, result is negative</a:t>
            </a:r>
          </a:p>
          <a:p>
            <a:pPr marL="85725" indent="0">
              <a:buNone/>
            </a:pPr>
            <a:r>
              <a:rPr lang="en-IN" dirty="0"/>
              <a:t>   Result is 2’s complement </a:t>
            </a:r>
          </a:p>
          <a:p>
            <a:pPr marL="895350" indent="-266700">
              <a:buFont typeface="Wingdings" panose="05000000000000000000" pitchFamily="2" charset="2"/>
              <a:buChar char="Ø"/>
            </a:pPr>
            <a:endParaRPr lang="en-IN" dirty="0"/>
          </a:p>
        </p:txBody>
      </p:sp>
    </p:spTree>
    <p:extLst>
      <p:ext uri="{BB962C8B-B14F-4D97-AF65-F5344CB8AC3E}">
        <p14:creationId xmlns:p14="http://schemas.microsoft.com/office/powerpoint/2010/main" val="3302571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486</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PowerPoint Presentation</vt:lpstr>
      <vt:lpstr>PowerPoint Presentation</vt:lpstr>
      <vt:lpstr>Reflective Code</vt:lpstr>
      <vt:lpstr> Sequential Codes </vt:lpstr>
      <vt:lpstr>PowerPoint Presentation</vt:lpstr>
      <vt:lpstr>PowerPoint Presentation</vt:lpstr>
      <vt:lpstr>PowerPoint Presentation</vt:lpstr>
      <vt:lpstr>Instead of subtracting one no. from other the compliment of the subtrahend is added to minuend. In sign magnitude form, an additional bit called the sign bit is placed in front of the no. If the sign bit is 0, the no. is +ve, If it is a 1, the no is _ve. </vt:lpstr>
      <vt:lpstr>1’s  Complement Arithmetic</vt:lpstr>
      <vt:lpstr>2’s  Complement Arithmetic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 adhikari</dc:creator>
  <cp:lastModifiedBy>pritam adhikari</cp:lastModifiedBy>
  <cp:revision>6</cp:revision>
  <dcterms:created xsi:type="dcterms:W3CDTF">2024-11-23T17:03:58Z</dcterms:created>
  <dcterms:modified xsi:type="dcterms:W3CDTF">2024-11-23T17:27:15Z</dcterms:modified>
</cp:coreProperties>
</file>