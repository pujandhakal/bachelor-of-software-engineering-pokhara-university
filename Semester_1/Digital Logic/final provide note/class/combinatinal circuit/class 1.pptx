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2" r:id="rId6"/>
    <p:sldId id="261" r:id="rId7"/>
    <p:sldId id="260" r:id="rId8"/>
    <p:sldId id="263" r:id="rId9"/>
    <p:sldId id="265" r:id="rId10"/>
    <p:sldId id="266" r:id="rId11"/>
    <p:sldId id="264"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639C3A60-5BDE-41C7-B142-DEE0288A604B}" type="datetimeFigureOut">
              <a:rPr lang="en-IN" smtClean="0"/>
              <a:t>11-12-2024</a:t>
            </a:fld>
            <a:endParaRPr lang="en-IN"/>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IN"/>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E19445BF-B301-4806-B3A2-757E18C37AE4}" type="slidenum">
              <a:rPr lang="en-IN" smtClean="0"/>
              <a:t>‹#›</a:t>
            </a:fld>
            <a:endParaRPr lang="en-IN"/>
          </a:p>
        </p:txBody>
      </p:sp>
    </p:spTree>
    <p:extLst>
      <p:ext uri="{BB962C8B-B14F-4D97-AF65-F5344CB8AC3E}">
        <p14:creationId xmlns:p14="http://schemas.microsoft.com/office/powerpoint/2010/main" val="7421184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9C3A60-5BDE-41C7-B142-DEE0288A604B}" type="datetimeFigureOut">
              <a:rPr lang="en-IN" smtClean="0"/>
              <a:t>11-12-2024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9445BF-B301-4806-B3A2-757E18C37AE4}" type="slidenum">
              <a:rPr lang="en-IN" smtClean="0"/>
              <a:t>‹#›</a:t>
            </a:fld>
            <a:endParaRPr lang="en-IN"/>
          </a:p>
        </p:txBody>
      </p:sp>
    </p:spTree>
    <p:extLst>
      <p:ext uri="{BB962C8B-B14F-4D97-AF65-F5344CB8AC3E}">
        <p14:creationId xmlns:p14="http://schemas.microsoft.com/office/powerpoint/2010/main" val="5069028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9C3A60-5BDE-41C7-B142-DEE0288A604B}" type="datetimeFigureOut">
              <a:rPr lang="en-IN" smtClean="0"/>
              <a:t>11-12-2024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9445BF-B301-4806-B3A2-757E18C37AE4}" type="slidenum">
              <a:rPr lang="en-IN" smtClean="0"/>
              <a:t>‹#›</a:t>
            </a:fld>
            <a:endParaRPr lang="en-IN"/>
          </a:p>
        </p:txBody>
      </p:sp>
    </p:spTree>
    <p:extLst>
      <p:ext uri="{BB962C8B-B14F-4D97-AF65-F5344CB8AC3E}">
        <p14:creationId xmlns:p14="http://schemas.microsoft.com/office/powerpoint/2010/main" val="2290975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39C3A60-5BDE-41C7-B142-DEE0288A604B}" type="datetimeFigureOut">
              <a:rPr lang="en-IN" smtClean="0"/>
              <a:t>11-12-2024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19445BF-B301-4806-B3A2-757E18C37AE4}" type="slidenum">
              <a:rPr lang="en-IN" smtClean="0"/>
              <a:t>‹#›</a:t>
            </a:fld>
            <a:endParaRPr lang="en-IN"/>
          </a:p>
        </p:txBody>
      </p:sp>
    </p:spTree>
    <p:extLst>
      <p:ext uri="{BB962C8B-B14F-4D97-AF65-F5344CB8AC3E}">
        <p14:creationId xmlns:p14="http://schemas.microsoft.com/office/powerpoint/2010/main" val="2973523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39C3A60-5BDE-41C7-B142-DEE0288A604B}" type="datetimeFigureOut">
              <a:rPr lang="en-IN" smtClean="0"/>
              <a:t>11-12-2024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19445BF-B301-4806-B3A2-757E18C37AE4}" type="slidenum">
              <a:rPr lang="en-IN" smtClean="0"/>
              <a:t>‹#›</a:t>
            </a:fld>
            <a:endParaRPr lang="en-IN"/>
          </a:p>
        </p:txBody>
      </p:sp>
    </p:spTree>
    <p:extLst>
      <p:ext uri="{BB962C8B-B14F-4D97-AF65-F5344CB8AC3E}">
        <p14:creationId xmlns:p14="http://schemas.microsoft.com/office/powerpoint/2010/main" val="2669427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39C3A60-5BDE-41C7-B142-DEE0288A604B}" type="datetimeFigureOut">
              <a:rPr lang="en-IN" smtClean="0"/>
              <a:t>11-12-2024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19445BF-B301-4806-B3A2-757E18C37AE4}" type="slidenum">
              <a:rPr lang="en-IN" smtClean="0"/>
              <a:t>‹#›</a:t>
            </a:fld>
            <a:endParaRPr lang="en-IN"/>
          </a:p>
        </p:txBody>
      </p:sp>
    </p:spTree>
    <p:extLst>
      <p:ext uri="{BB962C8B-B14F-4D97-AF65-F5344CB8AC3E}">
        <p14:creationId xmlns:p14="http://schemas.microsoft.com/office/powerpoint/2010/main" val="941851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9C3A60-5BDE-41C7-B142-DEE0288A604B}" type="datetimeFigureOut">
              <a:rPr lang="en-IN" smtClean="0"/>
              <a:t>11-12-2024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19445BF-B301-4806-B3A2-757E18C37AE4}" type="slidenum">
              <a:rPr lang="en-IN" smtClean="0"/>
              <a:t>‹#›</a:t>
            </a:fld>
            <a:endParaRPr lang="en-IN"/>
          </a:p>
        </p:txBody>
      </p:sp>
    </p:spTree>
    <p:extLst>
      <p:ext uri="{BB962C8B-B14F-4D97-AF65-F5344CB8AC3E}">
        <p14:creationId xmlns:p14="http://schemas.microsoft.com/office/powerpoint/2010/main" val="1895706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639C3A60-5BDE-41C7-B142-DEE0288A604B}" type="datetimeFigureOut">
              <a:rPr lang="en-IN" smtClean="0"/>
              <a:t>11-12-2024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E19445BF-B301-4806-B3A2-757E18C37AE4}" type="slidenum">
              <a:rPr lang="en-IN" smtClean="0"/>
              <a:t>‹#›</a:t>
            </a:fld>
            <a:endParaRPr lang="en-IN"/>
          </a:p>
        </p:txBody>
      </p:sp>
    </p:spTree>
    <p:extLst>
      <p:ext uri="{BB962C8B-B14F-4D97-AF65-F5344CB8AC3E}">
        <p14:creationId xmlns:p14="http://schemas.microsoft.com/office/powerpoint/2010/main" val="19878684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639C3A60-5BDE-41C7-B142-DEE0288A604B}" type="datetimeFigureOut">
              <a:rPr lang="en-IN" smtClean="0"/>
              <a:t>11-12-2024</a:t>
            </a:fld>
            <a:endParaRPr lang="en-IN"/>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IN"/>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E19445BF-B301-4806-B3A2-757E18C37AE4}" type="slidenum">
              <a:rPr lang="en-IN" smtClean="0"/>
              <a:t>‹#›</a:t>
            </a:fld>
            <a:endParaRPr lang="en-IN"/>
          </a:p>
        </p:txBody>
      </p:sp>
    </p:spTree>
    <p:extLst>
      <p:ext uri="{BB962C8B-B14F-4D97-AF65-F5344CB8AC3E}">
        <p14:creationId xmlns:p14="http://schemas.microsoft.com/office/powerpoint/2010/main" val="428726989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9C3A60-5BDE-41C7-B142-DEE0288A604B}" type="datetimeFigureOut">
              <a:rPr lang="en-IN" smtClean="0"/>
              <a:t>11-12-2024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9445BF-B301-4806-B3A2-757E18C37AE4}" type="slidenum">
              <a:rPr lang="en-IN" smtClean="0"/>
              <a:t>‹#›</a:t>
            </a:fld>
            <a:endParaRPr lang="en-IN"/>
          </a:p>
        </p:txBody>
      </p:sp>
    </p:spTree>
    <p:extLst>
      <p:ext uri="{BB962C8B-B14F-4D97-AF65-F5344CB8AC3E}">
        <p14:creationId xmlns:p14="http://schemas.microsoft.com/office/powerpoint/2010/main" val="11070227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9C3A60-5BDE-41C7-B142-DEE0288A604B}" type="datetimeFigureOut">
              <a:rPr lang="en-IN" smtClean="0"/>
              <a:t>11-12-2024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9445BF-B301-4806-B3A2-757E18C37AE4}" type="slidenum">
              <a:rPr lang="en-IN" smtClean="0"/>
              <a:t>‹#›</a:t>
            </a:fld>
            <a:endParaRPr lang="en-IN"/>
          </a:p>
        </p:txBody>
      </p:sp>
    </p:spTree>
    <p:extLst>
      <p:ext uri="{BB962C8B-B14F-4D97-AF65-F5344CB8AC3E}">
        <p14:creationId xmlns:p14="http://schemas.microsoft.com/office/powerpoint/2010/main" val="3451499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639C3A60-5BDE-41C7-B142-DEE0288A604B}" type="datetimeFigureOut">
              <a:rPr lang="en-IN" smtClean="0"/>
              <a:t>11-12-2024</a:t>
            </a:fld>
            <a:endParaRPr lang="en-IN"/>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IN"/>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E19445BF-B301-4806-B3A2-757E18C37AE4}" type="slidenum">
              <a:rPr lang="en-IN" smtClean="0"/>
              <a:t>‹#›</a:t>
            </a:fld>
            <a:endParaRPr lang="en-IN"/>
          </a:p>
        </p:txBody>
      </p:sp>
    </p:spTree>
    <p:extLst>
      <p:ext uri="{BB962C8B-B14F-4D97-AF65-F5344CB8AC3E}">
        <p14:creationId xmlns:p14="http://schemas.microsoft.com/office/powerpoint/2010/main" val="188530989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712BE-29AB-1C13-F93A-57691271597C}"/>
              </a:ext>
            </a:extLst>
          </p:cNvPr>
          <p:cNvSpPr>
            <a:spLocks noGrp="1"/>
          </p:cNvSpPr>
          <p:nvPr>
            <p:ph type="title"/>
          </p:nvPr>
        </p:nvSpPr>
        <p:spPr>
          <a:xfrm>
            <a:off x="838200" y="18255"/>
            <a:ext cx="10515600" cy="1325563"/>
          </a:xfrm>
        </p:spPr>
        <p:txBody>
          <a:bodyPr/>
          <a:lstStyle/>
          <a:p>
            <a:pPr algn="ctr"/>
            <a:r>
              <a:rPr lang="en-IN" b="1" u="sng" dirty="0"/>
              <a:t>Combinational circuit</a:t>
            </a:r>
          </a:p>
        </p:txBody>
      </p:sp>
      <p:sp>
        <p:nvSpPr>
          <p:cNvPr id="3" name="Content Placeholder 2">
            <a:extLst>
              <a:ext uri="{FF2B5EF4-FFF2-40B4-BE49-F238E27FC236}">
                <a16:creationId xmlns:a16="http://schemas.microsoft.com/office/drawing/2014/main" id="{A210BD9D-A745-0B74-5812-C421E81A0AD7}"/>
              </a:ext>
            </a:extLst>
          </p:cNvPr>
          <p:cNvSpPr>
            <a:spLocks noGrp="1"/>
          </p:cNvSpPr>
          <p:nvPr>
            <p:ph idx="1"/>
          </p:nvPr>
        </p:nvSpPr>
        <p:spPr>
          <a:xfrm>
            <a:off x="466344" y="1343818"/>
            <a:ext cx="11466576" cy="4833145"/>
          </a:xfrm>
        </p:spPr>
        <p:txBody>
          <a:bodyPr/>
          <a:lstStyle/>
          <a:p>
            <a:pPr algn="just"/>
            <a:r>
              <a:rPr lang="en-US" dirty="0">
                <a:latin typeface="Times New Roman" panose="02020603050405020304" pitchFamily="18" charset="0"/>
                <a:cs typeface="Times New Roman" panose="02020603050405020304" pitchFamily="18" charset="0"/>
              </a:rPr>
              <a:t>Combinational circuits are specially designed using multiple interconnected logic gates such that the output will be generated by computing the logical combinations of the </a:t>
            </a:r>
            <a:r>
              <a:rPr lang="en-US" dirty="0">
                <a:highlight>
                  <a:srgbClr val="FFFF00"/>
                </a:highlight>
                <a:latin typeface="Times New Roman" panose="02020603050405020304" pitchFamily="18" charset="0"/>
                <a:cs typeface="Times New Roman" panose="02020603050405020304" pitchFamily="18" charset="0"/>
              </a:rPr>
              <a:t>present input only</a:t>
            </a:r>
            <a:r>
              <a:rPr lang="en-US" dirty="0">
                <a:latin typeface="Times New Roman" panose="02020603050405020304" pitchFamily="18" charset="0"/>
                <a:cs typeface="Times New Roman" panose="02020603050405020304" pitchFamily="18" charset="0"/>
              </a:rPr>
              <a:t>. No clock pulse is present here. Moreover, no previously stored value or state is taken into consideration here. </a:t>
            </a:r>
            <a:r>
              <a:rPr lang="en-US" dirty="0">
                <a:highlight>
                  <a:srgbClr val="FFFF00"/>
                </a:highlight>
                <a:latin typeface="Times New Roman" panose="02020603050405020304" pitchFamily="18" charset="0"/>
                <a:cs typeface="Times New Roman" panose="02020603050405020304" pitchFamily="18" charset="0"/>
              </a:rPr>
              <a:t>The output is independent of previous states</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Example : Half/Full Adder, Half/Full Subtractor, Encoder/Decoder ,Multiplexer / Demultiplexer , </a:t>
            </a:r>
            <a:r>
              <a:rPr lang="en-US" dirty="0" err="1">
                <a:latin typeface="Times New Roman" panose="02020603050405020304" pitchFamily="18" charset="0"/>
                <a:cs typeface="Times New Roman" panose="02020603050405020304" pitchFamily="18" charset="0"/>
              </a:rPr>
              <a:t>etc</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0A080EC-9C23-79D6-8B91-9EF31B6C1B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1103" y="4452937"/>
            <a:ext cx="4514850" cy="1609725"/>
          </a:xfrm>
          <a:prstGeom prst="rect">
            <a:avLst/>
          </a:prstGeom>
        </p:spPr>
      </p:pic>
    </p:spTree>
    <p:extLst>
      <p:ext uri="{BB962C8B-B14F-4D97-AF65-F5344CB8AC3E}">
        <p14:creationId xmlns:p14="http://schemas.microsoft.com/office/powerpoint/2010/main" val="4066204037"/>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797F2-A152-ED1C-3957-0EE7BF6877E5}"/>
              </a:ext>
            </a:extLst>
          </p:cNvPr>
          <p:cNvSpPr>
            <a:spLocks noGrp="1"/>
          </p:cNvSpPr>
          <p:nvPr>
            <p:ph type="title"/>
          </p:nvPr>
        </p:nvSpPr>
        <p:spPr>
          <a:xfrm>
            <a:off x="838200" y="163957"/>
            <a:ext cx="10515600" cy="1325563"/>
          </a:xfrm>
        </p:spPr>
        <p:txBody>
          <a:bodyPr>
            <a:normAutofit fontScale="90000"/>
          </a:bodyPr>
          <a:lstStyle/>
          <a:p>
            <a:pPr algn="ctr"/>
            <a:r>
              <a:rPr lang="en-IN" b="1" u="sng" dirty="0"/>
              <a:t>Design Procedure of Combinational circuit</a:t>
            </a:r>
          </a:p>
        </p:txBody>
      </p:sp>
      <p:sp>
        <p:nvSpPr>
          <p:cNvPr id="3" name="Content Placeholder 2">
            <a:extLst>
              <a:ext uri="{FF2B5EF4-FFF2-40B4-BE49-F238E27FC236}">
                <a16:creationId xmlns:a16="http://schemas.microsoft.com/office/drawing/2014/main" id="{3AD79644-337F-5809-4767-2106F08CFD18}"/>
              </a:ext>
            </a:extLst>
          </p:cNvPr>
          <p:cNvSpPr>
            <a:spLocks noGrp="1"/>
          </p:cNvSpPr>
          <p:nvPr>
            <p:ph idx="1"/>
          </p:nvPr>
        </p:nvSpPr>
        <p:spPr>
          <a:xfrm>
            <a:off x="256032" y="1408176"/>
            <a:ext cx="11750040" cy="4768787"/>
          </a:xfrm>
        </p:spPr>
        <p:txBody>
          <a:bodyPr/>
          <a:lstStyle/>
          <a:p>
            <a:pPr marL="514350" indent="-514350" algn="just" fontAlgn="base">
              <a:buFont typeface="+mj-lt"/>
              <a:buAutoNum type="arabicParenR"/>
            </a:pPr>
            <a:r>
              <a:rPr lang="en-US" b="0" i="0" dirty="0">
                <a:effectLst/>
                <a:latin typeface="Nunito" pitchFamily="2" charset="0"/>
              </a:rPr>
              <a:t>Find the required number of inputs and outputs and assign a symbol to each.</a:t>
            </a:r>
          </a:p>
          <a:p>
            <a:pPr marL="514350" indent="-514350" algn="just" fontAlgn="base">
              <a:buFont typeface="+mj-lt"/>
              <a:buAutoNum type="arabicParenR"/>
            </a:pPr>
            <a:r>
              <a:rPr lang="en-US" b="0" i="0" dirty="0">
                <a:effectLst/>
                <a:latin typeface="Nunito" pitchFamily="2" charset="0"/>
              </a:rPr>
              <a:t>Derive the truth table according to given specifications and function.</a:t>
            </a:r>
          </a:p>
          <a:p>
            <a:pPr marL="514350" indent="-514350" algn="just" fontAlgn="base">
              <a:buFont typeface="+mj-lt"/>
              <a:buAutoNum type="arabicParenR"/>
            </a:pPr>
            <a:r>
              <a:rPr lang="en-US" b="0" i="0" dirty="0">
                <a:effectLst/>
                <a:latin typeface="Nunito" pitchFamily="2" charset="0"/>
              </a:rPr>
              <a:t>Using the truth table, obtain simplified Boolean functions for each output as a function of the input variables.</a:t>
            </a:r>
          </a:p>
          <a:p>
            <a:pPr marL="514350" indent="-514350" algn="just" fontAlgn="base">
              <a:buFont typeface="+mj-lt"/>
              <a:buAutoNum type="arabicParenR"/>
            </a:pPr>
            <a:r>
              <a:rPr lang="en-US" b="0" i="0" dirty="0">
                <a:effectLst/>
                <a:latin typeface="Nunito" pitchFamily="2" charset="0"/>
              </a:rPr>
              <a:t>Draw the logic circuit diagram.</a:t>
            </a:r>
          </a:p>
          <a:p>
            <a:pPr marL="0" indent="0">
              <a:buNone/>
            </a:pPr>
            <a:endParaRPr lang="en-IN" dirty="0"/>
          </a:p>
        </p:txBody>
      </p:sp>
    </p:spTree>
    <p:extLst>
      <p:ext uri="{BB962C8B-B14F-4D97-AF65-F5344CB8AC3E}">
        <p14:creationId xmlns:p14="http://schemas.microsoft.com/office/powerpoint/2010/main" val="208093911"/>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barn(inVertical)">
                                      <p:cBhvr>
                                        <p:cTn id="13" dur="500"/>
                                        <p:tgtEl>
                                          <p:spTgt spid="3">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wipe(down)">
                                      <p:cBhvr>
                                        <p:cTn id="18" dur="5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89BEA-44A5-71FF-F779-09306E7A73E6}"/>
              </a:ext>
            </a:extLst>
          </p:cNvPr>
          <p:cNvSpPr>
            <a:spLocks noGrp="1"/>
          </p:cNvSpPr>
          <p:nvPr>
            <p:ph type="title"/>
          </p:nvPr>
        </p:nvSpPr>
        <p:spPr>
          <a:xfrm>
            <a:off x="657606" y="179493"/>
            <a:ext cx="10772775" cy="1658198"/>
          </a:xfrm>
        </p:spPr>
        <p:txBody>
          <a:bodyPr/>
          <a:lstStyle/>
          <a:p>
            <a:endParaRPr lang="en-IN" dirty="0"/>
          </a:p>
        </p:txBody>
      </p:sp>
      <p:sp>
        <p:nvSpPr>
          <p:cNvPr id="3" name="Content Placeholder 2">
            <a:extLst>
              <a:ext uri="{FF2B5EF4-FFF2-40B4-BE49-F238E27FC236}">
                <a16:creationId xmlns:a16="http://schemas.microsoft.com/office/drawing/2014/main" id="{4CD8EECC-7E1D-6710-882F-EEF22F6BF544}"/>
              </a:ext>
            </a:extLst>
          </p:cNvPr>
          <p:cNvSpPr>
            <a:spLocks noGrp="1"/>
          </p:cNvSpPr>
          <p:nvPr>
            <p:ph idx="1"/>
          </p:nvPr>
        </p:nvSpPr>
        <p:spPr>
          <a:xfrm>
            <a:off x="484632" y="1837692"/>
            <a:ext cx="11283696" cy="4435092"/>
          </a:xfrm>
        </p:spPr>
        <p:txBody>
          <a:bodyPr>
            <a:normAutofit/>
          </a:bodyPr>
          <a:lstStyle/>
          <a:p>
            <a:pPr marL="0" indent="0" algn="ctr">
              <a:buNone/>
            </a:pPr>
            <a:r>
              <a:rPr lang="en-IN" sz="3600" b="1" dirty="0"/>
              <a:t>Design a combinational circuit that has four input and two outputs. One of the outputs is high when majority of inputs  are high . The second output is high only when all inputs are of same type.</a:t>
            </a:r>
          </a:p>
          <a:p>
            <a:pPr marL="0" indent="0" algn="ctr">
              <a:buNone/>
            </a:pPr>
            <a:endParaRPr lang="en-IN" sz="3600" b="1" dirty="0"/>
          </a:p>
          <a:p>
            <a:pPr marL="0" indent="0" algn="ctr">
              <a:buNone/>
            </a:pPr>
            <a:r>
              <a:rPr lang="en-IN" sz="3600" dirty="0"/>
              <a:t>HW: Advantage ,Disadvantage and application of Combinational circuits?</a:t>
            </a:r>
          </a:p>
        </p:txBody>
      </p:sp>
    </p:spTree>
    <p:extLst>
      <p:ext uri="{BB962C8B-B14F-4D97-AF65-F5344CB8AC3E}">
        <p14:creationId xmlns:p14="http://schemas.microsoft.com/office/powerpoint/2010/main" val="1534798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wipe(down)">
                                      <p:cBhvr>
                                        <p:cTn id="14" dur="580">
                                          <p:stCondLst>
                                            <p:cond delay="0"/>
                                          </p:stCondLst>
                                        </p:cTn>
                                        <p:tgtEl>
                                          <p:spTgt spid="3">
                                            <p:txEl>
                                              <p:pRg st="2" end="2"/>
                                            </p:txEl>
                                          </p:spTgt>
                                        </p:tgtEl>
                                      </p:cBhvr>
                                    </p:animEffect>
                                    <p:anim calcmode="lin" valueType="num">
                                      <p:cBhvr>
                                        <p:cTn id="15"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20" dur="26">
                                          <p:stCondLst>
                                            <p:cond delay="650"/>
                                          </p:stCondLst>
                                        </p:cTn>
                                        <p:tgtEl>
                                          <p:spTgt spid="3">
                                            <p:txEl>
                                              <p:pRg st="2" end="2"/>
                                            </p:txEl>
                                          </p:spTgt>
                                        </p:tgtEl>
                                      </p:cBhvr>
                                      <p:to x="100000" y="60000"/>
                                    </p:animScale>
                                    <p:animScale>
                                      <p:cBhvr>
                                        <p:cTn id="21" dur="166" decel="50000">
                                          <p:stCondLst>
                                            <p:cond delay="676"/>
                                          </p:stCondLst>
                                        </p:cTn>
                                        <p:tgtEl>
                                          <p:spTgt spid="3">
                                            <p:txEl>
                                              <p:pRg st="2" end="2"/>
                                            </p:txEl>
                                          </p:spTgt>
                                        </p:tgtEl>
                                      </p:cBhvr>
                                      <p:to x="100000" y="100000"/>
                                    </p:animScale>
                                    <p:animScale>
                                      <p:cBhvr>
                                        <p:cTn id="22" dur="26">
                                          <p:stCondLst>
                                            <p:cond delay="1312"/>
                                          </p:stCondLst>
                                        </p:cTn>
                                        <p:tgtEl>
                                          <p:spTgt spid="3">
                                            <p:txEl>
                                              <p:pRg st="2" end="2"/>
                                            </p:txEl>
                                          </p:spTgt>
                                        </p:tgtEl>
                                      </p:cBhvr>
                                      <p:to x="100000" y="80000"/>
                                    </p:animScale>
                                    <p:animScale>
                                      <p:cBhvr>
                                        <p:cTn id="23" dur="166" decel="50000">
                                          <p:stCondLst>
                                            <p:cond delay="1338"/>
                                          </p:stCondLst>
                                        </p:cTn>
                                        <p:tgtEl>
                                          <p:spTgt spid="3">
                                            <p:txEl>
                                              <p:pRg st="2" end="2"/>
                                            </p:txEl>
                                          </p:spTgt>
                                        </p:tgtEl>
                                      </p:cBhvr>
                                      <p:to x="100000" y="100000"/>
                                    </p:animScale>
                                    <p:animScale>
                                      <p:cBhvr>
                                        <p:cTn id="24" dur="26">
                                          <p:stCondLst>
                                            <p:cond delay="1642"/>
                                          </p:stCondLst>
                                        </p:cTn>
                                        <p:tgtEl>
                                          <p:spTgt spid="3">
                                            <p:txEl>
                                              <p:pRg st="2" end="2"/>
                                            </p:txEl>
                                          </p:spTgt>
                                        </p:tgtEl>
                                      </p:cBhvr>
                                      <p:to x="100000" y="90000"/>
                                    </p:animScale>
                                    <p:animScale>
                                      <p:cBhvr>
                                        <p:cTn id="25" dur="166" decel="50000">
                                          <p:stCondLst>
                                            <p:cond delay="1668"/>
                                          </p:stCondLst>
                                        </p:cTn>
                                        <p:tgtEl>
                                          <p:spTgt spid="3">
                                            <p:txEl>
                                              <p:pRg st="2" end="2"/>
                                            </p:txEl>
                                          </p:spTgt>
                                        </p:tgtEl>
                                      </p:cBhvr>
                                      <p:to x="100000" y="100000"/>
                                    </p:animScale>
                                    <p:animScale>
                                      <p:cBhvr>
                                        <p:cTn id="26" dur="26">
                                          <p:stCondLst>
                                            <p:cond delay="1808"/>
                                          </p:stCondLst>
                                        </p:cTn>
                                        <p:tgtEl>
                                          <p:spTgt spid="3">
                                            <p:txEl>
                                              <p:pRg st="2" end="2"/>
                                            </p:txEl>
                                          </p:spTgt>
                                        </p:tgtEl>
                                      </p:cBhvr>
                                      <p:to x="100000" y="95000"/>
                                    </p:animScale>
                                    <p:animScale>
                                      <p:cBhvr>
                                        <p:cTn id="27" dur="166" decel="50000">
                                          <p:stCondLst>
                                            <p:cond delay="1834"/>
                                          </p:stCondLst>
                                        </p:cTn>
                                        <p:tgtEl>
                                          <p:spTgt spid="3">
                                            <p:txEl>
                                              <p:pRg st="2" end="2"/>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2940A-5D2F-EA51-905B-834928955086}"/>
              </a:ext>
            </a:extLst>
          </p:cNvPr>
          <p:cNvSpPr>
            <a:spLocks noGrp="1"/>
          </p:cNvSpPr>
          <p:nvPr>
            <p:ph type="title"/>
          </p:nvPr>
        </p:nvSpPr>
        <p:spPr>
          <a:xfrm>
            <a:off x="657606" y="152061"/>
            <a:ext cx="10772775" cy="1658198"/>
          </a:xfrm>
        </p:spPr>
        <p:txBody>
          <a:bodyPr>
            <a:normAutofit/>
          </a:bodyPr>
          <a:lstStyle/>
          <a:p>
            <a:pPr algn="ctr"/>
            <a:r>
              <a:rPr lang="en-IN" sz="6000" b="1" u="sng" dirty="0"/>
              <a:t>Half adder</a:t>
            </a:r>
          </a:p>
        </p:txBody>
      </p:sp>
      <p:sp>
        <p:nvSpPr>
          <p:cNvPr id="3" name="Content Placeholder 2">
            <a:extLst>
              <a:ext uri="{FF2B5EF4-FFF2-40B4-BE49-F238E27FC236}">
                <a16:creationId xmlns:a16="http://schemas.microsoft.com/office/drawing/2014/main" id="{36DC7E96-DD13-4888-4D88-2063B7D18D17}"/>
              </a:ext>
            </a:extLst>
          </p:cNvPr>
          <p:cNvSpPr>
            <a:spLocks noGrp="1"/>
          </p:cNvSpPr>
          <p:nvPr>
            <p:ph idx="1"/>
          </p:nvPr>
        </p:nvSpPr>
        <p:spPr>
          <a:xfrm>
            <a:off x="365760" y="1627632"/>
            <a:ext cx="11649456" cy="4672584"/>
          </a:xfrm>
        </p:spPr>
        <p:txBody>
          <a:bodyPr/>
          <a:lstStyle/>
          <a:p>
            <a:pPr algn="just"/>
            <a:r>
              <a:rPr lang="en-US" sz="3600" dirty="0"/>
              <a:t>The half adder is a basic building block for more complex adder circuits such as full adders and multiple-bit adders. It performs binary addition of two single-bit inputs, A and B, and provides two outputs, SUM and CARRY.</a:t>
            </a:r>
          </a:p>
          <a:p>
            <a:pPr algn="just"/>
            <a:r>
              <a:rPr lang="en-US" sz="3600" dirty="0"/>
              <a:t>Truth table:</a:t>
            </a:r>
            <a:endParaRPr lang="en-IN" sz="3600" dirty="0"/>
          </a:p>
        </p:txBody>
      </p:sp>
      <p:graphicFrame>
        <p:nvGraphicFramePr>
          <p:cNvPr id="4" name="Table 3">
            <a:extLst>
              <a:ext uri="{FF2B5EF4-FFF2-40B4-BE49-F238E27FC236}">
                <a16:creationId xmlns:a16="http://schemas.microsoft.com/office/drawing/2014/main" id="{BCBFEC02-5445-24ED-A4BA-981066BF0032}"/>
              </a:ext>
            </a:extLst>
          </p:cNvPr>
          <p:cNvGraphicFramePr>
            <a:graphicFrameLocks noGrp="1"/>
          </p:cNvGraphicFramePr>
          <p:nvPr>
            <p:extLst>
              <p:ext uri="{D42A27DB-BD31-4B8C-83A1-F6EECF244321}">
                <p14:modId xmlns:p14="http://schemas.microsoft.com/office/powerpoint/2010/main" val="1468886844"/>
              </p:ext>
            </p:extLst>
          </p:nvPr>
        </p:nvGraphicFramePr>
        <p:xfrm>
          <a:off x="4416552" y="3937762"/>
          <a:ext cx="4198810" cy="2219960"/>
        </p:xfrm>
        <a:graphic>
          <a:graphicData uri="http://schemas.openxmlformats.org/drawingml/2006/table">
            <a:tbl>
              <a:tblPr firstRow="1" bandRow="1">
                <a:tableStyleId>{5C22544A-7EE6-4342-B048-85BDC9FD1C3A}</a:tableStyleId>
              </a:tblPr>
              <a:tblGrid>
                <a:gridCol w="1054100">
                  <a:extLst>
                    <a:ext uri="{9D8B030D-6E8A-4147-A177-3AD203B41FA5}">
                      <a16:colId xmlns:a16="http://schemas.microsoft.com/office/drawing/2014/main" val="1899498222"/>
                    </a:ext>
                  </a:extLst>
                </a:gridCol>
                <a:gridCol w="1054100">
                  <a:extLst>
                    <a:ext uri="{9D8B030D-6E8A-4147-A177-3AD203B41FA5}">
                      <a16:colId xmlns:a16="http://schemas.microsoft.com/office/drawing/2014/main" val="2249946976"/>
                    </a:ext>
                  </a:extLst>
                </a:gridCol>
                <a:gridCol w="1054100">
                  <a:extLst>
                    <a:ext uri="{9D8B030D-6E8A-4147-A177-3AD203B41FA5}">
                      <a16:colId xmlns:a16="http://schemas.microsoft.com/office/drawing/2014/main" val="1724878317"/>
                    </a:ext>
                  </a:extLst>
                </a:gridCol>
                <a:gridCol w="1036510">
                  <a:extLst>
                    <a:ext uri="{9D8B030D-6E8A-4147-A177-3AD203B41FA5}">
                      <a16:colId xmlns:a16="http://schemas.microsoft.com/office/drawing/2014/main" val="1277066805"/>
                    </a:ext>
                  </a:extLst>
                </a:gridCol>
              </a:tblGrid>
              <a:tr h="120650">
                <a:tc gridSpan="2">
                  <a:txBody>
                    <a:bodyPr/>
                    <a:lstStyle/>
                    <a:p>
                      <a:pPr algn="ctr"/>
                      <a:r>
                        <a:rPr lang="en-IN" dirty="0">
                          <a:solidFill>
                            <a:schemeClr val="tx1"/>
                          </a:solidFill>
                        </a:rPr>
                        <a:t>INPUTS</a:t>
                      </a:r>
                    </a:p>
                  </a:txBody>
                  <a:tcPr/>
                </a:tc>
                <a:tc hMerge="1">
                  <a:txBody>
                    <a:bodyPr/>
                    <a:lstStyle/>
                    <a:p>
                      <a:pPr algn="ctr"/>
                      <a:endParaRPr lang="en-IN" dirty="0">
                        <a:solidFill>
                          <a:schemeClr val="tx1"/>
                        </a:solidFill>
                      </a:endParaRPr>
                    </a:p>
                  </a:txBody>
                  <a:tcPr/>
                </a:tc>
                <a:tc gridSpan="2">
                  <a:txBody>
                    <a:bodyPr/>
                    <a:lstStyle/>
                    <a:p>
                      <a:pPr algn="ctr"/>
                      <a:r>
                        <a:rPr lang="en-IN" dirty="0">
                          <a:solidFill>
                            <a:schemeClr val="tx1"/>
                          </a:solidFill>
                        </a:rPr>
                        <a:t>OUTPUTS</a:t>
                      </a:r>
                    </a:p>
                  </a:txBody>
                  <a:tcPr/>
                </a:tc>
                <a:tc hMerge="1">
                  <a:txBody>
                    <a:bodyPr/>
                    <a:lstStyle/>
                    <a:p>
                      <a:pPr algn="ctr"/>
                      <a:endParaRPr lang="en-IN" dirty="0">
                        <a:solidFill>
                          <a:schemeClr val="tx1"/>
                        </a:solidFill>
                      </a:endParaRPr>
                    </a:p>
                  </a:txBody>
                  <a:tcPr/>
                </a:tc>
                <a:extLst>
                  <a:ext uri="{0D108BD9-81ED-4DB2-BD59-A6C34878D82A}">
                    <a16:rowId xmlns:a16="http://schemas.microsoft.com/office/drawing/2014/main" val="4200393862"/>
                  </a:ext>
                </a:extLst>
              </a:tr>
              <a:tr h="370840">
                <a:tc>
                  <a:txBody>
                    <a:bodyPr/>
                    <a:lstStyle/>
                    <a:p>
                      <a:pPr algn="ctr"/>
                      <a:r>
                        <a:rPr lang="en-IN" b="1" dirty="0">
                          <a:solidFill>
                            <a:schemeClr val="tx1"/>
                          </a:solidFill>
                        </a:rPr>
                        <a:t>A</a:t>
                      </a:r>
                    </a:p>
                  </a:txBody>
                  <a:tcPr/>
                </a:tc>
                <a:tc>
                  <a:txBody>
                    <a:bodyPr/>
                    <a:lstStyle/>
                    <a:p>
                      <a:pPr algn="ctr"/>
                      <a:r>
                        <a:rPr lang="en-IN" b="1" dirty="0">
                          <a:solidFill>
                            <a:schemeClr val="tx1"/>
                          </a:solidFill>
                        </a:rPr>
                        <a:t>B</a:t>
                      </a:r>
                    </a:p>
                  </a:txBody>
                  <a:tcPr/>
                </a:tc>
                <a:tc>
                  <a:txBody>
                    <a:bodyPr/>
                    <a:lstStyle/>
                    <a:p>
                      <a:pPr algn="ctr"/>
                      <a:r>
                        <a:rPr lang="en-IN" b="1" dirty="0">
                          <a:solidFill>
                            <a:schemeClr val="tx1"/>
                          </a:solidFill>
                        </a:rPr>
                        <a:t>Sum(S)</a:t>
                      </a:r>
                    </a:p>
                  </a:txBody>
                  <a:tcPr/>
                </a:tc>
                <a:tc>
                  <a:txBody>
                    <a:bodyPr/>
                    <a:lstStyle/>
                    <a:p>
                      <a:pPr algn="ctr"/>
                      <a:r>
                        <a:rPr lang="en-IN" b="1" dirty="0">
                          <a:solidFill>
                            <a:schemeClr val="tx1"/>
                          </a:solidFill>
                        </a:rPr>
                        <a:t>Carry (C)</a:t>
                      </a:r>
                    </a:p>
                  </a:txBody>
                  <a:tcPr/>
                </a:tc>
                <a:extLst>
                  <a:ext uri="{0D108BD9-81ED-4DB2-BD59-A6C34878D82A}">
                    <a16:rowId xmlns:a16="http://schemas.microsoft.com/office/drawing/2014/main" val="476804184"/>
                  </a:ext>
                </a:extLst>
              </a:tr>
              <a:tr h="370840">
                <a:tc>
                  <a:txBody>
                    <a:bodyPr/>
                    <a:lstStyle/>
                    <a:p>
                      <a:pPr algn="ctr"/>
                      <a:r>
                        <a:rPr lang="en-IN" dirty="0">
                          <a:solidFill>
                            <a:schemeClr val="tx1"/>
                          </a:solidFill>
                        </a:rPr>
                        <a:t>0</a:t>
                      </a:r>
                    </a:p>
                  </a:txBody>
                  <a:tcPr/>
                </a:tc>
                <a:tc>
                  <a:txBody>
                    <a:bodyPr/>
                    <a:lstStyle/>
                    <a:p>
                      <a:pPr algn="ctr"/>
                      <a:r>
                        <a:rPr lang="en-IN" dirty="0">
                          <a:solidFill>
                            <a:schemeClr val="tx1"/>
                          </a:solidFill>
                        </a:rPr>
                        <a:t>0</a:t>
                      </a:r>
                    </a:p>
                  </a:txBody>
                  <a:tcPr/>
                </a:tc>
                <a:tc>
                  <a:txBody>
                    <a:bodyPr/>
                    <a:lstStyle/>
                    <a:p>
                      <a:pPr algn="ctr"/>
                      <a:r>
                        <a:rPr lang="en-IN" dirty="0">
                          <a:solidFill>
                            <a:schemeClr val="tx1"/>
                          </a:solidFill>
                        </a:rPr>
                        <a:t>0</a:t>
                      </a:r>
                    </a:p>
                  </a:txBody>
                  <a:tcPr/>
                </a:tc>
                <a:tc>
                  <a:txBody>
                    <a:bodyPr/>
                    <a:lstStyle/>
                    <a:p>
                      <a:pPr algn="ctr"/>
                      <a:r>
                        <a:rPr lang="en-IN" dirty="0">
                          <a:solidFill>
                            <a:schemeClr val="tx1"/>
                          </a:solidFill>
                        </a:rPr>
                        <a:t>0</a:t>
                      </a:r>
                    </a:p>
                  </a:txBody>
                  <a:tcPr/>
                </a:tc>
                <a:extLst>
                  <a:ext uri="{0D108BD9-81ED-4DB2-BD59-A6C34878D82A}">
                    <a16:rowId xmlns:a16="http://schemas.microsoft.com/office/drawing/2014/main" val="1789177743"/>
                  </a:ext>
                </a:extLst>
              </a:tr>
              <a:tr h="370840">
                <a:tc>
                  <a:txBody>
                    <a:bodyPr/>
                    <a:lstStyle/>
                    <a:p>
                      <a:pPr algn="ctr"/>
                      <a:r>
                        <a:rPr lang="en-IN" dirty="0">
                          <a:solidFill>
                            <a:schemeClr val="tx1"/>
                          </a:solidFill>
                        </a:rPr>
                        <a:t>0</a:t>
                      </a:r>
                    </a:p>
                  </a:txBody>
                  <a:tcPr/>
                </a:tc>
                <a:tc>
                  <a:txBody>
                    <a:bodyPr/>
                    <a:lstStyle/>
                    <a:p>
                      <a:pPr algn="ctr"/>
                      <a:r>
                        <a:rPr lang="en-IN" dirty="0">
                          <a:solidFill>
                            <a:schemeClr val="tx1"/>
                          </a:solidFill>
                        </a:rPr>
                        <a:t>1</a:t>
                      </a:r>
                    </a:p>
                  </a:txBody>
                  <a:tcPr/>
                </a:tc>
                <a:tc>
                  <a:txBody>
                    <a:bodyPr/>
                    <a:lstStyle/>
                    <a:p>
                      <a:pPr algn="ctr"/>
                      <a:r>
                        <a:rPr lang="en-IN" dirty="0">
                          <a:solidFill>
                            <a:schemeClr val="tx1"/>
                          </a:solidFill>
                        </a:rPr>
                        <a:t>1</a:t>
                      </a:r>
                    </a:p>
                  </a:txBody>
                  <a:tcPr/>
                </a:tc>
                <a:tc>
                  <a:txBody>
                    <a:bodyPr/>
                    <a:lstStyle/>
                    <a:p>
                      <a:pPr algn="ctr"/>
                      <a:r>
                        <a:rPr lang="en-IN" dirty="0">
                          <a:solidFill>
                            <a:schemeClr val="tx1"/>
                          </a:solidFill>
                        </a:rPr>
                        <a:t>0</a:t>
                      </a:r>
                    </a:p>
                  </a:txBody>
                  <a:tcPr/>
                </a:tc>
                <a:extLst>
                  <a:ext uri="{0D108BD9-81ED-4DB2-BD59-A6C34878D82A}">
                    <a16:rowId xmlns:a16="http://schemas.microsoft.com/office/drawing/2014/main" val="1201081498"/>
                  </a:ext>
                </a:extLst>
              </a:tr>
              <a:tr h="370840">
                <a:tc>
                  <a:txBody>
                    <a:bodyPr/>
                    <a:lstStyle/>
                    <a:p>
                      <a:pPr algn="ctr"/>
                      <a:r>
                        <a:rPr lang="en-IN" dirty="0">
                          <a:solidFill>
                            <a:schemeClr val="tx1"/>
                          </a:solidFill>
                        </a:rPr>
                        <a:t>1</a:t>
                      </a:r>
                    </a:p>
                  </a:txBody>
                  <a:tcPr/>
                </a:tc>
                <a:tc>
                  <a:txBody>
                    <a:bodyPr/>
                    <a:lstStyle/>
                    <a:p>
                      <a:pPr algn="ctr"/>
                      <a:r>
                        <a:rPr lang="en-IN" dirty="0">
                          <a:solidFill>
                            <a:schemeClr val="tx1"/>
                          </a:solidFill>
                        </a:rPr>
                        <a:t>0</a:t>
                      </a:r>
                    </a:p>
                  </a:txBody>
                  <a:tcPr/>
                </a:tc>
                <a:tc>
                  <a:txBody>
                    <a:bodyPr/>
                    <a:lstStyle/>
                    <a:p>
                      <a:pPr algn="ctr"/>
                      <a:r>
                        <a:rPr lang="en-IN" dirty="0">
                          <a:solidFill>
                            <a:schemeClr val="tx1"/>
                          </a:solidFill>
                        </a:rPr>
                        <a:t>1</a:t>
                      </a:r>
                    </a:p>
                  </a:txBody>
                  <a:tcPr/>
                </a:tc>
                <a:tc>
                  <a:txBody>
                    <a:bodyPr/>
                    <a:lstStyle/>
                    <a:p>
                      <a:pPr algn="ctr"/>
                      <a:r>
                        <a:rPr lang="en-IN" dirty="0">
                          <a:solidFill>
                            <a:schemeClr val="tx1"/>
                          </a:solidFill>
                        </a:rPr>
                        <a:t>0</a:t>
                      </a:r>
                    </a:p>
                  </a:txBody>
                  <a:tcPr/>
                </a:tc>
                <a:extLst>
                  <a:ext uri="{0D108BD9-81ED-4DB2-BD59-A6C34878D82A}">
                    <a16:rowId xmlns:a16="http://schemas.microsoft.com/office/drawing/2014/main" val="2149650605"/>
                  </a:ext>
                </a:extLst>
              </a:tr>
              <a:tr h="370840">
                <a:tc>
                  <a:txBody>
                    <a:bodyPr/>
                    <a:lstStyle/>
                    <a:p>
                      <a:pPr algn="ctr"/>
                      <a:r>
                        <a:rPr lang="en-IN" dirty="0">
                          <a:solidFill>
                            <a:schemeClr val="tx1"/>
                          </a:solidFill>
                        </a:rPr>
                        <a:t>1</a:t>
                      </a:r>
                    </a:p>
                  </a:txBody>
                  <a:tcPr/>
                </a:tc>
                <a:tc>
                  <a:txBody>
                    <a:bodyPr/>
                    <a:lstStyle/>
                    <a:p>
                      <a:pPr algn="ctr"/>
                      <a:r>
                        <a:rPr lang="en-IN" dirty="0">
                          <a:solidFill>
                            <a:schemeClr val="tx1"/>
                          </a:solidFill>
                        </a:rPr>
                        <a:t>1</a:t>
                      </a:r>
                    </a:p>
                  </a:txBody>
                  <a:tcPr/>
                </a:tc>
                <a:tc>
                  <a:txBody>
                    <a:bodyPr/>
                    <a:lstStyle/>
                    <a:p>
                      <a:pPr algn="ctr"/>
                      <a:r>
                        <a:rPr lang="en-IN" dirty="0">
                          <a:solidFill>
                            <a:schemeClr val="tx1"/>
                          </a:solidFill>
                        </a:rPr>
                        <a:t>0</a:t>
                      </a:r>
                    </a:p>
                  </a:txBody>
                  <a:tcPr/>
                </a:tc>
                <a:tc>
                  <a:txBody>
                    <a:bodyPr/>
                    <a:lstStyle/>
                    <a:p>
                      <a:pPr algn="ctr"/>
                      <a:r>
                        <a:rPr lang="en-IN" dirty="0">
                          <a:solidFill>
                            <a:schemeClr val="tx1"/>
                          </a:solidFill>
                        </a:rPr>
                        <a:t>1</a:t>
                      </a:r>
                    </a:p>
                  </a:txBody>
                  <a:tcPr/>
                </a:tc>
                <a:extLst>
                  <a:ext uri="{0D108BD9-81ED-4DB2-BD59-A6C34878D82A}">
                    <a16:rowId xmlns:a16="http://schemas.microsoft.com/office/drawing/2014/main" val="2604889138"/>
                  </a:ext>
                </a:extLst>
              </a:tr>
            </a:tbl>
          </a:graphicData>
        </a:graphic>
      </p:graphicFrame>
    </p:spTree>
    <p:extLst>
      <p:ext uri="{BB962C8B-B14F-4D97-AF65-F5344CB8AC3E}">
        <p14:creationId xmlns:p14="http://schemas.microsoft.com/office/powerpoint/2010/main" val="14206614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40568-D6BF-39BA-FAC8-4900825ACB50}"/>
              </a:ext>
            </a:extLst>
          </p:cNvPr>
          <p:cNvSpPr>
            <a:spLocks noGrp="1"/>
          </p:cNvSpPr>
          <p:nvPr>
            <p:ph type="title"/>
          </p:nvPr>
        </p:nvSpPr>
        <p:spPr/>
        <p:txBody>
          <a:bodyPr/>
          <a:lstStyle/>
          <a:p>
            <a:pPr algn="ctr"/>
            <a:r>
              <a:rPr lang="en-IN" b="1" u="sng" dirty="0"/>
              <a:t>Circuit diagram</a:t>
            </a:r>
          </a:p>
        </p:txBody>
      </p:sp>
      <p:pic>
        <p:nvPicPr>
          <p:cNvPr id="5" name="Content Placeholder 4">
            <a:extLst>
              <a:ext uri="{FF2B5EF4-FFF2-40B4-BE49-F238E27FC236}">
                <a16:creationId xmlns:a16="http://schemas.microsoft.com/office/drawing/2014/main" id="{AFC611A9-7C30-6E34-4F17-D0233198B36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48169" y="2157731"/>
            <a:ext cx="7206144" cy="4003914"/>
          </a:xfrm>
        </p:spPr>
      </p:pic>
    </p:spTree>
    <p:extLst>
      <p:ext uri="{BB962C8B-B14F-4D97-AF65-F5344CB8AC3E}">
        <p14:creationId xmlns:p14="http://schemas.microsoft.com/office/powerpoint/2010/main" val="1082178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69264-9133-5FFD-277A-F3E3DDC1B636}"/>
              </a:ext>
            </a:extLst>
          </p:cNvPr>
          <p:cNvSpPr>
            <a:spLocks noGrp="1"/>
          </p:cNvSpPr>
          <p:nvPr>
            <p:ph type="title"/>
          </p:nvPr>
        </p:nvSpPr>
        <p:spPr/>
        <p:txBody>
          <a:bodyPr/>
          <a:lstStyle/>
          <a:p>
            <a:pPr algn="ctr"/>
            <a:r>
              <a:rPr lang="en-IN" b="1" u="sng" dirty="0"/>
              <a:t>Full Adder</a:t>
            </a:r>
          </a:p>
        </p:txBody>
      </p:sp>
      <p:sp>
        <p:nvSpPr>
          <p:cNvPr id="3" name="Content Placeholder 2">
            <a:extLst>
              <a:ext uri="{FF2B5EF4-FFF2-40B4-BE49-F238E27FC236}">
                <a16:creationId xmlns:a16="http://schemas.microsoft.com/office/drawing/2014/main" id="{81515F79-AD3D-17F1-2233-9EC11D1F4DCA}"/>
              </a:ext>
            </a:extLst>
          </p:cNvPr>
          <p:cNvSpPr>
            <a:spLocks noGrp="1"/>
          </p:cNvSpPr>
          <p:nvPr>
            <p:ph idx="1"/>
          </p:nvPr>
        </p:nvSpPr>
        <p:spPr/>
        <p:txBody>
          <a:bodyPr/>
          <a:lstStyle/>
          <a:p>
            <a:pPr algn="just"/>
            <a:r>
              <a:rPr lang="en-US" sz="3600" dirty="0"/>
              <a:t>Full Adder is the adder that adds three inputs and produces two outputs. The first two inputs are A and B and the third input is an input carry as C-IN. The output carry is designated as C-OUT and the normal output is designated as S which is SUM.</a:t>
            </a:r>
            <a:endParaRPr lang="en-IN" sz="3600" dirty="0"/>
          </a:p>
        </p:txBody>
      </p:sp>
    </p:spTree>
    <p:extLst>
      <p:ext uri="{BB962C8B-B14F-4D97-AF65-F5344CB8AC3E}">
        <p14:creationId xmlns:p14="http://schemas.microsoft.com/office/powerpoint/2010/main" val="37401686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210D5-0669-0947-8F7B-DE50A40BCB36}"/>
              </a:ext>
            </a:extLst>
          </p:cNvPr>
          <p:cNvSpPr>
            <a:spLocks noGrp="1"/>
          </p:cNvSpPr>
          <p:nvPr>
            <p:ph type="title"/>
          </p:nvPr>
        </p:nvSpPr>
        <p:spPr>
          <a:xfrm flipV="1">
            <a:off x="657225" y="292608"/>
            <a:ext cx="9894952" cy="206925"/>
          </a:xfrm>
        </p:spPr>
        <p:txBody>
          <a:bodyPr>
            <a:normAutofit fontScale="90000"/>
          </a:bodyPr>
          <a:lstStyle/>
          <a:p>
            <a:endParaRPr lang="en-IN" dirty="0"/>
          </a:p>
        </p:txBody>
      </p:sp>
      <p:pic>
        <p:nvPicPr>
          <p:cNvPr id="5" name="Content Placeholder 4">
            <a:extLst>
              <a:ext uri="{FF2B5EF4-FFF2-40B4-BE49-F238E27FC236}">
                <a16:creationId xmlns:a16="http://schemas.microsoft.com/office/drawing/2014/main" id="{84C489D4-D9B6-5C16-ABD0-15ED0D75A7D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88308" y="510910"/>
            <a:ext cx="8563283" cy="5836179"/>
          </a:xfrm>
        </p:spPr>
      </p:pic>
    </p:spTree>
    <p:extLst>
      <p:ext uri="{BB962C8B-B14F-4D97-AF65-F5344CB8AC3E}">
        <p14:creationId xmlns:p14="http://schemas.microsoft.com/office/powerpoint/2010/main" val="2410137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74285-E919-09B1-9E46-C8676691C071}"/>
              </a:ext>
            </a:extLst>
          </p:cNvPr>
          <p:cNvSpPr>
            <a:spLocks noGrp="1"/>
          </p:cNvSpPr>
          <p:nvPr>
            <p:ph type="title"/>
          </p:nvPr>
        </p:nvSpPr>
        <p:spPr>
          <a:xfrm flipV="1">
            <a:off x="1673352" y="374904"/>
            <a:ext cx="9756647" cy="124629"/>
          </a:xfrm>
        </p:spPr>
        <p:txBody>
          <a:bodyPr>
            <a:normAutofit fontScale="90000"/>
          </a:bodyPr>
          <a:lstStyle/>
          <a:p>
            <a:endParaRPr lang="en-IN"/>
          </a:p>
        </p:txBody>
      </p:sp>
      <p:pic>
        <p:nvPicPr>
          <p:cNvPr id="5" name="Content Placeholder 4">
            <a:extLst>
              <a:ext uri="{FF2B5EF4-FFF2-40B4-BE49-F238E27FC236}">
                <a16:creationId xmlns:a16="http://schemas.microsoft.com/office/drawing/2014/main" id="{F176B3CB-BE9C-13BE-1E77-541C5C1AFBF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10975" y="901891"/>
            <a:ext cx="9370385" cy="5054217"/>
          </a:xfrm>
        </p:spPr>
      </p:pic>
    </p:spTree>
    <p:extLst>
      <p:ext uri="{BB962C8B-B14F-4D97-AF65-F5344CB8AC3E}">
        <p14:creationId xmlns:p14="http://schemas.microsoft.com/office/powerpoint/2010/main" val="3367532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2FE99-011D-B5A6-7D6B-82E736FD789B}"/>
              </a:ext>
            </a:extLst>
          </p:cNvPr>
          <p:cNvSpPr>
            <a:spLocks noGrp="1"/>
          </p:cNvSpPr>
          <p:nvPr>
            <p:ph type="title"/>
          </p:nvPr>
        </p:nvSpPr>
        <p:spPr>
          <a:xfrm>
            <a:off x="484632" y="137160"/>
            <a:ext cx="10945749" cy="1772074"/>
          </a:xfrm>
        </p:spPr>
        <p:txBody>
          <a:bodyPr>
            <a:normAutofit fontScale="90000"/>
          </a:bodyPr>
          <a:lstStyle/>
          <a:p>
            <a:pPr algn="ctr"/>
            <a:br>
              <a:rPr lang="en-US" sz="6000" b="1" u="sng" dirty="0"/>
            </a:br>
            <a:r>
              <a:rPr lang="en-US" sz="6000" b="1" u="sng" dirty="0"/>
              <a:t>Implementation of Full Adder using Half Adders</a:t>
            </a:r>
            <a:br>
              <a:rPr lang="en-US" b="1" i="0" dirty="0">
                <a:solidFill>
                  <a:srgbClr val="FFFFFF"/>
                </a:solidFill>
                <a:effectLst/>
                <a:latin typeface="Nunito" pitchFamily="2" charset="0"/>
              </a:rPr>
            </a:br>
            <a:endParaRPr lang="en-IN" dirty="0"/>
          </a:p>
        </p:txBody>
      </p:sp>
      <p:pic>
        <p:nvPicPr>
          <p:cNvPr id="5" name="Content Placeholder 4">
            <a:extLst>
              <a:ext uri="{FF2B5EF4-FFF2-40B4-BE49-F238E27FC236}">
                <a16:creationId xmlns:a16="http://schemas.microsoft.com/office/drawing/2014/main" id="{730C28F3-BC19-70AD-7D03-2655426D2EE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49970" y="2048256"/>
            <a:ext cx="8325278" cy="3840480"/>
          </a:xfrm>
        </p:spPr>
      </p:pic>
    </p:spTree>
    <p:extLst>
      <p:ext uri="{BB962C8B-B14F-4D97-AF65-F5344CB8AC3E}">
        <p14:creationId xmlns:p14="http://schemas.microsoft.com/office/powerpoint/2010/main" val="18490033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7E35A-0813-CE96-3B3C-79D9C2C983D4}"/>
              </a:ext>
            </a:extLst>
          </p:cNvPr>
          <p:cNvSpPr>
            <a:spLocks noGrp="1"/>
          </p:cNvSpPr>
          <p:nvPr>
            <p:ph type="title"/>
          </p:nvPr>
        </p:nvSpPr>
        <p:spPr>
          <a:xfrm>
            <a:off x="1399032" y="499533"/>
            <a:ext cx="10030967" cy="149691"/>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E3B2B37D-1E43-5DD9-5789-A84015D1D610}"/>
              </a:ext>
            </a:extLst>
          </p:cNvPr>
          <p:cNvSpPr>
            <a:spLocks noGrp="1"/>
          </p:cNvSpPr>
          <p:nvPr>
            <p:ph idx="1"/>
          </p:nvPr>
        </p:nvSpPr>
        <p:spPr/>
        <p:txBody>
          <a:bodyPr>
            <a:normAutofit/>
          </a:bodyPr>
          <a:lstStyle/>
          <a:p>
            <a:r>
              <a:rPr lang="en-IN" sz="3200" b="1" dirty="0"/>
              <a:t>HW</a:t>
            </a:r>
          </a:p>
          <a:p>
            <a:r>
              <a:rPr lang="en-IN" sz="3200" b="1" dirty="0"/>
              <a:t>Implementation of Full and Half adder using NAND gates and NOR gates.</a:t>
            </a:r>
          </a:p>
          <a:p>
            <a:r>
              <a:rPr lang="en-IN" sz="3200" b="1" dirty="0"/>
              <a:t>Advantage ,Disadvantage and application of Half adder and Full adder.</a:t>
            </a:r>
          </a:p>
        </p:txBody>
      </p:sp>
    </p:spTree>
    <p:extLst>
      <p:ext uri="{BB962C8B-B14F-4D97-AF65-F5344CB8AC3E}">
        <p14:creationId xmlns:p14="http://schemas.microsoft.com/office/powerpoint/2010/main" val="289229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32197-F138-7443-0E61-A52BDA8FCC67}"/>
              </a:ext>
            </a:extLst>
          </p:cNvPr>
          <p:cNvSpPr>
            <a:spLocks noGrp="1"/>
          </p:cNvSpPr>
          <p:nvPr>
            <p:ph type="title"/>
          </p:nvPr>
        </p:nvSpPr>
        <p:spPr>
          <a:xfrm>
            <a:off x="657606" y="179493"/>
            <a:ext cx="10772775" cy="1146387"/>
          </a:xfrm>
        </p:spPr>
        <p:txBody>
          <a:bodyPr/>
          <a:lstStyle/>
          <a:p>
            <a:pPr algn="ctr"/>
            <a:r>
              <a:rPr lang="en-IN" b="1" u="sng" dirty="0"/>
              <a:t>Half Subtractor</a:t>
            </a:r>
          </a:p>
        </p:txBody>
      </p:sp>
      <p:sp>
        <p:nvSpPr>
          <p:cNvPr id="3" name="Content Placeholder 2">
            <a:extLst>
              <a:ext uri="{FF2B5EF4-FFF2-40B4-BE49-F238E27FC236}">
                <a16:creationId xmlns:a16="http://schemas.microsoft.com/office/drawing/2014/main" id="{6E860D73-6AF0-9B8E-C01B-0540CA635D9E}"/>
              </a:ext>
            </a:extLst>
          </p:cNvPr>
          <p:cNvSpPr>
            <a:spLocks noGrp="1"/>
          </p:cNvSpPr>
          <p:nvPr>
            <p:ph idx="1"/>
          </p:nvPr>
        </p:nvSpPr>
        <p:spPr>
          <a:xfrm>
            <a:off x="566928" y="1645920"/>
            <a:ext cx="11119104" cy="4398264"/>
          </a:xfrm>
        </p:spPr>
        <p:txBody>
          <a:bodyPr/>
          <a:lstStyle/>
          <a:p>
            <a:pPr algn="just"/>
            <a:r>
              <a:rPr lang="en-US" sz="3600" dirty="0"/>
              <a:t>Half subtractor is a combination circuit with two inputs and two outputs that are different and borrow. It produces the difference between the two binary bits at the input and also produces an output (Borrow) to indicate if a 1 has been borrowed. In the subtraction (A-B), A is called a Minuend bit and B is called a Subtrahend bit. </a:t>
            </a:r>
            <a:endParaRPr lang="en-IN" sz="3600" dirty="0"/>
          </a:p>
        </p:txBody>
      </p:sp>
    </p:spTree>
    <p:extLst>
      <p:ext uri="{BB962C8B-B14F-4D97-AF65-F5344CB8AC3E}">
        <p14:creationId xmlns:p14="http://schemas.microsoft.com/office/powerpoint/2010/main" val="4198596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70274-BC4D-480E-BCDD-49AD6A5C4C99}"/>
              </a:ext>
            </a:extLst>
          </p:cNvPr>
          <p:cNvSpPr>
            <a:spLocks noGrp="1"/>
          </p:cNvSpPr>
          <p:nvPr>
            <p:ph type="title"/>
          </p:nvPr>
        </p:nvSpPr>
        <p:spPr>
          <a:xfrm flipV="1">
            <a:off x="676274" y="310896"/>
            <a:ext cx="10753725" cy="188637"/>
          </a:xfrm>
        </p:spPr>
        <p:txBody>
          <a:bodyPr>
            <a:normAutofit fontScale="90000"/>
          </a:bodyPr>
          <a:lstStyle/>
          <a:p>
            <a:endParaRPr lang="en-IN" dirty="0"/>
          </a:p>
        </p:txBody>
      </p:sp>
      <p:pic>
        <p:nvPicPr>
          <p:cNvPr id="5" name="Content Placeholder 4">
            <a:extLst>
              <a:ext uri="{FF2B5EF4-FFF2-40B4-BE49-F238E27FC236}">
                <a16:creationId xmlns:a16="http://schemas.microsoft.com/office/drawing/2014/main" id="{4AE7877F-AF1A-DA0F-6514-3A1BDF0B0BE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24713" y="2039041"/>
            <a:ext cx="5083114" cy="2779918"/>
          </a:xfrm>
        </p:spPr>
      </p:pic>
      <p:pic>
        <p:nvPicPr>
          <p:cNvPr id="7" name="Picture 6">
            <a:extLst>
              <a:ext uri="{FF2B5EF4-FFF2-40B4-BE49-F238E27FC236}">
                <a16:creationId xmlns:a16="http://schemas.microsoft.com/office/drawing/2014/main" id="{596956A8-4235-C1D9-3853-27FA8A4493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9869" y="1676310"/>
            <a:ext cx="5264421" cy="3505380"/>
          </a:xfrm>
          <a:prstGeom prst="rect">
            <a:avLst/>
          </a:prstGeom>
        </p:spPr>
      </p:pic>
    </p:spTree>
    <p:extLst>
      <p:ext uri="{BB962C8B-B14F-4D97-AF65-F5344CB8AC3E}">
        <p14:creationId xmlns:p14="http://schemas.microsoft.com/office/powerpoint/2010/main" val="12239206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06C81-C679-29A2-DA39-7F81B05FB74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58FBF85-802A-BB7F-1986-680C5BEF152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17763" y="733541"/>
            <a:ext cx="7451695" cy="5624926"/>
          </a:xfrm>
        </p:spPr>
      </p:pic>
    </p:spTree>
    <p:extLst>
      <p:ext uri="{BB962C8B-B14F-4D97-AF65-F5344CB8AC3E}">
        <p14:creationId xmlns:p14="http://schemas.microsoft.com/office/powerpoint/2010/main" val="177464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A5CFD-FA5F-54AD-5F74-3AF59088296C}"/>
              </a:ext>
            </a:extLst>
          </p:cNvPr>
          <p:cNvSpPr>
            <a:spLocks noGrp="1"/>
          </p:cNvSpPr>
          <p:nvPr>
            <p:ph type="title"/>
          </p:nvPr>
        </p:nvSpPr>
        <p:spPr>
          <a:xfrm>
            <a:off x="657607" y="251036"/>
            <a:ext cx="10753726" cy="1257724"/>
          </a:xfrm>
        </p:spPr>
        <p:txBody>
          <a:bodyPr/>
          <a:lstStyle/>
          <a:p>
            <a:pPr algn="ctr"/>
            <a:r>
              <a:rPr lang="en-IN" b="1" u="sng" dirty="0"/>
              <a:t>Full Subtractor</a:t>
            </a:r>
          </a:p>
        </p:txBody>
      </p:sp>
      <p:sp>
        <p:nvSpPr>
          <p:cNvPr id="3" name="Content Placeholder 2">
            <a:extLst>
              <a:ext uri="{FF2B5EF4-FFF2-40B4-BE49-F238E27FC236}">
                <a16:creationId xmlns:a16="http://schemas.microsoft.com/office/drawing/2014/main" id="{59A2DE29-392B-6D54-903A-119E62026A3D}"/>
              </a:ext>
            </a:extLst>
          </p:cNvPr>
          <p:cNvSpPr>
            <a:spLocks noGrp="1"/>
          </p:cNvSpPr>
          <p:nvPr>
            <p:ph idx="1"/>
          </p:nvPr>
        </p:nvSpPr>
        <p:spPr>
          <a:xfrm>
            <a:off x="676656" y="1655064"/>
            <a:ext cx="10753725" cy="4122801"/>
          </a:xfrm>
        </p:spPr>
        <p:txBody>
          <a:bodyPr/>
          <a:lstStyle/>
          <a:p>
            <a:pPr algn="just"/>
            <a:r>
              <a:rPr lang="en-US" sz="3600" dirty="0"/>
              <a:t>A full subtractor is a combinational circuit that performs subtraction of two bits, one is minuend and other is subtrahend, taking into account borrow of the previous adjacent lower minuend bit. This circuit has three inputs and two outputs. The three inputs A, B and Bin, denote the minuend, subtrahend, and previous borrow, respectively. The two outputs, D and Bout represent the difference and output borrow.</a:t>
            </a:r>
            <a:endParaRPr lang="en-IN" sz="3600" dirty="0"/>
          </a:p>
        </p:txBody>
      </p:sp>
    </p:spTree>
    <p:extLst>
      <p:ext uri="{BB962C8B-B14F-4D97-AF65-F5344CB8AC3E}">
        <p14:creationId xmlns:p14="http://schemas.microsoft.com/office/powerpoint/2010/main" val="1823031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A5CFD-FA5F-54AD-5F74-3AF59088296C}"/>
              </a:ext>
            </a:extLst>
          </p:cNvPr>
          <p:cNvSpPr>
            <a:spLocks noGrp="1"/>
          </p:cNvSpPr>
          <p:nvPr>
            <p:ph type="title"/>
          </p:nvPr>
        </p:nvSpPr>
        <p:spPr>
          <a:xfrm>
            <a:off x="657607" y="251036"/>
            <a:ext cx="10753726" cy="1257724"/>
          </a:xfrm>
        </p:spPr>
        <p:txBody>
          <a:bodyPr/>
          <a:lstStyle/>
          <a:p>
            <a:pPr algn="ctr"/>
            <a:r>
              <a:rPr lang="en-IN" b="1" u="sng" dirty="0"/>
              <a:t>Full Subtractor</a:t>
            </a:r>
          </a:p>
        </p:txBody>
      </p:sp>
      <p:pic>
        <p:nvPicPr>
          <p:cNvPr id="5" name="Content Placeholder 4">
            <a:extLst>
              <a:ext uri="{FF2B5EF4-FFF2-40B4-BE49-F238E27FC236}">
                <a16:creationId xmlns:a16="http://schemas.microsoft.com/office/drawing/2014/main" id="{836850C9-9A41-8DE7-83BA-9961F8C1F2E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47288" y="2062134"/>
            <a:ext cx="5340096" cy="3391541"/>
          </a:xfrm>
        </p:spPr>
      </p:pic>
    </p:spTree>
    <p:extLst>
      <p:ext uri="{BB962C8B-B14F-4D97-AF65-F5344CB8AC3E}">
        <p14:creationId xmlns:p14="http://schemas.microsoft.com/office/powerpoint/2010/main" val="6497973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A5CFD-FA5F-54AD-5F74-3AF59088296C}"/>
              </a:ext>
            </a:extLst>
          </p:cNvPr>
          <p:cNvSpPr>
            <a:spLocks noGrp="1"/>
          </p:cNvSpPr>
          <p:nvPr>
            <p:ph type="title"/>
          </p:nvPr>
        </p:nvSpPr>
        <p:spPr>
          <a:xfrm>
            <a:off x="657607" y="251036"/>
            <a:ext cx="10753726" cy="1257724"/>
          </a:xfrm>
        </p:spPr>
        <p:txBody>
          <a:bodyPr/>
          <a:lstStyle/>
          <a:p>
            <a:pPr algn="ctr"/>
            <a:r>
              <a:rPr lang="en-IN" b="1" u="sng" dirty="0"/>
              <a:t>Full Subtractor</a:t>
            </a:r>
          </a:p>
        </p:txBody>
      </p:sp>
      <p:pic>
        <p:nvPicPr>
          <p:cNvPr id="7" name="Content Placeholder 6">
            <a:extLst>
              <a:ext uri="{FF2B5EF4-FFF2-40B4-BE49-F238E27FC236}">
                <a16:creationId xmlns:a16="http://schemas.microsoft.com/office/drawing/2014/main" id="{C45CB3C7-62B7-AFD3-2E34-E88633AE7E4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985873" y="1508760"/>
            <a:ext cx="5548520" cy="5077361"/>
          </a:xfrm>
        </p:spPr>
      </p:pic>
      <p:pic>
        <p:nvPicPr>
          <p:cNvPr id="9" name="Picture 8">
            <a:extLst>
              <a:ext uri="{FF2B5EF4-FFF2-40B4-BE49-F238E27FC236}">
                <a16:creationId xmlns:a16="http://schemas.microsoft.com/office/drawing/2014/main" id="{A751F711-69DF-4002-0151-7143078E3C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9491" y="1946075"/>
            <a:ext cx="5573000" cy="4381573"/>
          </a:xfrm>
          <a:prstGeom prst="rect">
            <a:avLst/>
          </a:prstGeom>
        </p:spPr>
      </p:pic>
    </p:spTree>
    <p:extLst>
      <p:ext uri="{BB962C8B-B14F-4D97-AF65-F5344CB8AC3E}">
        <p14:creationId xmlns:p14="http://schemas.microsoft.com/office/powerpoint/2010/main" val="597952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A5CFD-FA5F-54AD-5F74-3AF59088296C}"/>
              </a:ext>
            </a:extLst>
          </p:cNvPr>
          <p:cNvSpPr>
            <a:spLocks noGrp="1"/>
          </p:cNvSpPr>
          <p:nvPr>
            <p:ph type="title"/>
          </p:nvPr>
        </p:nvSpPr>
        <p:spPr>
          <a:xfrm>
            <a:off x="657607" y="251036"/>
            <a:ext cx="10753726" cy="1257724"/>
          </a:xfrm>
        </p:spPr>
        <p:txBody>
          <a:bodyPr/>
          <a:lstStyle/>
          <a:p>
            <a:pPr algn="ctr"/>
            <a:r>
              <a:rPr lang="en-IN" b="1" u="sng" dirty="0"/>
              <a:t>Full Subtractor</a:t>
            </a:r>
          </a:p>
        </p:txBody>
      </p:sp>
      <p:pic>
        <p:nvPicPr>
          <p:cNvPr id="6" name="Content Placeholder 5">
            <a:extLst>
              <a:ext uri="{FF2B5EF4-FFF2-40B4-BE49-F238E27FC236}">
                <a16:creationId xmlns:a16="http://schemas.microsoft.com/office/drawing/2014/main" id="{04C898C8-8BD9-E3A5-C78B-9569E8E0265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937423" y="1961200"/>
            <a:ext cx="5626389" cy="3562533"/>
          </a:xfrm>
        </p:spPr>
      </p:pic>
      <p:pic>
        <p:nvPicPr>
          <p:cNvPr id="10" name="Picture 9">
            <a:extLst>
              <a:ext uri="{FF2B5EF4-FFF2-40B4-BE49-F238E27FC236}">
                <a16:creationId xmlns:a16="http://schemas.microsoft.com/office/drawing/2014/main" id="{C21C3F31-9D46-8BA0-BD0D-47152304B6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754" y="1961200"/>
            <a:ext cx="5054860" cy="2368672"/>
          </a:xfrm>
          <a:prstGeom prst="rect">
            <a:avLst/>
          </a:prstGeom>
        </p:spPr>
      </p:pic>
    </p:spTree>
    <p:extLst>
      <p:ext uri="{BB962C8B-B14F-4D97-AF65-F5344CB8AC3E}">
        <p14:creationId xmlns:p14="http://schemas.microsoft.com/office/powerpoint/2010/main" val="24396564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A5CFD-FA5F-54AD-5F74-3AF59088296C}"/>
              </a:ext>
            </a:extLst>
          </p:cNvPr>
          <p:cNvSpPr>
            <a:spLocks noGrp="1"/>
          </p:cNvSpPr>
          <p:nvPr>
            <p:ph type="title"/>
          </p:nvPr>
        </p:nvSpPr>
        <p:spPr>
          <a:xfrm>
            <a:off x="657607" y="251036"/>
            <a:ext cx="10753726" cy="1257724"/>
          </a:xfrm>
        </p:spPr>
        <p:txBody>
          <a:bodyPr/>
          <a:lstStyle/>
          <a:p>
            <a:pPr algn="ctr"/>
            <a:r>
              <a:rPr lang="en-IN" b="1" u="sng" dirty="0"/>
              <a:t>Full Subtractor</a:t>
            </a:r>
          </a:p>
        </p:txBody>
      </p:sp>
      <p:pic>
        <p:nvPicPr>
          <p:cNvPr id="9" name="Picture 8">
            <a:extLst>
              <a:ext uri="{FF2B5EF4-FFF2-40B4-BE49-F238E27FC236}">
                <a16:creationId xmlns:a16="http://schemas.microsoft.com/office/drawing/2014/main" id="{C71805EE-D052-E191-89C3-0798556FDE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2456" y="1859606"/>
            <a:ext cx="10095799" cy="4441086"/>
          </a:xfrm>
          <a:prstGeom prst="rect">
            <a:avLst/>
          </a:prstGeom>
        </p:spPr>
      </p:pic>
      <p:sp>
        <p:nvSpPr>
          <p:cNvPr id="16" name="Content Placeholder 15">
            <a:extLst>
              <a:ext uri="{FF2B5EF4-FFF2-40B4-BE49-F238E27FC236}">
                <a16:creationId xmlns:a16="http://schemas.microsoft.com/office/drawing/2014/main" id="{FC0FF28B-E6BB-26E2-A6BD-1A5F7A32017F}"/>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39146965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A5CFD-FA5F-54AD-5F74-3AF59088296C}"/>
              </a:ext>
            </a:extLst>
          </p:cNvPr>
          <p:cNvSpPr>
            <a:spLocks noGrp="1"/>
          </p:cNvSpPr>
          <p:nvPr>
            <p:ph type="title"/>
          </p:nvPr>
        </p:nvSpPr>
        <p:spPr>
          <a:xfrm>
            <a:off x="657607" y="251036"/>
            <a:ext cx="10753726" cy="1257724"/>
          </a:xfrm>
        </p:spPr>
        <p:txBody>
          <a:bodyPr/>
          <a:lstStyle/>
          <a:p>
            <a:pPr algn="ctr"/>
            <a:r>
              <a:rPr lang="en-IN" b="1" u="sng" dirty="0"/>
              <a:t>Full Subtractor</a:t>
            </a:r>
          </a:p>
        </p:txBody>
      </p:sp>
      <p:pic>
        <p:nvPicPr>
          <p:cNvPr id="4" name="Content Placeholder 3">
            <a:extLst>
              <a:ext uri="{FF2B5EF4-FFF2-40B4-BE49-F238E27FC236}">
                <a16:creationId xmlns:a16="http://schemas.microsoft.com/office/drawing/2014/main" id="{348D7AD8-052A-FCC3-CE59-18606896190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95128" y="1837944"/>
            <a:ext cx="8949071" cy="4323177"/>
          </a:xfrm>
        </p:spPr>
      </p:pic>
    </p:spTree>
    <p:extLst>
      <p:ext uri="{BB962C8B-B14F-4D97-AF65-F5344CB8AC3E}">
        <p14:creationId xmlns:p14="http://schemas.microsoft.com/office/powerpoint/2010/main" val="30531780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B1BBF-1DE5-550F-64D8-85F669C392FD}"/>
              </a:ext>
            </a:extLst>
          </p:cNvPr>
          <p:cNvSpPr>
            <a:spLocks noGrp="1"/>
          </p:cNvSpPr>
          <p:nvPr>
            <p:ph type="title"/>
          </p:nvPr>
        </p:nvSpPr>
        <p:spPr/>
        <p:txBody>
          <a:bodyPr/>
          <a:lstStyle/>
          <a:p>
            <a:r>
              <a:rPr lang="en-IN" dirty="0"/>
              <a:t>HW</a:t>
            </a:r>
          </a:p>
        </p:txBody>
      </p:sp>
      <p:sp>
        <p:nvSpPr>
          <p:cNvPr id="3" name="Content Placeholder 2">
            <a:extLst>
              <a:ext uri="{FF2B5EF4-FFF2-40B4-BE49-F238E27FC236}">
                <a16:creationId xmlns:a16="http://schemas.microsoft.com/office/drawing/2014/main" id="{BDA21777-DE29-A20B-02A5-606C8DED057F}"/>
              </a:ext>
            </a:extLst>
          </p:cNvPr>
          <p:cNvSpPr>
            <a:spLocks noGrp="1"/>
          </p:cNvSpPr>
          <p:nvPr>
            <p:ph idx="1"/>
          </p:nvPr>
        </p:nvSpPr>
        <p:spPr/>
        <p:txBody>
          <a:bodyPr>
            <a:normAutofit/>
          </a:bodyPr>
          <a:lstStyle/>
          <a:p>
            <a:r>
              <a:rPr lang="en-IN" sz="3200" b="1" dirty="0"/>
              <a:t>Advantage , Disadvantage and Application of Half subtractor and full subtractor.</a:t>
            </a:r>
          </a:p>
          <a:p>
            <a:r>
              <a:rPr lang="en-IN" sz="3200" b="1" dirty="0"/>
              <a:t>Full Subtractor using NAND gates and NOR gates only.</a:t>
            </a:r>
          </a:p>
        </p:txBody>
      </p:sp>
    </p:spTree>
    <p:extLst>
      <p:ext uri="{BB962C8B-B14F-4D97-AF65-F5344CB8AC3E}">
        <p14:creationId xmlns:p14="http://schemas.microsoft.com/office/powerpoint/2010/main" val="3824194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docProps/app.xml><?xml version="1.0" encoding="utf-8"?>
<Properties xmlns="http://schemas.openxmlformats.org/officeDocument/2006/extended-properties" xmlns:vt="http://schemas.openxmlformats.org/officeDocument/2006/docPropsVTypes">
  <Template>TM03457491[[fn=Metropolitan]]</Template>
  <TotalTime>61</TotalTime>
  <Words>537</Words>
  <Application>Microsoft Office PowerPoint</Application>
  <PresentationFormat>Widescreen</PresentationFormat>
  <Paragraphs>55</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 Light</vt:lpstr>
      <vt:lpstr>Nunito</vt:lpstr>
      <vt:lpstr>Times New Roman</vt:lpstr>
      <vt:lpstr>Metropolitan</vt:lpstr>
      <vt:lpstr>Combinational circuit</vt:lpstr>
      <vt:lpstr>Design Procedure of Combinational circuit</vt:lpstr>
      <vt:lpstr>PowerPoint Presentation</vt:lpstr>
      <vt:lpstr>Half adder</vt:lpstr>
      <vt:lpstr>Circuit diagram</vt:lpstr>
      <vt:lpstr>Full Adder</vt:lpstr>
      <vt:lpstr>PowerPoint Presentation</vt:lpstr>
      <vt:lpstr>PowerPoint Presentation</vt:lpstr>
      <vt:lpstr> Implementation of Full Adder using Half Adders </vt:lpstr>
      <vt:lpstr>PowerPoint Presentation</vt:lpstr>
      <vt:lpstr>Half Subtractor</vt:lpstr>
      <vt:lpstr>PowerPoint Presentation</vt:lpstr>
      <vt:lpstr>PowerPoint Presentation</vt:lpstr>
      <vt:lpstr>Full Subtractor</vt:lpstr>
      <vt:lpstr>Full Subtractor</vt:lpstr>
      <vt:lpstr>Full Subtractor</vt:lpstr>
      <vt:lpstr>Full Subtractor</vt:lpstr>
      <vt:lpstr>Full Subtractor</vt:lpstr>
      <vt:lpstr>Full Subtractor</vt:lpstr>
      <vt:lpstr>HW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Combinational circuit</dc:title>
  <dc:creator>pritam adhikari</dc:creator>
  <cp:lastModifiedBy>pritam adhikari</cp:lastModifiedBy>
  <cp:revision>32</cp:revision>
  <dcterms:created xsi:type="dcterms:W3CDTF">2024-12-11T13:59:21Z</dcterms:created>
  <dcterms:modified xsi:type="dcterms:W3CDTF">2024-12-11T15:00:46Z</dcterms:modified>
</cp:coreProperties>
</file>