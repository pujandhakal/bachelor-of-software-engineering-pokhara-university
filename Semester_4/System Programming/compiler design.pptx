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59" r:id="rId4"/>
    <p:sldId id="257" r:id="rId5"/>
    <p:sldId id="260" r:id="rId6"/>
    <p:sldId id="261" r:id="rId7"/>
    <p:sldId id="262" r:id="rId8"/>
    <p:sldId id="263" r:id="rId9"/>
    <p:sldId id="264" r:id="rId10"/>
    <p:sldId id="265" r:id="rId11"/>
    <p:sldId id="272" r:id="rId12"/>
    <p:sldId id="266" r:id="rId13"/>
    <p:sldId id="267" r:id="rId14"/>
    <p:sldId id="269" r:id="rId15"/>
    <p:sldId id="270" r:id="rId16"/>
    <p:sldId id="271" r:id="rId17"/>
    <p:sldId id="273" r:id="rId18"/>
    <p:sldId id="274" r:id="rId19"/>
    <p:sldId id="275" r:id="rId20"/>
    <p:sldId id="268" r:id="rId21"/>
    <p:sldId id="276" r:id="rId22"/>
    <p:sldId id="277" r:id="rId23"/>
    <p:sldId id="278" r:id="rId24"/>
    <p:sldId id="279" r:id="rId25"/>
    <p:sldId id="292" r:id="rId26"/>
    <p:sldId id="280" r:id="rId27"/>
    <p:sldId id="281" r:id="rId28"/>
    <p:sldId id="287" r:id="rId29"/>
    <p:sldId id="282" r:id="rId30"/>
    <p:sldId id="283" r:id="rId31"/>
    <p:sldId id="284" r:id="rId32"/>
    <p:sldId id="285" r:id="rId33"/>
    <p:sldId id="286" r:id="rId34"/>
    <p:sldId id="288" r:id="rId35"/>
    <p:sldId id="289" r:id="rId36"/>
    <p:sldId id="290" r:id="rId37"/>
    <p:sldId id="29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73"/>
    <p:restoredTop sz="94567"/>
  </p:normalViewPr>
  <p:slideViewPr>
    <p:cSldViewPr snapToGrid="0">
      <p:cViewPr varScale="1">
        <p:scale>
          <a:sx n="127" d="100"/>
          <a:sy n="127" d="100"/>
        </p:scale>
        <p:origin x="4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D952F9-70A9-084C-AF2F-08737A445411}" type="datetimeFigureOut">
              <a:rPr lang="en-US" smtClean="0"/>
              <a:t>7/16/26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D1B3E47F-4263-774E-B81D-13AB3644EB7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640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52F9-70A9-084C-AF2F-08737A445411}"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3E47F-4263-774E-B81D-13AB3644EB7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95032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D952F9-70A9-084C-AF2F-08737A445411}"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3E47F-4263-774E-B81D-13AB3644EB7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9941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D952F9-70A9-084C-AF2F-08737A445411}"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3E47F-4263-774E-B81D-13AB3644EB7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9338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D952F9-70A9-084C-AF2F-08737A445411}"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B3E47F-4263-774E-B81D-13AB3644EB7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6831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D952F9-70A9-084C-AF2F-08737A445411}"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B3E47F-4263-774E-B81D-13AB3644EB7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3697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D952F9-70A9-084C-AF2F-08737A445411}"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B3E47F-4263-774E-B81D-13AB3644EB7E}" type="slidenum">
              <a:rPr lang="en-US" smtClean="0"/>
              <a:t>‹#›</a:t>
            </a:fld>
            <a:endParaRPr lang="en-US"/>
          </a:p>
        </p:txBody>
      </p:sp>
    </p:spTree>
    <p:extLst>
      <p:ext uri="{BB962C8B-B14F-4D97-AF65-F5344CB8AC3E}">
        <p14:creationId xmlns:p14="http://schemas.microsoft.com/office/powerpoint/2010/main" val="1805432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D952F9-70A9-084C-AF2F-08737A445411}"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B3E47F-4263-774E-B81D-13AB3644EB7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14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8D952F9-70A9-084C-AF2F-08737A445411}" type="datetimeFigureOut">
              <a:rPr lang="en-US" smtClean="0"/>
              <a:t>7/16/26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D1B3E47F-4263-774E-B81D-13AB3644EB7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1601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52F9-70A9-084C-AF2F-08737A445411}"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3E47F-4263-774E-B81D-13AB3644EB7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4464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D952F9-70A9-084C-AF2F-08737A445411}"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B3E47F-4263-774E-B81D-13AB3644EB7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2304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8D952F9-70A9-084C-AF2F-08737A445411}" type="datetimeFigureOut">
              <a:rPr lang="en-US" smtClean="0"/>
              <a:t>7/16/26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1B3E47F-4263-774E-B81D-13AB3644EB7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054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https://cdn1.byjus.com/wp-content/uploads/2022/01/parsing-types.pn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E0D3-89B6-2FE9-97BC-A6AC1817BEE2}"/>
              </a:ext>
            </a:extLst>
          </p:cNvPr>
          <p:cNvSpPr>
            <a:spLocks noGrp="1"/>
          </p:cNvSpPr>
          <p:nvPr>
            <p:ph type="ctrTitle"/>
          </p:nvPr>
        </p:nvSpPr>
        <p:spPr/>
        <p:txBody>
          <a:bodyPr/>
          <a:lstStyle/>
          <a:p>
            <a:r>
              <a:rPr lang="en-US" dirty="0"/>
              <a:t>Fundamental of Compiler Design</a:t>
            </a:r>
          </a:p>
        </p:txBody>
      </p:sp>
      <p:sp>
        <p:nvSpPr>
          <p:cNvPr id="3" name="Subtitle 2">
            <a:extLst>
              <a:ext uri="{FF2B5EF4-FFF2-40B4-BE49-F238E27FC236}">
                <a16:creationId xmlns:a16="http://schemas.microsoft.com/office/drawing/2014/main" id="{3FF87F0C-3779-0BBE-91CC-A65439FF47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5486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C7A3B-5756-A64C-A18F-C40FB890D2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CF95CD-D79A-E22D-4135-28662DCF2A7D}"/>
              </a:ext>
            </a:extLst>
          </p:cNvPr>
          <p:cNvSpPr>
            <a:spLocks noGrp="1"/>
          </p:cNvSpPr>
          <p:nvPr>
            <p:ph idx="1"/>
          </p:nvPr>
        </p:nvSpPr>
        <p:spPr>
          <a:xfrm>
            <a:off x="838200" y="3764604"/>
            <a:ext cx="9833043" cy="2728271"/>
          </a:xfrm>
        </p:spPr>
        <p:txBody>
          <a:bodyPr>
            <a:normAutofit/>
          </a:bodyPr>
          <a:lstStyle/>
          <a:p>
            <a:r>
              <a:rPr lang="en-US" b="0" i="0" dirty="0">
                <a:solidFill>
                  <a:srgbClr val="273239"/>
                </a:solidFill>
                <a:effectLst/>
                <a:latin typeface="Nunito" pitchFamily="2" charset="77"/>
              </a:rPr>
              <a:t>A compiler is software that translates or converts a program written in a high-level language (Source Language) into a low-level language (Machine Language or Assembly Language). Compiler design is the process of developing a compiler</a:t>
            </a:r>
          </a:p>
          <a:p>
            <a:endParaRPr lang="en-US" dirty="0"/>
          </a:p>
        </p:txBody>
      </p:sp>
      <p:pic>
        <p:nvPicPr>
          <p:cNvPr id="2050" name="Picture 2" descr="compilerDesignDiagram">
            <a:extLst>
              <a:ext uri="{FF2B5EF4-FFF2-40B4-BE49-F238E27FC236}">
                <a16:creationId xmlns:a16="http://schemas.microsoft.com/office/drawing/2014/main" id="{0640F876-D979-F488-716F-866CCA9E1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6560"/>
            <a:ext cx="9121838" cy="3234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05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9CEB-4FE9-38B9-2B71-DC5C829E23B2}"/>
              </a:ext>
            </a:extLst>
          </p:cNvPr>
          <p:cNvSpPr>
            <a:spLocks noGrp="1"/>
          </p:cNvSpPr>
          <p:nvPr>
            <p:ph type="title"/>
          </p:nvPr>
        </p:nvSpPr>
        <p:spPr/>
        <p:txBody>
          <a:bodyPr/>
          <a:lstStyle/>
          <a:p>
            <a:r>
              <a:rPr lang="en-US" dirty="0"/>
              <a:t>Operations of Compiler</a:t>
            </a:r>
          </a:p>
        </p:txBody>
      </p:sp>
      <p:sp>
        <p:nvSpPr>
          <p:cNvPr id="3" name="Content Placeholder 2">
            <a:extLst>
              <a:ext uri="{FF2B5EF4-FFF2-40B4-BE49-F238E27FC236}">
                <a16:creationId xmlns:a16="http://schemas.microsoft.com/office/drawing/2014/main" id="{1BC8F31A-D8AA-CA36-8DFB-B22F69F09DA6}"/>
              </a:ext>
            </a:extLst>
          </p:cNvPr>
          <p:cNvSpPr>
            <a:spLocks noGrp="1"/>
          </p:cNvSpPr>
          <p:nvPr>
            <p:ph idx="1"/>
          </p:nvPr>
        </p:nvSpPr>
        <p:spPr/>
        <p:txBody>
          <a:bodyPr>
            <a:normAutofit fontScale="47500" lnSpcReduction="20000"/>
          </a:bodyPr>
          <a:lstStyle/>
          <a:p>
            <a:pPr marL="0" indent="0" algn="just" rtl="0" fontAlgn="base">
              <a:spcAft>
                <a:spcPts val="750"/>
              </a:spcAft>
              <a:buNone/>
            </a:pPr>
            <a:r>
              <a:rPr lang="en-US" b="0" i="0" dirty="0">
                <a:solidFill>
                  <a:srgbClr val="273239"/>
                </a:solidFill>
                <a:effectLst/>
                <a:latin typeface="Nunito" pitchFamily="2" charset="77"/>
              </a:rPr>
              <a:t>These are some operations that are done by the compiler.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Breaks source programs into smaller parts.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Enables the creation of symbol tables and intermediate representations.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Helps in Error Detection.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Saves all codes and variables.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Analyses the full program and translates it.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Convert source code to machine code.</a:t>
            </a:r>
          </a:p>
          <a:p>
            <a:endParaRPr lang="en-US" dirty="0"/>
          </a:p>
        </p:txBody>
      </p:sp>
    </p:spTree>
    <p:extLst>
      <p:ext uri="{BB962C8B-B14F-4D97-AF65-F5344CB8AC3E}">
        <p14:creationId xmlns:p14="http://schemas.microsoft.com/office/powerpoint/2010/main" val="108548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7DC9D-38E5-B614-8AF1-2525B0C7E85A}"/>
              </a:ext>
            </a:extLst>
          </p:cNvPr>
          <p:cNvSpPr>
            <a:spLocks noGrp="1"/>
          </p:cNvSpPr>
          <p:nvPr>
            <p:ph type="title"/>
          </p:nvPr>
        </p:nvSpPr>
        <p:spPr/>
        <p:txBody>
          <a:bodyPr/>
          <a:lstStyle/>
          <a:p>
            <a:endParaRPr lang="en-US" dirty="0"/>
          </a:p>
        </p:txBody>
      </p:sp>
      <p:pic>
        <p:nvPicPr>
          <p:cNvPr id="1026" name="Picture 2" descr="high_level_language">
            <a:extLst>
              <a:ext uri="{FF2B5EF4-FFF2-40B4-BE49-F238E27FC236}">
                <a16:creationId xmlns:a16="http://schemas.microsoft.com/office/drawing/2014/main" id="{5E644B70-DAD5-820D-452C-8B65649B3D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53267" y="307104"/>
            <a:ext cx="6556917" cy="618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369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E87B4-52EB-211C-C3E7-EDA7DA7FEFF5}"/>
              </a:ext>
            </a:extLst>
          </p:cNvPr>
          <p:cNvSpPr>
            <a:spLocks noGrp="1"/>
          </p:cNvSpPr>
          <p:nvPr>
            <p:ph type="title"/>
          </p:nvPr>
        </p:nvSpPr>
        <p:spPr/>
        <p:txBody>
          <a:bodyPr/>
          <a:lstStyle/>
          <a:p>
            <a:r>
              <a:rPr lang="en-US" dirty="0"/>
              <a:t>Preprocessor</a:t>
            </a:r>
          </a:p>
        </p:txBody>
      </p:sp>
      <p:sp>
        <p:nvSpPr>
          <p:cNvPr id="3" name="Content Placeholder 2">
            <a:extLst>
              <a:ext uri="{FF2B5EF4-FFF2-40B4-BE49-F238E27FC236}">
                <a16:creationId xmlns:a16="http://schemas.microsoft.com/office/drawing/2014/main" id="{93024614-6913-6931-BEB0-F104B38FE4A0}"/>
              </a:ext>
            </a:extLst>
          </p:cNvPr>
          <p:cNvSpPr>
            <a:spLocks noGrp="1"/>
          </p:cNvSpPr>
          <p:nvPr>
            <p:ph idx="1"/>
          </p:nvPr>
        </p:nvSpPr>
        <p:spPr>
          <a:xfrm>
            <a:off x="838200" y="1906621"/>
            <a:ext cx="9601201" cy="4766553"/>
          </a:xfrm>
        </p:spPr>
        <p:txBody>
          <a:bodyPr>
            <a:normAutofit fontScale="85000" lnSpcReduction="20000"/>
          </a:bodyPr>
          <a:lstStyle/>
          <a:p>
            <a:pPr algn="l" rtl="0" fontAlgn="base">
              <a:spcAft>
                <a:spcPts val="750"/>
              </a:spcAft>
            </a:pPr>
            <a:r>
              <a:rPr lang="en-US" sz="2200" b="0" i="0" dirty="0">
                <a:solidFill>
                  <a:srgbClr val="273239"/>
                </a:solidFill>
                <a:effectLst/>
                <a:latin typeface="Times New Roman" panose="02020603050405020304" pitchFamily="18" charset="0"/>
                <a:cs typeface="Times New Roman" panose="02020603050405020304" pitchFamily="18" charset="0"/>
              </a:rPr>
              <a:t>Processes the source code before compilation begins.</a:t>
            </a:r>
          </a:p>
          <a:p>
            <a:pPr algn="l" rtl="0" fontAlgn="base">
              <a:spcAft>
                <a:spcPts val="750"/>
              </a:spcAft>
            </a:pPr>
            <a:r>
              <a:rPr lang="en-US" sz="2200" b="0" i="0" dirty="0">
                <a:solidFill>
                  <a:srgbClr val="273239"/>
                </a:solidFill>
                <a:effectLst/>
                <a:latin typeface="Times New Roman" panose="02020603050405020304" pitchFamily="18" charset="0"/>
                <a:cs typeface="Times New Roman" panose="02020603050405020304" pitchFamily="18" charset="0"/>
              </a:rPr>
              <a:t>It performs the following tasks:</a:t>
            </a:r>
          </a:p>
          <a:p>
            <a:pPr algn="l" fontAlgn="base">
              <a:spcAft>
                <a:spcPts val="1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File inclusion (#include)</a:t>
            </a:r>
          </a:p>
          <a:p>
            <a:pPr algn="l" fontAlgn="base">
              <a:spcAft>
                <a:spcPts val="1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Macro expansion (#define)</a:t>
            </a:r>
          </a:p>
          <a:p>
            <a:pPr algn="l" fontAlgn="base">
              <a:spcAft>
                <a:spcPts val="1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Removal of comments</a:t>
            </a:r>
          </a:p>
          <a:p>
            <a:pPr algn="l" fontAlgn="base">
              <a:spcAft>
                <a:spcPts val="1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Conditional compilation</a:t>
            </a:r>
          </a:p>
          <a:p>
            <a:pPr algn="l" rtl="0" fontAlgn="base">
              <a:spcAft>
                <a:spcPts val="750"/>
              </a:spcAft>
            </a:pPr>
            <a:r>
              <a:rPr lang="en-US" sz="2200" b="0" i="0" dirty="0">
                <a:solidFill>
                  <a:srgbClr val="273239"/>
                </a:solidFill>
                <a:effectLst/>
                <a:latin typeface="Times New Roman" panose="02020603050405020304" pitchFamily="18" charset="0"/>
                <a:cs typeface="Times New Roman" panose="02020603050405020304" pitchFamily="18" charset="0"/>
              </a:rPr>
              <a:t>Example:</a:t>
            </a:r>
            <a:br>
              <a:rPr lang="en-US" sz="2200" b="0" i="0" dirty="0">
                <a:solidFill>
                  <a:srgbClr val="273239"/>
                </a:solidFill>
                <a:effectLst/>
                <a:latin typeface="Times New Roman" panose="02020603050405020304" pitchFamily="18" charset="0"/>
                <a:cs typeface="Times New Roman" panose="02020603050405020304" pitchFamily="18" charset="0"/>
              </a:rPr>
            </a:br>
            <a:r>
              <a:rPr lang="en-US" sz="2200" b="0" i="0" dirty="0">
                <a:solidFill>
                  <a:srgbClr val="273239"/>
                </a:solidFill>
                <a:effectLst/>
                <a:latin typeface="Times New Roman" panose="02020603050405020304" pitchFamily="18" charset="0"/>
                <a:cs typeface="Times New Roman" panose="02020603050405020304" pitchFamily="18" charset="0"/>
              </a:rPr>
              <a:t>If the program contains #include &lt;</a:t>
            </a:r>
            <a:r>
              <a:rPr lang="en-US" sz="2200" b="0" i="0" dirty="0" err="1">
                <a:solidFill>
                  <a:srgbClr val="273239"/>
                </a:solidFill>
                <a:effectLst/>
                <a:latin typeface="Times New Roman" panose="02020603050405020304" pitchFamily="18" charset="0"/>
                <a:cs typeface="Times New Roman" panose="02020603050405020304" pitchFamily="18" charset="0"/>
              </a:rPr>
              <a:t>stdio.h</a:t>
            </a:r>
            <a:r>
              <a:rPr lang="en-US" sz="2200" b="0" i="0" dirty="0">
                <a:solidFill>
                  <a:srgbClr val="273239"/>
                </a:solidFill>
                <a:effectLst/>
                <a:latin typeface="Times New Roman" panose="02020603050405020304" pitchFamily="18" charset="0"/>
                <a:cs typeface="Times New Roman" panose="02020603050405020304" pitchFamily="18" charset="0"/>
              </a:rPr>
              <a:t>&gt;, the preprocessor replaces this directive with the actual contents of the </a:t>
            </a:r>
            <a:r>
              <a:rPr lang="en-US" sz="2200" b="0" i="0" dirty="0" err="1">
                <a:solidFill>
                  <a:srgbClr val="273239"/>
                </a:solidFill>
                <a:effectLst/>
                <a:latin typeface="Times New Roman" panose="02020603050405020304" pitchFamily="18" charset="0"/>
                <a:cs typeface="Times New Roman" panose="02020603050405020304" pitchFamily="18" charset="0"/>
              </a:rPr>
              <a:t>stdio.h</a:t>
            </a:r>
            <a:r>
              <a:rPr lang="en-US" sz="2200" b="0" i="0" dirty="0">
                <a:solidFill>
                  <a:srgbClr val="273239"/>
                </a:solidFill>
                <a:effectLst/>
                <a:latin typeface="Times New Roman" panose="02020603050405020304" pitchFamily="18" charset="0"/>
                <a:cs typeface="Times New Roman" panose="02020603050405020304" pitchFamily="18" charset="0"/>
              </a:rPr>
              <a:t> file in the output.</a:t>
            </a:r>
          </a:p>
          <a:p>
            <a:endParaRPr lang="en-US" dirty="0"/>
          </a:p>
        </p:txBody>
      </p:sp>
    </p:spTree>
    <p:extLst>
      <p:ext uri="{BB962C8B-B14F-4D97-AF65-F5344CB8AC3E}">
        <p14:creationId xmlns:p14="http://schemas.microsoft.com/office/powerpoint/2010/main" val="494965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4D0D-E6D4-794F-50F3-AF6C8ADB8645}"/>
              </a:ext>
            </a:extLst>
          </p:cNvPr>
          <p:cNvSpPr>
            <a:spLocks noGrp="1"/>
          </p:cNvSpPr>
          <p:nvPr>
            <p:ph type="title"/>
          </p:nvPr>
        </p:nvSpPr>
        <p:spPr/>
        <p:txBody>
          <a:bodyPr/>
          <a:lstStyle/>
          <a:p>
            <a:r>
              <a:rPr lang="en-US" dirty="0"/>
              <a:t>Assembler</a:t>
            </a:r>
          </a:p>
        </p:txBody>
      </p:sp>
      <p:sp>
        <p:nvSpPr>
          <p:cNvPr id="3" name="Content Placeholder 2">
            <a:extLst>
              <a:ext uri="{FF2B5EF4-FFF2-40B4-BE49-F238E27FC236}">
                <a16:creationId xmlns:a16="http://schemas.microsoft.com/office/drawing/2014/main" id="{3F4CCDE2-97FB-85D2-6966-5729DA0593CB}"/>
              </a:ext>
            </a:extLst>
          </p:cNvPr>
          <p:cNvSpPr>
            <a:spLocks noGrp="1"/>
          </p:cNvSpPr>
          <p:nvPr>
            <p:ph idx="1"/>
          </p:nvPr>
        </p:nvSpPr>
        <p:spPr/>
        <p:txBody>
          <a:bodyPr/>
          <a:lstStyle/>
          <a:p>
            <a:pPr algn="l" rtl="0" fontAlgn="base">
              <a:spcAft>
                <a:spcPts val="750"/>
              </a:spcAft>
            </a:pPr>
            <a:r>
              <a:rPr lang="en-US" b="0" i="0" dirty="0">
                <a:solidFill>
                  <a:srgbClr val="273239"/>
                </a:solidFill>
                <a:effectLst/>
                <a:latin typeface="Nunito" pitchFamily="2" charset="77"/>
              </a:rPr>
              <a:t>Assembly language is neither pure binary nor a high-level language. It is a low-level language that uses symbolic instructions to represent machine code.</a:t>
            </a:r>
          </a:p>
          <a:p>
            <a:pPr algn="l" rtl="0" fontAlgn="base">
              <a:spcAft>
                <a:spcPts val="750"/>
              </a:spcAft>
            </a:pPr>
            <a:r>
              <a:rPr lang="en-US" b="0" i="0" dirty="0">
                <a:solidFill>
                  <a:srgbClr val="273239"/>
                </a:solidFill>
                <a:effectLst/>
                <a:latin typeface="Nunito" pitchFamily="2" charset="77"/>
              </a:rPr>
              <a:t>The assembler converts assembly language into machine code.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It is platform-dependent (different systems require different assemblers).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The output produced is called an object file.</a:t>
            </a:r>
          </a:p>
          <a:p>
            <a:endParaRPr lang="en-US" dirty="0"/>
          </a:p>
        </p:txBody>
      </p:sp>
    </p:spTree>
    <p:extLst>
      <p:ext uri="{BB962C8B-B14F-4D97-AF65-F5344CB8AC3E}">
        <p14:creationId xmlns:p14="http://schemas.microsoft.com/office/powerpoint/2010/main" val="1479196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61E5-78B0-8543-7AFF-832A1D6637D3}"/>
              </a:ext>
            </a:extLst>
          </p:cNvPr>
          <p:cNvSpPr>
            <a:spLocks noGrp="1"/>
          </p:cNvSpPr>
          <p:nvPr>
            <p:ph type="title"/>
          </p:nvPr>
        </p:nvSpPr>
        <p:spPr/>
        <p:txBody>
          <a:bodyPr/>
          <a:lstStyle/>
          <a:p>
            <a:r>
              <a:rPr lang="en-US" dirty="0"/>
              <a:t>Compiler</a:t>
            </a:r>
          </a:p>
        </p:txBody>
      </p:sp>
      <p:sp>
        <p:nvSpPr>
          <p:cNvPr id="3" name="Content Placeholder 2">
            <a:extLst>
              <a:ext uri="{FF2B5EF4-FFF2-40B4-BE49-F238E27FC236}">
                <a16:creationId xmlns:a16="http://schemas.microsoft.com/office/drawing/2014/main" id="{A183826A-D9ED-A865-0DD8-F0FEAEA69EED}"/>
              </a:ext>
            </a:extLst>
          </p:cNvPr>
          <p:cNvSpPr>
            <a:spLocks noGrp="1"/>
          </p:cNvSpPr>
          <p:nvPr>
            <p:ph idx="1"/>
          </p:nvPr>
        </p:nvSpPr>
        <p:spPr>
          <a:xfrm>
            <a:off x="369651" y="1585610"/>
            <a:ext cx="10984149" cy="5272390"/>
          </a:xfrm>
        </p:spPr>
        <p:txBody>
          <a:bodyPr>
            <a:normAutofit fontScale="85000" lnSpcReduction="10000"/>
          </a:bodyPr>
          <a:lstStyle/>
          <a:p>
            <a:pPr algn="l" rtl="0" fontAlgn="base">
              <a:spcAft>
                <a:spcPts val="750"/>
              </a:spcAft>
            </a:pPr>
            <a:r>
              <a:rPr lang="en-US" b="0" i="0" dirty="0">
                <a:solidFill>
                  <a:srgbClr val="273239"/>
                </a:solidFill>
                <a:effectLst/>
                <a:latin typeface="Nunito" pitchFamily="2" charset="77"/>
              </a:rPr>
              <a:t>A compiler is a system program that translates an entire high-level language program into machine code.</a:t>
            </a:r>
          </a:p>
          <a:p>
            <a:pPr algn="l" rtl="0" fontAlgn="base">
              <a:spcAft>
                <a:spcPts val="750"/>
              </a:spcAft>
            </a:pPr>
            <a:r>
              <a:rPr lang="en-US" b="0" i="0" dirty="0">
                <a:solidFill>
                  <a:srgbClr val="273239"/>
                </a:solidFill>
                <a:effectLst/>
                <a:latin typeface="Nunito" pitchFamily="2" charset="77"/>
              </a:rPr>
              <a:t>It performs: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Syntax checking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Semantic analysis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Error detection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Code optimization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Generation of assembly or machine code</a:t>
            </a:r>
          </a:p>
          <a:p>
            <a:pPr marL="0" indent="0" algn="l" fontAlgn="base">
              <a:spcAft>
                <a:spcPts val="1800"/>
              </a:spcAft>
              <a:buNone/>
            </a:pPr>
            <a:r>
              <a:rPr lang="en-US" b="0" i="0" dirty="0">
                <a:solidFill>
                  <a:srgbClr val="273239"/>
                </a:solidFill>
                <a:effectLst/>
                <a:latin typeface="Nunito" pitchFamily="2" charset="77"/>
              </a:rPr>
              <a:t>A compiler processes the entire program at once and then generates the output file. Compilation may take more time and memory, but the resulting program runs faster.</a:t>
            </a:r>
          </a:p>
          <a:p>
            <a:endParaRPr lang="en-US" dirty="0"/>
          </a:p>
        </p:txBody>
      </p:sp>
    </p:spTree>
    <p:extLst>
      <p:ext uri="{BB962C8B-B14F-4D97-AF65-F5344CB8AC3E}">
        <p14:creationId xmlns:p14="http://schemas.microsoft.com/office/powerpoint/2010/main" val="3743657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C0FB-5DCF-3A84-05D9-5D757BC3C808}"/>
              </a:ext>
            </a:extLst>
          </p:cNvPr>
          <p:cNvSpPr>
            <a:spLocks noGrp="1"/>
          </p:cNvSpPr>
          <p:nvPr>
            <p:ph type="title"/>
          </p:nvPr>
        </p:nvSpPr>
        <p:spPr/>
        <p:txBody>
          <a:bodyPr/>
          <a:lstStyle/>
          <a:p>
            <a:r>
              <a:rPr lang="en-US" dirty="0"/>
              <a:t>Linker</a:t>
            </a:r>
          </a:p>
        </p:txBody>
      </p:sp>
      <p:sp>
        <p:nvSpPr>
          <p:cNvPr id="3" name="Content Placeholder 2">
            <a:extLst>
              <a:ext uri="{FF2B5EF4-FFF2-40B4-BE49-F238E27FC236}">
                <a16:creationId xmlns:a16="http://schemas.microsoft.com/office/drawing/2014/main" id="{4E34A871-D154-4A91-081B-445C393C5405}"/>
              </a:ext>
            </a:extLst>
          </p:cNvPr>
          <p:cNvSpPr>
            <a:spLocks noGrp="1"/>
          </p:cNvSpPr>
          <p:nvPr>
            <p:ph idx="1"/>
          </p:nvPr>
        </p:nvSpPr>
        <p:spPr/>
        <p:txBody>
          <a:bodyPr>
            <a:normAutofit fontScale="77500" lnSpcReduction="20000"/>
          </a:bodyPr>
          <a:lstStyle/>
          <a:p>
            <a:pPr marL="0" indent="0" algn="l" rtl="0" fontAlgn="base">
              <a:spcAft>
                <a:spcPts val="750"/>
              </a:spcAft>
              <a:buNone/>
            </a:pPr>
            <a:r>
              <a:rPr lang="en-US" b="0" i="0" dirty="0">
                <a:solidFill>
                  <a:srgbClr val="273239"/>
                </a:solidFill>
                <a:effectLst/>
                <a:latin typeface="Nunito" pitchFamily="2" charset="77"/>
              </a:rPr>
              <a:t>Combines multiple object files into a single executable file.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Merges object codes produced by the compiler and assembler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Resolves external references (functions and variables)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Links standard library functions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77"/>
              </a:rPr>
              <a:t>Produces an executable file</a:t>
            </a:r>
          </a:p>
          <a:p>
            <a:pPr marL="0" indent="0">
              <a:buNone/>
            </a:pPr>
            <a:br>
              <a:rPr lang="en-US" dirty="0"/>
            </a:br>
            <a:endParaRPr lang="en-US" dirty="0"/>
          </a:p>
        </p:txBody>
      </p:sp>
    </p:spTree>
    <p:extLst>
      <p:ext uri="{BB962C8B-B14F-4D97-AF65-F5344CB8AC3E}">
        <p14:creationId xmlns:p14="http://schemas.microsoft.com/office/powerpoint/2010/main" val="3912412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B77F-CF6C-590A-11C5-AE8111E2B490}"/>
              </a:ext>
            </a:extLst>
          </p:cNvPr>
          <p:cNvSpPr>
            <a:spLocks noGrp="1"/>
          </p:cNvSpPr>
          <p:nvPr>
            <p:ph type="title"/>
          </p:nvPr>
        </p:nvSpPr>
        <p:spPr/>
        <p:txBody>
          <a:bodyPr/>
          <a:lstStyle/>
          <a:p>
            <a:r>
              <a:rPr lang="en-US" dirty="0"/>
              <a:t>Loader</a:t>
            </a:r>
          </a:p>
        </p:txBody>
      </p:sp>
      <p:sp>
        <p:nvSpPr>
          <p:cNvPr id="3" name="Content Placeholder 2">
            <a:extLst>
              <a:ext uri="{FF2B5EF4-FFF2-40B4-BE49-F238E27FC236}">
                <a16:creationId xmlns:a16="http://schemas.microsoft.com/office/drawing/2014/main" id="{89F97E79-B645-8E16-E371-0D266731B3D8}"/>
              </a:ext>
            </a:extLst>
          </p:cNvPr>
          <p:cNvSpPr>
            <a:spLocks noGrp="1"/>
          </p:cNvSpPr>
          <p:nvPr>
            <p:ph idx="1"/>
          </p:nvPr>
        </p:nvSpPr>
        <p:spPr/>
        <p:txBody>
          <a:bodyPr>
            <a:normAutofit fontScale="85000" lnSpcReduction="20000"/>
          </a:bodyPr>
          <a:lstStyle/>
          <a:p>
            <a:pPr algn="l" rtl="0" fontAlgn="base">
              <a:spcAft>
                <a:spcPts val="750"/>
              </a:spcAft>
            </a:pPr>
            <a:r>
              <a:rPr lang="en-US" b="0" i="0" dirty="0">
                <a:solidFill>
                  <a:srgbClr val="273239"/>
                </a:solidFill>
                <a:effectLst/>
                <a:latin typeface="Nunito" pitchFamily="2" charset="77"/>
              </a:rPr>
              <a:t>The loader loads the executable file into main memory for execution.</a:t>
            </a:r>
          </a:p>
          <a:p>
            <a:pPr algn="l" rtl="0" fontAlgn="base">
              <a:spcAft>
                <a:spcPts val="750"/>
              </a:spcAft>
            </a:pPr>
            <a:r>
              <a:rPr lang="en-US" b="0" i="0" dirty="0">
                <a:solidFill>
                  <a:srgbClr val="273239"/>
                </a:solidFill>
                <a:effectLst/>
                <a:latin typeface="Nunito" pitchFamily="2" charset="77"/>
              </a:rPr>
              <a:t>Since the code generated by the compiler and linker is usually </a:t>
            </a:r>
            <a:r>
              <a:rPr lang="en-US" b="1" i="0" dirty="0">
                <a:solidFill>
                  <a:srgbClr val="273239"/>
                </a:solidFill>
                <a:effectLst/>
                <a:latin typeface="Nunito" pitchFamily="2" charset="77"/>
              </a:rPr>
              <a:t>relocatable</a:t>
            </a:r>
            <a:r>
              <a:rPr lang="en-US" b="0" i="0" dirty="0">
                <a:solidFill>
                  <a:srgbClr val="273239"/>
                </a:solidFill>
                <a:effectLst/>
                <a:latin typeface="Nunito" pitchFamily="2" charset="77"/>
              </a:rPr>
              <a:t> (its starting address is not fixed), the loader:</a:t>
            </a:r>
          </a:p>
          <a:p>
            <a:pPr lvl="1" fontAlgn="base">
              <a:spcAft>
                <a:spcPts val="1800"/>
              </a:spcAft>
            </a:pPr>
            <a:r>
              <a:rPr lang="en-US" b="0" i="0" dirty="0">
                <a:solidFill>
                  <a:srgbClr val="273239"/>
                </a:solidFill>
                <a:effectLst/>
                <a:latin typeface="Nunito" pitchFamily="2" charset="77"/>
              </a:rPr>
              <a:t>Assigns actual memory addresses</a:t>
            </a:r>
          </a:p>
          <a:p>
            <a:pPr lvl="1" fontAlgn="base">
              <a:spcAft>
                <a:spcPts val="1800"/>
              </a:spcAft>
            </a:pPr>
            <a:r>
              <a:rPr lang="en-US" b="0" i="0" dirty="0">
                <a:solidFill>
                  <a:srgbClr val="273239"/>
                </a:solidFill>
                <a:effectLst/>
                <a:latin typeface="Nunito" pitchFamily="2" charset="77"/>
              </a:rPr>
              <a:t>Performs relocation</a:t>
            </a:r>
          </a:p>
          <a:p>
            <a:pPr lvl="1" fontAlgn="base">
              <a:spcAft>
                <a:spcPts val="1800"/>
              </a:spcAft>
            </a:pPr>
            <a:r>
              <a:rPr lang="en-US" b="0" i="0" dirty="0">
                <a:solidFill>
                  <a:srgbClr val="273239"/>
                </a:solidFill>
                <a:effectLst/>
                <a:latin typeface="Nunito" pitchFamily="2" charset="77"/>
              </a:rPr>
              <a:t>Prepares the program for execution</a:t>
            </a:r>
          </a:p>
          <a:p>
            <a:pPr lvl="1" fontAlgn="base">
              <a:spcAft>
                <a:spcPts val="1800"/>
              </a:spcAft>
            </a:pPr>
            <a:r>
              <a:rPr lang="en-US" b="0" i="0" dirty="0">
                <a:solidFill>
                  <a:srgbClr val="273239"/>
                </a:solidFill>
                <a:effectLst/>
                <a:latin typeface="Nunito" pitchFamily="2" charset="77"/>
              </a:rPr>
              <a:t>Starts the program</a:t>
            </a:r>
          </a:p>
          <a:p>
            <a:endParaRPr lang="en-US" dirty="0"/>
          </a:p>
        </p:txBody>
      </p:sp>
    </p:spTree>
    <p:extLst>
      <p:ext uri="{BB962C8B-B14F-4D97-AF65-F5344CB8AC3E}">
        <p14:creationId xmlns:p14="http://schemas.microsoft.com/office/powerpoint/2010/main" val="205712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63DC7-CA43-FF0D-D755-2D9D2B5A48C6}"/>
              </a:ext>
            </a:extLst>
          </p:cNvPr>
          <p:cNvSpPr>
            <a:spLocks noGrp="1"/>
          </p:cNvSpPr>
          <p:nvPr>
            <p:ph type="title"/>
          </p:nvPr>
        </p:nvSpPr>
        <p:spPr/>
        <p:txBody>
          <a:bodyPr/>
          <a:lstStyle/>
          <a:p>
            <a:r>
              <a:rPr lang="en-US" dirty="0"/>
              <a:t>Compiler Functions</a:t>
            </a:r>
          </a:p>
        </p:txBody>
      </p:sp>
      <p:pic>
        <p:nvPicPr>
          <p:cNvPr id="3074" name="Picture 2" descr="Phase of compiler">
            <a:extLst>
              <a:ext uri="{FF2B5EF4-FFF2-40B4-BE49-F238E27FC236}">
                <a16:creationId xmlns:a16="http://schemas.microsoft.com/office/drawing/2014/main" id="{C323AC6E-73A8-5752-3FC1-33A9FE5EA5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6229" y="1391327"/>
            <a:ext cx="8500770" cy="5670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3233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6E65-8421-8C28-A269-633C05A8DDE3}"/>
              </a:ext>
            </a:extLst>
          </p:cNvPr>
          <p:cNvSpPr>
            <a:spLocks noGrp="1"/>
          </p:cNvSpPr>
          <p:nvPr>
            <p:ph type="title"/>
          </p:nvPr>
        </p:nvSpPr>
        <p:spPr/>
        <p:txBody>
          <a:bodyPr/>
          <a:lstStyle/>
          <a:p>
            <a:endParaRPr lang="en-US"/>
          </a:p>
        </p:txBody>
      </p:sp>
      <p:pic>
        <p:nvPicPr>
          <p:cNvPr id="5" name="Content Placeholder 4" descr="A diagram of a program&#10;&#10;AI-generated content may be incorrect.">
            <a:extLst>
              <a:ext uri="{FF2B5EF4-FFF2-40B4-BE49-F238E27FC236}">
                <a16:creationId xmlns:a16="http://schemas.microsoft.com/office/drawing/2014/main" id="{A7507303-6876-8F4B-1B62-C6D16222A8E1}"/>
              </a:ext>
            </a:extLst>
          </p:cNvPr>
          <p:cNvPicPr>
            <a:picLocks noGrp="1" noChangeAspect="1"/>
          </p:cNvPicPr>
          <p:nvPr>
            <p:ph idx="1"/>
          </p:nvPr>
        </p:nvPicPr>
        <p:blipFill>
          <a:blip r:embed="rId2"/>
          <a:stretch>
            <a:fillRect/>
          </a:stretch>
        </p:blipFill>
        <p:spPr>
          <a:xfrm>
            <a:off x="2867891" y="10556"/>
            <a:ext cx="5538899" cy="6847443"/>
          </a:xfrm>
        </p:spPr>
      </p:pic>
    </p:spTree>
    <p:extLst>
      <p:ext uri="{BB962C8B-B14F-4D97-AF65-F5344CB8AC3E}">
        <p14:creationId xmlns:p14="http://schemas.microsoft.com/office/powerpoint/2010/main" val="948391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08AA-F6A7-6DFC-E2C4-34AD19E56E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8ECBBF-06AB-ADC5-4B91-26462A462099}"/>
              </a:ext>
            </a:extLst>
          </p:cNvPr>
          <p:cNvSpPr>
            <a:spLocks noGrp="1"/>
          </p:cNvSpPr>
          <p:nvPr>
            <p:ph idx="1"/>
          </p:nvPr>
        </p:nvSpPr>
        <p:spPr>
          <a:xfrm>
            <a:off x="838200" y="1825625"/>
            <a:ext cx="10515600" cy="5129652"/>
          </a:xfrm>
        </p:spPr>
        <p:txBody>
          <a:bodyPr/>
          <a:lstStyle/>
          <a:p>
            <a:pPr algn="l">
              <a:lnSpc>
                <a:spcPct val="150000"/>
              </a:lnSpc>
              <a:spcAft>
                <a:spcPts val="1200"/>
              </a:spcAft>
            </a:pPr>
            <a:r>
              <a:rPr lang="en-US" sz="2000" b="0" i="0" dirty="0">
                <a:solidFill>
                  <a:srgbClr val="444444"/>
                </a:solidFill>
                <a:effectLst/>
                <a:latin typeface="Times New Roman" panose="02020603050405020304" pitchFamily="18" charset="0"/>
                <a:cs typeface="Times New Roman" panose="02020603050405020304" pitchFamily="18" charset="0"/>
              </a:rPr>
              <a:t>Lexical analysis or Lexical analyzer is the initial stage or phase of the compiler. This phase scans the source code and transforms the input program into a series of a token.</a:t>
            </a:r>
          </a:p>
          <a:p>
            <a:pPr algn="l">
              <a:lnSpc>
                <a:spcPct val="150000"/>
              </a:lnSpc>
              <a:spcAft>
                <a:spcPts val="1200"/>
              </a:spcAft>
            </a:pPr>
            <a:r>
              <a:rPr lang="en-US" sz="2000" b="0" i="0" dirty="0">
                <a:solidFill>
                  <a:srgbClr val="444444"/>
                </a:solidFill>
                <a:effectLst/>
                <a:latin typeface="Times New Roman" panose="02020603050405020304" pitchFamily="18" charset="0"/>
                <a:cs typeface="Times New Roman" panose="02020603050405020304" pitchFamily="18" charset="0"/>
              </a:rPr>
              <a:t>A token is basically the arrangement of characters that defines a unit of information in the source code.</a:t>
            </a:r>
          </a:p>
          <a:p>
            <a:pPr algn="l">
              <a:lnSpc>
                <a:spcPct val="150000"/>
              </a:lnSpc>
              <a:spcAft>
                <a:spcPts val="1200"/>
              </a:spcAft>
            </a:pPr>
            <a:r>
              <a:rPr lang="en-US" sz="2000" b="1" i="0" dirty="0">
                <a:solidFill>
                  <a:srgbClr val="444444"/>
                </a:solidFill>
                <a:effectLst/>
                <a:latin typeface="Times New Roman" panose="02020603050405020304" pitchFamily="18" charset="0"/>
                <a:cs typeface="Times New Roman" panose="02020603050405020304" pitchFamily="18" charset="0"/>
              </a:rPr>
              <a:t>NOTE:</a:t>
            </a:r>
            <a:r>
              <a:rPr lang="en-US" sz="2000" b="0" i="0" dirty="0">
                <a:solidFill>
                  <a:srgbClr val="444444"/>
                </a:solidFill>
                <a:effectLst/>
                <a:latin typeface="Times New Roman" panose="02020603050405020304" pitchFamily="18" charset="0"/>
                <a:cs typeface="Times New Roman" panose="02020603050405020304" pitchFamily="18" charset="0"/>
              </a:rPr>
              <a:t> In computer science, a program that executes the process of lexical analysis is called a scanner, tokenizer, or </a:t>
            </a:r>
            <a:r>
              <a:rPr lang="en-US" sz="2000" b="0" i="0" dirty="0" err="1">
                <a:solidFill>
                  <a:srgbClr val="444444"/>
                </a:solidFill>
                <a:effectLst/>
                <a:latin typeface="Times New Roman" panose="02020603050405020304" pitchFamily="18" charset="0"/>
                <a:cs typeface="Times New Roman" panose="02020603050405020304" pitchFamily="18" charset="0"/>
              </a:rPr>
              <a:t>lexer</a:t>
            </a:r>
            <a:r>
              <a:rPr lang="en-US" sz="2000" b="0" i="0" dirty="0">
                <a:solidFill>
                  <a:srgbClr val="444444"/>
                </a:solidFill>
                <a:effectLst/>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419766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0E99-D7B5-DA14-B4E0-59BD584E5E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7A782D-4024-6E00-FCF6-768111A5B6A6}"/>
              </a:ext>
            </a:extLst>
          </p:cNvPr>
          <p:cNvSpPr>
            <a:spLocks noGrp="1"/>
          </p:cNvSpPr>
          <p:nvPr>
            <p:ph idx="1"/>
          </p:nvPr>
        </p:nvSpPr>
        <p:spPr/>
        <p:txBody>
          <a:bodyPr/>
          <a:lstStyle/>
          <a:p>
            <a:pPr marL="0" indent="0" algn="l">
              <a:lnSpc>
                <a:spcPts val="1800"/>
              </a:lnSpc>
              <a:spcAft>
                <a:spcPts val="1200"/>
              </a:spcAft>
              <a:buNone/>
            </a:pPr>
            <a:r>
              <a:rPr lang="en-US" b="0" i="0" dirty="0">
                <a:solidFill>
                  <a:srgbClr val="444444"/>
                </a:solidFill>
                <a:effectLst/>
                <a:latin typeface="Poppins" pitchFamily="2" charset="77"/>
              </a:rPr>
              <a:t>Roles and Responsibilities of Lexical Analyzer</a:t>
            </a:r>
          </a:p>
          <a:p>
            <a:pPr lvl="1">
              <a:spcAft>
                <a:spcPts val="375"/>
              </a:spcAft>
            </a:pPr>
            <a:r>
              <a:rPr lang="en-US" b="0" i="0" dirty="0">
                <a:solidFill>
                  <a:srgbClr val="444444"/>
                </a:solidFill>
                <a:effectLst/>
                <a:latin typeface="Poppins" pitchFamily="2" charset="77"/>
              </a:rPr>
              <a:t>It is accountable for terminating the comments and white spaces from the source program.</a:t>
            </a:r>
          </a:p>
          <a:p>
            <a:pPr lvl="1">
              <a:spcAft>
                <a:spcPts val="375"/>
              </a:spcAft>
            </a:pPr>
            <a:r>
              <a:rPr lang="en-US" b="0" i="0" dirty="0">
                <a:solidFill>
                  <a:srgbClr val="444444"/>
                </a:solidFill>
                <a:effectLst/>
                <a:latin typeface="Poppins" pitchFamily="2" charset="77"/>
              </a:rPr>
              <a:t>It helps in identifying the tokens.</a:t>
            </a:r>
          </a:p>
          <a:p>
            <a:pPr lvl="1">
              <a:spcAft>
                <a:spcPts val="375"/>
              </a:spcAft>
            </a:pPr>
            <a:r>
              <a:rPr lang="en-US" b="0" i="0" dirty="0">
                <a:solidFill>
                  <a:srgbClr val="444444"/>
                </a:solidFill>
                <a:effectLst/>
                <a:latin typeface="Poppins" pitchFamily="2" charset="77"/>
              </a:rPr>
              <a:t>Categorization of lexical units.</a:t>
            </a:r>
          </a:p>
          <a:p>
            <a:endParaRPr lang="en-US" dirty="0"/>
          </a:p>
        </p:txBody>
      </p:sp>
    </p:spTree>
    <p:extLst>
      <p:ext uri="{BB962C8B-B14F-4D97-AF65-F5344CB8AC3E}">
        <p14:creationId xmlns:p14="http://schemas.microsoft.com/office/powerpoint/2010/main" val="178898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96B20-7BA7-6230-13B6-7A5610CEDC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60A8E-9CB2-760B-CDEA-6C61164F7919}"/>
              </a:ext>
            </a:extLst>
          </p:cNvPr>
          <p:cNvSpPr>
            <a:spLocks noGrp="1"/>
          </p:cNvSpPr>
          <p:nvPr>
            <p:ph idx="1"/>
          </p:nvPr>
        </p:nvSpPr>
        <p:spPr/>
        <p:txBody>
          <a:bodyPr/>
          <a:lstStyle/>
          <a:p>
            <a:pPr marL="0" indent="0" algn="l">
              <a:lnSpc>
                <a:spcPts val="1800"/>
              </a:lnSpc>
              <a:spcAft>
                <a:spcPts val="1200"/>
              </a:spcAft>
              <a:buNone/>
            </a:pPr>
            <a:r>
              <a:rPr lang="en-US" b="0" i="0" dirty="0">
                <a:solidFill>
                  <a:srgbClr val="444444"/>
                </a:solidFill>
                <a:effectLst/>
                <a:latin typeface="Poppins" pitchFamily="2" charset="77"/>
              </a:rPr>
              <a:t>Roles and Responsibilities of </a:t>
            </a:r>
            <a:r>
              <a:rPr lang="en-US" b="0" i="0">
                <a:solidFill>
                  <a:srgbClr val="444444"/>
                </a:solidFill>
                <a:effectLst/>
                <a:latin typeface="Poppins" pitchFamily="2" charset="77"/>
              </a:rPr>
              <a:t>Syntax Analyzer:</a:t>
            </a:r>
            <a:endParaRPr lang="en-US" b="0" i="0" dirty="0">
              <a:solidFill>
                <a:srgbClr val="444444"/>
              </a:solidFill>
              <a:effectLst/>
              <a:latin typeface="Poppins" pitchFamily="2" charset="77"/>
            </a:endParaRPr>
          </a:p>
          <a:p>
            <a:pPr algn="l">
              <a:spcAft>
                <a:spcPts val="375"/>
              </a:spcAft>
              <a:buFont typeface="Arial" panose="020B0604020202020204" pitchFamily="34" charset="0"/>
              <a:buChar char="•"/>
            </a:pPr>
            <a:r>
              <a:rPr lang="en-US" b="0" i="0" dirty="0">
                <a:solidFill>
                  <a:srgbClr val="444444"/>
                </a:solidFill>
                <a:effectLst/>
                <a:latin typeface="Poppins" pitchFamily="2" charset="77"/>
              </a:rPr>
              <a:t>Note syntax errors.</a:t>
            </a:r>
          </a:p>
          <a:p>
            <a:pPr algn="l">
              <a:spcAft>
                <a:spcPts val="375"/>
              </a:spcAft>
              <a:buFont typeface="Arial" panose="020B0604020202020204" pitchFamily="34" charset="0"/>
              <a:buChar char="•"/>
            </a:pPr>
            <a:r>
              <a:rPr lang="en-US" b="0" i="0" dirty="0">
                <a:solidFill>
                  <a:srgbClr val="444444"/>
                </a:solidFill>
                <a:effectLst/>
                <a:latin typeface="Poppins" pitchFamily="2" charset="77"/>
              </a:rPr>
              <a:t>Helps in building a parse tree.</a:t>
            </a:r>
          </a:p>
          <a:p>
            <a:pPr algn="l">
              <a:spcAft>
                <a:spcPts val="375"/>
              </a:spcAft>
              <a:buFont typeface="Arial" panose="020B0604020202020204" pitchFamily="34" charset="0"/>
              <a:buChar char="•"/>
            </a:pPr>
            <a:r>
              <a:rPr lang="en-US" b="0" i="0" dirty="0">
                <a:solidFill>
                  <a:srgbClr val="444444"/>
                </a:solidFill>
                <a:effectLst/>
                <a:latin typeface="Poppins" pitchFamily="2" charset="77"/>
              </a:rPr>
              <a:t>Acquire tokens from the lexical analyzer.</a:t>
            </a:r>
          </a:p>
          <a:p>
            <a:pPr algn="l">
              <a:spcAft>
                <a:spcPts val="375"/>
              </a:spcAft>
              <a:buFont typeface="Arial" panose="020B0604020202020204" pitchFamily="34" charset="0"/>
              <a:buChar char="•"/>
            </a:pPr>
            <a:r>
              <a:rPr lang="en-US" b="0" i="0" dirty="0">
                <a:solidFill>
                  <a:srgbClr val="444444"/>
                </a:solidFill>
                <a:effectLst/>
                <a:latin typeface="Poppins" pitchFamily="2" charset="77"/>
              </a:rPr>
              <a:t>Scan the syntax errors, if any.</a:t>
            </a:r>
          </a:p>
          <a:p>
            <a:endParaRPr lang="en-US" dirty="0"/>
          </a:p>
        </p:txBody>
      </p:sp>
    </p:spTree>
    <p:extLst>
      <p:ext uri="{BB962C8B-B14F-4D97-AF65-F5344CB8AC3E}">
        <p14:creationId xmlns:p14="http://schemas.microsoft.com/office/powerpoint/2010/main" val="772206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EE96-0808-B417-5C87-79E3EA6F971B}"/>
              </a:ext>
            </a:extLst>
          </p:cNvPr>
          <p:cNvSpPr>
            <a:spLocks noGrp="1"/>
          </p:cNvSpPr>
          <p:nvPr>
            <p:ph type="title"/>
          </p:nvPr>
        </p:nvSpPr>
        <p:spPr/>
        <p:txBody>
          <a:bodyPr/>
          <a:lstStyle/>
          <a:p>
            <a:r>
              <a:rPr lang="en-US" dirty="0"/>
              <a:t>Grammar</a:t>
            </a:r>
          </a:p>
        </p:txBody>
      </p:sp>
      <p:sp>
        <p:nvSpPr>
          <p:cNvPr id="3" name="Content Placeholder 2">
            <a:extLst>
              <a:ext uri="{FF2B5EF4-FFF2-40B4-BE49-F238E27FC236}">
                <a16:creationId xmlns:a16="http://schemas.microsoft.com/office/drawing/2014/main" id="{D9B999F1-DC33-E476-5F29-585E6D5001B2}"/>
              </a:ext>
            </a:extLst>
          </p:cNvPr>
          <p:cNvSpPr>
            <a:spLocks noGrp="1"/>
          </p:cNvSpPr>
          <p:nvPr>
            <p:ph idx="1"/>
          </p:nvPr>
        </p:nvSpPr>
        <p:spPr/>
        <p:txBody>
          <a:bodyPr>
            <a:normAutofit fontScale="85000" lnSpcReduction="20000"/>
          </a:bodyPr>
          <a:lstStyle/>
          <a:p>
            <a:pPr marL="0" indent="0" algn="l">
              <a:spcBef>
                <a:spcPts val="600"/>
              </a:spcBef>
              <a:spcAft>
                <a:spcPts val="1200"/>
              </a:spcAft>
              <a:buNone/>
            </a:pPr>
            <a:r>
              <a:rPr lang="en-US" b="0" i="0" dirty="0">
                <a:solidFill>
                  <a:srgbClr val="0F1115"/>
                </a:solidFill>
                <a:effectLst/>
                <a:latin typeface="quote-cjk-patch"/>
              </a:rPr>
              <a:t>In the context of compilers, </a:t>
            </a:r>
            <a:r>
              <a:rPr lang="en-US" b="1" i="0" dirty="0">
                <a:solidFill>
                  <a:srgbClr val="0F1115"/>
                </a:solidFill>
                <a:effectLst/>
                <a:latin typeface="quote-cjk-patch"/>
              </a:rPr>
              <a:t>grammar</a:t>
            </a:r>
            <a:r>
              <a:rPr lang="en-US" b="0" i="0" dirty="0">
                <a:solidFill>
                  <a:srgbClr val="0F1115"/>
                </a:solidFill>
                <a:effectLst/>
                <a:latin typeface="quote-cjk-patch"/>
              </a:rPr>
              <a:t> (specifically, </a:t>
            </a:r>
            <a:r>
              <a:rPr lang="en-US" b="1" i="0" dirty="0">
                <a:solidFill>
                  <a:srgbClr val="0F1115"/>
                </a:solidFill>
                <a:effectLst/>
                <a:latin typeface="quote-cjk-patch"/>
              </a:rPr>
              <a:t>Context-Free Grammar</a:t>
            </a:r>
            <a:r>
              <a:rPr lang="en-US" b="0" i="0" dirty="0">
                <a:solidFill>
                  <a:srgbClr val="0F1115"/>
                </a:solidFill>
                <a:effectLst/>
                <a:latin typeface="quote-cjk-patch"/>
              </a:rPr>
              <a:t> or CFG) is a formal set of rules that defines the syntactic structure of a programming language.</a:t>
            </a:r>
          </a:p>
          <a:p>
            <a:pPr marL="0" indent="0" algn="l">
              <a:spcBef>
                <a:spcPts val="450"/>
              </a:spcBef>
              <a:spcAft>
                <a:spcPts val="1200"/>
              </a:spcAft>
              <a:buNone/>
            </a:pPr>
            <a:r>
              <a:rPr lang="en-US" b="0" i="0" dirty="0">
                <a:solidFill>
                  <a:srgbClr val="0F1115"/>
                </a:solidFill>
                <a:effectLst/>
                <a:latin typeface="quote-cjk-patch"/>
              </a:rPr>
              <a:t>It acts as the "blueprint" for the language. It dictates what sequences of tokens (keywords, operators, identifiers, etc.) form valid statements, expressions, and programs.</a:t>
            </a:r>
          </a:p>
          <a:p>
            <a:pPr marL="0" indent="0" algn="l">
              <a:spcBef>
                <a:spcPts val="450"/>
              </a:spcBef>
              <a:spcAft>
                <a:spcPts val="1200"/>
              </a:spcAft>
              <a:buNone/>
            </a:pPr>
            <a:r>
              <a:rPr lang="en-US" b="0" i="0" dirty="0">
                <a:solidFill>
                  <a:srgbClr val="0F1115"/>
                </a:solidFill>
                <a:effectLst/>
                <a:latin typeface="quote-cjk-patch"/>
              </a:rPr>
              <a:t>Grammar consists of </a:t>
            </a:r>
            <a:r>
              <a:rPr lang="en-US" b="1" i="0" dirty="0">
                <a:solidFill>
                  <a:srgbClr val="0F1115"/>
                </a:solidFill>
                <a:effectLst/>
                <a:latin typeface="quote-cjk-patch"/>
              </a:rPr>
              <a:t>production rules</a:t>
            </a:r>
            <a:r>
              <a:rPr lang="en-US" b="0" i="0" dirty="0">
                <a:solidFill>
                  <a:srgbClr val="0F1115"/>
                </a:solidFill>
                <a:effectLst/>
                <a:latin typeface="quote-cjk-patch"/>
              </a:rPr>
              <a:t> (e.g., Statement → if (Expression) Statement else Statement). These rules describe how to break down complex language constructs into simpler parts.</a:t>
            </a:r>
          </a:p>
          <a:p>
            <a:pPr marL="0" indent="0" algn="l">
              <a:spcBef>
                <a:spcPts val="450"/>
              </a:spcBef>
              <a:spcAft>
                <a:spcPts val="1200"/>
              </a:spcAft>
              <a:buNone/>
            </a:pPr>
            <a:r>
              <a:rPr lang="en-US" b="0" i="0" dirty="0">
                <a:solidFill>
                  <a:srgbClr val="0F1115"/>
                </a:solidFill>
                <a:effectLst/>
                <a:latin typeface="quote-cjk-patch"/>
              </a:rPr>
              <a:t>The compiler uses these grammatical rules to check if the source code is syntactically correct (i.e., properly structured) and to guide the parsing process. If the code violates the grammar, the compiler throws a </a:t>
            </a:r>
            <a:r>
              <a:rPr lang="en-US" b="1" i="0" dirty="0">
                <a:solidFill>
                  <a:srgbClr val="0F1115"/>
                </a:solidFill>
                <a:effectLst/>
                <a:latin typeface="quote-cjk-patch"/>
              </a:rPr>
              <a:t>syntax error</a:t>
            </a:r>
            <a:r>
              <a:rPr lang="en-US" b="0" i="0" dirty="0">
                <a:solidFill>
                  <a:srgbClr val="0F1115"/>
                </a:solidFill>
                <a:effectLst/>
                <a:latin typeface="quote-cjk-patch"/>
              </a:rPr>
              <a:t>.</a:t>
            </a:r>
          </a:p>
          <a:p>
            <a:endParaRPr lang="en-US" dirty="0"/>
          </a:p>
        </p:txBody>
      </p:sp>
    </p:spTree>
    <p:extLst>
      <p:ext uri="{BB962C8B-B14F-4D97-AF65-F5344CB8AC3E}">
        <p14:creationId xmlns:p14="http://schemas.microsoft.com/office/powerpoint/2010/main" val="2770725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3358-5DCF-3FF6-8844-76C7CF632D1F}"/>
              </a:ext>
            </a:extLst>
          </p:cNvPr>
          <p:cNvSpPr>
            <a:spLocks noGrp="1"/>
          </p:cNvSpPr>
          <p:nvPr>
            <p:ph type="title"/>
          </p:nvPr>
        </p:nvSpPr>
        <p:spPr/>
        <p:txBody>
          <a:bodyPr/>
          <a:lstStyle/>
          <a:p>
            <a:r>
              <a:rPr lang="en-US" dirty="0"/>
              <a:t>Lexical Analysis (Scanner)</a:t>
            </a:r>
          </a:p>
        </p:txBody>
      </p:sp>
      <p:sp>
        <p:nvSpPr>
          <p:cNvPr id="3" name="Content Placeholder 2">
            <a:extLst>
              <a:ext uri="{FF2B5EF4-FFF2-40B4-BE49-F238E27FC236}">
                <a16:creationId xmlns:a16="http://schemas.microsoft.com/office/drawing/2014/main" id="{51F2EB81-5E5E-040D-DB38-8B6C8303AF5F}"/>
              </a:ext>
            </a:extLst>
          </p:cNvPr>
          <p:cNvSpPr>
            <a:spLocks noGrp="1"/>
          </p:cNvSpPr>
          <p:nvPr>
            <p:ph idx="1"/>
          </p:nvPr>
        </p:nvSpPr>
        <p:spPr/>
        <p:txBody>
          <a:bodyPr>
            <a:normAutofit fontScale="77500" lnSpcReduction="20000"/>
          </a:bodyPr>
          <a:lstStyle/>
          <a:p>
            <a:pPr marL="0" indent="0" algn="l">
              <a:spcBef>
                <a:spcPts val="600"/>
              </a:spcBef>
              <a:spcAft>
                <a:spcPts val="1200"/>
              </a:spcAft>
              <a:buNone/>
            </a:pPr>
            <a:r>
              <a:rPr lang="en-US" b="0" i="0" dirty="0">
                <a:solidFill>
                  <a:srgbClr val="0F1115"/>
                </a:solidFill>
                <a:effectLst/>
                <a:latin typeface="quote-cjk-patch"/>
              </a:rPr>
              <a:t>This is the </a:t>
            </a:r>
            <a:r>
              <a:rPr lang="en-US" b="1" i="0" dirty="0">
                <a:solidFill>
                  <a:srgbClr val="0F1115"/>
                </a:solidFill>
                <a:effectLst/>
                <a:latin typeface="quote-cjk-patch"/>
              </a:rPr>
              <a:t>very first phase</a:t>
            </a:r>
            <a:r>
              <a:rPr lang="en-US" b="0" i="0" dirty="0">
                <a:solidFill>
                  <a:srgbClr val="0F1115"/>
                </a:solidFill>
                <a:effectLst/>
                <a:latin typeface="quote-cjk-patch"/>
              </a:rPr>
              <a:t> of the compiler. It reads the raw source code as a stream of characters (letters, digits, symbols) and groups them into meaningful sequences called </a:t>
            </a:r>
            <a:r>
              <a:rPr lang="en-US" b="1" i="0" dirty="0">
                <a:solidFill>
                  <a:srgbClr val="0F1115"/>
                </a:solidFill>
                <a:effectLst/>
                <a:latin typeface="quote-cjk-patch"/>
              </a:rPr>
              <a:t>tokens</a:t>
            </a:r>
            <a:r>
              <a:rPr lang="en-US" b="0" i="0" dirty="0">
                <a:solidFill>
                  <a:srgbClr val="0F1115"/>
                </a:solidFill>
                <a:effectLst/>
                <a:latin typeface="quote-cjk-patch"/>
              </a:rPr>
              <a:t>.</a:t>
            </a:r>
          </a:p>
          <a:p>
            <a:pPr marL="0" indent="0" algn="l">
              <a:spcBef>
                <a:spcPts val="450"/>
              </a:spcBef>
              <a:spcAft>
                <a:spcPts val="1200"/>
              </a:spcAft>
              <a:buNone/>
            </a:pPr>
            <a:r>
              <a:rPr lang="en-US" b="0" i="0" dirty="0">
                <a:solidFill>
                  <a:srgbClr val="0F1115"/>
                </a:solidFill>
                <a:effectLst/>
                <a:latin typeface="quote-cjk-patch"/>
              </a:rPr>
              <a:t>To simplify the subsequent phases by converting the raw text into a structured sequence of tokens, while ignoring irrelevant data like comments and whitespace.</a:t>
            </a:r>
          </a:p>
          <a:p>
            <a:pPr marL="0" indent="0" algn="l">
              <a:spcBef>
                <a:spcPts val="450"/>
              </a:spcBef>
              <a:spcAft>
                <a:spcPts val="1200"/>
              </a:spcAft>
              <a:buNone/>
            </a:pPr>
            <a:r>
              <a:rPr lang="en-US" b="0" i="0" dirty="0">
                <a:solidFill>
                  <a:srgbClr val="0F1115"/>
                </a:solidFill>
                <a:effectLst/>
                <a:latin typeface="quote-cjk-patch"/>
              </a:rPr>
              <a:t>The lexical analyzer (often called a </a:t>
            </a:r>
            <a:r>
              <a:rPr lang="en-US" b="0" i="1" dirty="0">
                <a:solidFill>
                  <a:srgbClr val="0F1115"/>
                </a:solidFill>
                <a:effectLst/>
                <a:latin typeface="quote-cjk-patch"/>
              </a:rPr>
              <a:t>scanner</a:t>
            </a:r>
            <a:r>
              <a:rPr lang="en-US" b="0" i="0" dirty="0">
                <a:solidFill>
                  <a:srgbClr val="0F1115"/>
                </a:solidFill>
                <a:effectLst/>
                <a:latin typeface="quote-cjk-patch"/>
              </a:rPr>
              <a:t>) removes whitespace and comments, then scans the code left-to-right. When it recognizes a pattern (e.g., a sequence of digits is a NUMBER, a reserved word like if is a keyword IF, a sequence of letters is an IDENTIFIER), it outputs a token—usually in the form of &lt;</a:t>
            </a:r>
            <a:r>
              <a:rPr lang="en-US" b="0" i="0" dirty="0" err="1">
                <a:solidFill>
                  <a:srgbClr val="0F1115"/>
                </a:solidFill>
                <a:effectLst/>
                <a:latin typeface="quote-cjk-patch"/>
              </a:rPr>
              <a:t>token_type</a:t>
            </a:r>
            <a:r>
              <a:rPr lang="en-US" b="0" i="0" dirty="0">
                <a:solidFill>
                  <a:srgbClr val="0F1115"/>
                </a:solidFill>
                <a:effectLst/>
                <a:latin typeface="quote-cjk-patch"/>
              </a:rPr>
              <a:t>, </a:t>
            </a:r>
            <a:r>
              <a:rPr lang="en-US" b="0" i="0" dirty="0" err="1">
                <a:solidFill>
                  <a:srgbClr val="0F1115"/>
                </a:solidFill>
                <a:effectLst/>
                <a:latin typeface="quote-cjk-patch"/>
              </a:rPr>
              <a:t>attribute_value</a:t>
            </a:r>
            <a:r>
              <a:rPr lang="en-US" b="0" i="0" dirty="0">
                <a:solidFill>
                  <a:srgbClr val="0F1115"/>
                </a:solidFill>
                <a:effectLst/>
                <a:latin typeface="quote-cjk-patch"/>
              </a:rPr>
              <a:t>&gt; (e.g., &lt;IDENTIFIER, "total"&gt;).</a:t>
            </a:r>
          </a:p>
          <a:p>
            <a:pPr marL="0" indent="0" algn="l">
              <a:spcBef>
                <a:spcPts val="450"/>
              </a:spcBef>
              <a:spcAft>
                <a:spcPts val="1200"/>
              </a:spcAft>
              <a:buNone/>
            </a:pPr>
            <a:r>
              <a:rPr lang="en-US" b="0" i="0">
                <a:solidFill>
                  <a:srgbClr val="0F1115"/>
                </a:solidFill>
                <a:effectLst/>
                <a:latin typeface="quote-cjk-patch"/>
              </a:rPr>
              <a:t>It </a:t>
            </a:r>
            <a:r>
              <a:rPr lang="en-US" b="0" i="0" dirty="0">
                <a:solidFill>
                  <a:srgbClr val="0F1115"/>
                </a:solidFill>
                <a:effectLst/>
                <a:latin typeface="quote-cjk-patch"/>
              </a:rPr>
              <a:t>acts as the interface between the source file and the rest of the compiler, making the parsing process much more efficient by handling character-level details early.</a:t>
            </a:r>
          </a:p>
          <a:p>
            <a:endParaRPr lang="en-US" dirty="0"/>
          </a:p>
        </p:txBody>
      </p:sp>
    </p:spTree>
    <p:extLst>
      <p:ext uri="{BB962C8B-B14F-4D97-AF65-F5344CB8AC3E}">
        <p14:creationId xmlns:p14="http://schemas.microsoft.com/office/powerpoint/2010/main" val="883861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FFF6-61A9-77CB-C7A1-72A801EFD4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5C5390-BB3F-4F62-D863-A5348A847843}"/>
              </a:ext>
            </a:extLst>
          </p:cNvPr>
          <p:cNvSpPr>
            <a:spLocks noGrp="1"/>
          </p:cNvSpPr>
          <p:nvPr>
            <p:ph idx="1"/>
          </p:nvPr>
        </p:nvSpPr>
        <p:spPr/>
        <p:txBody>
          <a:bodyPr/>
          <a:lstStyle/>
          <a:p>
            <a:r>
              <a:rPr lang="en-US" dirty="0"/>
              <a:t>As the first phase of a compiler, the main task of the lexical analyzer is to read the input characters of the source program, group them into lexemes, and produce as output tokens for each lexeme in the source program. </a:t>
            </a:r>
          </a:p>
          <a:p>
            <a:r>
              <a:rPr lang="en-US" dirty="0"/>
              <a:t>This stream of tokens is sent to the parser for syntax analysis.</a:t>
            </a:r>
          </a:p>
          <a:p>
            <a:r>
              <a:rPr lang="en-US" dirty="0"/>
              <a:t> It is common for the lexical analyzer to interact with the symbol table as well. When the lexical analyzer discovers a lexeme constituting an identifier, it needs to enter that lexeme into the symbol table. This process is shown in the following figure.</a:t>
            </a:r>
          </a:p>
        </p:txBody>
      </p:sp>
    </p:spTree>
    <p:extLst>
      <p:ext uri="{BB962C8B-B14F-4D97-AF65-F5344CB8AC3E}">
        <p14:creationId xmlns:p14="http://schemas.microsoft.com/office/powerpoint/2010/main" val="192834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2D7FF-12AE-CA7F-E770-2F8B4EC077DD}"/>
              </a:ext>
            </a:extLst>
          </p:cNvPr>
          <p:cNvSpPr>
            <a:spLocks noGrp="1"/>
          </p:cNvSpPr>
          <p:nvPr>
            <p:ph type="title"/>
          </p:nvPr>
        </p:nvSpPr>
        <p:spPr/>
        <p:txBody>
          <a:bodyPr/>
          <a:lstStyle/>
          <a:p>
            <a:endParaRPr lang="en-US"/>
          </a:p>
        </p:txBody>
      </p:sp>
      <p:pic>
        <p:nvPicPr>
          <p:cNvPr id="5" name="Content Placeholder 4" descr="A diagram of a algorithm&#10;&#10;AI-generated content may be incorrect.">
            <a:extLst>
              <a:ext uri="{FF2B5EF4-FFF2-40B4-BE49-F238E27FC236}">
                <a16:creationId xmlns:a16="http://schemas.microsoft.com/office/drawing/2014/main" id="{96D700FB-DEED-D315-001F-525B3E5B09F8}"/>
              </a:ext>
            </a:extLst>
          </p:cNvPr>
          <p:cNvPicPr>
            <a:picLocks noGrp="1" noChangeAspect="1"/>
          </p:cNvPicPr>
          <p:nvPr>
            <p:ph idx="1"/>
          </p:nvPr>
        </p:nvPicPr>
        <p:blipFill>
          <a:blip r:embed="rId2"/>
          <a:stretch>
            <a:fillRect/>
          </a:stretch>
        </p:blipFill>
        <p:spPr>
          <a:xfrm>
            <a:off x="2719897" y="2016125"/>
            <a:ext cx="7066531" cy="3449638"/>
          </a:xfrm>
        </p:spPr>
      </p:pic>
    </p:spTree>
    <p:extLst>
      <p:ext uri="{BB962C8B-B14F-4D97-AF65-F5344CB8AC3E}">
        <p14:creationId xmlns:p14="http://schemas.microsoft.com/office/powerpoint/2010/main" val="2798900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4BF8-9592-E173-9819-83CDDCF6C1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701B13-BA69-44FD-F52C-AC34C0ACE98C}"/>
              </a:ext>
            </a:extLst>
          </p:cNvPr>
          <p:cNvSpPr>
            <a:spLocks noGrp="1"/>
          </p:cNvSpPr>
          <p:nvPr>
            <p:ph idx="1"/>
          </p:nvPr>
        </p:nvSpPr>
        <p:spPr/>
        <p:txBody>
          <a:bodyPr/>
          <a:lstStyle/>
          <a:p>
            <a:r>
              <a:rPr lang="en-US" dirty="0"/>
              <a:t>When lexical analyzer identifies the first token it will send it to the parser, the parser receives the token and calls the lexical analyzer to send next token by issuing the </a:t>
            </a:r>
            <a:r>
              <a:rPr lang="en-US" b="1" dirty="0" err="1"/>
              <a:t>getNextToken</a:t>
            </a:r>
            <a:r>
              <a:rPr lang="en-US" b="1" dirty="0"/>
              <a:t>()</a:t>
            </a:r>
            <a:r>
              <a:rPr lang="en-US" dirty="0"/>
              <a:t> command. </a:t>
            </a:r>
          </a:p>
          <a:p>
            <a:r>
              <a:rPr lang="en-US" dirty="0"/>
              <a:t>This Process continues until the lexical analyzer identifies all the tokens. During this process the lexical analyzer will neglect or discard the white spaces and comment lines.</a:t>
            </a:r>
          </a:p>
        </p:txBody>
      </p:sp>
    </p:spTree>
    <p:extLst>
      <p:ext uri="{BB962C8B-B14F-4D97-AF65-F5344CB8AC3E}">
        <p14:creationId xmlns:p14="http://schemas.microsoft.com/office/powerpoint/2010/main" val="3203375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A7401-A7AA-CD5F-2B36-5856B7B69591}"/>
              </a:ext>
            </a:extLst>
          </p:cNvPr>
          <p:cNvSpPr>
            <a:spLocks noGrp="1"/>
          </p:cNvSpPr>
          <p:nvPr>
            <p:ph type="title"/>
          </p:nvPr>
        </p:nvSpPr>
        <p:spPr/>
        <p:txBody>
          <a:bodyPr/>
          <a:lstStyle/>
          <a:p>
            <a:r>
              <a:rPr lang="en-US" dirty="0"/>
              <a:t>Syntax Analysis</a:t>
            </a:r>
          </a:p>
        </p:txBody>
      </p:sp>
      <p:sp>
        <p:nvSpPr>
          <p:cNvPr id="3" name="Content Placeholder 2">
            <a:extLst>
              <a:ext uri="{FF2B5EF4-FFF2-40B4-BE49-F238E27FC236}">
                <a16:creationId xmlns:a16="http://schemas.microsoft.com/office/drawing/2014/main" id="{D8D877A6-D437-007F-E599-E335D7509A2D}"/>
              </a:ext>
            </a:extLst>
          </p:cNvPr>
          <p:cNvSpPr>
            <a:spLocks noGrp="1"/>
          </p:cNvSpPr>
          <p:nvPr>
            <p:ph idx="1"/>
          </p:nvPr>
        </p:nvSpPr>
        <p:spPr/>
        <p:txBody>
          <a:bodyPr>
            <a:normAutofit fontScale="92500" lnSpcReduction="10000"/>
          </a:bodyPr>
          <a:lstStyle/>
          <a:p>
            <a:r>
              <a:rPr lang="en-US" b="0" i="0" dirty="0">
                <a:solidFill>
                  <a:srgbClr val="444444"/>
                </a:solidFill>
                <a:effectLst/>
                <a:latin typeface="Poppins" pitchFamily="2" charset="77"/>
              </a:rPr>
              <a:t>In the compilation procedure, the Syntax analysis is the second stage. </a:t>
            </a:r>
          </a:p>
          <a:p>
            <a:r>
              <a:rPr lang="en-US" b="0" i="0" dirty="0">
                <a:solidFill>
                  <a:srgbClr val="444444"/>
                </a:solidFill>
                <a:effectLst/>
                <a:latin typeface="Poppins" pitchFamily="2" charset="77"/>
              </a:rPr>
              <a:t>Here the provided input string is scanned for the validation of the structure of the standard grammar.</a:t>
            </a:r>
          </a:p>
          <a:p>
            <a:r>
              <a:rPr lang="en-US" b="0" i="0" dirty="0">
                <a:solidFill>
                  <a:srgbClr val="444444"/>
                </a:solidFill>
                <a:effectLst/>
                <a:latin typeface="Poppins" pitchFamily="2" charset="77"/>
              </a:rPr>
              <a:t> Basically, in the second phase, it analyses the syntactical structure and inspects if the given input is correct or not in terms of programming syntax.</a:t>
            </a:r>
          </a:p>
          <a:p>
            <a:pPr algn="l">
              <a:lnSpc>
                <a:spcPts val="1800"/>
              </a:lnSpc>
              <a:spcAft>
                <a:spcPts val="1200"/>
              </a:spcAft>
            </a:pPr>
            <a:r>
              <a:rPr lang="en-US" b="0" i="0" dirty="0">
                <a:solidFill>
                  <a:srgbClr val="444444"/>
                </a:solidFill>
                <a:effectLst/>
                <a:latin typeface="Poppins" pitchFamily="2" charset="77"/>
              </a:rPr>
              <a:t>It accepts tokens as input and provides a parse tree as output. It is also known as parsing in a compiler.</a:t>
            </a:r>
          </a:p>
          <a:p>
            <a:br>
              <a:rPr lang="en-US" dirty="0"/>
            </a:br>
            <a:endParaRPr lang="en-US" dirty="0"/>
          </a:p>
        </p:txBody>
      </p:sp>
    </p:spTree>
    <p:extLst>
      <p:ext uri="{BB962C8B-B14F-4D97-AF65-F5344CB8AC3E}">
        <p14:creationId xmlns:p14="http://schemas.microsoft.com/office/powerpoint/2010/main" val="2631622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FF01C-0337-B89D-D382-FCCE0D4CBA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BFEBEE-2EE3-AFFD-F8B0-A60FA9B785B8}"/>
              </a:ext>
            </a:extLst>
          </p:cNvPr>
          <p:cNvSpPr>
            <a:spLocks noGrp="1"/>
          </p:cNvSpPr>
          <p:nvPr>
            <p:ph idx="1"/>
          </p:nvPr>
        </p:nvSpPr>
        <p:spPr/>
        <p:txBody>
          <a:bodyPr/>
          <a:lstStyle/>
          <a:p>
            <a:r>
              <a:rPr lang="en-US" dirty="0"/>
              <a:t>In our compiler model, the parser obtains a string of tokens from the lexical analyzer, as shown in the below Figure, and verifies that the string of token names can be generated by the grammar for the source language. </a:t>
            </a:r>
          </a:p>
          <a:p>
            <a:r>
              <a:rPr lang="en-US" dirty="0"/>
              <a:t>We expect the parser to </a:t>
            </a:r>
            <a:r>
              <a:rPr lang="en-US" b="1" dirty="0"/>
              <a:t>report any syntax errors </a:t>
            </a:r>
            <a:r>
              <a:rPr lang="en-US" dirty="0"/>
              <a:t>in an intelligible fashion and to recover from commonly occurring errors to continue processing the remainder of the program.</a:t>
            </a:r>
          </a:p>
          <a:p>
            <a:r>
              <a:rPr lang="en-US" dirty="0"/>
              <a:t> Conceptually, for well-formed programs, the parser constructs a parse tree and passes it to the rest of the compiler for further processing.</a:t>
            </a:r>
          </a:p>
        </p:txBody>
      </p:sp>
    </p:spTree>
    <p:extLst>
      <p:ext uri="{BB962C8B-B14F-4D97-AF65-F5344CB8AC3E}">
        <p14:creationId xmlns:p14="http://schemas.microsoft.com/office/powerpoint/2010/main" val="1254134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589A-D952-975C-2192-E1A5DD2B90CC}"/>
              </a:ext>
            </a:extLst>
          </p:cNvPr>
          <p:cNvSpPr>
            <a:spLocks noGrp="1"/>
          </p:cNvSpPr>
          <p:nvPr>
            <p:ph type="title"/>
          </p:nvPr>
        </p:nvSpPr>
        <p:spPr/>
        <p:txBody>
          <a:bodyPr/>
          <a:lstStyle/>
          <a:p>
            <a:endParaRPr lang="en-US"/>
          </a:p>
        </p:txBody>
      </p:sp>
      <p:pic>
        <p:nvPicPr>
          <p:cNvPr id="5" name="Content Placeholder 4" descr="A diagram of a symbol table&#10;&#10;AI-generated content may be incorrect.">
            <a:extLst>
              <a:ext uri="{FF2B5EF4-FFF2-40B4-BE49-F238E27FC236}">
                <a16:creationId xmlns:a16="http://schemas.microsoft.com/office/drawing/2014/main" id="{899328C6-1210-6AD5-6BF0-5C8329987D26}"/>
              </a:ext>
            </a:extLst>
          </p:cNvPr>
          <p:cNvPicPr>
            <a:picLocks noGrp="1" noChangeAspect="1"/>
          </p:cNvPicPr>
          <p:nvPr>
            <p:ph idx="1"/>
          </p:nvPr>
        </p:nvPicPr>
        <p:blipFill>
          <a:blip r:embed="rId2"/>
          <a:stretch>
            <a:fillRect/>
          </a:stretch>
        </p:blipFill>
        <p:spPr>
          <a:xfrm>
            <a:off x="2251355" y="2016125"/>
            <a:ext cx="8003615" cy="3449638"/>
          </a:xfrm>
        </p:spPr>
      </p:pic>
      <p:sp>
        <p:nvSpPr>
          <p:cNvPr id="6" name="TextBox 5">
            <a:extLst>
              <a:ext uri="{FF2B5EF4-FFF2-40B4-BE49-F238E27FC236}">
                <a16:creationId xmlns:a16="http://schemas.microsoft.com/office/drawing/2014/main" id="{67BFBAC8-7FD9-34BD-3878-FCA4D70F4C22}"/>
              </a:ext>
            </a:extLst>
          </p:cNvPr>
          <p:cNvSpPr txBox="1"/>
          <p:nvPr/>
        </p:nvSpPr>
        <p:spPr>
          <a:xfrm>
            <a:off x="11139055" y="569421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216997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280CF-15E9-43CF-59B3-1176DE73B6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5396DA-B9DB-E8B5-BEDC-9D73B17F1FF7}"/>
              </a:ext>
            </a:extLst>
          </p:cNvPr>
          <p:cNvSpPr>
            <a:spLocks noGrp="1"/>
          </p:cNvSpPr>
          <p:nvPr>
            <p:ph idx="1"/>
          </p:nvPr>
        </p:nvSpPr>
        <p:spPr/>
        <p:txBody>
          <a:bodyPr/>
          <a:lstStyle/>
          <a:p>
            <a:r>
              <a:rPr lang="en-US" dirty="0"/>
              <a:t>During the process of parsing it may encounter some error and present the error information back to the user</a:t>
            </a:r>
          </a:p>
          <a:p>
            <a:r>
              <a:rPr lang="en-US" dirty="0"/>
              <a:t>Syntactic errors include misplaced semicolons or extra or missing braces; that is, ―{" or "}." </a:t>
            </a:r>
          </a:p>
          <a:p>
            <a:r>
              <a:rPr lang="en-US" dirty="0"/>
              <a:t>As another example, in C or Java, the appearance of a case statement without an enclosing switch is a syntactic error (however, this situation is usually allowed by the parser and caught later in the processing, as the compiler attempts to generate code)</a:t>
            </a:r>
          </a:p>
        </p:txBody>
      </p:sp>
    </p:spTree>
    <p:extLst>
      <p:ext uri="{BB962C8B-B14F-4D97-AF65-F5344CB8AC3E}">
        <p14:creationId xmlns:p14="http://schemas.microsoft.com/office/powerpoint/2010/main" val="1985152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8817-551B-2FCF-5A53-21B30D465EF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74F09F4-65CB-9681-7861-FE97A035E202}"/>
              </a:ext>
            </a:extLst>
          </p:cNvPr>
          <p:cNvSpPr>
            <a:spLocks noGrp="1"/>
          </p:cNvSpPr>
          <p:nvPr>
            <p:ph idx="1"/>
          </p:nvPr>
        </p:nvSpPr>
        <p:spPr>
          <a:xfrm>
            <a:off x="426217" y="1966094"/>
            <a:ext cx="10515600" cy="4351338"/>
          </a:xfrm>
        </p:spPr>
        <p:txBody>
          <a:bodyPr/>
          <a:lstStyle/>
          <a:p>
            <a:pPr marL="0" indent="0">
              <a:buNone/>
            </a:pPr>
            <a:r>
              <a:rPr lang="en-US" dirty="0"/>
              <a:t>Parsing is basically classified in to following two types: </a:t>
            </a:r>
          </a:p>
          <a:p>
            <a:pPr marL="0" indent="0">
              <a:buNone/>
            </a:pPr>
            <a:r>
              <a:rPr lang="en-US" dirty="0"/>
              <a:t> </a:t>
            </a:r>
            <a:r>
              <a:rPr lang="en-US" b="1" dirty="0"/>
              <a:t>Top Down Parsing </a:t>
            </a:r>
            <a:r>
              <a:rPr lang="en-US" dirty="0"/>
              <a:t>: Parse tree construction start at the root node and moves to the children nodes (i.e., top down order). </a:t>
            </a:r>
          </a:p>
          <a:p>
            <a:pPr marL="0" indent="0">
              <a:buNone/>
            </a:pPr>
            <a:r>
              <a:rPr lang="en-US" dirty="0"/>
              <a:t> </a:t>
            </a:r>
            <a:r>
              <a:rPr lang="en-US" b="1" dirty="0"/>
              <a:t>Bottom up Parsing: </a:t>
            </a:r>
            <a:r>
              <a:rPr lang="en-US" dirty="0"/>
              <a:t>Parse tree construction begins from the leaf nodes and proceeds towards the root node (called the bottom up order).</a:t>
            </a:r>
          </a:p>
        </p:txBody>
      </p:sp>
      <p:sp>
        <p:nvSpPr>
          <p:cNvPr id="4" name="Rectangle 2">
            <a:extLst>
              <a:ext uri="{FF2B5EF4-FFF2-40B4-BE49-F238E27FC236}">
                <a16:creationId xmlns:a16="http://schemas.microsoft.com/office/drawing/2014/main" id="{FAB23A81-6C54-974F-E387-D5D42C45CFAA}"/>
              </a:ext>
            </a:extLst>
          </p:cNvPr>
          <p:cNvSpPr>
            <a:spLocks noChangeArrowheads="1"/>
          </p:cNvSpPr>
          <p:nvPr/>
        </p:nvSpPr>
        <p:spPr bwMode="auto">
          <a:xfrm>
            <a:off x="1034980" y="11656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Parsing in Compiler Design">
            <a:extLst>
              <a:ext uri="{FF2B5EF4-FFF2-40B4-BE49-F238E27FC236}">
                <a16:creationId xmlns:a16="http://schemas.microsoft.com/office/drawing/2014/main" id="{9A5541E7-97E9-F85F-3F00-61161F999373}"/>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818234" y="4329990"/>
            <a:ext cx="5943600" cy="237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080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1602-4761-C9A6-E7E8-B25138C4254D}"/>
              </a:ext>
            </a:extLst>
          </p:cNvPr>
          <p:cNvSpPr>
            <a:spLocks noGrp="1"/>
          </p:cNvSpPr>
          <p:nvPr>
            <p:ph type="title"/>
          </p:nvPr>
        </p:nvSpPr>
        <p:spPr/>
        <p:txBody>
          <a:bodyPr/>
          <a:lstStyle/>
          <a:p>
            <a:endParaRPr lang="en-US"/>
          </a:p>
        </p:txBody>
      </p:sp>
      <p:pic>
        <p:nvPicPr>
          <p:cNvPr id="5" name="Content Placeholder 4" descr="A diagram of parse tree&#10;&#10;AI-generated content may be incorrect.">
            <a:extLst>
              <a:ext uri="{FF2B5EF4-FFF2-40B4-BE49-F238E27FC236}">
                <a16:creationId xmlns:a16="http://schemas.microsoft.com/office/drawing/2014/main" id="{8F1C8123-B200-8A29-9F31-42F69BB19D81}"/>
              </a:ext>
            </a:extLst>
          </p:cNvPr>
          <p:cNvPicPr>
            <a:picLocks noGrp="1" noChangeAspect="1"/>
          </p:cNvPicPr>
          <p:nvPr>
            <p:ph idx="1"/>
          </p:nvPr>
        </p:nvPicPr>
        <p:blipFill>
          <a:blip r:embed="rId2"/>
          <a:stretch>
            <a:fillRect/>
          </a:stretch>
        </p:blipFill>
        <p:spPr>
          <a:xfrm>
            <a:off x="534432" y="185283"/>
            <a:ext cx="11741956" cy="6307592"/>
          </a:xfrm>
        </p:spPr>
      </p:pic>
    </p:spTree>
    <p:extLst>
      <p:ext uri="{BB962C8B-B14F-4D97-AF65-F5344CB8AC3E}">
        <p14:creationId xmlns:p14="http://schemas.microsoft.com/office/powerpoint/2010/main" val="746952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EDD88-2F7D-B523-1C16-5060062E807E}"/>
              </a:ext>
            </a:extLst>
          </p:cNvPr>
          <p:cNvSpPr>
            <a:spLocks noGrp="1"/>
          </p:cNvSpPr>
          <p:nvPr>
            <p:ph type="title"/>
          </p:nvPr>
        </p:nvSpPr>
        <p:spPr/>
        <p:txBody>
          <a:bodyPr/>
          <a:lstStyle/>
          <a:p>
            <a:endParaRPr lang="en-US" dirty="0"/>
          </a:p>
        </p:txBody>
      </p:sp>
      <p:pic>
        <p:nvPicPr>
          <p:cNvPr id="9" name="Content Placeholder 8" descr="A diagram of a tree&#10;&#10;AI-generated content may be incorrect.">
            <a:extLst>
              <a:ext uri="{FF2B5EF4-FFF2-40B4-BE49-F238E27FC236}">
                <a16:creationId xmlns:a16="http://schemas.microsoft.com/office/drawing/2014/main" id="{B412E3A0-BA58-2C69-1179-1EFD9F011DEA}"/>
              </a:ext>
            </a:extLst>
          </p:cNvPr>
          <p:cNvPicPr>
            <a:picLocks noGrp="1" noChangeAspect="1"/>
          </p:cNvPicPr>
          <p:nvPr>
            <p:ph idx="1"/>
          </p:nvPr>
        </p:nvPicPr>
        <p:blipFill>
          <a:blip r:embed="rId2"/>
          <a:stretch>
            <a:fillRect/>
          </a:stretch>
        </p:blipFill>
        <p:spPr>
          <a:xfrm>
            <a:off x="3180829" y="2016125"/>
            <a:ext cx="6144667" cy="3449638"/>
          </a:xfrm>
        </p:spPr>
      </p:pic>
      <p:sp>
        <p:nvSpPr>
          <p:cNvPr id="10" name="TextBox 9">
            <a:extLst>
              <a:ext uri="{FF2B5EF4-FFF2-40B4-BE49-F238E27FC236}">
                <a16:creationId xmlns:a16="http://schemas.microsoft.com/office/drawing/2014/main" id="{6956A1AE-7D56-0C7C-38C1-2B5C914B0BCC}"/>
              </a:ext>
            </a:extLst>
          </p:cNvPr>
          <p:cNvSpPr txBox="1"/>
          <p:nvPr/>
        </p:nvSpPr>
        <p:spPr>
          <a:xfrm>
            <a:off x="1537855" y="2057400"/>
            <a:ext cx="9473014" cy="369332"/>
          </a:xfrm>
          <a:prstGeom prst="rect">
            <a:avLst/>
          </a:prstGeom>
          <a:noFill/>
        </p:spPr>
        <p:txBody>
          <a:bodyPr wrap="square" rtlCol="0">
            <a:spAutoFit/>
          </a:bodyPr>
          <a:lstStyle/>
          <a:p>
            <a:r>
              <a:rPr lang="en-US" dirty="0"/>
              <a:t>Example1:- Parse tree for the input string - (id + id) using the above Context free Grammar is</a:t>
            </a:r>
          </a:p>
        </p:txBody>
      </p:sp>
    </p:spTree>
    <p:extLst>
      <p:ext uri="{BB962C8B-B14F-4D97-AF65-F5344CB8AC3E}">
        <p14:creationId xmlns:p14="http://schemas.microsoft.com/office/powerpoint/2010/main" val="131683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407E-477D-657F-3BF6-52A351695791}"/>
              </a:ext>
            </a:extLst>
          </p:cNvPr>
          <p:cNvSpPr>
            <a:spLocks noGrp="1"/>
          </p:cNvSpPr>
          <p:nvPr>
            <p:ph type="title"/>
          </p:nvPr>
        </p:nvSpPr>
        <p:spPr/>
        <p:txBody>
          <a:bodyPr/>
          <a:lstStyle/>
          <a:p>
            <a:endParaRPr lang="en-US"/>
          </a:p>
        </p:txBody>
      </p:sp>
      <p:pic>
        <p:nvPicPr>
          <p:cNvPr id="5" name="Content Placeholder 4" descr="A diagram of a tree&#10;&#10;AI-generated content may be incorrect.">
            <a:extLst>
              <a:ext uri="{FF2B5EF4-FFF2-40B4-BE49-F238E27FC236}">
                <a16:creationId xmlns:a16="http://schemas.microsoft.com/office/drawing/2014/main" id="{E5D3B90E-278B-2244-9BDD-E65ED4EFEE1B}"/>
              </a:ext>
            </a:extLst>
          </p:cNvPr>
          <p:cNvPicPr>
            <a:picLocks noGrp="1" noChangeAspect="1"/>
          </p:cNvPicPr>
          <p:nvPr>
            <p:ph idx="1"/>
          </p:nvPr>
        </p:nvPicPr>
        <p:blipFill>
          <a:blip r:embed="rId2"/>
          <a:stretch>
            <a:fillRect/>
          </a:stretch>
        </p:blipFill>
        <p:spPr>
          <a:xfrm>
            <a:off x="2138685" y="2016125"/>
            <a:ext cx="8228954" cy="3449638"/>
          </a:xfrm>
        </p:spPr>
      </p:pic>
    </p:spTree>
    <p:extLst>
      <p:ext uri="{BB962C8B-B14F-4D97-AF65-F5344CB8AC3E}">
        <p14:creationId xmlns:p14="http://schemas.microsoft.com/office/powerpoint/2010/main" val="2141288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0A74-1FCB-2ECD-A074-0A754EDE16D1}"/>
              </a:ext>
            </a:extLst>
          </p:cNvPr>
          <p:cNvSpPr>
            <a:spLocks noGrp="1"/>
          </p:cNvSpPr>
          <p:nvPr>
            <p:ph type="title"/>
          </p:nvPr>
        </p:nvSpPr>
        <p:spPr/>
        <p:txBody>
          <a:bodyPr/>
          <a:lstStyle/>
          <a:p>
            <a:r>
              <a:rPr lang="en-US" dirty="0"/>
              <a:t>Recursive Descent Parsing</a:t>
            </a:r>
          </a:p>
        </p:txBody>
      </p:sp>
      <p:sp>
        <p:nvSpPr>
          <p:cNvPr id="3" name="Content Placeholder 2">
            <a:extLst>
              <a:ext uri="{FF2B5EF4-FFF2-40B4-BE49-F238E27FC236}">
                <a16:creationId xmlns:a16="http://schemas.microsoft.com/office/drawing/2014/main" id="{DB3DE8D1-3A15-9DC9-407A-0D74082B4841}"/>
              </a:ext>
            </a:extLst>
          </p:cNvPr>
          <p:cNvSpPr>
            <a:spLocks noGrp="1"/>
          </p:cNvSpPr>
          <p:nvPr>
            <p:ph idx="1"/>
          </p:nvPr>
        </p:nvSpPr>
        <p:spPr/>
        <p:txBody>
          <a:bodyPr>
            <a:normAutofit fontScale="32500" lnSpcReduction="20000"/>
          </a:bodyPr>
          <a:lstStyle/>
          <a:p>
            <a:pPr algn="l">
              <a:spcBef>
                <a:spcPts val="1200"/>
              </a:spcBef>
              <a:spcAft>
                <a:spcPts val="600"/>
              </a:spcAft>
              <a:buFont typeface="+mj-lt"/>
              <a:buAutoNum type="arabicPeriod"/>
            </a:pPr>
            <a:r>
              <a:rPr lang="en-US" b="0" i="0" dirty="0">
                <a:solidFill>
                  <a:srgbClr val="0F1115"/>
                </a:solidFill>
                <a:effectLst/>
                <a:latin typeface="quote-cjk-patch"/>
              </a:rPr>
              <a:t>Use two pointers:</a:t>
            </a:r>
          </a:p>
          <a:p>
            <a:pPr marL="742950" lvl="1" indent="-285750" algn="l">
              <a:spcBef>
                <a:spcPts val="300"/>
              </a:spcBef>
              <a:spcAft>
                <a:spcPts val="1200"/>
              </a:spcAft>
              <a:buFont typeface="+mj-lt"/>
              <a:buAutoNum type="arabicPeriod"/>
            </a:pPr>
            <a:r>
              <a:rPr lang="en-US" b="0" i="0" dirty="0" err="1">
                <a:solidFill>
                  <a:srgbClr val="0F1115"/>
                </a:solidFill>
                <a:effectLst/>
                <a:latin typeface="quote-cjk-patch"/>
              </a:rPr>
              <a:t>iptr</a:t>
            </a:r>
            <a:r>
              <a:rPr lang="en-US" b="0" i="0" dirty="0">
                <a:solidFill>
                  <a:srgbClr val="0F1115"/>
                </a:solidFill>
                <a:effectLst/>
                <a:latin typeface="quote-cjk-patch"/>
              </a:rPr>
              <a:t> – points to the input symbol to be read.</a:t>
            </a:r>
          </a:p>
          <a:p>
            <a:pPr marL="742950" lvl="1" indent="-285750" algn="l">
              <a:spcBef>
                <a:spcPts val="450"/>
              </a:spcBef>
              <a:spcAft>
                <a:spcPts val="1200"/>
              </a:spcAft>
              <a:buFont typeface="+mj-lt"/>
              <a:buAutoNum type="arabicPeriod"/>
            </a:pPr>
            <a:r>
              <a:rPr lang="en-US" b="0" i="0" dirty="0" err="1">
                <a:solidFill>
                  <a:srgbClr val="0F1115"/>
                </a:solidFill>
                <a:effectLst/>
                <a:latin typeface="quote-cjk-patch"/>
              </a:rPr>
              <a:t>optr</a:t>
            </a:r>
            <a:r>
              <a:rPr lang="en-US" b="0" i="0" dirty="0">
                <a:solidFill>
                  <a:srgbClr val="0F1115"/>
                </a:solidFill>
                <a:effectLst/>
                <a:latin typeface="quote-cjk-patch"/>
              </a:rPr>
              <a:t> – points to the symbol of the output string that is initially initialized with the start symbol S.</a:t>
            </a:r>
          </a:p>
          <a:p>
            <a:pPr algn="l">
              <a:spcBef>
                <a:spcPts val="450"/>
              </a:spcBef>
              <a:spcAft>
                <a:spcPts val="1200"/>
              </a:spcAft>
              <a:buFont typeface="+mj-lt"/>
              <a:buAutoNum type="arabicPeriod"/>
            </a:pPr>
            <a:r>
              <a:rPr lang="en-US" b="0" i="0" dirty="0">
                <a:solidFill>
                  <a:srgbClr val="0F1115"/>
                </a:solidFill>
                <a:effectLst/>
                <a:latin typeface="quote-cjk-patch"/>
              </a:rPr>
              <a:t>If the symbol pointed by </a:t>
            </a:r>
            <a:r>
              <a:rPr lang="en-US" b="0" i="0" dirty="0" err="1">
                <a:solidFill>
                  <a:srgbClr val="0F1115"/>
                </a:solidFill>
                <a:effectLst/>
                <a:latin typeface="quote-cjk-patch"/>
              </a:rPr>
              <a:t>optr</a:t>
            </a:r>
            <a:r>
              <a:rPr lang="en-US" b="0" i="0" dirty="0">
                <a:solidFill>
                  <a:srgbClr val="0F1115"/>
                </a:solidFill>
                <a:effectLst/>
                <a:latin typeface="quote-cjk-patch"/>
              </a:rPr>
              <a:t> is a non-terminal, use the first production rule for expansion.</a:t>
            </a:r>
          </a:p>
          <a:p>
            <a:pPr algn="l">
              <a:spcBef>
                <a:spcPts val="450"/>
              </a:spcBef>
              <a:spcAft>
                <a:spcPts val="1200"/>
              </a:spcAft>
              <a:buFont typeface="+mj-lt"/>
              <a:buAutoNum type="arabicPeriod"/>
            </a:pPr>
            <a:r>
              <a:rPr lang="en-US" b="0" i="0" dirty="0">
                <a:solidFill>
                  <a:srgbClr val="0F1115"/>
                </a:solidFill>
                <a:effectLst/>
                <a:latin typeface="quote-cjk-patch"/>
              </a:rPr>
              <a:t>While the symbols pointed by </a:t>
            </a:r>
            <a:r>
              <a:rPr lang="en-US" b="0" i="0" dirty="0" err="1">
                <a:solidFill>
                  <a:srgbClr val="0F1115"/>
                </a:solidFill>
                <a:effectLst/>
                <a:latin typeface="quote-cjk-patch"/>
              </a:rPr>
              <a:t>iptr</a:t>
            </a:r>
            <a:r>
              <a:rPr lang="en-US" b="0" i="0" dirty="0">
                <a:solidFill>
                  <a:srgbClr val="0F1115"/>
                </a:solidFill>
                <a:effectLst/>
                <a:latin typeface="quote-cjk-patch"/>
              </a:rPr>
              <a:t> and </a:t>
            </a:r>
            <a:r>
              <a:rPr lang="en-US" b="0" i="0" dirty="0" err="1">
                <a:solidFill>
                  <a:srgbClr val="0F1115"/>
                </a:solidFill>
                <a:effectLst/>
                <a:latin typeface="quote-cjk-patch"/>
              </a:rPr>
              <a:t>optr</a:t>
            </a:r>
            <a:r>
              <a:rPr lang="en-US" b="0" i="0" dirty="0">
                <a:solidFill>
                  <a:srgbClr val="0F1115"/>
                </a:solidFill>
                <a:effectLst/>
                <a:latin typeface="quote-cjk-patch"/>
              </a:rPr>
              <a:t> match, increment both pointers.</a:t>
            </a:r>
          </a:p>
          <a:p>
            <a:pPr algn="l">
              <a:spcBef>
                <a:spcPts val="450"/>
              </a:spcBef>
              <a:spcAft>
                <a:spcPts val="1200"/>
              </a:spcAft>
              <a:buFont typeface="+mj-lt"/>
              <a:buAutoNum type="arabicPeriod"/>
            </a:pPr>
            <a:r>
              <a:rPr lang="en-US" b="0" i="0" dirty="0">
                <a:solidFill>
                  <a:srgbClr val="0F1115"/>
                </a:solidFill>
                <a:effectLst/>
                <a:latin typeface="quote-cjk-patch"/>
              </a:rPr>
              <a:t>The loop in step 3 terminates when:</a:t>
            </a:r>
            <a:br>
              <a:rPr lang="en-US" b="0" i="0" dirty="0">
                <a:solidFill>
                  <a:srgbClr val="0F1115"/>
                </a:solidFill>
                <a:effectLst/>
                <a:latin typeface="quote-cjk-patch"/>
              </a:rPr>
            </a:br>
            <a:r>
              <a:rPr lang="en-US" b="0" i="0" dirty="0">
                <a:solidFill>
                  <a:srgbClr val="0F1115"/>
                </a:solidFill>
                <a:effectLst/>
                <a:latin typeface="quote-cjk-patch"/>
              </a:rPr>
              <a:t>a) A non-terminal appears at the output (case A).</a:t>
            </a:r>
            <a:br>
              <a:rPr lang="en-US" b="0" i="0" dirty="0">
                <a:solidFill>
                  <a:srgbClr val="0F1115"/>
                </a:solidFill>
                <a:effectLst/>
                <a:latin typeface="quote-cjk-patch"/>
              </a:rPr>
            </a:br>
            <a:r>
              <a:rPr lang="en-US" b="0" i="0" dirty="0">
                <a:solidFill>
                  <a:srgbClr val="0F1115"/>
                </a:solidFill>
                <a:effectLst/>
                <a:latin typeface="quote-cjk-patch"/>
              </a:rPr>
              <a:t>b) The end of the input is reached (case B).</a:t>
            </a:r>
            <a:br>
              <a:rPr lang="en-US" b="0" i="0" dirty="0">
                <a:solidFill>
                  <a:srgbClr val="0F1115"/>
                </a:solidFill>
                <a:effectLst/>
                <a:latin typeface="quote-cjk-patch"/>
              </a:rPr>
            </a:br>
            <a:r>
              <a:rPr lang="en-US" b="0" i="0" dirty="0">
                <a:solidFill>
                  <a:srgbClr val="0F1115"/>
                </a:solidFill>
                <a:effectLst/>
                <a:latin typeface="quote-cjk-patch"/>
              </a:rPr>
              <a:t>c) An unmatching terminal symbol is seen (case C).</a:t>
            </a:r>
          </a:p>
          <a:p>
            <a:pPr algn="l">
              <a:spcBef>
                <a:spcPts val="450"/>
              </a:spcBef>
              <a:spcAft>
                <a:spcPts val="1200"/>
              </a:spcAft>
              <a:buFont typeface="+mj-lt"/>
              <a:buAutoNum type="arabicPeriod"/>
            </a:pPr>
            <a:r>
              <a:rPr lang="en-US" b="0" i="0" dirty="0">
                <a:solidFill>
                  <a:srgbClr val="0F1115"/>
                </a:solidFill>
                <a:effectLst/>
                <a:latin typeface="quote-cjk-patch"/>
              </a:rPr>
              <a:t>If (case A) is true, expand the non-terminal using the first rule and go to step 9.</a:t>
            </a:r>
          </a:p>
          <a:p>
            <a:pPr algn="l">
              <a:spcBef>
                <a:spcPts val="450"/>
              </a:spcBef>
              <a:spcAft>
                <a:spcPts val="1200"/>
              </a:spcAft>
              <a:buFont typeface="+mj-lt"/>
              <a:buAutoNum type="arabicPeriod"/>
            </a:pPr>
            <a:r>
              <a:rPr lang="en-US" b="0" i="0" dirty="0">
                <a:solidFill>
                  <a:srgbClr val="0F1115"/>
                </a:solidFill>
                <a:effectLst/>
                <a:latin typeface="quote-cjk-patch"/>
              </a:rPr>
              <a:t>If (case B) is true, terminate with success.</a:t>
            </a:r>
          </a:p>
          <a:p>
            <a:pPr algn="l">
              <a:spcBef>
                <a:spcPts val="450"/>
              </a:spcBef>
              <a:spcAft>
                <a:spcPts val="1200"/>
              </a:spcAft>
              <a:buFont typeface="+mj-lt"/>
              <a:buAutoNum type="arabicPeriod"/>
            </a:pPr>
            <a:r>
              <a:rPr lang="en-US" b="0" i="0" dirty="0">
                <a:solidFill>
                  <a:srgbClr val="0F1115"/>
                </a:solidFill>
                <a:effectLst/>
                <a:latin typeface="quote-cjk-patch"/>
              </a:rPr>
              <a:t>If (case C) is true, decrement both pointers to the place of the last non-terminal expansion and use the next production rule for that non-terminal.</a:t>
            </a:r>
          </a:p>
          <a:p>
            <a:pPr algn="l">
              <a:spcBef>
                <a:spcPts val="450"/>
              </a:spcBef>
              <a:spcAft>
                <a:spcPts val="1200"/>
              </a:spcAft>
              <a:buFont typeface="+mj-lt"/>
              <a:buAutoNum type="arabicPeriod"/>
            </a:pPr>
            <a:r>
              <a:rPr lang="en-US" b="0" i="0" dirty="0">
                <a:solidFill>
                  <a:srgbClr val="0F1115"/>
                </a:solidFill>
                <a:effectLst/>
                <a:latin typeface="quote-cjk-patch"/>
              </a:rPr>
              <a:t>If there are no more productions and (case B) is not true, report an error.</a:t>
            </a:r>
          </a:p>
          <a:p>
            <a:pPr marL="0" indent="0">
              <a:buNone/>
            </a:pPr>
            <a:endParaRPr lang="en-US" dirty="0"/>
          </a:p>
        </p:txBody>
      </p:sp>
    </p:spTree>
    <p:extLst>
      <p:ext uri="{BB962C8B-B14F-4D97-AF65-F5344CB8AC3E}">
        <p14:creationId xmlns:p14="http://schemas.microsoft.com/office/powerpoint/2010/main" val="2674871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1C272-FAF0-1A43-CEE9-9A3EBB0CE8DE}"/>
              </a:ext>
            </a:extLst>
          </p:cNvPr>
          <p:cNvSpPr>
            <a:spLocks noGrp="1"/>
          </p:cNvSpPr>
          <p:nvPr>
            <p:ph type="title"/>
          </p:nvPr>
        </p:nvSpPr>
        <p:spPr/>
        <p:txBody>
          <a:bodyPr/>
          <a:lstStyle/>
          <a:p>
            <a:r>
              <a:rPr lang="en-US" dirty="0"/>
              <a:t>Operator Precedence Parsing</a:t>
            </a:r>
          </a:p>
        </p:txBody>
      </p:sp>
      <p:sp>
        <p:nvSpPr>
          <p:cNvPr id="3" name="Content Placeholder 2">
            <a:extLst>
              <a:ext uri="{FF2B5EF4-FFF2-40B4-BE49-F238E27FC236}">
                <a16:creationId xmlns:a16="http://schemas.microsoft.com/office/drawing/2014/main" id="{FAD6CF24-CFBE-7303-A943-4455EB9FF122}"/>
              </a:ext>
            </a:extLst>
          </p:cNvPr>
          <p:cNvSpPr>
            <a:spLocks noGrp="1"/>
          </p:cNvSpPr>
          <p:nvPr>
            <p:ph idx="1"/>
          </p:nvPr>
        </p:nvSpPr>
        <p:spPr/>
        <p:txBody>
          <a:bodyPr>
            <a:normAutofit fontScale="85000" lnSpcReduction="10000"/>
          </a:bodyPr>
          <a:lstStyle/>
          <a:p>
            <a:pPr algn="l">
              <a:spcBef>
                <a:spcPts val="1200"/>
              </a:spcBef>
              <a:spcAft>
                <a:spcPts val="1200"/>
              </a:spcAft>
            </a:pPr>
            <a:r>
              <a:rPr lang="en-US" b="1" i="0" dirty="0">
                <a:solidFill>
                  <a:srgbClr val="0F1115"/>
                </a:solidFill>
                <a:effectLst/>
                <a:latin typeface="quote-cjk-patch"/>
              </a:rPr>
              <a:t>Operator-precedence parsing</a:t>
            </a:r>
            <a:r>
              <a:rPr lang="en-US" b="0" i="0" dirty="0">
                <a:solidFill>
                  <a:srgbClr val="0F1115"/>
                </a:solidFill>
                <a:effectLst/>
                <a:latin typeface="quote-cjk-patch"/>
              </a:rPr>
              <a:t> is a </a:t>
            </a:r>
            <a:r>
              <a:rPr lang="en-US" b="1" i="0" dirty="0">
                <a:solidFill>
                  <a:srgbClr val="0F1115"/>
                </a:solidFill>
                <a:effectLst/>
                <a:latin typeface="quote-cjk-patch"/>
              </a:rPr>
              <a:t>bottom-up parsing technique</a:t>
            </a:r>
            <a:r>
              <a:rPr lang="en-US" b="0" i="0" dirty="0">
                <a:solidFill>
                  <a:srgbClr val="0F1115"/>
                </a:solidFill>
                <a:effectLst/>
                <a:latin typeface="quote-cjk-patch"/>
              </a:rPr>
              <a:t> that makes parsing decisions by examining pairs of consecutive operators (tokens) in the source program.</a:t>
            </a:r>
          </a:p>
          <a:p>
            <a:pPr marL="0" indent="0" algn="l">
              <a:spcBef>
                <a:spcPts val="1200"/>
              </a:spcBef>
              <a:spcAft>
                <a:spcPts val="1200"/>
              </a:spcAft>
              <a:buNone/>
            </a:pPr>
            <a:r>
              <a:rPr lang="en-US" b="0" i="0" dirty="0">
                <a:solidFill>
                  <a:srgbClr val="0F1115"/>
                </a:solidFill>
                <a:effectLst/>
                <a:latin typeface="quote-cjk-patch"/>
              </a:rPr>
              <a:t>Main Idea:</a:t>
            </a:r>
          </a:p>
          <a:p>
            <a:pPr lvl="1">
              <a:spcBef>
                <a:spcPts val="1200"/>
              </a:spcBef>
              <a:spcAft>
                <a:spcPts val="1200"/>
              </a:spcAft>
            </a:pPr>
            <a:r>
              <a:rPr lang="en-US" b="0" i="0" dirty="0">
                <a:solidFill>
                  <a:srgbClr val="0F1115"/>
                </a:solidFill>
                <a:effectLst/>
                <a:latin typeface="quote-cjk-patch"/>
              </a:rPr>
              <a:t>Determine which operation should be performed first by comparing </a:t>
            </a:r>
            <a:r>
              <a:rPr lang="en-US" b="1" i="0" dirty="0">
                <a:solidFill>
                  <a:srgbClr val="0F1115"/>
                </a:solidFill>
                <a:effectLst/>
                <a:latin typeface="quote-cjk-patch"/>
              </a:rPr>
              <a:t>precedence</a:t>
            </a:r>
            <a:r>
              <a:rPr lang="en-US" b="0" i="0" dirty="0">
                <a:solidFill>
                  <a:srgbClr val="0F1115"/>
                </a:solidFill>
                <a:effectLst/>
                <a:latin typeface="quote-cjk-patch"/>
              </a:rPr>
              <a:t> of adjacent operators</a:t>
            </a:r>
          </a:p>
          <a:p>
            <a:pPr lvl="1">
              <a:spcBef>
                <a:spcPts val="450"/>
              </a:spcBef>
              <a:spcAft>
                <a:spcPts val="1200"/>
              </a:spcAft>
            </a:pPr>
            <a:r>
              <a:rPr lang="en-US" b="0" i="0" dirty="0">
                <a:solidFill>
                  <a:srgbClr val="0F1115"/>
                </a:solidFill>
                <a:effectLst/>
                <a:latin typeface="quote-cjk-patch"/>
              </a:rPr>
              <a:t>Uses precedence relations to guide the parsing process</a:t>
            </a:r>
          </a:p>
          <a:p>
            <a:pPr marL="0" indent="0">
              <a:buNone/>
            </a:pPr>
            <a:br>
              <a:rPr lang="en-US" dirty="0"/>
            </a:br>
            <a:br>
              <a:rPr lang="en-US" dirty="0"/>
            </a:br>
            <a:endParaRPr lang="en-US" dirty="0"/>
          </a:p>
        </p:txBody>
      </p:sp>
    </p:spTree>
    <p:extLst>
      <p:ext uri="{BB962C8B-B14F-4D97-AF65-F5344CB8AC3E}">
        <p14:creationId xmlns:p14="http://schemas.microsoft.com/office/powerpoint/2010/main" val="3967860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8F9AE-4567-5C2F-3078-8F3EE2BCA6A6}"/>
              </a:ext>
            </a:extLst>
          </p:cNvPr>
          <p:cNvSpPr>
            <a:spLocks noGrp="1"/>
          </p:cNvSpPr>
          <p:nvPr>
            <p:ph type="title"/>
          </p:nvPr>
        </p:nvSpPr>
        <p:spPr/>
        <p:txBody>
          <a:bodyPr/>
          <a:lstStyle/>
          <a:p>
            <a:endParaRPr lang="en-US"/>
          </a:p>
        </p:txBody>
      </p:sp>
      <p:pic>
        <p:nvPicPr>
          <p:cNvPr id="5" name="Content Placeholder 4" descr="A screenshot of a test&#10;&#10;AI-generated content may be incorrect.">
            <a:extLst>
              <a:ext uri="{FF2B5EF4-FFF2-40B4-BE49-F238E27FC236}">
                <a16:creationId xmlns:a16="http://schemas.microsoft.com/office/drawing/2014/main" id="{EB9F2B1B-777A-61A2-C832-69F0B0AAC38D}"/>
              </a:ext>
            </a:extLst>
          </p:cNvPr>
          <p:cNvPicPr>
            <a:picLocks noGrp="1" noChangeAspect="1"/>
          </p:cNvPicPr>
          <p:nvPr>
            <p:ph idx="1"/>
          </p:nvPr>
        </p:nvPicPr>
        <p:blipFill>
          <a:blip r:embed="rId2"/>
          <a:stretch>
            <a:fillRect/>
          </a:stretch>
        </p:blipFill>
        <p:spPr>
          <a:xfrm>
            <a:off x="1067992" y="760296"/>
            <a:ext cx="7899362" cy="5337407"/>
          </a:xfrm>
        </p:spPr>
      </p:pic>
    </p:spTree>
    <p:extLst>
      <p:ext uri="{BB962C8B-B14F-4D97-AF65-F5344CB8AC3E}">
        <p14:creationId xmlns:p14="http://schemas.microsoft.com/office/powerpoint/2010/main" val="3276698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B234-A022-1729-9FBA-028B1E3D6B42}"/>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1B1DD01B-C34C-D557-3C41-8F96756EF816}"/>
              </a:ext>
            </a:extLst>
          </p:cNvPr>
          <p:cNvPicPr>
            <a:picLocks noGrp="1" noChangeAspect="1"/>
          </p:cNvPicPr>
          <p:nvPr>
            <p:ph idx="1"/>
          </p:nvPr>
        </p:nvPicPr>
        <p:blipFill>
          <a:blip r:embed="rId2"/>
          <a:stretch>
            <a:fillRect/>
          </a:stretch>
        </p:blipFill>
        <p:spPr>
          <a:xfrm>
            <a:off x="1450975" y="2125719"/>
            <a:ext cx="9604375" cy="3230449"/>
          </a:xfrm>
        </p:spPr>
      </p:pic>
    </p:spTree>
    <p:extLst>
      <p:ext uri="{BB962C8B-B14F-4D97-AF65-F5344CB8AC3E}">
        <p14:creationId xmlns:p14="http://schemas.microsoft.com/office/powerpoint/2010/main" val="528022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469DF-C790-5328-EF68-68312607EF44}"/>
              </a:ext>
            </a:extLst>
          </p:cNvPr>
          <p:cNvSpPr>
            <a:spLocks noGrp="1"/>
          </p:cNvSpPr>
          <p:nvPr>
            <p:ph type="title"/>
          </p:nvPr>
        </p:nvSpPr>
        <p:spPr/>
        <p:txBody>
          <a:bodyPr/>
          <a:lstStyle/>
          <a:p>
            <a:r>
              <a:rPr lang="en-US" dirty="0"/>
              <a:t>Parsing Process</a:t>
            </a:r>
          </a:p>
        </p:txBody>
      </p:sp>
      <p:sp>
        <p:nvSpPr>
          <p:cNvPr id="3" name="Content Placeholder 2">
            <a:extLst>
              <a:ext uri="{FF2B5EF4-FFF2-40B4-BE49-F238E27FC236}">
                <a16:creationId xmlns:a16="http://schemas.microsoft.com/office/drawing/2014/main" id="{E49CAECD-2ACD-3738-BF5F-58A816E84ACD}"/>
              </a:ext>
            </a:extLst>
          </p:cNvPr>
          <p:cNvSpPr>
            <a:spLocks noGrp="1"/>
          </p:cNvSpPr>
          <p:nvPr>
            <p:ph idx="1"/>
          </p:nvPr>
        </p:nvSpPr>
        <p:spPr/>
        <p:txBody>
          <a:bodyPr/>
          <a:lstStyle/>
          <a:p>
            <a:pPr marL="0" indent="0" algn="l">
              <a:lnSpc>
                <a:spcPts val="2250"/>
              </a:lnSpc>
              <a:spcBef>
                <a:spcPts val="2400"/>
              </a:spcBef>
              <a:spcAft>
                <a:spcPts val="1200"/>
              </a:spcAft>
              <a:buNone/>
            </a:pPr>
            <a:r>
              <a:rPr lang="en-US" b="1" dirty="0">
                <a:solidFill>
                  <a:srgbClr val="0F1115"/>
                </a:solidFill>
                <a:effectLst/>
                <a:latin typeface="quote-cjk-patch"/>
              </a:rPr>
              <a:t>Bottom-Up Approach</a:t>
            </a:r>
          </a:p>
          <a:p>
            <a:pPr algn="l">
              <a:spcBef>
                <a:spcPts val="1200"/>
              </a:spcBef>
              <a:spcAft>
                <a:spcPts val="1200"/>
              </a:spcAft>
              <a:buFont typeface="+mj-lt"/>
              <a:buAutoNum type="arabicPeriod"/>
            </a:pPr>
            <a:r>
              <a:rPr lang="en-US" b="1" i="0" dirty="0">
                <a:solidFill>
                  <a:srgbClr val="0F1115"/>
                </a:solidFill>
                <a:effectLst/>
                <a:latin typeface="quote-cjk-patch"/>
              </a:rPr>
              <a:t>Start</a:t>
            </a:r>
            <a:r>
              <a:rPr lang="en-US" b="0" i="0" dirty="0">
                <a:solidFill>
                  <a:srgbClr val="0F1115"/>
                </a:solidFill>
                <a:effectLst/>
                <a:latin typeface="quote-cjk-patch"/>
              </a:rPr>
              <a:t> with tokens (leaves of parse tree)</a:t>
            </a:r>
          </a:p>
          <a:p>
            <a:pPr algn="l">
              <a:spcBef>
                <a:spcPts val="450"/>
              </a:spcBef>
              <a:spcAft>
                <a:spcPts val="1200"/>
              </a:spcAft>
              <a:buFont typeface="+mj-lt"/>
              <a:buAutoNum type="arabicPeriod"/>
            </a:pPr>
            <a:r>
              <a:rPr lang="en-US" b="1" i="0" dirty="0">
                <a:solidFill>
                  <a:srgbClr val="0F1115"/>
                </a:solidFill>
                <a:effectLst/>
                <a:latin typeface="quote-cjk-patch"/>
              </a:rPr>
              <a:t>Build upward</a:t>
            </a:r>
            <a:r>
              <a:rPr lang="en-US" b="0" i="0" dirty="0">
                <a:solidFill>
                  <a:srgbClr val="0F1115"/>
                </a:solidFill>
                <a:effectLst/>
                <a:latin typeface="quote-cjk-patch"/>
              </a:rPr>
              <a:t> by recognizing higher-precedence operations first</a:t>
            </a:r>
          </a:p>
          <a:p>
            <a:pPr algn="l">
              <a:spcBef>
                <a:spcPts val="450"/>
              </a:spcBef>
              <a:spcAft>
                <a:spcPts val="1200"/>
              </a:spcAft>
              <a:buFont typeface="+mj-lt"/>
              <a:buAutoNum type="arabicPeriod"/>
            </a:pPr>
            <a:r>
              <a:rPr lang="en-US" b="1" i="0" dirty="0">
                <a:solidFill>
                  <a:srgbClr val="0F1115"/>
                </a:solidFill>
                <a:effectLst/>
                <a:latin typeface="quote-cjk-patch"/>
              </a:rPr>
              <a:t>Reduce</a:t>
            </a:r>
            <a:r>
              <a:rPr lang="en-US" b="0" i="0" dirty="0">
                <a:solidFill>
                  <a:srgbClr val="0F1115"/>
                </a:solidFill>
                <a:effectLst/>
                <a:latin typeface="quote-cjk-patch"/>
              </a:rPr>
              <a:t> subexpressions according to grammar rules</a:t>
            </a:r>
          </a:p>
          <a:p>
            <a:pPr algn="l">
              <a:spcBef>
                <a:spcPts val="450"/>
              </a:spcBef>
              <a:spcAft>
                <a:spcPts val="1200"/>
              </a:spcAft>
              <a:buFont typeface="+mj-lt"/>
              <a:buAutoNum type="arabicPeriod"/>
            </a:pPr>
            <a:r>
              <a:rPr lang="en-US" b="1" i="0" dirty="0">
                <a:solidFill>
                  <a:srgbClr val="0F1115"/>
                </a:solidFill>
                <a:effectLst/>
                <a:latin typeface="quote-cjk-patch"/>
              </a:rPr>
              <a:t>Continue</a:t>
            </a:r>
            <a:r>
              <a:rPr lang="en-US" b="0" i="0" dirty="0">
                <a:solidFill>
                  <a:srgbClr val="0F1115"/>
                </a:solidFill>
                <a:effectLst/>
                <a:latin typeface="quote-cjk-patch"/>
              </a:rPr>
              <a:t> until the start symbol is reached</a:t>
            </a:r>
          </a:p>
          <a:p>
            <a:pPr marL="0" indent="0" algn="l">
              <a:spcBef>
                <a:spcPts val="450"/>
              </a:spcBef>
              <a:spcAft>
                <a:spcPts val="1200"/>
              </a:spcAft>
              <a:buNone/>
            </a:pPr>
            <a:endParaRPr lang="en-US" b="0" i="0" dirty="0">
              <a:solidFill>
                <a:srgbClr val="0F1115"/>
              </a:solidFill>
              <a:effectLst/>
              <a:latin typeface="quote-cjk-patch"/>
            </a:endParaRPr>
          </a:p>
          <a:p>
            <a:pPr marL="0" indent="0">
              <a:buNone/>
            </a:pPr>
            <a:endParaRPr lang="en-US" dirty="0"/>
          </a:p>
        </p:txBody>
      </p:sp>
      <p:pic>
        <p:nvPicPr>
          <p:cNvPr id="5" name="Picture 4" descr="A close-up of a white background&#10;&#10;AI-generated content may be incorrect.">
            <a:extLst>
              <a:ext uri="{FF2B5EF4-FFF2-40B4-BE49-F238E27FC236}">
                <a16:creationId xmlns:a16="http://schemas.microsoft.com/office/drawing/2014/main" id="{BBF44399-9BFD-F91F-2A31-9D353EED94CF}"/>
              </a:ext>
            </a:extLst>
          </p:cNvPr>
          <p:cNvPicPr>
            <a:picLocks noChangeAspect="1"/>
          </p:cNvPicPr>
          <p:nvPr/>
        </p:nvPicPr>
        <p:blipFill>
          <a:blip r:embed="rId2"/>
          <a:stretch>
            <a:fillRect/>
          </a:stretch>
        </p:blipFill>
        <p:spPr>
          <a:xfrm>
            <a:off x="2402032" y="4678363"/>
            <a:ext cx="4457700" cy="1498600"/>
          </a:xfrm>
          <a:prstGeom prst="rect">
            <a:avLst/>
          </a:prstGeom>
        </p:spPr>
      </p:pic>
    </p:spTree>
    <p:extLst>
      <p:ext uri="{BB962C8B-B14F-4D97-AF65-F5344CB8AC3E}">
        <p14:creationId xmlns:p14="http://schemas.microsoft.com/office/powerpoint/2010/main" val="337454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8247D-56A8-26F7-282E-2F7053F8A4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46FA33-21A4-FD35-2134-D394EA9B5EE8}"/>
              </a:ext>
            </a:extLst>
          </p:cNvPr>
          <p:cNvSpPr>
            <a:spLocks noGrp="1"/>
          </p:cNvSpPr>
          <p:nvPr>
            <p:ph idx="1"/>
          </p:nvPr>
        </p:nvSpPr>
        <p:spPr/>
        <p:txBody>
          <a:bodyPr>
            <a:normAutofit fontScale="55000" lnSpcReduction="20000"/>
          </a:bodyPr>
          <a:lstStyle/>
          <a:p>
            <a:pPr marL="0" indent="0" algn="l">
              <a:lnSpc>
                <a:spcPts val="2250"/>
              </a:lnSpc>
              <a:spcBef>
                <a:spcPts val="2400"/>
              </a:spcBef>
              <a:spcAft>
                <a:spcPts val="1200"/>
              </a:spcAft>
              <a:buNone/>
            </a:pPr>
            <a:r>
              <a:rPr lang="en-US" b="1" dirty="0">
                <a:solidFill>
                  <a:srgbClr val="0F1115"/>
                </a:solidFill>
                <a:effectLst/>
                <a:latin typeface="quote-cjk-patch"/>
              </a:rPr>
              <a:t>Advantages</a:t>
            </a:r>
          </a:p>
          <a:p>
            <a:pPr algn="l">
              <a:spcBef>
                <a:spcPts val="1200"/>
              </a:spcBef>
              <a:spcAft>
                <a:spcPts val="1200"/>
              </a:spcAft>
            </a:pPr>
            <a:r>
              <a:rPr lang="en-US" b="0" i="0" dirty="0">
                <a:solidFill>
                  <a:srgbClr val="0F1115"/>
                </a:solidFill>
                <a:effectLst/>
                <a:latin typeface="quote-cjk-patch"/>
              </a:rPr>
              <a:t>Simple to implement</a:t>
            </a:r>
            <a:br>
              <a:rPr lang="en-US" b="0" i="0" dirty="0">
                <a:solidFill>
                  <a:srgbClr val="0F1115"/>
                </a:solidFill>
                <a:effectLst/>
                <a:latin typeface="quote-cjk-patch"/>
              </a:rPr>
            </a:br>
            <a:r>
              <a:rPr lang="en-US" b="0" i="0" dirty="0">
                <a:solidFill>
                  <a:srgbClr val="0F1115"/>
                </a:solidFill>
                <a:effectLst/>
                <a:latin typeface="quote-cjk-patch"/>
              </a:rPr>
              <a:t> Efficient for expressions</a:t>
            </a:r>
            <a:br>
              <a:rPr lang="en-US" b="0" i="0" dirty="0">
                <a:solidFill>
                  <a:srgbClr val="0F1115"/>
                </a:solidFill>
                <a:effectLst/>
                <a:latin typeface="quote-cjk-patch"/>
              </a:rPr>
            </a:br>
            <a:r>
              <a:rPr lang="en-US" b="0" i="0" dirty="0">
                <a:solidFill>
                  <a:srgbClr val="0F1115"/>
                </a:solidFill>
                <a:effectLst/>
                <a:latin typeface="quote-cjk-patch"/>
              </a:rPr>
              <a:t>No need for full grammar (only precedence relations needed)</a:t>
            </a:r>
          </a:p>
          <a:p>
            <a:pPr marL="0" indent="0" algn="l">
              <a:lnSpc>
                <a:spcPts val="2250"/>
              </a:lnSpc>
              <a:spcBef>
                <a:spcPts val="2400"/>
              </a:spcBef>
              <a:spcAft>
                <a:spcPts val="1200"/>
              </a:spcAft>
              <a:buNone/>
            </a:pPr>
            <a:r>
              <a:rPr lang="en-US" b="1" dirty="0">
                <a:solidFill>
                  <a:srgbClr val="0F1115"/>
                </a:solidFill>
                <a:effectLst/>
                <a:latin typeface="quote-cjk-patch"/>
              </a:rPr>
              <a:t>Limitations</a:t>
            </a:r>
          </a:p>
          <a:p>
            <a:pPr algn="l">
              <a:spcBef>
                <a:spcPts val="1200"/>
              </a:spcBef>
              <a:spcAft>
                <a:spcPts val="1200"/>
              </a:spcAft>
            </a:pPr>
            <a:r>
              <a:rPr lang="en-US" b="0" i="0" dirty="0">
                <a:solidFill>
                  <a:srgbClr val="0F1115"/>
                </a:solidFill>
                <a:effectLst/>
                <a:latin typeface="quote-cjk-patch"/>
              </a:rPr>
              <a:t>Works only for </a:t>
            </a:r>
            <a:r>
              <a:rPr lang="en-US" b="1" i="0" dirty="0">
                <a:solidFill>
                  <a:srgbClr val="0F1115"/>
                </a:solidFill>
                <a:effectLst/>
                <a:latin typeface="quote-cjk-patch"/>
              </a:rPr>
              <a:t>operator grammars</a:t>
            </a:r>
            <a:r>
              <a:rPr lang="en-US" b="0" i="0" dirty="0">
                <a:solidFill>
                  <a:srgbClr val="0F1115"/>
                </a:solidFill>
                <a:effectLst/>
                <a:latin typeface="quote-cjk-patch"/>
              </a:rPr>
              <a:t> (no two consecutive non-terminals)</a:t>
            </a:r>
            <a:br>
              <a:rPr lang="en-US" b="0" i="0" dirty="0">
                <a:solidFill>
                  <a:srgbClr val="0F1115"/>
                </a:solidFill>
                <a:effectLst/>
                <a:latin typeface="quote-cjk-patch"/>
              </a:rPr>
            </a:br>
            <a:r>
              <a:rPr lang="en-US" b="0" i="0" dirty="0">
                <a:solidFill>
                  <a:srgbClr val="0F1115"/>
                </a:solidFill>
                <a:effectLst/>
                <a:latin typeface="quote-cjk-patch"/>
              </a:rPr>
              <a:t>Cannot handle ambiguous grammars</a:t>
            </a:r>
            <a:br>
              <a:rPr lang="en-US" b="0" i="0" dirty="0">
                <a:solidFill>
                  <a:srgbClr val="0F1115"/>
                </a:solidFill>
                <a:effectLst/>
                <a:latin typeface="quote-cjk-patch"/>
              </a:rPr>
            </a:br>
            <a:r>
              <a:rPr lang="en-US" b="0" i="0" dirty="0">
                <a:solidFill>
                  <a:srgbClr val="0F1115"/>
                </a:solidFill>
                <a:effectLst/>
                <a:latin typeface="quote-cjk-patch"/>
              </a:rPr>
              <a:t>Limited to languages where operators determine structure</a:t>
            </a:r>
          </a:p>
          <a:p>
            <a:pPr marL="0" indent="0">
              <a:buNone/>
            </a:pPr>
            <a:br>
              <a:rPr lang="en-US" dirty="0"/>
            </a:br>
            <a:endParaRPr lang="en-US" dirty="0"/>
          </a:p>
        </p:txBody>
      </p:sp>
    </p:spTree>
    <p:extLst>
      <p:ext uri="{BB962C8B-B14F-4D97-AF65-F5344CB8AC3E}">
        <p14:creationId xmlns:p14="http://schemas.microsoft.com/office/powerpoint/2010/main" val="825440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C31C-E12B-CD1A-8FA1-B336E9273FEE}"/>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15896F29-3FC2-EED8-42BA-600834DB203F}"/>
              </a:ext>
            </a:extLst>
          </p:cNvPr>
          <p:cNvSpPr>
            <a:spLocks noGrp="1"/>
          </p:cNvSpPr>
          <p:nvPr>
            <p:ph idx="1"/>
          </p:nvPr>
        </p:nvSpPr>
        <p:spPr/>
        <p:txBody>
          <a:bodyPr/>
          <a:lstStyle/>
          <a:p>
            <a:r>
              <a:rPr lang="en-US" dirty="0"/>
              <a:t>Code generator generates target code for a sequence of address statement</a:t>
            </a:r>
          </a:p>
          <a:p>
            <a:r>
              <a:rPr lang="en-US" dirty="0"/>
              <a:t>Use function </a:t>
            </a:r>
            <a:r>
              <a:rPr lang="en-US" dirty="0" err="1"/>
              <a:t>getreg</a:t>
            </a:r>
            <a:r>
              <a:rPr lang="en-US" dirty="0"/>
              <a:t> to assign address to variables.</a:t>
            </a:r>
          </a:p>
          <a:p>
            <a:pPr algn="l">
              <a:spcBef>
                <a:spcPts val="1200"/>
              </a:spcBef>
              <a:spcAft>
                <a:spcPts val="1200"/>
              </a:spcAft>
            </a:pPr>
            <a:r>
              <a:rPr lang="en-US" dirty="0"/>
              <a:t>Computed results are kept in registers as long as </a:t>
            </a:r>
            <a:r>
              <a:rPr lang="en-US" b="1" i="0" dirty="0">
                <a:solidFill>
                  <a:srgbClr val="0F1115"/>
                </a:solidFill>
                <a:effectLst/>
                <a:latin typeface="quote-cjk-patch"/>
              </a:rPr>
              <a:t>Possible which means:</a:t>
            </a:r>
            <a:endParaRPr lang="en-US" b="0" i="0" dirty="0">
              <a:solidFill>
                <a:srgbClr val="0F1115"/>
              </a:solidFill>
              <a:effectLst/>
              <a:latin typeface="quote-cjk-patch"/>
            </a:endParaRPr>
          </a:p>
          <a:p>
            <a:pPr lvl="1">
              <a:spcBef>
                <a:spcPts val="1200"/>
              </a:spcBef>
              <a:spcAft>
                <a:spcPts val="1200"/>
              </a:spcAft>
              <a:buFont typeface="Wingdings" pitchFamily="2" charset="2"/>
              <a:buChar char="Ø"/>
            </a:pPr>
            <a:r>
              <a:rPr lang="en-US" b="0" i="0" dirty="0">
                <a:solidFill>
                  <a:srgbClr val="0F1115"/>
                </a:solidFill>
                <a:effectLst/>
                <a:latin typeface="quote-cjk-patch"/>
              </a:rPr>
              <a:t>The result is needed in another computation.</a:t>
            </a:r>
          </a:p>
          <a:p>
            <a:pPr lvl="1">
              <a:spcBef>
                <a:spcPts val="450"/>
              </a:spcBef>
              <a:spcAft>
                <a:spcPts val="1200"/>
              </a:spcAft>
              <a:buFont typeface="Wingdings" pitchFamily="2" charset="2"/>
              <a:buChar char="Ø"/>
            </a:pPr>
            <a:r>
              <a:rPr lang="en-US" b="0" i="0" dirty="0">
                <a:solidFill>
                  <a:srgbClr val="0F1115"/>
                </a:solidFill>
                <a:effectLst/>
                <a:latin typeface="quote-cjk-patch"/>
              </a:rPr>
              <a:t>Registers are kept up to a procedure call or end of block.</a:t>
            </a:r>
          </a:p>
          <a:p>
            <a:endParaRPr lang="en-US" dirty="0"/>
          </a:p>
        </p:txBody>
      </p:sp>
    </p:spTree>
    <p:extLst>
      <p:ext uri="{BB962C8B-B14F-4D97-AF65-F5344CB8AC3E}">
        <p14:creationId xmlns:p14="http://schemas.microsoft.com/office/powerpoint/2010/main" val="4083965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44FA3-153C-D5FC-D7E0-8F097BB5B21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5B2E46B-08A3-CA83-77AD-742872DABB14}"/>
              </a:ext>
            </a:extLst>
          </p:cNvPr>
          <p:cNvSpPr>
            <a:spLocks noGrp="1"/>
          </p:cNvSpPr>
          <p:nvPr>
            <p:ph idx="1"/>
          </p:nvPr>
        </p:nvSpPr>
        <p:spPr/>
        <p:txBody>
          <a:bodyPr>
            <a:normAutofit fontScale="70000" lnSpcReduction="20000"/>
          </a:bodyPr>
          <a:lstStyle/>
          <a:p>
            <a:pPr marL="0" indent="0">
              <a:buNone/>
            </a:pPr>
            <a:r>
              <a:rPr lang="en-US" b="1" dirty="0"/>
              <a:t>Code Generation Algorithm</a:t>
            </a:r>
            <a:r>
              <a:rPr lang="en-US" dirty="0"/>
              <a:t>:</a:t>
            </a:r>
          </a:p>
          <a:p>
            <a:pPr marL="0" indent="0" algn="l">
              <a:spcBef>
                <a:spcPts val="1200"/>
              </a:spcBef>
              <a:spcAft>
                <a:spcPts val="1200"/>
              </a:spcAft>
              <a:buNone/>
            </a:pPr>
            <a:r>
              <a:rPr lang="en-US" b="0" i="0" dirty="0">
                <a:solidFill>
                  <a:srgbClr val="0F1115"/>
                </a:solidFill>
                <a:effectLst/>
                <a:latin typeface="quote-cjk-patch"/>
              </a:rPr>
              <a:t>For each statement x = y op z:</a:t>
            </a:r>
          </a:p>
          <a:p>
            <a:pPr algn="l">
              <a:spcBef>
                <a:spcPts val="1200"/>
              </a:spcBef>
              <a:spcAft>
                <a:spcPts val="1200"/>
              </a:spcAft>
              <a:buFont typeface="+mj-lt"/>
              <a:buAutoNum type="arabicPeriod"/>
            </a:pPr>
            <a:r>
              <a:rPr lang="en-US" b="0" i="0" dirty="0">
                <a:solidFill>
                  <a:srgbClr val="0F1115"/>
                </a:solidFill>
                <a:effectLst/>
                <a:latin typeface="quote-cjk-patch"/>
              </a:rPr>
              <a:t>Set location L = </a:t>
            </a:r>
            <a:r>
              <a:rPr lang="en-US" b="0" i="0" dirty="0" err="1">
                <a:solidFill>
                  <a:srgbClr val="0F1115"/>
                </a:solidFill>
                <a:effectLst/>
                <a:latin typeface="quote-cjk-patch"/>
              </a:rPr>
              <a:t>getreg</a:t>
            </a:r>
            <a:r>
              <a:rPr lang="en-US" b="0" i="0" dirty="0">
                <a:solidFill>
                  <a:srgbClr val="0F1115"/>
                </a:solidFill>
                <a:effectLst/>
                <a:latin typeface="quote-cjk-patch"/>
              </a:rPr>
              <a:t>(y, z)</a:t>
            </a:r>
          </a:p>
          <a:p>
            <a:pPr algn="l">
              <a:spcBef>
                <a:spcPts val="450"/>
              </a:spcBef>
              <a:spcAft>
                <a:spcPts val="600"/>
              </a:spcAft>
              <a:buFont typeface="+mj-lt"/>
              <a:buAutoNum type="arabicPeriod"/>
            </a:pPr>
            <a:r>
              <a:rPr lang="en-US" b="0" i="0" dirty="0">
                <a:solidFill>
                  <a:srgbClr val="0F1115"/>
                </a:solidFill>
                <a:effectLst/>
                <a:latin typeface="quote-cjk-patch"/>
              </a:rPr>
              <a:t>If y is not already in L:</a:t>
            </a:r>
          </a:p>
          <a:p>
            <a:pPr marL="742950" lvl="1" indent="-285750" algn="l">
              <a:spcBef>
                <a:spcPts val="300"/>
              </a:spcBef>
              <a:spcAft>
                <a:spcPts val="1200"/>
              </a:spcAft>
              <a:buFont typeface="+mj-lt"/>
              <a:buAutoNum type="arabicPeriod"/>
            </a:pPr>
            <a:r>
              <a:rPr lang="en-US" b="0" i="0" dirty="0">
                <a:solidFill>
                  <a:srgbClr val="0F1115"/>
                </a:solidFill>
                <a:effectLst/>
                <a:latin typeface="quote-cjk-patch"/>
              </a:rPr>
              <a:t>Move y to L</a:t>
            </a:r>
          </a:p>
          <a:p>
            <a:pPr algn="l">
              <a:spcBef>
                <a:spcPts val="450"/>
              </a:spcBef>
              <a:spcAft>
                <a:spcPts val="600"/>
              </a:spcAft>
              <a:buFont typeface="+mj-lt"/>
              <a:buAutoNum type="arabicPeriod"/>
            </a:pPr>
            <a:r>
              <a:rPr lang="en-US" b="0" i="0" dirty="0">
                <a:solidFill>
                  <a:srgbClr val="0F1115"/>
                </a:solidFill>
                <a:effectLst/>
                <a:latin typeface="quote-cjk-patch"/>
              </a:rPr>
              <a:t>Generate instruction:</a:t>
            </a:r>
          </a:p>
          <a:p>
            <a:pPr marL="742950" lvl="1" indent="-285750" algn="l">
              <a:spcBef>
                <a:spcPts val="300"/>
              </a:spcBef>
              <a:spcAft>
                <a:spcPts val="1200"/>
              </a:spcAft>
              <a:buFont typeface="+mj-lt"/>
              <a:buAutoNum type="arabicPeriod"/>
            </a:pPr>
            <a:r>
              <a:rPr lang="en-US" b="0" i="0" dirty="0">
                <a:solidFill>
                  <a:srgbClr val="0F1115"/>
                </a:solidFill>
                <a:effectLst/>
                <a:latin typeface="quote-cjk-patch"/>
              </a:rPr>
              <a:t>op z, L</a:t>
            </a:r>
          </a:p>
          <a:p>
            <a:pPr algn="l">
              <a:spcBef>
                <a:spcPts val="450"/>
              </a:spcBef>
              <a:spcAft>
                <a:spcPts val="1200"/>
              </a:spcAft>
              <a:buFont typeface="+mj-lt"/>
              <a:buAutoNum type="arabicPeriod"/>
            </a:pPr>
            <a:r>
              <a:rPr lang="en-US" b="0" i="0" dirty="0">
                <a:solidFill>
                  <a:srgbClr val="0F1115"/>
                </a:solidFill>
                <a:effectLst/>
                <a:latin typeface="quote-cjk-patch"/>
              </a:rPr>
              <a:t>Update registers and address descriptors.</a:t>
            </a:r>
          </a:p>
          <a:p>
            <a:pPr marL="0" indent="0">
              <a:buNone/>
            </a:pPr>
            <a:endParaRPr lang="en-US" dirty="0"/>
          </a:p>
          <a:p>
            <a:endParaRPr lang="en-US" dirty="0"/>
          </a:p>
        </p:txBody>
      </p:sp>
    </p:spTree>
    <p:extLst>
      <p:ext uri="{BB962C8B-B14F-4D97-AF65-F5344CB8AC3E}">
        <p14:creationId xmlns:p14="http://schemas.microsoft.com/office/powerpoint/2010/main" val="2316192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7CD6-CC74-114B-8D8C-AB8A40DE9B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4FF9B5-A8B0-0506-A97F-79772D215EC9}"/>
              </a:ext>
            </a:extLst>
          </p:cNvPr>
          <p:cNvSpPr>
            <a:spLocks noGrp="1"/>
          </p:cNvSpPr>
          <p:nvPr>
            <p:ph idx="1"/>
          </p:nvPr>
        </p:nvSpPr>
        <p:spPr/>
        <p:txBody>
          <a:bodyPr/>
          <a:lstStyle/>
          <a:p>
            <a:pPr marL="0" indent="0" algn="l">
              <a:spcBef>
                <a:spcPts val="1200"/>
              </a:spcBef>
              <a:spcAft>
                <a:spcPts val="1200"/>
              </a:spcAft>
              <a:buNone/>
            </a:pPr>
            <a:r>
              <a:rPr lang="en-US" b="1" i="0" dirty="0" err="1">
                <a:solidFill>
                  <a:srgbClr val="0F1115"/>
                </a:solidFill>
                <a:effectLst/>
                <a:latin typeface="quote-cjk-patch"/>
              </a:rPr>
              <a:t>getreg</a:t>
            </a:r>
            <a:r>
              <a:rPr lang="en-US" b="1" i="0" dirty="0">
                <a:solidFill>
                  <a:srgbClr val="0F1115"/>
                </a:solidFill>
                <a:effectLst/>
                <a:latin typeface="quote-cjk-patch"/>
              </a:rPr>
              <a:t>() Algorithm</a:t>
            </a:r>
            <a:br>
              <a:rPr lang="en-US" b="0" i="0" dirty="0">
                <a:solidFill>
                  <a:srgbClr val="0F1115"/>
                </a:solidFill>
                <a:effectLst/>
                <a:latin typeface="quote-cjk-patch"/>
              </a:rPr>
            </a:br>
            <a:r>
              <a:rPr lang="en-US" b="0" i="0" dirty="0">
                <a:solidFill>
                  <a:srgbClr val="0F1115"/>
                </a:solidFill>
                <a:effectLst/>
                <a:latin typeface="quote-cjk-patch"/>
              </a:rPr>
              <a:t>To compute </a:t>
            </a:r>
            <a:r>
              <a:rPr lang="en-US" b="0" i="0" dirty="0" err="1">
                <a:solidFill>
                  <a:srgbClr val="0F1115"/>
                </a:solidFill>
                <a:effectLst/>
                <a:latin typeface="quote-cjk-patch"/>
              </a:rPr>
              <a:t>getreg</a:t>
            </a:r>
            <a:r>
              <a:rPr lang="en-US" b="0" i="0" dirty="0">
                <a:solidFill>
                  <a:srgbClr val="0F1115"/>
                </a:solidFill>
                <a:effectLst/>
                <a:latin typeface="quote-cjk-patch"/>
              </a:rPr>
              <a:t>(y, z):</a:t>
            </a:r>
          </a:p>
          <a:p>
            <a:pPr algn="l">
              <a:spcBef>
                <a:spcPts val="1200"/>
              </a:spcBef>
              <a:spcAft>
                <a:spcPts val="1200"/>
              </a:spcAft>
              <a:buFont typeface="+mj-lt"/>
              <a:buAutoNum type="arabicPeriod"/>
            </a:pPr>
            <a:r>
              <a:rPr lang="en-US" b="0" i="0" dirty="0">
                <a:solidFill>
                  <a:srgbClr val="0F1115"/>
                </a:solidFill>
                <a:effectLst/>
                <a:latin typeface="quote-cjk-patch"/>
              </a:rPr>
              <a:t>If y is stored in a register R, return R.</a:t>
            </a:r>
          </a:p>
          <a:p>
            <a:pPr algn="l">
              <a:spcBef>
                <a:spcPts val="450"/>
              </a:spcBef>
              <a:spcAft>
                <a:spcPts val="1200"/>
              </a:spcAft>
              <a:buFont typeface="+mj-lt"/>
              <a:buAutoNum type="arabicPeriod"/>
            </a:pPr>
            <a:r>
              <a:rPr lang="en-US" b="0" i="0" dirty="0">
                <a:solidFill>
                  <a:srgbClr val="0F1115"/>
                </a:solidFill>
                <a:effectLst/>
                <a:latin typeface="quote-cjk-patch"/>
              </a:rPr>
              <a:t>Else, return a new empty register if one is available.</a:t>
            </a:r>
          </a:p>
          <a:p>
            <a:pPr algn="l">
              <a:spcBef>
                <a:spcPts val="450"/>
              </a:spcBef>
              <a:spcAft>
                <a:spcPts val="1200"/>
              </a:spcAft>
              <a:buFont typeface="+mj-lt"/>
              <a:buAutoNum type="arabicPeriod"/>
            </a:pPr>
            <a:r>
              <a:rPr lang="en-US" b="0" i="0" dirty="0">
                <a:solidFill>
                  <a:srgbClr val="0F1115"/>
                </a:solidFill>
                <a:effectLst/>
                <a:latin typeface="quote-cjk-patch"/>
              </a:rPr>
              <a:t>Else, find an occupied register R, store its contents using MOV R, M, and return R.</a:t>
            </a:r>
          </a:p>
          <a:p>
            <a:pPr algn="l">
              <a:spcBef>
                <a:spcPts val="450"/>
              </a:spcBef>
              <a:spcAft>
                <a:spcPts val="1200"/>
              </a:spcAft>
              <a:buFont typeface="+mj-lt"/>
              <a:buAutoNum type="arabicPeriod"/>
            </a:pPr>
            <a:r>
              <a:rPr lang="en-US" b="0" i="0" dirty="0">
                <a:solidFill>
                  <a:srgbClr val="0F1115"/>
                </a:solidFill>
                <a:effectLst/>
                <a:latin typeface="quote-cjk-patch"/>
              </a:rPr>
              <a:t>Else, return memory (or handle as fallback).</a:t>
            </a:r>
          </a:p>
          <a:p>
            <a:endParaRPr lang="en-US" dirty="0"/>
          </a:p>
        </p:txBody>
      </p:sp>
    </p:spTree>
    <p:extLst>
      <p:ext uri="{BB962C8B-B14F-4D97-AF65-F5344CB8AC3E}">
        <p14:creationId xmlns:p14="http://schemas.microsoft.com/office/powerpoint/2010/main" val="3414047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15BF-F77C-BA20-F588-5B13249429A7}"/>
              </a:ext>
            </a:extLst>
          </p:cNvPr>
          <p:cNvSpPr>
            <a:spLocks noGrp="1"/>
          </p:cNvSpPr>
          <p:nvPr>
            <p:ph type="title"/>
          </p:nvPr>
        </p:nvSpPr>
        <p:spPr/>
        <p:txBody>
          <a:bodyPr/>
          <a:lstStyle/>
          <a:p>
            <a:endParaRPr lang="en-US"/>
          </a:p>
        </p:txBody>
      </p:sp>
      <p:pic>
        <p:nvPicPr>
          <p:cNvPr id="5" name="Content Placeholder 4" descr="A paper with writing on it&#10;&#10;AI-generated content may be incorrect.">
            <a:extLst>
              <a:ext uri="{FF2B5EF4-FFF2-40B4-BE49-F238E27FC236}">
                <a16:creationId xmlns:a16="http://schemas.microsoft.com/office/drawing/2014/main" id="{1B5CA57F-54CF-D2F3-399C-CE1FB308BCD5}"/>
              </a:ext>
            </a:extLst>
          </p:cNvPr>
          <p:cNvPicPr>
            <a:picLocks noGrp="1" noChangeAspect="1"/>
          </p:cNvPicPr>
          <p:nvPr>
            <p:ph idx="1"/>
          </p:nvPr>
        </p:nvPicPr>
        <p:blipFill>
          <a:blip r:embed="rId2"/>
          <a:stretch>
            <a:fillRect/>
          </a:stretch>
        </p:blipFill>
        <p:spPr>
          <a:xfrm>
            <a:off x="4061976" y="2016125"/>
            <a:ext cx="4382372" cy="3449638"/>
          </a:xfrm>
        </p:spPr>
      </p:pic>
    </p:spTree>
    <p:extLst>
      <p:ext uri="{BB962C8B-B14F-4D97-AF65-F5344CB8AC3E}">
        <p14:creationId xmlns:p14="http://schemas.microsoft.com/office/powerpoint/2010/main" val="10300795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2241</TotalTime>
  <Words>1870</Words>
  <Application>Microsoft Macintosh PowerPoint</Application>
  <PresentationFormat>Widescreen</PresentationFormat>
  <Paragraphs>137</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Gill Sans MT</vt:lpstr>
      <vt:lpstr>Nunito</vt:lpstr>
      <vt:lpstr>Poppins</vt:lpstr>
      <vt:lpstr>quote-cjk-patch</vt:lpstr>
      <vt:lpstr>Times New Roman</vt:lpstr>
      <vt:lpstr>Wingdings</vt:lpstr>
      <vt:lpstr>Gallery</vt:lpstr>
      <vt:lpstr>Fundamental of Compiler Design</vt:lpstr>
      <vt:lpstr>PowerPoint Presentation</vt:lpstr>
      <vt:lpstr>Operations of Compiler</vt:lpstr>
      <vt:lpstr>PowerPoint Presentation</vt:lpstr>
      <vt:lpstr>Preprocessor</vt:lpstr>
      <vt:lpstr>Assembler</vt:lpstr>
      <vt:lpstr>Compiler</vt:lpstr>
      <vt:lpstr>Linker</vt:lpstr>
      <vt:lpstr>Loader</vt:lpstr>
      <vt:lpstr>Compiler Functions</vt:lpstr>
      <vt:lpstr>PowerPoint Presentation</vt:lpstr>
      <vt:lpstr>PowerPoint Presentation</vt:lpstr>
      <vt:lpstr>PowerPoint Presentation</vt:lpstr>
      <vt:lpstr>PowerPoint Presentation</vt:lpstr>
      <vt:lpstr>Grammar</vt:lpstr>
      <vt:lpstr>Lexical Analysis (Scanner)</vt:lpstr>
      <vt:lpstr>PowerPoint Presentation</vt:lpstr>
      <vt:lpstr>PowerPoint Presentation</vt:lpstr>
      <vt:lpstr>PowerPoint Presentation</vt:lpstr>
      <vt:lpstr>Syntax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Recursive Descent Parsing</vt:lpstr>
      <vt:lpstr>Operator Precedence Parsing</vt:lpstr>
      <vt:lpstr>PowerPoint Presentation</vt:lpstr>
      <vt:lpstr>PowerPoint Presentation</vt:lpstr>
      <vt:lpstr>Parsing Process</vt:lpstr>
      <vt:lpstr>PowerPoint Presentation</vt:lpstr>
      <vt:lpstr>Code Generation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Saugat Niroula</dc:creator>
  <cp:lastModifiedBy>Saugat Niroula</cp:lastModifiedBy>
  <cp:revision>9</cp:revision>
  <dcterms:created xsi:type="dcterms:W3CDTF">2026-06-27T16:32:00Z</dcterms:created>
  <dcterms:modified xsi:type="dcterms:W3CDTF">2026-07-16T04:30:53Z</dcterms:modified>
</cp:coreProperties>
</file>