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6"/>
  </p:notesMasterIdLst>
  <p:sldIdLst>
    <p:sldId id="312" r:id="rId2"/>
    <p:sldId id="31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10" r:id="rId54"/>
    <p:sldId id="313" r:id="rId55"/>
    <p:sldId id="388" r:id="rId56"/>
    <p:sldId id="389" r:id="rId57"/>
    <p:sldId id="390" r:id="rId58"/>
    <p:sldId id="391" r:id="rId59"/>
    <p:sldId id="392" r:id="rId60"/>
    <p:sldId id="393" r:id="rId61"/>
    <p:sldId id="394" r:id="rId62"/>
    <p:sldId id="395" r:id="rId63"/>
    <p:sldId id="396" r:id="rId64"/>
    <p:sldId id="397" r:id="rId65"/>
    <p:sldId id="398" r:id="rId66"/>
    <p:sldId id="399" r:id="rId67"/>
    <p:sldId id="400" r:id="rId68"/>
    <p:sldId id="401" r:id="rId69"/>
    <p:sldId id="402" r:id="rId70"/>
    <p:sldId id="403" r:id="rId71"/>
    <p:sldId id="404" r:id="rId72"/>
    <p:sldId id="405" r:id="rId73"/>
    <p:sldId id="406" r:id="rId74"/>
    <p:sldId id="407" r:id="rId75"/>
    <p:sldId id="408" r:id="rId76"/>
    <p:sldId id="409" r:id="rId77"/>
    <p:sldId id="410" r:id="rId78"/>
    <p:sldId id="411" r:id="rId79"/>
    <p:sldId id="412" r:id="rId80"/>
    <p:sldId id="413" r:id="rId81"/>
    <p:sldId id="414" r:id="rId82"/>
    <p:sldId id="415" r:id="rId83"/>
    <p:sldId id="416" r:id="rId84"/>
    <p:sldId id="417" r:id="rId85"/>
    <p:sldId id="418" r:id="rId86"/>
    <p:sldId id="419" r:id="rId87"/>
    <p:sldId id="420" r:id="rId88"/>
    <p:sldId id="421" r:id="rId89"/>
    <p:sldId id="422" r:id="rId90"/>
    <p:sldId id="423" r:id="rId91"/>
    <p:sldId id="424" r:id="rId92"/>
    <p:sldId id="425" r:id="rId93"/>
    <p:sldId id="454" r:id="rId94"/>
    <p:sldId id="455" r:id="rId95"/>
    <p:sldId id="456" r:id="rId96"/>
    <p:sldId id="457" r:id="rId97"/>
    <p:sldId id="458" r:id="rId98"/>
    <p:sldId id="459" r:id="rId99"/>
    <p:sldId id="460" r:id="rId100"/>
    <p:sldId id="461" r:id="rId101"/>
    <p:sldId id="462" r:id="rId102"/>
    <p:sldId id="463" r:id="rId103"/>
    <p:sldId id="464" r:id="rId104"/>
    <p:sldId id="465" r:id="rId105"/>
    <p:sldId id="466" r:id="rId106"/>
    <p:sldId id="467" r:id="rId107"/>
    <p:sldId id="468" r:id="rId108"/>
    <p:sldId id="469" r:id="rId109"/>
    <p:sldId id="470" r:id="rId110"/>
    <p:sldId id="471" r:id="rId111"/>
    <p:sldId id="472" r:id="rId112"/>
    <p:sldId id="473" r:id="rId113"/>
    <p:sldId id="474" r:id="rId114"/>
    <p:sldId id="475" r:id="rId115"/>
    <p:sldId id="476" r:id="rId116"/>
    <p:sldId id="477" r:id="rId117"/>
    <p:sldId id="478" r:id="rId118"/>
    <p:sldId id="479" r:id="rId119"/>
    <p:sldId id="480" r:id="rId120"/>
    <p:sldId id="481" r:id="rId121"/>
    <p:sldId id="482" r:id="rId122"/>
    <p:sldId id="483" r:id="rId123"/>
    <p:sldId id="484" r:id="rId124"/>
    <p:sldId id="485" r:id="rId125"/>
    <p:sldId id="486" r:id="rId126"/>
    <p:sldId id="487" r:id="rId127"/>
    <p:sldId id="488" r:id="rId128"/>
    <p:sldId id="489" r:id="rId129"/>
    <p:sldId id="490" r:id="rId130"/>
    <p:sldId id="491" r:id="rId131"/>
    <p:sldId id="492" r:id="rId132"/>
    <p:sldId id="493" r:id="rId133"/>
    <p:sldId id="494" r:id="rId134"/>
    <p:sldId id="495" r:id="rId135"/>
    <p:sldId id="496" r:id="rId136"/>
    <p:sldId id="497" r:id="rId137"/>
    <p:sldId id="498" r:id="rId138"/>
    <p:sldId id="499" r:id="rId139"/>
    <p:sldId id="500" r:id="rId140"/>
    <p:sldId id="501" r:id="rId141"/>
    <p:sldId id="502" r:id="rId142"/>
    <p:sldId id="503" r:id="rId143"/>
    <p:sldId id="504" r:id="rId144"/>
    <p:sldId id="505" r:id="rId145"/>
    <p:sldId id="308" r:id="rId146"/>
    <p:sldId id="309" r:id="rId147"/>
    <p:sldId id="506" r:id="rId148"/>
    <p:sldId id="507" r:id="rId149"/>
    <p:sldId id="508" r:id="rId150"/>
    <p:sldId id="509" r:id="rId151"/>
    <p:sldId id="314" r:id="rId152"/>
    <p:sldId id="315" r:id="rId153"/>
    <p:sldId id="318" r:id="rId154"/>
    <p:sldId id="319" r:id="rId1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73" d="100"/>
          <a:sy n="73" d="100"/>
        </p:scale>
        <p:origin x="19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slide" Target="slides/slide1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BC52B-1AF2-4D97-8D13-BAD8785A09B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177E0-3E21-4BAE-B6CC-178EDE716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5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3069038-B625-A6F8-C5CC-D16F93FCFE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384D76-6765-408F-BB27-0267B3DA86E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8ACFF-84F7-8BB1-7A79-3674C02E52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AE92E39-C21C-86CB-B2AD-911FF97E3F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E35C863-ED9B-E80F-A33E-3CB9177EDC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8F9C69F-38A9-4350-B55C-826289A6E831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30387-6874-3FFE-E150-22FCF4CCFB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56BF607-9EA3-E9A6-8A0F-E35A2B8AD0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055BB98-7580-542C-C07A-F15498D35E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13D8538-DA1A-4E70-A561-FF9CE24F492E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9C480-7AEC-4C0C-2281-AB05096390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E7381A1-D901-E76F-1486-943A6978E3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60A9FFF-A29F-058E-E8F8-18728C47E8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7832C9D-6DF9-44C0-8DF9-150E2591587D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B02F-5E14-F070-85A9-9EC6523280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D4FF823-79ED-48DB-FCC3-2CA0CBF4CA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DB4869D-CE4A-E797-EB6E-2AFE5F2F44E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C52BF9-FABC-4351-B294-D603A52AE55B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1A9E5-759E-5C85-9725-611C0BDB3E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98E568F-031E-87FE-7617-3A84B85A45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AB5F5C1-C914-3AC8-3BB5-B26BBB2233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0C7327C-7F87-4B35-913E-A1D590B4A773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2E782-7AA5-94FE-34D0-822974337D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470CDB1-387C-91BB-112D-1FA8ED2276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5445E8A-2A02-D735-9304-673350B22E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2C3ED72-8C5B-4FF0-9589-75420003A2DA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5554E-7C91-8812-043E-346659F7DD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2CE2AF7-3010-3161-BAB0-F75713751E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8AC9D41-9584-2D7E-DA30-959530197AA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29398A-0179-4F25-97A9-794C463DAC27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9C15E-2C19-D779-49B6-3FAED70A44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C2405DA-BCCA-850B-00CB-24D4226F53B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9B82A8F5-6A60-F748-A0AB-215AD72A9E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A72862E-E95E-4E0C-9817-19C816E531B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44465-C7DB-2FE1-A10B-0BB495D617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8668BCBF-9434-9498-B9B9-308EF1D920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46F1029-C01C-AEE2-7236-5A360EED3F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4E3AD1A-6A90-41F9-848D-2A4EA6E037AF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12200-5429-1F1E-6001-CBCF370CE7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FBD92BD-4008-F7BB-E78F-71438F8519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718EB63-D8A0-7880-B93D-55BDD55855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5EF91AD-BC95-4B42-A983-DF925D27B26A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E4029-15B5-7D7E-C520-9A7A7DB3A6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5BECAAD-3745-DC29-0109-52350CACB2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2412D46-464D-0674-BD62-EB9936902B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A0460A-36DB-42D6-B5E9-6EF6C5DA8087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D09CA-9C85-D355-D171-3D7F9AE11B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1C2867A-F5B7-2F66-795A-9DB873469A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1D54BCD-3317-FBAA-04AB-B445482B72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CB90D3-E550-404B-A7AC-0D47BF46436F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CFB9A-8196-A210-AE7C-21D110DD2A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56DAB6E-D743-022E-D8C8-53331AFAB2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7EA4308-C8ED-BEFE-10E8-92F8AD86AC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E7BCE2F-309C-4958-BD14-C3CEF737BD43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1DA1B-2219-F5AD-62D5-2C7AE32BB0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42BAB5D1-2F1A-336D-9674-E88C3801CF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AAFBCD4-41E2-8041-342D-1ED0860A7C1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A0C17BD-240C-4A2C-AE9B-BF26DC20E6E8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13B2D-DAA5-62F6-AD0E-780F5660668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5D769C7-CCB9-7E5C-EFE5-C6FDF6BA08F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78D4497-87A1-D2DC-AD39-D2493B7823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2B3AF7-BD4E-47E9-898D-7E9D6E593D5F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60716-8B73-83D3-5E5F-64ED7FEF04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531DC2E-0984-9ED7-37FE-6D84905419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0D69F4A-FFCD-488E-952E-0C94BD89D5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E6A738A-4AD7-4E1C-BB2D-2090F94A515B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9F649-44C3-690A-AC99-6B191534532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1EAE861-A813-C362-8406-EF75F2DD32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9300491-CBB6-5702-57B7-59A2FEE477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47D69E9-59C7-417A-87B0-8F2AF86A2A25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F4133-AC5D-BA30-B3AA-26B2E10C8F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6FF815F-DB26-4A99-10D0-3B9BFD2D97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340CCE3-3638-7128-B689-4ACA826B0C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90C5B50-726F-491A-B4D8-62E4B9F59463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4B517-E777-6737-62F2-A740CC0417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19A3326-8267-7C1A-1ECB-034DC4D9B6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509759D-4C61-1D9D-4F1B-E0D8AA08E57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5887284-D7C3-4B69-BE98-000144E6A919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C7954-B0BC-73FD-C729-5DABB46BFB4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32AAC48-052C-3F2A-70E6-F52B797CD4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610CA985-75CF-767D-DA09-C67E2BD0B3D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7685D5-AACE-4B9B-8593-49344EDDEDD7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CBBEC-50B7-9EFB-560D-234C58D14C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02F851C-8E9E-8411-3B2A-5C1C168788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C46AB6C-C84B-0DED-A2E8-6D1CCE7AE7B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3971AD4-FE64-437F-88E6-898F55F4469C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35029-886D-6840-5D40-E78DC5D308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66143BA-E3F6-D13D-C786-8E75018158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B03CEEB-9316-1783-A17D-98B63982B30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DBFD1DD-26B2-49CF-A1A0-D8525D2DEA4F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8557D-AB27-0D4B-9D19-F4E0A194757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064790A-D338-70B0-480E-990E20CA21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9D9095C-840B-6B67-2A15-E7C7494329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C05DDF-A478-4232-B6EE-82AF341C52B6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21096-306B-DE59-508D-D403CBA9486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27D167A-1CF5-5579-6D07-9B8E2070BB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9D6BFDF-5FCF-98AD-0D35-3B8A3ED0497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24C4C42-2A02-4547-B39E-21F99D71D6E1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A424C-3570-4525-111D-6E7431EAEF8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21AAA29-3562-E0A1-632F-2A4341FF01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F852DFE-F292-1BCC-0310-8646787D1D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6FEF16-16F9-4B2D-A839-958596A9114A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296DD-1344-6B6E-5493-88330E4BC7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8E3B048E-F471-CD30-EB39-B9D3DFD454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2570B5C-0D0E-097E-0F66-49FD68EF557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D8CF8C4-6E21-4435-88B8-00D1308C525E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5E329-4347-C0C2-EFE1-7E830378FBE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84B424F-F038-0CDD-F20C-EF089C743D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C394D22-0BEE-6641-F037-6097AA64255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B969E4-5105-4345-A904-780BA0186B43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3E79D-54B0-97D1-BD1D-D1DDA0AFD04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37A0B9B-5E99-D695-00D9-ABE8BEC051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975012F-E3D2-1EE8-5108-6B0C6183E5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DAD45DB-6AD7-4DBE-BFB4-DF8315E29F5B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2FB7E-BE2A-1159-10AC-C5F62222DA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C76A633-A18A-142C-1E32-E80E0A4C45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A4EE57B-1911-8BC0-5923-6B732DCA9B0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7BE89B2-512A-44B7-A942-A6368619AB4A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C1572-BA34-9563-F195-C5F8D53B1A6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AD16905-72DD-6356-E75B-07D9FD964F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F0ED3D2-9EAA-1FDB-B980-773CB8EA0D5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7EFDEC-2DFB-4419-BD61-49916D20CAEB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E67DF-2680-CAE1-A1B8-760F8AF097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A947199-2418-F49D-15BF-DDFEF46EDAB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DEEECF5-7A3C-B285-143A-56C0AE9E5B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7E7B1B-86B1-4919-8919-B8671B818941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D2BD6-3E7A-09CD-C3B1-7C76C22FCA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71DEF3A-A857-EC85-960F-735D04B146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EA103D2-8465-3940-9ACF-FC6C7B7F6D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7A4F93-B561-4576-AADD-7109BBCC4192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A20CB-CDE0-6D78-89D8-B0A1C77327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095DE81-692F-1D04-88B0-F13E94D5D7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570AEDD-5D62-C356-CF8F-DD77464D8D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78AA21C-A643-46E4-B6B3-51623F944022}" type="slidenum">
              <a:t>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FF4C6-F329-7E7E-8801-E0248911EA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0C87329-9A21-AAAD-3080-32A3045AAE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68D4C0A-11F5-2B87-A517-C33C795246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BFD22F6-ABC1-4710-93FF-AB43EE2D234C}" type="slidenum">
              <a:t>36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7D8BA-B7E5-7B6D-5B97-471C8860AF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1C1391A-941E-B8D6-AF3F-F941DEF5AB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1F6B075-5EE4-3500-5C90-80F89063BA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216760F-5449-494A-A78A-9D22AF01A0FD}" type="slidenum">
              <a:t>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B8BA1-C5B0-FBA9-61AD-6FDFDBF6E5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7D2B8DE-0197-EF9F-B86E-E28190CE3C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524A0B6-C858-E836-5888-9FB2100DFA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74510CE-B467-4E33-BF98-48BF80C73B99}" type="slidenum">
              <a:t>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00A9D-37A0-62C2-3F1B-52A064AD45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A74EA26-4035-4CEE-24B3-9770EA64E7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7C90A9B-DE6B-69EF-DAD2-20915E9017D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C3D699B-EF61-4D98-B856-846FEAA1F08B}" type="slidenum">
              <a:t>39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E4375-4C64-83E9-DCAB-31F665A15DD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4CFDF2E-6D65-8554-5F60-A6D5934AF3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ED63A15-BF4C-73E2-94F6-5466A3BA4C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1368874-5EC3-428E-80A0-315D27C9A1AF}" type="slidenum">
              <a:t>40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B8370-60F7-6109-5F98-33905923C63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8F0F406-FD5A-113C-5E31-5731C596B3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A9DB984-00F4-E226-787B-ABDCF45820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230D7AB-C58F-4083-951B-AD0FE515C75D}" type="slidenum">
              <a:t>41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0969F-0BEA-FE12-567D-E263A984442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228CA2D-A883-483B-5B99-156328A058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35A2137-CEA6-9E28-021A-53E8FB1570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B48E4FC-522D-4607-8330-A8AAD2B35AA8}" type="slidenum">
              <a:t>42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B7093-E432-0546-48B7-0B0EF6F0A4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F71E223-87F1-A13A-A835-E2C9478202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C115592-9C2B-B959-C175-87FF3CD40E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15FB14-CD9A-4450-AC43-51A6A907553B}" type="slidenum">
              <a:t>43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BCE82-C0BB-F503-21D0-93C7427D06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5A0FD36-4CAD-77C4-7F34-BFEE405DEE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E326D28-9977-5F66-EDE2-A0BEC8D1F2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02F9603-0C89-4247-AB9F-B0F2A4859F0D}" type="slidenum">
              <a:t>44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079CA-BAA1-5339-4F68-8F2442EA1FF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E297A5D-4DB2-8E40-4142-CBB5770A5D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5CE31B2-1C62-FD43-A8EB-13BD946615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D6B927C-9C62-4DCA-9AEF-C45AE3FCF993}" type="slidenum">
              <a:t>45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4C7C4-1D90-B29A-911C-72CE95D82D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4BC29F0-8C90-36B3-EED7-D8A2C96F8C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1D9EAA3-161F-F357-9A99-26FED57834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BD9E073-825D-4237-AB9A-46FE0B00A16C}" type="slidenum">
              <a:t>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9C0DC-232F-A265-56F2-47DDA6A2C7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9A748B4-F3BE-99DB-6E00-609FA32C339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6257502-A36E-E645-AF56-9762FAA094A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ECE296-5FE6-4E95-87CB-2C3A8A21506C}" type="slidenum">
              <a:t>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70F5F-EACC-B89B-794B-50DB1A471B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0E8499F-B212-D55C-5571-A5754F5521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EC84C90-8307-A218-4ED8-891C527904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49FF133-F4DE-4E07-9543-540D25D76A31}" type="slidenum">
              <a:t>48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A16C9-5348-EA84-A863-0AE8B4D9D0E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96AE962-9BC8-8394-ACB0-DFA553D3A5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5CD5ABF-6B73-F543-BA94-62D398C51F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4C4BAF-8FE7-4048-A387-BCEEDE3F317C}" type="slidenum">
              <a:t>49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029DB-E905-340F-69A9-2BC74E3FFD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940FED2-A454-106A-A14B-8DB4173828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A0FA784-BF19-0BD2-A13F-31CABFAB6B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B6B2B3F-4998-46A7-A6B1-2CD643E9469B}" type="slidenum">
              <a:t>50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EA8AD-9429-FD80-B58E-3B413E5F96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9AB43B9B-E385-3D86-8D1E-2BEB2B3ABB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D0103ED-EDC0-448D-FB6F-10234204F0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094BE8-0FE7-4815-B272-8EECEED53951}" type="slidenum">
              <a:t>51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365E3-86F1-D873-D669-812BA0086C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532F69C-145E-34CA-44EA-65689BEC9B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B44DF09-51D0-704F-1D72-B6A79E45AB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ACEEB50-D850-4D6B-ACB8-9A84314D18B0}" type="slidenum">
              <a:t>52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00621-0BF2-70AB-C645-DEA68DE8CA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F31D003-30E4-8888-E1B3-288FDC7B31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49D3133-1830-7211-169C-35546F13B3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2B6E0AF-0E70-41F1-8787-8D46836E75C4}" type="slidenum">
              <a:t>53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92ED9-E324-9B2B-6ADB-946E2C1FF8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770EF01-A9E9-EEE5-E26A-70C6F9AC1F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175485E-A785-8083-454C-2A20C6EB8B3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397997E-F1F2-421B-8C04-4CCA339FA2E5}" type="slidenum">
              <a:t>55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1B234-B69B-5731-C565-A51C16AA74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8BDA849-4605-24AF-D10C-9E5D461770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909A174-1096-D890-1DF6-8E8F0F2383C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70BCEBF-64F6-466D-9B0F-16AFBDC9ED10}" type="slidenum">
              <a:t>56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C4421-E269-D7BB-4930-F64F1BA12A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985CF8EE-B699-8779-E894-E359AB5987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82E2065-628F-7536-B2FB-C7A823B47D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07849B-3E3D-4FA9-BF20-F2CA32F3BD9F}" type="slidenum">
              <a:t>57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C66E8-20AF-BFA4-8BF2-4695FD3979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09B9ACD-F360-C781-7D12-59D2BE28E9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marL="0" lvl="0" indent="0" rtl="0"/>
            <a:r>
              <a:rPr lang="en-US" sz="1800"/>
              <a:t>Percussion: musical instruments played by striking with the hand or with a stick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06D6D46-FB1C-CC8F-804E-C1AB82705A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3366F77-89C3-41DF-8094-E413C1751FE8}" type="slidenum">
              <a:t>58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9B798-5CA8-B6F1-C300-9289839458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C9DF918-9A71-D27E-1973-DE3A41A9FE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FD030CA-BE92-0AE0-A034-755280540B6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B71A170-A7B4-488C-972F-BCAD50FC719C}" type="slidenum">
              <a:t>59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671A3-1C57-1A22-375B-6AE8C2ADB0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AA23A74-DBB9-ADE2-6868-A443384832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CC823D4-F7C4-D43B-936E-F7B9E8D5EC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F186090-2F14-4166-A1E2-A7F4A882C66E}" type="slidenum">
              <a:t>60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D59F0-3F20-789F-2641-FABC26E565A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B805771-233E-BB34-F59A-8D05D81BF0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629D978-B143-E75C-A320-2F07598E6C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9FC224-7DC3-4788-A754-F8FDC05D6F87}" type="slidenum">
              <a:t>61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63C57-D3C9-4B9C-1783-B2B833E1C5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436A8F5-72C1-E6FC-5938-34586D9763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F62204A-8CA0-D764-94D0-C98640FD9B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494638-25E2-4751-9FE3-BD7F67CFB48D}" type="slidenum">
              <a:t>62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C1374-9C88-661F-F82F-E352CA9613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4CF55FFF-CAE9-B3B8-A4B4-B256ABCF46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517A0CB-1FC9-2C72-FA1D-94C2C74868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4DBAA80-B50F-4AB4-9213-2C9FC85A5DB3}" type="slidenum">
              <a:t>63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54019-62E6-4AB2-2CF0-2B28C5F81A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394AAA7-FA68-C101-C3D9-91B36FE173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84C64D1-41A6-528F-A2AF-FB95B261D5C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3E7D15-7353-4649-A857-8C1C70599EC9}" type="slidenum">
              <a:t>64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F007B-FB9F-8154-C18F-7A18FC2234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C33E782-0CBE-324F-ACA2-798961A142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E341D43-0505-BB81-6B04-4B4A853F9A1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CF6F3AA-8919-4446-8430-C7917713E9C7}" type="slidenum">
              <a:t>65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1B5B6-BCC4-DFBC-42F6-A6C9748BDF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D67E7AE-0EF1-0ED7-47AF-A621491B3D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8D2F4F6-0632-BC72-E4CA-772298257C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14762F5-EF16-4D85-9D5D-01FCD0E7860D}" type="slidenum">
              <a:t>66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BE136-7E7C-9EB5-353D-DDB61D87CD9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FEB418E-1CD9-DB3E-143A-477A66B2E5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993365DA-B2F6-4D80-A8F9-8714D072D96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B228EC1-AD5C-4CCB-AE09-0F14203D2166}" type="slidenum">
              <a:t>67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F4518-32AD-8FF2-2DCE-7F48606CD0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4B7D9F9-E9BB-C556-AC3C-D86A327B43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7C24EEC-8764-8063-00D1-C7E17F9B31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8136D9A-D5FA-4410-8F8D-10EEB545414F}" type="slidenum">
              <a:t>68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3EC23-D5BB-28B0-8FB3-5E013FFD41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9C7C29DA-8BF6-ECFE-F595-877CE91CAB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89FA373-AFE4-EF88-30AF-21A1A6EAFFB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0E1FC2B-73FB-4D1B-95E6-0E7F9C2582B8}" type="slidenum">
              <a:t>69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E015F-C618-C0F9-5C7B-5B43F92D40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70BE15F-3C41-E34C-6EE2-E37D82F8D3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07DC365-5A39-ECF4-F58C-5717EF768E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DBDCE85-DAEF-4031-A89A-3F67B960B0ED}" type="slidenum">
              <a:t>70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2A585-4A70-09DD-F251-91C2A0B6AA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954D2D0-40A7-1632-E684-186E19B095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863A32B-ED65-D50F-7E30-04B7EFDBC3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95BC923-E88D-413C-966E-9E6E1ECADE35}" type="slidenum">
              <a:t>71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DCB6B-A847-D071-DB62-84A447539F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3150696-3C60-38E0-F6AB-43D49CBE43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D1DD5AC-DD88-271E-2B17-89B5F6D6BD3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5B80B19-4B52-4625-AEAF-96D1A541C5D2}" type="slidenum">
              <a:t>72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17589-94AB-F0FE-C57A-A817432C65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60D6FBA-EFEE-67E5-1522-ECF9A2FE99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89EAF22-C2E0-0F78-F9E7-A99F5A28CB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6CD4446-0882-409B-80BC-DF7C7661CF44}" type="slidenum">
              <a:t>73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35012-6FE4-502C-8669-6D6C15B78D2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D3F60CB-9E4E-89CB-3CE0-02F3439B6E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37BEF1D-06A0-A64D-38BE-A21AEE0AA3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31455A2-1179-4AEA-8043-D0DAF5E3A6D5}" type="slidenum">
              <a:t>74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FA27E-CD72-6DC3-6EBA-1F1B1E562F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D6253FD-E99F-3D9D-4795-89AEBAA260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48AFF57-8EE6-4234-A7B4-FB63AD40A19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FF51BC9-D687-4F4D-970C-741E54FC3E7D}" type="slidenum">
              <a:t>75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636AE-2270-1F75-B3C3-6EC05AF973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46672BE1-E347-87D8-D6F6-9B908FCE8D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11F8107-00E0-5E5C-756B-6DA68BEAEC1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FB057BB-7258-46AC-98F7-260F7BA136F4}" type="slidenum">
              <a:t>76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9F510-E390-08E3-48A9-C535D66E6C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ECE4373-C0C5-FDCC-C5E9-5CBE2F2383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03670DC-61CD-4B3D-2E35-D0473B55DC4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ACA12A3-5F89-4420-844E-DE146CC2E1D7}" type="slidenum">
              <a:t>77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627F2-B28F-7D5B-C629-F6A15B586A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23B5FC7-293C-8563-F1BA-06DCD97013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97AEC331-9F33-0A11-10DE-22E4DA23C8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4496749-BEB7-457C-A19D-343F66D06D79}" type="slidenum">
              <a:t>78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FB4CB-B02F-F29F-0FE0-8BEB488FC6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5951F66-4CB8-FA18-E1A0-A6D1CA9936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1D0AAD5-F676-6A1C-038B-3F1A71F248D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6A5955C-8E02-40E2-BD32-48BCBD116A09}" type="slidenum">
              <a:t>79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AF779-E20E-37D5-B50E-CB0FD13B626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826BAC09-49F1-791D-95FE-04D958BFB4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27E771F-A904-8475-06D7-F87C44CFDD7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2B96879-9E32-487C-A179-03CE24A751AA}" type="slidenum">
              <a:t>80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FC0FD-C05B-CB8A-B486-04B14CF4B5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F7813E6-046C-1F76-3B1A-05000337B2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F6BE774-453D-4BD8-4785-350B406AE9A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3C84901-1DE5-4E5D-B30D-D32520F7D64D}" type="slidenum">
              <a:t>81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BA25C-60FC-9887-C75F-615398D8454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78D2B17-7C6A-52AF-691F-703650C3F3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F3438ED-E412-5D64-80BF-507D58AFB2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BFE039B-405F-4F8B-82CC-16E01D59D90B}" type="slidenum">
              <a:t>82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694DF-FD38-95E6-3919-F108D4FA45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99252C6-BB5C-CCCC-F085-260F919E2B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6AF818B-26E9-FBB8-3B6E-085F3CBA9D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4A03BB-21D5-4471-822B-4339A3052FD9}" type="slidenum">
              <a:t>83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7309C-8789-C1F9-D0BD-96044F480D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850DF6B-57C4-4E55-54A3-CB2CFF4D7E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95A3C11-7606-5224-298C-76B4D166EC2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425697-7D24-4DBC-B9BF-25D1C4A90B96}" type="slidenum">
              <a:t>84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1BD77-8A19-C9F3-CFB6-EC8E39D8D1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5026A86-73A0-816F-F94F-FCEF47865D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952D613B-EDAF-A5ED-190B-F6742559FA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7F4359F-0F9B-4FEC-96B7-051C2AB5D4A1}" type="slidenum">
              <a:t>85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9AD25-BB41-AB8B-DFB6-42D388133E8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4B8520B5-0EF8-4D83-7855-104C1BF9BC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FF25D1D-EF16-B6E9-DC6D-E1763D0CA3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0345CA3-1F32-4069-90B2-25DE1657DF35}" type="slidenum">
              <a:t>86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EF9B9-3AC5-1604-75EC-61D96A816E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19877E2-F16D-99A0-C182-184DDB51D8B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17E8B1F-AF93-14C0-7718-985983C4CE5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F815AD-AFE9-420D-A5C2-B62DDFE6BB81}" type="slidenum">
              <a:t>87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933E8-FDE0-FCC2-4C75-AB26BB8BD6B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FFF3F56-49D3-0DBE-970E-484769CC4A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9120312-56C3-BB74-F909-8F28D97B460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DEC69B-49D2-488D-9F02-D07EBDFC3D14}" type="slidenum">
              <a:t>88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EC71A-68D7-60D6-5C33-B7062127D6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8E2BAB46-5873-8C30-E19F-F9F0E4EAE3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B2F32A6-4E90-D3D9-28DD-FFCB2BF055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5E47658-87EE-4489-9D28-6BFF1BCF8346}" type="slidenum">
              <a:t>89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8CCB7-9ED1-22EB-880A-3AE661BF30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6B4A4F3-3D33-D182-90F8-DF7E211FDB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CB51A62-8E49-C16A-E6C4-7F3EB708433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ADA1D9-AE99-4EA6-9414-695A04F75F7C}" type="slidenum">
              <a:t>90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B9E72-63A0-B0FA-D5F6-290D1418677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046EC97-7909-5D68-8CBD-67C9F15408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731F719-CE51-F072-D98D-770097DBCD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4DC8B94-99CE-4383-AE40-264B4E4BAC1A}" type="slidenum">
              <a:t>91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C1B49-030C-897E-3743-AA3236FF57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9270BDB4-41FF-B0E4-E9E1-EA0CC17F44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16B5620-CC67-C251-BFD8-DE919EEEAB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09F8877-FC94-464C-BD20-EC850585E0CA}" type="slidenum">
              <a:t>92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806C8-9FED-57A8-0153-859477A6B2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801517D9-BE12-372B-0722-D5717200747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986F69C-E4F6-8B84-01A3-8E62838A455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52E7965-8192-403E-8A8A-2DA312FD6AB7}" type="slidenum">
              <a:t>93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8354F-5CF7-1CB1-9466-2FCCC319F80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4DC823F-907D-78F2-B001-0CF22748BF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AAD2D02-B65F-3E6A-5C6F-CC86DD7B59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B996923-1D01-48A4-B5B7-ACD5FBB09591}" type="slidenum">
              <a:t>95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5D6EE-510A-B27A-61EB-85CDF5CEEF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18C773F-8B89-A86E-DACF-327685C205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6F70E4BD-0C00-1F46-967C-AAA83AC12C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45587A9-8D57-4F4A-96DB-D828E09F6F09}" type="slidenum">
              <a:t>96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4456F-BDC2-EB4E-7FA0-3AAA302D08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4F99B97-2493-12EC-1A90-39B2E8BC4F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9F3F7B9-D693-29EB-5955-5705277FCC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76960D5-F2EC-4464-9312-5F646AD68F80}" type="slidenum">
              <a:t>97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1E7E1-26D6-1387-D8EF-171495F7C8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8A0549B-FC15-FD16-492E-7BB7B6EDD8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5FE4B81-1D2B-6913-9412-E566EB4483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FBB9E99-8617-499A-BDBD-BAE5E658BB98}" type="slidenum">
              <a:t>98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FBC1A-5464-065F-B215-50EFF1B1BA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C551918-8998-78FD-29E5-6F08FB69199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3DABC5F-600F-08CE-34BD-428E21214C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7717462-71AA-4740-9F12-3D4E52FBDE54}" type="slidenum">
              <a:t>99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6654F-9A31-1AB6-9912-6FD6EF8927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22EEA44-82E7-3B9C-D68C-9B4BCF005C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D4522EE-F067-1DCB-A6E9-550861DE62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42BFDAE-8F5E-4353-B3DE-6B68B34D5376}" type="slidenum">
              <a:t>100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EBD28-E2A4-DC87-D72F-160098B4654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08102D34-021D-6E2E-103E-061DB92400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6EE662B-DEE6-01C9-42B2-57BEB745D4A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4C0288F-E74C-45AE-AE82-FD7B45A8A5DB}" type="slidenum">
              <a:t>101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0C7C2-E12C-B500-7800-E070D21AF1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2544018-9E39-B9BD-4A5D-58C2DF4CDF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BD25D8B-61C4-FBA6-F806-ECF4711A264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F6BA692-E708-47A1-AAFB-3F46C4581F3B}" type="slidenum">
              <a:t>102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B65C1-8988-B8CC-5D37-3D4BBBA2F79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BF7F58C-388C-5DA9-6090-F07C12407F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D37B75D-165D-7896-30E5-B44A104D94F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D69E728-D950-40B8-95F5-B66DDD5997C9}" type="slidenum">
              <a:t>103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C28E1-BBE1-F9CF-AF31-D969D9181A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23090A0-63C8-774E-E6C7-08A5B2C4AD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979CBBB-B437-5FFF-FA1D-05B55275EC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B22B87F-4BEF-4FD1-B3BB-133CB9ECC061}" type="slidenum">
              <a:t>104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82401-D61C-9EAE-0739-A2A0C5B1CB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5F492B3-5719-C801-4F8C-29D35879A8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A2725219-722E-36A3-7146-387F9E7878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D7DB85-8FF1-40E4-8A4F-898FD6B8F2E4}" type="slidenum">
              <a:t>105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E4441-93BB-444A-CEBD-8CC325C054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2F6CAC2-441B-E165-0D59-ADA7AF929C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39E957A-FD80-6A49-4A68-DCDC7EE2F3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0482199-ACDB-4416-8A65-495FB0AE533A}" type="slidenum">
              <a:t>106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1965B-A425-2CB9-2B72-C47AF138A7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19685DA-0CFE-5AA7-7940-8A8EE1968D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82A6163-2DE2-1684-9BCA-35B57740C0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89E021-695C-45BF-82FD-0558F4F51DE6}" type="slidenum">
              <a:t>107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6278E-2246-3351-4D32-AB214F22360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37BAF56-734C-5E0D-9BEE-A974966168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300288B-A580-D05B-4B48-BE0EB49B25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A7FDA98-30AF-4692-B1E3-88C36490BBEC}" type="slidenum">
              <a:t>108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44498-076F-DB2A-B236-69068669D1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5064D92-001A-B58B-BB9F-44A2877795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C298E7B1-4F19-C55E-B7AF-051C35B8F39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70EDF1-B980-441F-912F-97861D94DD28}" type="slidenum">
              <a:t>109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2DEF5-C632-BA73-ABE5-91D620AE6F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9E61BFB-2C4D-1550-EF23-4D9D4621C5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4108FCA-FC7A-91C4-3653-6F06EADAE11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701D10D-9D72-4356-9196-5751FCDF98D9}" type="slidenum">
              <a:t>110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C0AC3-8476-9A5F-8893-93EB7A7F74B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E5ECF26-6654-FAE2-C1B7-F8B851D562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472BA00-0E19-778E-5AAC-A3FC33887C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E040B20-078A-4CCE-B6BF-49E963FDBC1E}" type="slidenum">
              <a:t>111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C25D0-F959-645E-0CE6-CE133E750B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7D73889-C00A-A091-B3DB-433B3013DF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10021A5-86D7-8942-29CA-BD5A724E2E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16E640-ED9A-47E5-8F1B-2C48C5E39357}" type="slidenum">
              <a:t>112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93B4F-F261-484A-2C31-DA04E23B5F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4B3892E1-1B57-0607-AF3E-B48F200493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1B61588-5935-31FA-D3F2-CC6EE35DC0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FAE4D34-1ACD-4FB1-B7CC-DE13348C2088}" type="slidenum">
              <a:t>113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4654B-9049-2221-9E55-992697CA42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8AE2770-A634-3952-E4DC-5AB7EACC85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772B3ED-D389-B1F9-390E-E4A2D88221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D3862FA-625C-429E-B3C3-C6A3213C0E9A}" type="slidenum">
              <a:t>114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657C5-EEC4-178A-D839-5D759ACA26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B50EB5C-52FC-203F-5B79-22469D7654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168CAAB-4349-4F31-46D3-E60EA6A216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2657B2-ECC9-4FB1-BAFD-F9EC8FC44019}" type="slidenum">
              <a:t>115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93E85-D6C8-58E5-2973-88A2431D9D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F472BB8-5396-8B71-E3C1-71C616EE20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DD7B080-5DBD-476E-DC8B-325852E422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ADD6B60-B432-48B0-85AD-5ADE841422CC}" type="slidenum">
              <a:t>116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88567-9360-3BDF-A8D3-8C5D2BA002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7E29C38-DA41-C7CF-9C1A-0D273F0633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FB8BB3A-9211-64D0-7E50-05C0B23132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C454660-2EFD-4C87-B3D9-708751846EDA}" type="slidenum">
              <a:t>117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F8289-DB42-3B32-15D4-64466CE1AF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EFCE2D2-26B3-86DE-006B-B3321560AF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BB2BB23-CC1C-7EF0-B286-4BEB237C3C4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6F19672-0403-4701-913F-752B9C30CDF5}" type="slidenum">
              <a:t>118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273AD-2A47-A3DF-E780-21F6BD1C9F7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BC27941-590E-36FD-98B1-1B483EB955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24703A6-D104-EE0F-DF9B-5FF0AF7D4C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42F8A1E-3CB3-43E8-83D7-33F34522DFF8}" type="slidenum">
              <a:t>119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B5D96-E60F-929D-8679-ED4DD5A36A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493078C-1477-AEAA-DAA2-AF2482E0E4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1C7A105-4528-E16B-361F-D98400422E0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AF9B12-9ECC-4671-A0A9-3FA36708E190}" type="slidenum">
              <a:t>120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EA15C-5250-C96A-FD6A-1A0DD752B5C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1C90968-3121-9997-3E7E-DCE02E1405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0217AD3D-7461-E24F-281F-7A509503D27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8ADFC3-E5D5-4F10-9FC2-E5E3D06CC847}" type="slidenum">
              <a:t>121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98382-CB35-1D1C-0564-5C7F6428DC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92B0C5E-50D5-7B03-0E3F-962AF5A83C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774FE93-0BFB-433A-9058-58D831E529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32A31F2-961A-46A2-9F7E-8D4FB818A386}" type="slidenum">
              <a:t>122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C6DC6-7F4A-724C-EA3F-C9C8B2DF3D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35C87B68-C7E9-DAA7-7B5A-F128410260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65CA283F-19DD-C4BD-C30D-590197D8C0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4C6D7C-1407-4755-B629-ECFC6B076196}" type="slidenum">
              <a:t>123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F6DBB-C39A-B678-4279-DAD27E0046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6BA4BA9-FB20-9A02-CCED-5BE6026E729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A4C0452-C21E-4E94-0BAB-0BAF476F86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BFF80F2-DE0B-4FBE-A3A3-5597B9B95A43}" type="slidenum">
              <a:t>124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B24C9-C461-8F33-B23C-0239F1C530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6A9E9C7-AE86-55F0-7C8E-717EE60FB1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2F6AFAE-9ADB-8B49-74DF-7CB9770989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035DCED-ECBA-4673-AD28-12822A6A5A08}" type="slidenum">
              <a:t>125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92AD3-F392-2B97-928E-2FEC114D03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8F8F2B2C-4041-5046-EB59-3BF67FDE12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CA5D874-079E-4D19-A586-36C692B201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805114-E89E-4EF3-A593-BD4BD1E8611E}" type="slidenum">
              <a:t>126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B3C76-50BC-8218-E19F-9058285EE0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D76D31B-6304-1642-E948-454D61F2EA8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7057ADF-0A33-390D-BC90-F101D34D59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2F3AAB2-3AE8-4659-93AA-893D6E6C5C5E}" type="slidenum">
              <a:t>127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A2566-C0F9-5BE3-95DA-ECF0DD93BB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AAF7CF0-BEDF-0168-A855-B1E549D8622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FACA5CB9-E7DC-AB85-AD79-AE4E5A10B0C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DEC7645-520A-4388-A8C7-34270515E434}" type="slidenum">
              <a:t>128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220C3-87A8-67B8-5DF8-CBD7D20CD47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4F8AB7A-3BF9-403D-C785-C1021A03A6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7D3E73C-A210-5672-415D-B60B6E73AE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C0BA0C8-FBD4-4970-80A1-F3A2CBE05D0B}" type="slidenum">
              <a:t>129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21381-2DCE-76A8-B5AD-476733CD8B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DC7D403-5F21-C382-12BC-0BDF5C70AE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B3801F8-A18B-6157-EE97-FB41769D819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23610CE-CA86-4232-836C-13461B255BC9}" type="slidenum">
              <a:t>130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50B27-823D-67CD-4934-D2F21CDBDC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3FC02EE-9CAD-CE0E-340A-5EE0FC74FC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4FEA883-6034-8D25-E6FF-DBC7C368B0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488414-9366-4D52-9E5F-301379EA00E4}" type="slidenum">
              <a:t>131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D6992-882E-28FC-F943-3A02906C6DA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0C86BC4-7601-E922-DB92-766A8C356A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C151E48-B4B6-89CA-C0A3-8DF6772221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2A87EC7-6A18-4724-B9B8-632417F263B5}" type="slidenum">
              <a:t>132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5B1D5-3EAB-0457-2E8E-7A4007E7A16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97C48AE6-82C8-942C-9CAA-2EB415D4A9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1D8FCAAE-6891-A745-A497-A3A4F5DD59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AC8A7AD-E60A-4382-9064-D39340BD1426}" type="slidenum">
              <a:t>133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DBD24-8A61-027A-9877-9D8CFFD003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D954DB5-9102-482D-D799-20D945316D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7CC8ED47-0F24-E2A1-7DC8-47416F82F91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F13447A-89FF-4ED1-884A-1A92811477A3}" type="slidenum">
              <a:t>134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8EC6F-98AF-7BB9-BEEE-A41C8A5844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1D8F937-894E-4BC4-0813-F190124262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246DD35-B7BD-D27B-BB1E-D809E45940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9139686-888C-4531-9C20-670925E1470C}" type="slidenum">
              <a:t>135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ECD66-DB56-7E8C-BEBE-B696676736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1A55110-8B71-CEBB-07ED-29DB016E5A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332F424-7647-9F1F-8D9E-6AF13286D7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EE6F81-4864-43C4-ADC8-17606F39CF1C}" type="slidenum">
              <a:t>136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532DB-034E-F995-AC66-BBAADD5B208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4CEF2D6-8A25-3A9E-9FDB-B85BEAE793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4689769-3373-5730-2919-CB0BE91B3C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5EAC8E4-5627-4C44-AB33-DDF39DFA223D}" type="slidenum">
              <a:t>137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19C04-7E3E-DAB8-933F-ADA218A345A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A3E32B6-1B59-8F44-B8B0-10B22A48F4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513108D1-EB6E-2057-2C37-9D276A2FEE5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98B370A-D3F4-42D1-BDB9-A9423358019D}" type="slidenum">
              <a:t>138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3747A-3920-28B9-7279-8586C633BC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F2B8209F-DE55-3FD5-3083-C66E1C8AE5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9E686305-D7E9-9E87-5838-D2062D44E6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A2BC23-B9F1-4AF5-A31A-8650D9102386}" type="slidenum">
              <a:t>139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F8C1B-5A20-0AD5-F362-0AB0B780C7A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96C0087-F445-287C-F384-E4F9351E5B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94BCAD8-7C45-6071-F776-BE1EAFE80B0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C6D191A-5291-4A53-8FE6-AC8D471CD815}" type="slidenum">
              <a:t>140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08F12-09B9-C145-B455-725A667885A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B6613923-FA48-D5E3-E74C-7A6796215F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8D59750-049F-5F32-2387-F4FF1BBA06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7CE5E1-60C8-406C-9889-F9DD1F349D2F}" type="slidenum">
              <a:t>141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45D0A-A161-9C3F-8D3D-C9D41BB91B4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FEB64FE-F670-E4CC-4C64-375EDF8DD8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EFCAB32C-E93D-680B-AD74-C0A6BE1F4B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2BFB6E6-7089-4EB8-9835-CED9EF630683}" type="slidenum">
              <a:t>142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B669B-8001-A5E0-79E7-9DF95ECA5B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BADC25A-9850-DD4A-313F-6142FEA84B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7265B2C-5C00-5ABC-3992-D8C604B9C10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793E28C-9D3A-41DB-92B1-4E5F303D5F6A}" type="slidenum">
              <a:t>143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AB20C-0DEE-102E-28E3-C2DDB1C7C9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10072A4-35CB-2C87-E0DD-0CA0F9C513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40530EA-C4D4-37E3-9C8F-2B5B162577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C50D88-D2F3-490A-B294-76A443212263}" type="slidenum">
              <a:t>144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8B5E9-1441-FB0A-B6FB-2E9119718A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E5C6653E-B585-C8DD-69D2-0483C4A58C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E97114B-8A00-530E-2923-B7F7C76D45B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CC298B-6426-4863-B651-C8706224D74D}" type="slidenum">
              <a:t>145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84149-A943-BDFD-8F05-433BE5DAE2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A6A20897-F268-641B-D430-7650404358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65F70095-1AFB-3511-2B76-75750EF4A0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C70F310-A9CF-485A-8BE7-BA19A33CBBDA}" type="slidenum">
              <a:t>146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4CFA8-1BEE-273C-042E-4FA8C36B63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4421FBF-D256-AC78-7FFA-8CE03F2623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686FDA35-071B-AD2B-AFBA-9A6A5CBA6E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540721-93A2-4DB3-A20A-A8D569F96F90}" type="slidenum">
              <a:t>147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3C721-0961-2D9C-5ECA-FFB6CF2DD4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62A0E198-EDC3-94C8-7B64-B4FAFB2259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D8A8A2BA-E3A7-F440-C292-B41938D750E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DD510D-514F-4FEC-8D51-9CA4E4BC397A}" type="slidenum">
              <a:t>148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18D87-064B-23B7-7E97-7F72FD7183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9BF93E3-CA4F-14B7-F085-9E2AB75B85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4393EE9D-7C5F-49CA-02E7-90485591B1D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3ED66F5-A983-41D5-9538-D87935F281C7}" type="slidenum">
              <a:t>149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AB936-A59D-DDBD-1D2D-EF61F90D9AA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DFE33A79-5734-E032-BDEE-C16BAC5D24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BE85BFB7-4440-8915-3AB2-D4E8C93571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AAB185-6467-4331-AFDB-EE2E71A0913B}" type="slidenum">
              <a:t>150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4247-427D-7D21-F155-773290CDF9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9062730D-5BCF-041A-6166-BE8A9ADA57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23416442-C0E8-5A75-63DD-21C73B115A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242FFD3-96CE-404A-99B4-C04E367D2F4F}" type="slidenum">
              <a:t>151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1EF42-17DB-5D37-6FD2-A90399C97ED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609DF87-6ED8-B632-4E47-50D437E397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3EC9F609-E45E-C61E-A0AF-912D387CDA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E4020B-2BBD-4D86-80EA-F54729A8DD37}" type="slidenum">
              <a:t>152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F0619-BB4D-C9DA-29A6-53AE2DA382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7EF217A5-FC94-7F36-2316-19B987D4A8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5DA182A-C620-DD49-5D2D-4BD96BDA0E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4FC2D61-0300-4089-82EF-04986AFBFF33}" type="slidenum">
              <a:t>153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22CC1-5257-E06D-DB23-2568E928996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0953390-C6A6-DC73-40A1-FE157E3E59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 6">
            <a:extLst>
              <a:ext uri="{FF2B5EF4-FFF2-40B4-BE49-F238E27FC236}">
                <a16:creationId xmlns:a16="http://schemas.microsoft.com/office/drawing/2014/main" id="{8C482DE1-3D3C-E7FF-0716-359F952873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023D813-358D-49C8-BEC4-6BC6329975E5}" type="slidenum">
              <a:t>154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1C096-2E0E-FCCF-5AF7-314A0D50BD9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1A6E2300-386B-1D42-44DF-D1ABB6179F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DFE2-80F0-AB90-BF64-DE27956BE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A4523-8723-97A9-CBF3-CDFE8402D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16FB5-7A19-2701-95A2-6A58A69E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E8BE-53F9-84A4-FD00-2D3C5880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5BC58-9DA7-B7D6-E0FC-16B12AFA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7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4A2F-5986-CE92-4900-A316D523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FDB1D-D241-546C-DD8F-3B43EAA22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869B4-0357-F493-2660-C1F3BC80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7F44B-8A89-F275-894C-6A2EC8BA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701FB-7FF4-7E7E-2DB3-3FC555C4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6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6C58-2F93-4538-3681-C48E661E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8A70D-13F2-06AB-4F63-65E06EEF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0FBB2-6C6E-2D6F-679E-DE0C956E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BD6A-9157-A700-6334-DCFA5230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167FB-CD52-6B26-3DB2-E31B2A40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8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F0D8-5DAC-2AFF-4B2B-0579CA4F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F403E-7FE5-35CD-6727-FA73FA689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F4AE0-F199-6513-512C-3215B66CD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D80B-2016-368A-E500-900D587C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E34BC-70CB-A099-0ADE-952041ED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91B4C-CF93-3365-04BB-66651226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F3CB-395D-1EE8-3F8C-FC6B2D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F596F-DC22-CEBC-9BA6-6AB2A272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FB930-6432-ACE1-9228-E14EF96A3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5C888-C8E6-73AB-A9E5-8167707B4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62588-2CDE-CBA4-2204-1A617329A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BA13C-81D4-F484-2088-E7CD21FE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E5021-8841-23DC-EEC6-26E54E10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60B6F-B35B-432E-CDBE-482664BB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2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9D14D-D5E0-D440-DC07-03AA9D4F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A32F9-120F-7FAC-F438-1F44E7F0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41385-9DC4-6EBC-A291-DB3D6946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6D032-5728-5B8B-393B-B92FCF9C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6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2F305-0EB1-E75F-18E0-1BB14F9B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068AB-1F4A-0A3A-462E-D97B9455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577C9-49D5-C74F-BBC6-C8756F64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2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A57A-9B2D-B004-3F92-1B8CA747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69AD4-4B7A-93FE-DA46-10770ED2F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19FE0-1E99-11A6-52B3-4FECB7B7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3ACDC-DEA6-DB84-B459-09EB8CA0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BE28B-EFB1-30FD-F830-9DCE5132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DA991-423A-B1A8-7BF9-A41BB434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715B-A030-EC08-E8DE-93B9C0B0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C127A-4B88-9366-7335-B608489D7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DAE39-78B4-2DC2-4E83-E9F3593E4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C31D2-A90C-2832-CC25-BB635A30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6CA94-BD04-8A78-9B7D-76FE1F55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CCBBB-C1DA-6ABE-349B-D42E5539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4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EDE04-B0DE-A62B-BD31-74135C98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2AC00-80F1-F652-A1B5-6B6CF928F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5C68-F29E-7B5C-097E-30FCBF81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1F80-5B91-084F-E839-83FC517C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954B9-083E-09E7-5946-5075F245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6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52018-CCBF-1625-E806-7D6389048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C6235-3ABD-7057-DE4B-7B1384D67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BFC7-8908-C81B-5B77-6CD5574E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4029D-967A-E626-479C-53C5F40F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7CA68-B7AD-1F1F-90E2-465D90AD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6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FE96E-3AAF-18B0-4881-101474F5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0A0B6-C4A3-6B4D-F4B4-9178D5090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CFD29-D3A0-3242-DE29-9B1013656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683BB-4543-43BD-9444-946F39FA511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025C0-D478-4DE1-DE9A-535983E93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C8D08-12FF-3A27-EFDE-8BC21341E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81FB1-70C2-4E80-875E-22835F0C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6F04D-9B27-744B-8BAE-F16A27B4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8370D9-FE09-4C6A-8AA0-72F71B3BD0DE}" type="slidenum">
              <a:rPr/>
              <a:t>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4F141D4-2E66-6E2B-2D41-6621AEA38F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04189" y="5474879"/>
            <a:ext cx="8229627" cy="1145009"/>
          </a:xfrm>
        </p:spPr>
        <p:txBody>
          <a:bodyPr vert="horz"/>
          <a:lstStyle/>
          <a:p>
            <a:pPr lvl="0" rtl="0"/>
            <a:r>
              <a:rPr lang="en-US" dirty="0"/>
              <a:t>Niranjan Khakurel</a:t>
            </a:r>
            <a:br>
              <a:rPr lang="en-US" dirty="0"/>
            </a:br>
            <a:r>
              <a:rPr lang="en-US" sz="2540" dirty="0"/>
              <a:t>{niranjan@ncit.edu.np}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2B6DFAD2-6C98-A44B-33B1-AA2A532B266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086880" y="1411597"/>
            <a:ext cx="8229627" cy="2781339"/>
          </a:xfrm>
        </p:spPr>
        <p:txBody>
          <a:bodyPr vert="horz" anchor="ctr">
            <a:spAutoFit/>
          </a:bodyPr>
          <a:lstStyle/>
          <a:p>
            <a:pPr lvl="0" algn="ctr" rtl="0"/>
            <a:r>
              <a:rPr lang="en-US" sz="4899" dirty="0"/>
              <a:t>Computer Graphic and  Multimedia System</a:t>
            </a:r>
            <a:br>
              <a:rPr lang="en-US" sz="4899" dirty="0"/>
            </a:br>
            <a:br>
              <a:rPr lang="en-US" sz="5988" dirty="0"/>
            </a:br>
            <a:r>
              <a:rPr lang="en-US" sz="3629" dirty="0"/>
              <a:t>[BE SW 4</a:t>
            </a:r>
            <a:r>
              <a:rPr lang="en-US" sz="3629" baseline="30000" dirty="0"/>
              <a:t>th</a:t>
            </a:r>
            <a:r>
              <a:rPr lang="en-US" sz="3629" dirty="0"/>
              <a:t> Semester]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F4267F-767C-AC80-D5CE-D0EBC3A93363}"/>
              </a:ext>
            </a:extLst>
          </p:cNvPr>
          <p:cNvSpPr txBox="1"/>
          <p:nvPr/>
        </p:nvSpPr>
        <p:spPr>
          <a:xfrm>
            <a:off x="3713748" y="335845"/>
            <a:ext cx="543827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6: Multimedia System and Media Representation</a:t>
            </a:r>
          </a:p>
          <a:p>
            <a:r>
              <a:rPr lang="en-US" dirty="0"/>
              <a:t>(7 </a:t>
            </a:r>
            <a:r>
              <a:rPr lang="en-US" dirty="0" err="1"/>
              <a:t>hrs</a:t>
            </a:r>
            <a:r>
              <a:rPr lang="en-US" dirty="0"/>
              <a:t>)</a:t>
            </a:r>
          </a:p>
          <a:p>
            <a:r>
              <a:rPr lang="en-US" b="1" dirty="0"/>
              <a:t>6.1 Multimedia System</a:t>
            </a:r>
          </a:p>
          <a:p>
            <a:r>
              <a:rPr lang="en-US" dirty="0"/>
              <a:t>6.1.1 Definition, Scope and Properties</a:t>
            </a:r>
          </a:p>
          <a:p>
            <a:r>
              <a:rPr lang="en-US" dirty="0"/>
              <a:t>6.1.2 Continuous and discrete media</a:t>
            </a:r>
          </a:p>
          <a:p>
            <a:r>
              <a:rPr lang="en-US" dirty="0"/>
              <a:t>6.1.3 Evolution and trends in multimedia technology</a:t>
            </a:r>
          </a:p>
          <a:p>
            <a:r>
              <a:rPr lang="en-US" dirty="0"/>
              <a:t>6.1.4 Analysis of common image formats (BMP,JPEG and PNG)</a:t>
            </a:r>
          </a:p>
          <a:p>
            <a:r>
              <a:rPr lang="en-US" dirty="0"/>
              <a:t>6.1.5 Applications of multimedia systems</a:t>
            </a:r>
          </a:p>
          <a:p>
            <a:r>
              <a:rPr lang="en-US" b="1" dirty="0"/>
              <a:t>6.2 Sound and Audio</a:t>
            </a:r>
          </a:p>
          <a:p>
            <a:r>
              <a:rPr lang="en-US" dirty="0"/>
              <a:t>6.2.1 Digital audio formats (WAV and mp3)</a:t>
            </a:r>
          </a:p>
          <a:p>
            <a:r>
              <a:rPr lang="en-US" dirty="0"/>
              <a:t>6.2.2 Audio sampling and quantization</a:t>
            </a:r>
          </a:p>
          <a:p>
            <a:r>
              <a:rPr lang="en-US" dirty="0"/>
              <a:t>6.2.3 Frequency, amplitude and waveform</a:t>
            </a:r>
          </a:p>
          <a:p>
            <a:r>
              <a:rPr lang="en-US" dirty="0"/>
              <a:t>6.2.4 MIDI hardware, software and messages</a:t>
            </a:r>
          </a:p>
          <a:p>
            <a:r>
              <a:rPr lang="en-US" b="1" dirty="0"/>
              <a:t>6.3 Video:</a:t>
            </a:r>
          </a:p>
          <a:p>
            <a:r>
              <a:rPr lang="en-US" dirty="0"/>
              <a:t>6.3.1 Digital video formats (AVI and MOV)</a:t>
            </a:r>
          </a:p>
          <a:p>
            <a:r>
              <a:rPr lang="en-US" dirty="0"/>
              <a:t>6.3.2 Video codecs, frame rate, resolution and color</a:t>
            </a:r>
          </a:p>
          <a:p>
            <a:r>
              <a:rPr lang="en-US" dirty="0"/>
              <a:t>depth</a:t>
            </a:r>
          </a:p>
          <a:p>
            <a:r>
              <a:rPr lang="en-US" dirty="0"/>
              <a:t>6.4 Animation:</a:t>
            </a:r>
          </a:p>
          <a:p>
            <a:r>
              <a:rPr lang="en-US" dirty="0"/>
              <a:t>6.4.1 Hand drawn, stop motion and computer</a:t>
            </a:r>
          </a:p>
          <a:p>
            <a:r>
              <a:rPr lang="en-US" dirty="0"/>
              <a:t>animation</a:t>
            </a:r>
          </a:p>
          <a:p>
            <a:r>
              <a:rPr lang="en-US" dirty="0"/>
              <a:t>6.4.2 Morphing</a:t>
            </a:r>
          </a:p>
        </p:txBody>
      </p:sp>
    </p:spTree>
    <p:extLst>
      <p:ext uri="{BB962C8B-B14F-4D97-AF65-F5344CB8AC3E}">
        <p14:creationId xmlns:p14="http://schemas.microsoft.com/office/powerpoint/2010/main" val="953138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79D68-7A2E-CADA-4FBF-50678F12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21104A-BC87-4C65-A040-601223C93120}" type="slidenum">
              <a:rPr/>
              <a:t>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7F41967-84D0-12A7-492C-E3F9D1A21F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 b="1"/>
              <a:t>1. Multimedia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9F7A74D0-A3D4-A3D8-DD0B-C083B9FA19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10788" y="1135865"/>
            <a:ext cx="7690435" cy="5024517"/>
          </a:xfrm>
        </p:spPr>
        <p:txBody>
          <a:bodyPr vert="horz">
            <a:normAutofit lnSpcReduction="10000"/>
          </a:bodyPr>
          <a:lstStyle/>
          <a:p>
            <a:pPr lvl="0" rtl="0"/>
            <a:endParaRPr lang="en-US" sz="2540"/>
          </a:p>
          <a:p>
            <a:pPr lvl="0" rtl="0"/>
            <a:r>
              <a:rPr lang="en-US" sz="2540" b="1"/>
              <a:t>1. </a:t>
            </a:r>
            <a:r>
              <a:rPr lang="en-US" sz="2540"/>
              <a:t>Overview of Multimedia, Building Blocks of multimedia</a:t>
            </a:r>
          </a:p>
          <a:p>
            <a:pPr lvl="0" rtl="0"/>
            <a:r>
              <a:rPr lang="en-US" sz="2540"/>
              <a:t>1.1 The Medium aspects,</a:t>
            </a:r>
          </a:p>
          <a:p>
            <a:pPr marL="555206"/>
            <a:r>
              <a:rPr lang="en-US" sz="2540"/>
              <a:t>- Application areas and usefulness,</a:t>
            </a:r>
          </a:p>
          <a:p>
            <a:pPr marL="555206"/>
            <a:r>
              <a:rPr lang="en-US" sz="2540"/>
              <a:t>- Properties of multimedia</a:t>
            </a:r>
          </a:p>
          <a:p>
            <a:pPr lvl="0" rtl="0"/>
            <a:r>
              <a:rPr lang="en-US" sz="2540"/>
              <a:t>1.2 Global Structure of Multimedia</a:t>
            </a:r>
          </a:p>
          <a:p>
            <a:pPr lvl="0" rtl="0"/>
            <a:r>
              <a:rPr lang="en-US" sz="2540"/>
              <a:t>1.3. Data Stream Characteristics:</a:t>
            </a:r>
          </a:p>
          <a:p>
            <a:pPr marL="620525"/>
            <a:r>
              <a:rPr lang="en-US" sz="2540"/>
              <a:t>a. Asynchronous and</a:t>
            </a:r>
          </a:p>
          <a:p>
            <a:pPr marL="620525"/>
            <a:r>
              <a:rPr lang="en-US" sz="2540"/>
              <a:t>b. Synchronous Transmission Mode</a:t>
            </a:r>
          </a:p>
          <a:p>
            <a:pPr lvl="0" rtl="0"/>
            <a:r>
              <a:rPr lang="en-US" sz="254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1BC49-38C8-14A0-A095-2BF43CEF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3F20F3-1393-46F1-AC7C-9C62BDB1478F}" type="slidenum">
              <a:rPr/>
              <a:t>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0A94363-4F67-9F52-B81B-BD51742E54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1.1 </a:t>
            </a:r>
            <a:r>
              <a:rPr lang="en-US" sz="3629" b="1"/>
              <a:t>Introduction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6E121375-34F1-DD9C-BD58-CE6CF0E7215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10788" y="1135865"/>
            <a:ext cx="7690435" cy="4321051"/>
          </a:xfrm>
        </p:spPr>
        <p:txBody>
          <a:bodyPr vert="horz"/>
          <a:lstStyle/>
          <a:p>
            <a:pPr lvl="0" algn="just" rtl="0"/>
            <a:endParaRPr lang="en-US" sz="2359"/>
          </a:p>
          <a:p>
            <a:pPr lvl="0" algn="just" rtl="0"/>
            <a:r>
              <a:rPr lang="en-US" sz="2359"/>
              <a:t>Any kind of system that supports more than one kind of media</a:t>
            </a:r>
          </a:p>
          <a:p>
            <a:pPr lvl="0" algn="just" rtl="0"/>
            <a:r>
              <a:rPr lang="en-US" sz="2359"/>
              <a:t>• </a:t>
            </a:r>
            <a:r>
              <a:rPr lang="en-US" sz="2359" b="1">
                <a:solidFill>
                  <a:srgbClr val="800000"/>
                </a:solidFill>
              </a:rPr>
              <a:t>Multi</a:t>
            </a:r>
            <a:r>
              <a:rPr lang="en-US" sz="2359"/>
              <a:t> - many; much; multiple</a:t>
            </a:r>
          </a:p>
          <a:p>
            <a:pPr lvl="0" algn="just" rtl="0"/>
            <a:r>
              <a:rPr lang="en-US" sz="2359"/>
              <a:t>• </a:t>
            </a:r>
            <a:r>
              <a:rPr lang="en-US" sz="2359" b="1">
                <a:solidFill>
                  <a:srgbClr val="800000"/>
                </a:solidFill>
              </a:rPr>
              <a:t>Medium</a:t>
            </a:r>
            <a:r>
              <a:rPr lang="en-US" sz="2359"/>
              <a:t> - a interleaving substance through which something is transmitted or carried on</a:t>
            </a:r>
          </a:p>
          <a:p>
            <a:pPr lvl="0" algn="just" rtl="0"/>
            <a:r>
              <a:rPr lang="en-US" sz="2359"/>
              <a:t>Classification based on perception (text, audio, video) is appropriate for defining multimedia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03D88-CD61-D39C-3C4E-128CCBD3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40ECAE-0360-48FD-A05E-4F9D9346DB2A}" type="slidenum">
              <a:rPr/>
              <a:t>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02B5667-E265-C5C1-DCA6-01F77F4A2A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 b="1"/>
              <a:t>1.1 Introduction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F5FBC0A4-57A7-7AE1-E9E9-4BB66EDC596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49520" y="1135865"/>
            <a:ext cx="8040861" cy="4321051"/>
          </a:xfrm>
        </p:spPr>
        <p:txBody>
          <a:bodyPr vert="horz"/>
          <a:lstStyle/>
          <a:p>
            <a:pPr lvl="0" algn="just" rtl="0"/>
            <a:endParaRPr lang="en-US" sz="2359">
              <a:latin typeface="Liberation Serif" pitchFamily="18"/>
            </a:endParaRPr>
          </a:p>
          <a:p>
            <a:pPr lvl="0" algn="just" rtl="0">
              <a:buSzPct val="45000"/>
              <a:buFont typeface="StarSymbol"/>
              <a:buChar char="●"/>
            </a:pPr>
            <a:r>
              <a:rPr lang="en-US" sz="2359">
                <a:latin typeface="Liberation Serif" pitchFamily="18"/>
              </a:rPr>
              <a:t>Multimedia is defined as the computer based interactive environment that incorporates text, images, graphics, sound, audio, animation, video and virtual reality (VR).</a:t>
            </a:r>
          </a:p>
          <a:p>
            <a:pPr lvl="0" algn="just" rtl="0">
              <a:buSzPct val="45000"/>
              <a:buFont typeface="StarSymbol"/>
              <a:buChar char="●"/>
            </a:pPr>
            <a:r>
              <a:rPr lang="en-US" sz="2359">
                <a:latin typeface="Liberation Serif" pitchFamily="18"/>
              </a:rPr>
              <a:t>Multimedia means integration of </a:t>
            </a:r>
            <a:r>
              <a:rPr lang="en-US" sz="2359" b="1">
                <a:solidFill>
                  <a:srgbClr val="800000"/>
                </a:solidFill>
                <a:latin typeface="Liberation Serif" pitchFamily="18"/>
              </a:rPr>
              <a:t>continuous media</a:t>
            </a:r>
            <a:r>
              <a:rPr lang="en-US" sz="2359">
                <a:latin typeface="Liberation Serif" pitchFamily="18"/>
              </a:rPr>
              <a:t> (e.g. audio, video) and </a:t>
            </a:r>
            <a:r>
              <a:rPr lang="en-US" sz="2359" b="1">
                <a:solidFill>
                  <a:srgbClr val="800000"/>
                </a:solidFill>
                <a:latin typeface="Liberation Serif" pitchFamily="18"/>
              </a:rPr>
              <a:t>discrete media</a:t>
            </a:r>
            <a:r>
              <a:rPr lang="en-US" sz="2359">
                <a:latin typeface="Liberation Serif" pitchFamily="18"/>
              </a:rPr>
              <a:t> (e.g. text, graphics , images ) through which digital information can be conveyed to the user in appropriate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95BFA-12E7-9FD4-2327-AA66608D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534811-B2BE-4134-A527-D81531454C06}" type="slidenum">
              <a:rPr/>
              <a:t>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DB7A8DC-51CE-55BF-8C4B-AEA0984D8F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1.1 Introduction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6CFFD586-116D-B0AD-2790-D1CF0B5F95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408889"/>
            <a:ext cx="8229627" cy="4746920"/>
          </a:xfrm>
        </p:spPr>
        <p:txBody>
          <a:bodyPr vert="horz">
            <a:normAutofit lnSpcReduction="10000"/>
          </a:bodyPr>
          <a:lstStyle/>
          <a:p>
            <a:pPr lvl="0" rtl="0"/>
            <a:r>
              <a:rPr lang="en-US" sz="2359"/>
              <a:t>Time always takes separate dimension in the media representation</a:t>
            </a:r>
          </a:p>
          <a:p>
            <a:pPr lvl="0" rtl="0"/>
            <a:r>
              <a:rPr lang="en-US" sz="2359"/>
              <a:t>Based on time-dimension in the representation space, media can be:</a:t>
            </a:r>
          </a:p>
          <a:p>
            <a:pPr lvl="0" rtl="0"/>
            <a:r>
              <a:rPr lang="en-US" sz="2359"/>
              <a:t>• </a:t>
            </a:r>
            <a:r>
              <a:rPr lang="en-US" sz="2359" b="1">
                <a:solidFill>
                  <a:srgbClr val="800000"/>
                </a:solidFill>
              </a:rPr>
              <a:t>Time-independent</a:t>
            </a:r>
            <a:r>
              <a:rPr lang="en-US" sz="2359"/>
              <a:t> (Discrete)</a:t>
            </a:r>
          </a:p>
          <a:p>
            <a:pPr lvl="0" rtl="0"/>
            <a:r>
              <a:rPr lang="en-US" sz="2359"/>
              <a:t>    →  Text, Graphics</a:t>
            </a:r>
          </a:p>
          <a:p>
            <a:pPr lvl="0" rtl="0"/>
            <a:r>
              <a:rPr lang="en-US" sz="2359"/>
              <a:t>• </a:t>
            </a:r>
            <a:r>
              <a:rPr lang="en-US" sz="2359" b="1">
                <a:solidFill>
                  <a:srgbClr val="800000"/>
                </a:solidFill>
              </a:rPr>
              <a:t>Time dependent</a:t>
            </a:r>
            <a:r>
              <a:rPr lang="en-US" sz="2359"/>
              <a:t> (Continuous)</a:t>
            </a:r>
          </a:p>
          <a:p>
            <a:pPr lvl="0" rtl="0"/>
            <a:r>
              <a:rPr lang="en-US" sz="2359"/>
              <a:t>    → Audio, Video</a:t>
            </a:r>
          </a:p>
          <a:p>
            <a:pPr lvl="0" rtl="0"/>
            <a:r>
              <a:rPr lang="en-US" sz="2359"/>
              <a:t>    → Video, sequence of frames (images) presented to the user periodically.</a:t>
            </a:r>
          </a:p>
          <a:p>
            <a:pPr lvl="0" rtl="0"/>
            <a:r>
              <a:rPr lang="en-US" sz="2359"/>
              <a:t>• Discrete &amp; Continuous here has no connection with internal representation!! (Relates to the viewers impression...)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E478A3E-F224-F7A6-FE90-E35220AA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06E23D-ACF8-4096-9CB8-2CEEDCF260FA}" type="slidenum">
              <a:rPr/>
              <a:t>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9F28D3C-0B37-2C19-2DBA-DBC69ADD63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1.1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0BF9E-F5C8-1C45-5F4D-EBD7653CA2FF}"/>
              </a:ext>
            </a:extLst>
          </p:cNvPr>
          <p:cNvSpPr txBox="1"/>
          <p:nvPr/>
        </p:nvSpPr>
        <p:spPr>
          <a:xfrm>
            <a:off x="2021563" y="156826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6B834-C6F5-3982-1330-D5BC367D41DE}"/>
              </a:ext>
            </a:extLst>
          </p:cNvPr>
          <p:cNvSpPr txBox="1"/>
          <p:nvPr/>
        </p:nvSpPr>
        <p:spPr>
          <a:xfrm>
            <a:off x="2200205" y="1512743"/>
            <a:ext cx="74004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 is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any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combination  of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digitally</a:t>
            </a:r>
            <a:r>
              <a:rPr lang="en-US" sz="2177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 manipulated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EC214-E940-0A78-FEA2-3F6E5A4E83D9}"/>
              </a:ext>
            </a:extLst>
          </p:cNvPr>
          <p:cNvSpPr txBox="1"/>
          <p:nvPr/>
        </p:nvSpPr>
        <p:spPr>
          <a:xfrm>
            <a:off x="2200205" y="2003276"/>
            <a:ext cx="47330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text, art, sound, animation and video.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DB5FA-216C-F59D-A3D5-D51199429FBE}"/>
              </a:ext>
            </a:extLst>
          </p:cNvPr>
          <p:cNvSpPr txBox="1"/>
          <p:nvPr/>
        </p:nvSpPr>
        <p:spPr>
          <a:xfrm>
            <a:off x="2021563" y="264795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1ADF9-C4AD-EA98-0A8E-27887066AEA6}"/>
              </a:ext>
            </a:extLst>
          </p:cNvPr>
          <p:cNvSpPr txBox="1"/>
          <p:nvPr/>
        </p:nvSpPr>
        <p:spPr>
          <a:xfrm>
            <a:off x="2200204" y="2592436"/>
            <a:ext cx="70911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more strict version of the definition of multimedia do not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390E3-7809-E550-248F-3DEE00510FB1}"/>
              </a:ext>
            </a:extLst>
          </p:cNvPr>
          <p:cNvSpPr txBox="1"/>
          <p:nvPr/>
        </p:nvSpPr>
        <p:spPr>
          <a:xfrm>
            <a:off x="2200205" y="3082967"/>
            <a:ext cx="46394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allow just any combination of media.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457F2-A636-5B57-2F23-07758F523B98}"/>
              </a:ext>
            </a:extLst>
          </p:cNvPr>
          <p:cNvSpPr txBox="1"/>
          <p:nvPr/>
        </p:nvSpPr>
        <p:spPr>
          <a:xfrm>
            <a:off x="2289362" y="3695315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CFD3B-D2A9-4B24-0BB6-D1BDCEF83CDF}"/>
              </a:ext>
            </a:extLst>
          </p:cNvPr>
          <p:cNvSpPr txBox="1"/>
          <p:nvPr/>
        </p:nvSpPr>
        <p:spPr>
          <a:xfrm>
            <a:off x="2467679" y="3648940"/>
            <a:ext cx="116942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requires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25665A-0AB4-CFAB-0328-E86B30041615}"/>
              </a:ext>
            </a:extLst>
          </p:cNvPr>
          <p:cNvSpPr txBox="1"/>
          <p:nvPr/>
        </p:nvSpPr>
        <p:spPr>
          <a:xfrm>
            <a:off x="2557490" y="4158087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C3406-032C-6322-3937-B2DC1F9E116A}"/>
              </a:ext>
            </a:extLst>
          </p:cNvPr>
          <p:cNvSpPr txBox="1"/>
          <p:nvPr/>
        </p:nvSpPr>
        <p:spPr>
          <a:xfrm>
            <a:off x="2735806" y="4130326"/>
            <a:ext cx="446942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Both continuous &amp; discrete media to be utilized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A465F4-60F6-1834-68F9-B1D9A53F2FD7}"/>
              </a:ext>
            </a:extLst>
          </p:cNvPr>
          <p:cNvSpPr txBox="1"/>
          <p:nvPr/>
        </p:nvSpPr>
        <p:spPr>
          <a:xfrm>
            <a:off x="2557490" y="4599957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539B4-8D62-B409-D9C6-44FF816F9CE4}"/>
              </a:ext>
            </a:extLst>
          </p:cNvPr>
          <p:cNvSpPr txBox="1"/>
          <p:nvPr/>
        </p:nvSpPr>
        <p:spPr>
          <a:xfrm>
            <a:off x="2735806" y="4572198"/>
            <a:ext cx="573881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Significant level of independence between media being used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5FDA21E-2F6F-24D2-6C8A-2427D872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5E9C2F-F79F-4440-A423-BDB947119C27}" type="slidenum">
              <a:t>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33E09886-1420-B749-A7E6-7252FB18CF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1.1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C0162-F206-5758-69DD-9BA325312423}"/>
              </a:ext>
            </a:extLst>
          </p:cNvPr>
          <p:cNvSpPr txBox="1"/>
          <p:nvPr/>
        </p:nvSpPr>
        <p:spPr>
          <a:xfrm>
            <a:off x="2021237" y="1585246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C5794-7DE2-1C84-FF29-683BD00A4C0D}"/>
              </a:ext>
            </a:extLst>
          </p:cNvPr>
          <p:cNvSpPr txBox="1"/>
          <p:nvPr/>
        </p:nvSpPr>
        <p:spPr>
          <a:xfrm>
            <a:off x="2206737" y="1513071"/>
            <a:ext cx="70906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 interactive when the end-user is allowed 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69E14-3631-A6B8-AC6C-1FD2FA7A6AF2}"/>
              </a:ext>
            </a:extLst>
          </p:cNvPr>
          <p:cNvSpPr txBox="1"/>
          <p:nvPr/>
        </p:nvSpPr>
        <p:spPr>
          <a:xfrm>
            <a:off x="2206737" y="2020585"/>
            <a:ext cx="63932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 what and when the elements are delivered.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517F8-4CFF-31E6-905E-CF79C30CE0F0}"/>
              </a:ext>
            </a:extLst>
          </p:cNvPr>
          <p:cNvSpPr txBox="1"/>
          <p:nvPr/>
        </p:nvSpPr>
        <p:spPr>
          <a:xfrm>
            <a:off x="2021237" y="298989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DAF3C-F7B3-A929-6279-04EC87531F21}"/>
              </a:ext>
            </a:extLst>
          </p:cNvPr>
          <p:cNvSpPr txBox="1"/>
          <p:nvPr/>
        </p:nvSpPr>
        <p:spPr>
          <a:xfrm>
            <a:off x="2206736" y="2917388"/>
            <a:ext cx="70441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Interactive Multimedia is Hypermedia, when the end-user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9E77E-A74E-AF0C-5B37-35E95FAEC839}"/>
              </a:ext>
            </a:extLst>
          </p:cNvPr>
          <p:cNvSpPr txBox="1"/>
          <p:nvPr/>
        </p:nvSpPr>
        <p:spPr>
          <a:xfrm>
            <a:off x="2206736" y="3457561"/>
            <a:ext cx="69050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 provided with the structure of linked elements through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E0E2E-F0E8-95AD-7922-CE503D18FF37}"/>
              </a:ext>
            </a:extLst>
          </p:cNvPr>
          <p:cNvSpPr txBox="1"/>
          <p:nvPr/>
        </p:nvSpPr>
        <p:spPr>
          <a:xfrm>
            <a:off x="2206736" y="4096035"/>
            <a:ext cx="35226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 he/she can navigate.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38D7F0-E6E4-02FA-4FDF-A6D98E9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C0F2AD-1978-4CB6-B238-29AA4F275D9D}" type="slidenum">
              <a:rPr/>
              <a:t>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B6132CA-1BAB-6331-FC6F-4F07166F1B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1.1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16BC9-85E3-70C5-8DC6-C09718E60A02}"/>
              </a:ext>
            </a:extLst>
          </p:cNvPr>
          <p:cNvSpPr txBox="1"/>
          <p:nvPr/>
        </p:nvSpPr>
        <p:spPr>
          <a:xfrm>
            <a:off x="2021563" y="167407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69914-22EF-5251-A713-82917C6D011A}"/>
              </a:ext>
            </a:extLst>
          </p:cNvPr>
          <p:cNvSpPr txBox="1"/>
          <p:nvPr/>
        </p:nvSpPr>
        <p:spPr>
          <a:xfrm>
            <a:off x="2201838" y="1625743"/>
            <a:ext cx="17372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6D646-DCDC-6795-358C-DC8A75F7440A}"/>
              </a:ext>
            </a:extLst>
          </p:cNvPr>
          <p:cNvSpPr txBox="1"/>
          <p:nvPr/>
        </p:nvSpPr>
        <p:spPr>
          <a:xfrm>
            <a:off x="4212625" y="1517642"/>
            <a:ext cx="993221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C52AB-D4E1-F89A-47AF-AACEFD320B8D}"/>
              </a:ext>
            </a:extLst>
          </p:cNvPr>
          <p:cNvSpPr txBox="1"/>
          <p:nvPr/>
        </p:nvSpPr>
        <p:spPr>
          <a:xfrm>
            <a:off x="5279253" y="1625743"/>
            <a:ext cx="41432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when it is not interactive and 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C2CF8-D830-472A-5CF9-D845E5724CD3}"/>
              </a:ext>
            </a:extLst>
          </p:cNvPr>
          <p:cNvSpPr txBox="1"/>
          <p:nvPr/>
        </p:nvSpPr>
        <p:spPr>
          <a:xfrm>
            <a:off x="2201839" y="2081656"/>
            <a:ext cx="527522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users just sit and watch as if it is a movie.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8D8AE-B63A-82E2-6E6E-9BF23F0BC92A}"/>
              </a:ext>
            </a:extLst>
          </p:cNvPr>
          <p:cNvSpPr txBox="1"/>
          <p:nvPr/>
        </p:nvSpPr>
        <p:spPr>
          <a:xfrm>
            <a:off x="2021563" y="278512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DA40D-A595-9150-9C40-8E817C935722}"/>
              </a:ext>
            </a:extLst>
          </p:cNvPr>
          <p:cNvSpPr txBox="1"/>
          <p:nvPr/>
        </p:nvSpPr>
        <p:spPr>
          <a:xfrm>
            <a:off x="2201839" y="2737113"/>
            <a:ext cx="18148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A0D2C-F0EA-7B7F-38C6-821B0C0BACBF}"/>
              </a:ext>
            </a:extLst>
          </p:cNvPr>
          <p:cNvSpPr txBox="1"/>
          <p:nvPr/>
        </p:nvSpPr>
        <p:spPr>
          <a:xfrm>
            <a:off x="4287740" y="2629014"/>
            <a:ext cx="1680717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nonlinear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AAD4A-C6F1-5863-B17F-E384A352D976}"/>
              </a:ext>
            </a:extLst>
          </p:cNvPr>
          <p:cNvSpPr txBox="1"/>
          <p:nvPr/>
        </p:nvSpPr>
        <p:spPr>
          <a:xfrm>
            <a:off x="6086899" y="2737113"/>
            <a:ext cx="36621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 when  the  users  are  given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08BDA-8441-5EA0-1C0D-8A4284B2C342}"/>
              </a:ext>
            </a:extLst>
          </p:cNvPr>
          <p:cNvSpPr txBox="1"/>
          <p:nvPr/>
        </p:nvSpPr>
        <p:spPr>
          <a:xfrm>
            <a:off x="2201839" y="3192373"/>
            <a:ext cx="74488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navigational  control  and  can  browse  the  contents  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A88E34-4763-CE13-B8CE-593C773B2811}"/>
              </a:ext>
            </a:extLst>
          </p:cNvPr>
          <p:cNvSpPr txBox="1"/>
          <p:nvPr/>
        </p:nvSpPr>
        <p:spPr>
          <a:xfrm>
            <a:off x="2201839" y="3619874"/>
            <a:ext cx="62036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will.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8642DA-D47A-8A7D-5055-DC377B4ECD8D}"/>
              </a:ext>
            </a:extLst>
          </p:cNvPr>
          <p:cNvSpPr txBox="1"/>
          <p:nvPr/>
        </p:nvSpPr>
        <p:spPr>
          <a:xfrm>
            <a:off x="2201839" y="413228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949CC28-20BD-519E-7CA4-BFCA9EA6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5CDCEB-0768-44A8-9B29-160BD9C37F83}" type="slidenum">
              <a:rPr/>
              <a:t>10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AFCF4EF-B3BC-1B81-F538-2FE2CD7EE1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C17F6-A92C-C0F5-C18B-2EB6C64A6886}"/>
              </a:ext>
            </a:extLst>
          </p:cNvPr>
          <p:cNvSpPr txBox="1"/>
          <p:nvPr/>
        </p:nvSpPr>
        <p:spPr>
          <a:xfrm>
            <a:off x="2021237" y="1558466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2E8D8-6D68-2060-19E2-98DD97BF51E4}"/>
              </a:ext>
            </a:extLst>
          </p:cNvPr>
          <p:cNvSpPr txBox="1"/>
          <p:nvPr/>
        </p:nvSpPr>
        <p:spPr>
          <a:xfrm>
            <a:off x="2206084" y="1513071"/>
            <a:ext cx="70596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System: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one way of defining multimedia can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C569F-828E-EE32-9966-93B7D46147B8}"/>
              </a:ext>
            </a:extLst>
          </p:cNvPr>
          <p:cNvSpPr txBox="1"/>
          <p:nvPr/>
        </p:nvSpPr>
        <p:spPr>
          <a:xfrm>
            <a:off x="2206084" y="1914118"/>
            <a:ext cx="69153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 found in the meaning of composed world multi-many,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1D8F5-A791-918F-6D98-3BD507990C0D}"/>
              </a:ext>
            </a:extLst>
          </p:cNvPr>
          <p:cNvSpPr txBox="1"/>
          <p:nvPr/>
        </p:nvSpPr>
        <p:spPr>
          <a:xfrm>
            <a:off x="2206085" y="2315818"/>
            <a:ext cx="19548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much multiple.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1E8C9-3671-3DEB-88B3-026F950DE37B}"/>
              </a:ext>
            </a:extLst>
          </p:cNvPr>
          <p:cNvSpPr txBox="1"/>
          <p:nvPr/>
        </p:nvSpPr>
        <p:spPr>
          <a:xfrm>
            <a:off x="2021237" y="284227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0452B-A70C-301E-07D3-3A37C68B24A2}"/>
              </a:ext>
            </a:extLst>
          </p:cNvPr>
          <p:cNvSpPr txBox="1"/>
          <p:nvPr/>
        </p:nvSpPr>
        <p:spPr>
          <a:xfrm>
            <a:off x="2206084" y="2797205"/>
            <a:ext cx="738586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Medium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An  intervening  substance  through  which  some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16BDE-A75B-A2AC-FA41-BDF0AFBD32C9}"/>
              </a:ext>
            </a:extLst>
          </p:cNvPr>
          <p:cNvSpPr txBox="1"/>
          <p:nvPr/>
        </p:nvSpPr>
        <p:spPr>
          <a:xfrm>
            <a:off x="2206084" y="3197925"/>
            <a:ext cx="422032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thing is transmitted or carried on.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9B531-EC26-9DA8-08D2-732C49BFD078}"/>
              </a:ext>
            </a:extLst>
          </p:cNvPr>
          <p:cNvSpPr txBox="1"/>
          <p:nvPr/>
        </p:nvSpPr>
        <p:spPr>
          <a:xfrm>
            <a:off x="2021237" y="372503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6802C-DB52-0091-1CD3-2537A8534F78}"/>
              </a:ext>
            </a:extLst>
          </p:cNvPr>
          <p:cNvSpPr txBox="1"/>
          <p:nvPr/>
        </p:nvSpPr>
        <p:spPr>
          <a:xfrm>
            <a:off x="2206085" y="3679312"/>
            <a:ext cx="37850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System medium: </a:t>
            </a:r>
            <a:r>
              <a:rPr lang="en-US" sz="2177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C7B04-E9D2-097A-E671-5BBE7FFE4EB4}"/>
              </a:ext>
            </a:extLst>
          </p:cNvPr>
          <p:cNvSpPr txBox="1"/>
          <p:nvPr/>
        </p:nvSpPr>
        <p:spPr>
          <a:xfrm>
            <a:off x="2298180" y="4142411"/>
            <a:ext cx="8143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Text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A12B3E-6CEE-F160-92B8-97EB8D73AA2D}"/>
              </a:ext>
            </a:extLst>
          </p:cNvPr>
          <p:cNvSpPr txBox="1"/>
          <p:nvPr/>
        </p:nvSpPr>
        <p:spPr>
          <a:xfrm>
            <a:off x="2298180" y="4543458"/>
            <a:ext cx="103964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Image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2AD48-3850-CA35-7C31-F5ACBC0D736F}"/>
              </a:ext>
            </a:extLst>
          </p:cNvPr>
          <p:cNvSpPr txBox="1"/>
          <p:nvPr/>
        </p:nvSpPr>
        <p:spPr>
          <a:xfrm>
            <a:off x="2298181" y="4944505"/>
            <a:ext cx="106593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 Sound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11EEB-B94D-A9FA-481D-808670AC154F}"/>
              </a:ext>
            </a:extLst>
          </p:cNvPr>
          <p:cNvSpPr txBox="1"/>
          <p:nvPr/>
        </p:nvSpPr>
        <p:spPr>
          <a:xfrm>
            <a:off x="2298181" y="5345878"/>
            <a:ext cx="98360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 Video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5F94B37-6167-D2AD-0ACF-9B85DE14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378069-2EB1-4CDC-89C3-A2843A2C9AEC}" type="slidenum">
              <a:t>11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4E6FBB9-C8B8-BD54-C022-2EED7326C1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6398F-0243-FE86-2AF5-001C0909E3AE}"/>
              </a:ext>
            </a:extLst>
          </p:cNvPr>
          <p:cNvSpPr txBox="1"/>
          <p:nvPr/>
        </p:nvSpPr>
        <p:spPr>
          <a:xfrm>
            <a:off x="2021564" y="15127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B92F7-9110-0027-4C86-0A2F51180609}"/>
              </a:ext>
            </a:extLst>
          </p:cNvPr>
          <p:cNvSpPr txBox="1"/>
          <p:nvPr/>
        </p:nvSpPr>
        <p:spPr>
          <a:xfrm>
            <a:off x="2901711" y="1512743"/>
            <a:ext cx="653236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Medium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is  defined  as  means  for  distribution  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1365F-7BF1-D56A-6421-CA7A01147D0D}"/>
              </a:ext>
            </a:extLst>
          </p:cNvPr>
          <p:cNvSpPr txBox="1"/>
          <p:nvPr/>
        </p:nvSpPr>
        <p:spPr>
          <a:xfrm>
            <a:off x="2021563" y="1933713"/>
            <a:ext cx="35380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presentation of information.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E4921-3D9A-E59E-0A96-27A54D15C954}"/>
              </a:ext>
            </a:extLst>
          </p:cNvPr>
          <p:cNvSpPr txBox="1"/>
          <p:nvPr/>
        </p:nvSpPr>
        <p:spPr>
          <a:xfrm>
            <a:off x="2021564" y="243926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01F73-E9BA-400B-19DF-5C6CB080DACF}"/>
              </a:ext>
            </a:extLst>
          </p:cNvPr>
          <p:cNvSpPr txBox="1"/>
          <p:nvPr/>
        </p:nvSpPr>
        <p:spPr>
          <a:xfrm>
            <a:off x="2901711" y="2439267"/>
            <a:ext cx="673415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Examples  of  a  medium  are  text,  graphics,  speech,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9C26F-6BFB-24A8-5BA5-9A082F2C30EA}"/>
              </a:ext>
            </a:extLst>
          </p:cNvPr>
          <p:cNvSpPr txBox="1"/>
          <p:nvPr/>
        </p:nvSpPr>
        <p:spPr>
          <a:xfrm>
            <a:off x="2021564" y="2859909"/>
            <a:ext cx="72877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music. Media can be classified with respect to different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C74AC-1E7B-FD28-9A51-B3804F9B0F18}"/>
              </a:ext>
            </a:extLst>
          </p:cNvPr>
          <p:cNvSpPr txBox="1"/>
          <p:nvPr/>
        </p:nvSpPr>
        <p:spPr>
          <a:xfrm>
            <a:off x="2021563" y="3280878"/>
            <a:ext cx="10703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criteria.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1A849-6C04-9BE0-5A61-C55595B0A4FA}"/>
              </a:ext>
            </a:extLst>
          </p:cNvPr>
          <p:cNvSpPr txBox="1"/>
          <p:nvPr/>
        </p:nvSpPr>
        <p:spPr>
          <a:xfrm>
            <a:off x="2021564" y="378610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45F48-2149-3AF2-51FD-ACBB044417F4}"/>
              </a:ext>
            </a:extLst>
          </p:cNvPr>
          <p:cNvSpPr txBox="1"/>
          <p:nvPr/>
        </p:nvSpPr>
        <p:spPr>
          <a:xfrm>
            <a:off x="2901711" y="3786106"/>
            <a:ext cx="4137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7B8390-B7AC-9FB0-B8D5-7EFFD0ACCBF4}"/>
              </a:ext>
            </a:extLst>
          </p:cNvPr>
          <p:cNvSpPr txBox="1"/>
          <p:nvPr/>
        </p:nvSpPr>
        <p:spPr>
          <a:xfrm>
            <a:off x="3675719" y="3786106"/>
            <a:ext cx="9151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F3FC36-89FF-BB85-628C-1B86A2347AF3}"/>
              </a:ext>
            </a:extLst>
          </p:cNvPr>
          <p:cNvSpPr txBox="1"/>
          <p:nvPr/>
        </p:nvSpPr>
        <p:spPr>
          <a:xfrm>
            <a:off x="4977815" y="3786106"/>
            <a:ext cx="760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30AFA-D852-96EE-5CF6-1029176096DF}"/>
              </a:ext>
            </a:extLst>
          </p:cNvPr>
          <p:cNvSpPr txBox="1"/>
          <p:nvPr/>
        </p:nvSpPr>
        <p:spPr>
          <a:xfrm>
            <a:off x="6116946" y="3786106"/>
            <a:ext cx="12103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according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CC128-FC50-509B-F4FE-247DD879BA44}"/>
              </a:ext>
            </a:extLst>
          </p:cNvPr>
          <p:cNvSpPr txBox="1"/>
          <p:nvPr/>
        </p:nvSpPr>
        <p:spPr>
          <a:xfrm>
            <a:off x="7728645" y="3786106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8B407-355F-DDBF-CCAA-6081C8BFBDB0}"/>
              </a:ext>
            </a:extLst>
          </p:cNvPr>
          <p:cNvSpPr txBox="1"/>
          <p:nvPr/>
        </p:nvSpPr>
        <p:spPr>
          <a:xfrm>
            <a:off x="8311926" y="3786106"/>
            <a:ext cx="13811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perception,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968B7B-BE47-36C1-6BE4-6B9BD4F3779F}"/>
              </a:ext>
            </a:extLst>
          </p:cNvPr>
          <p:cNvSpPr txBox="1"/>
          <p:nvPr/>
        </p:nvSpPr>
        <p:spPr>
          <a:xfrm>
            <a:off x="2021563" y="4207401"/>
            <a:ext cx="186217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representation,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E3E614-21E4-5CB8-9250-79C615601458}"/>
              </a:ext>
            </a:extLst>
          </p:cNvPr>
          <p:cNvSpPr txBox="1"/>
          <p:nvPr/>
        </p:nvSpPr>
        <p:spPr>
          <a:xfrm>
            <a:off x="4181272" y="4207401"/>
            <a:ext cx="161396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presentation,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D7244-60E8-987C-104A-8BD832299D68}"/>
              </a:ext>
            </a:extLst>
          </p:cNvPr>
          <p:cNvSpPr txBox="1"/>
          <p:nvPr/>
        </p:nvSpPr>
        <p:spPr>
          <a:xfrm>
            <a:off x="6078733" y="4207401"/>
            <a:ext cx="10086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CE684D-6CFA-0C69-3E25-44DB1D4D268E}"/>
              </a:ext>
            </a:extLst>
          </p:cNvPr>
          <p:cNvSpPr txBox="1"/>
          <p:nvPr/>
        </p:nvSpPr>
        <p:spPr>
          <a:xfrm>
            <a:off x="7340008" y="4207401"/>
            <a:ext cx="164442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5ACA6B-131D-4547-6406-8B9AA1090326}"/>
              </a:ext>
            </a:extLst>
          </p:cNvPr>
          <p:cNvSpPr txBox="1"/>
          <p:nvPr/>
        </p:nvSpPr>
        <p:spPr>
          <a:xfrm>
            <a:off x="9272741" y="4207401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7CC8CA-0639-9A50-B0AB-8326D991B8C4}"/>
              </a:ext>
            </a:extLst>
          </p:cNvPr>
          <p:cNvSpPr txBox="1"/>
          <p:nvPr/>
        </p:nvSpPr>
        <p:spPr>
          <a:xfrm>
            <a:off x="2021564" y="4628370"/>
            <a:ext cx="27466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exchange.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29FB54-3E17-0E6F-2D6E-88E0EE1688C8}"/>
              </a:ext>
            </a:extLst>
          </p:cNvPr>
          <p:cNvSpPr txBox="1"/>
          <p:nvPr/>
        </p:nvSpPr>
        <p:spPr>
          <a:xfrm>
            <a:off x="2197593" y="513327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B6FC9-C8D5-A663-3411-BD83A509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42B4AB8-99BF-4436-AEF5-0F083E233F10}" type="slidenum">
              <a:rPr/>
              <a:t>12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98A2BBB-9186-7F4C-B3C6-03E482DD58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1D5DF5-E402-4DF6-20E1-D832E9A2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157" y="1266172"/>
            <a:ext cx="4806032" cy="506109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52DF1EE-B27A-2CE1-2489-21DEBD52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4892AB-76CF-47BE-A5EF-C1C2DBDA5BEE}" type="slidenum">
              <a:t>13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1D72F9B-BE95-E54A-BB51-8D57D21633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29AD5-B6A0-A211-7353-68BC049A14B0}"/>
              </a:ext>
            </a:extLst>
          </p:cNvPr>
          <p:cNvSpPr txBox="1"/>
          <p:nvPr/>
        </p:nvSpPr>
        <p:spPr>
          <a:xfrm>
            <a:off x="2270095" y="1512743"/>
            <a:ext cx="3350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9C788-3FF6-4361-8F68-BF5AC0EF5107}"/>
              </a:ext>
            </a:extLst>
          </p:cNvPr>
          <p:cNvSpPr txBox="1"/>
          <p:nvPr/>
        </p:nvSpPr>
        <p:spPr>
          <a:xfrm>
            <a:off x="2270095" y="207479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EA6C7B-5F8A-F434-96CF-EFA6683138F1}"/>
              </a:ext>
            </a:extLst>
          </p:cNvPr>
          <p:cNvSpPr txBox="1"/>
          <p:nvPr/>
        </p:nvSpPr>
        <p:spPr>
          <a:xfrm>
            <a:off x="2803736" y="2025810"/>
            <a:ext cx="27000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perception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C4359-5507-E139-507B-7AF296DDB508}"/>
              </a:ext>
            </a:extLst>
          </p:cNvPr>
          <p:cNvSpPr txBox="1"/>
          <p:nvPr/>
        </p:nvSpPr>
        <p:spPr>
          <a:xfrm>
            <a:off x="2270095" y="2588190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E5ED9-6143-8FED-2A55-64540DD37620}"/>
              </a:ext>
            </a:extLst>
          </p:cNvPr>
          <p:cNvSpPr txBox="1"/>
          <p:nvPr/>
        </p:nvSpPr>
        <p:spPr>
          <a:xfrm>
            <a:off x="2803735" y="2539529"/>
            <a:ext cx="318106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representation Media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B263F-1F40-B799-9BB0-FA9C4030133E}"/>
              </a:ext>
            </a:extLst>
          </p:cNvPr>
          <p:cNvSpPr txBox="1"/>
          <p:nvPr/>
        </p:nvSpPr>
        <p:spPr>
          <a:xfrm>
            <a:off x="2270095" y="310158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61206-8EDA-8F6B-7AF5-FA1814B531A5}"/>
              </a:ext>
            </a:extLst>
          </p:cNvPr>
          <p:cNvSpPr txBox="1"/>
          <p:nvPr/>
        </p:nvSpPr>
        <p:spPr>
          <a:xfrm>
            <a:off x="2803735" y="3053248"/>
            <a:ext cx="29328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presentation Media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8E6D8-AD90-CCBD-8D0B-39E78ACFF2BE}"/>
              </a:ext>
            </a:extLst>
          </p:cNvPr>
          <p:cNvSpPr txBox="1"/>
          <p:nvPr/>
        </p:nvSpPr>
        <p:spPr>
          <a:xfrm>
            <a:off x="2270095" y="3614975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37F94-CB7C-3D8E-F75E-2D4D70B6C8F7}"/>
              </a:ext>
            </a:extLst>
          </p:cNvPr>
          <p:cNvSpPr txBox="1"/>
          <p:nvPr/>
        </p:nvSpPr>
        <p:spPr>
          <a:xfrm>
            <a:off x="2803736" y="3566314"/>
            <a:ext cx="23275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storage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413D01-0664-6C03-D553-50090C01E66D}"/>
              </a:ext>
            </a:extLst>
          </p:cNvPr>
          <p:cNvSpPr txBox="1"/>
          <p:nvPr/>
        </p:nvSpPr>
        <p:spPr>
          <a:xfrm>
            <a:off x="2270095" y="4128041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80C5B2-B3FD-F710-ABC1-632092454B7E}"/>
              </a:ext>
            </a:extLst>
          </p:cNvPr>
          <p:cNvSpPr txBox="1"/>
          <p:nvPr/>
        </p:nvSpPr>
        <p:spPr>
          <a:xfrm>
            <a:off x="2803735" y="4079706"/>
            <a:ext cx="296331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transmission media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BB601-91FC-7765-0914-D9ECE6F2FE2C}"/>
              </a:ext>
            </a:extLst>
          </p:cNvPr>
          <p:cNvSpPr txBox="1"/>
          <p:nvPr/>
        </p:nvSpPr>
        <p:spPr>
          <a:xfrm>
            <a:off x="2270095" y="4641760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6.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FE188-3C9E-0D6A-BCEE-BD0625F9E223}"/>
              </a:ext>
            </a:extLst>
          </p:cNvPr>
          <p:cNvSpPr txBox="1"/>
          <p:nvPr/>
        </p:nvSpPr>
        <p:spPr>
          <a:xfrm>
            <a:off x="2803735" y="4593425"/>
            <a:ext cx="40965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information Exchange media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48C3CEB-E0AB-CCD6-94B1-00BAB6AC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CE70C3-2E36-4F96-853D-EB768DF3DD18}" type="slidenum">
              <a:rPr/>
              <a:t>14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BEE1D40-97AF-D4FD-D581-889752CB88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F9533-CD65-A625-0436-A6E36D52CAC3}"/>
              </a:ext>
            </a:extLst>
          </p:cNvPr>
          <p:cNvSpPr txBox="1"/>
          <p:nvPr/>
        </p:nvSpPr>
        <p:spPr>
          <a:xfrm>
            <a:off x="2277279" y="1513071"/>
            <a:ext cx="3350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AD8057-70F2-42F9-218F-D00D5992F1C7}"/>
              </a:ext>
            </a:extLst>
          </p:cNvPr>
          <p:cNvSpPr/>
          <p:nvPr/>
        </p:nvSpPr>
        <p:spPr>
          <a:xfrm>
            <a:off x="2277279" y="2431103"/>
            <a:ext cx="3423595" cy="3951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484" h="122">
                <a:moveTo>
                  <a:pt x="0" y="0"/>
                </a:moveTo>
                <a:lnTo>
                  <a:pt x="5242" y="0"/>
                </a:lnTo>
                <a:lnTo>
                  <a:pt x="10484" y="0"/>
                </a:lnTo>
                <a:lnTo>
                  <a:pt x="10484" y="122"/>
                </a:lnTo>
                <a:lnTo>
                  <a:pt x="5242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EC517-ED47-BA2D-E2B5-91D43BF92EB3}"/>
              </a:ext>
            </a:extLst>
          </p:cNvPr>
          <p:cNvSpPr txBox="1"/>
          <p:nvPr/>
        </p:nvSpPr>
        <p:spPr>
          <a:xfrm>
            <a:off x="2277279" y="2052917"/>
            <a:ext cx="31958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The </a:t>
            </a:r>
            <a:r>
              <a:rPr lang="en-US" sz="2177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perception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12FE-4CD2-0794-3A7F-C73A18BF4DB7}"/>
              </a:ext>
            </a:extLst>
          </p:cNvPr>
          <p:cNvSpPr txBox="1"/>
          <p:nvPr/>
        </p:nvSpPr>
        <p:spPr>
          <a:xfrm>
            <a:off x="2277279" y="259308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2361F-F3C2-2ECE-D3E8-0F6241303589}"/>
              </a:ext>
            </a:extLst>
          </p:cNvPr>
          <p:cNvSpPr txBox="1"/>
          <p:nvPr/>
        </p:nvSpPr>
        <p:spPr>
          <a:xfrm>
            <a:off x="2906284" y="2649589"/>
            <a:ext cx="645490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Perception media help human to sense their environment. 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3B523-5052-71CC-48BC-89A9A8D607B7}"/>
              </a:ext>
            </a:extLst>
          </p:cNvPr>
          <p:cNvSpPr txBox="1"/>
          <p:nvPr/>
        </p:nvSpPr>
        <p:spPr>
          <a:xfrm>
            <a:off x="2277279" y="3037572"/>
            <a:ext cx="739426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central  question  is  how  human  perceive  information  in  a  computer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3A985-E4C0-4B06-73C1-B64B8438ADA2}"/>
              </a:ext>
            </a:extLst>
          </p:cNvPr>
          <p:cNvSpPr txBox="1"/>
          <p:nvPr/>
        </p:nvSpPr>
        <p:spPr>
          <a:xfrm>
            <a:off x="2277279" y="3412492"/>
            <a:ext cx="596041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environment. The answer is through </a:t>
            </a:r>
            <a:r>
              <a:rPr lang="en-US" sz="1823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seeing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and </a:t>
            </a:r>
            <a:r>
              <a:rPr lang="en-US" sz="1823" b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hearing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BEA9B-75F0-6562-809B-2777F46A09DC}"/>
              </a:ext>
            </a:extLst>
          </p:cNvPr>
          <p:cNvSpPr txBox="1"/>
          <p:nvPr/>
        </p:nvSpPr>
        <p:spPr>
          <a:xfrm>
            <a:off x="2547039" y="3891267"/>
            <a:ext cx="7329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51909-422C-BFF1-939B-C04A6F7DFC8E}"/>
              </a:ext>
            </a:extLst>
          </p:cNvPr>
          <p:cNvSpPr txBox="1"/>
          <p:nvPr/>
        </p:nvSpPr>
        <p:spPr>
          <a:xfrm>
            <a:off x="2726662" y="3862527"/>
            <a:ext cx="679679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Seeing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For  the  perception  of  information  through  seeing  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FAD49-C230-0D40-A8E7-A83023E4D8D6}"/>
              </a:ext>
            </a:extLst>
          </p:cNvPr>
          <p:cNvSpPr txBox="1"/>
          <p:nvPr/>
        </p:nvSpPr>
        <p:spPr>
          <a:xfrm>
            <a:off x="2726661" y="4237774"/>
            <a:ext cx="469186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usual such as text, image and video are 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B730C-54D5-020C-AACA-28DBD32410D7}"/>
              </a:ext>
            </a:extLst>
          </p:cNvPr>
          <p:cNvSpPr txBox="1"/>
          <p:nvPr/>
        </p:nvSpPr>
        <p:spPr>
          <a:xfrm>
            <a:off x="2547039" y="4716548"/>
            <a:ext cx="7329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60F718-EEE4-3191-2B92-FA9E5EC19110}"/>
              </a:ext>
            </a:extLst>
          </p:cNvPr>
          <p:cNvSpPr txBox="1"/>
          <p:nvPr/>
        </p:nvSpPr>
        <p:spPr>
          <a:xfrm>
            <a:off x="2726661" y="4687482"/>
            <a:ext cx="93538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Hearing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28268D-8AC4-35AB-547B-7951217E6A08}"/>
              </a:ext>
            </a:extLst>
          </p:cNvPr>
          <p:cNvSpPr txBox="1"/>
          <p:nvPr/>
        </p:nvSpPr>
        <p:spPr>
          <a:xfrm>
            <a:off x="3894531" y="4687482"/>
            <a:ext cx="35067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30E7C-1AD0-29F6-B314-8CCBAF69B5F1}"/>
              </a:ext>
            </a:extLst>
          </p:cNvPr>
          <p:cNvSpPr txBox="1"/>
          <p:nvPr/>
        </p:nvSpPr>
        <p:spPr>
          <a:xfrm>
            <a:off x="4437643" y="4687482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2A0A77-C06B-6508-EDB5-C1C3BB4CAE4B}"/>
              </a:ext>
            </a:extLst>
          </p:cNvPr>
          <p:cNvSpPr txBox="1"/>
          <p:nvPr/>
        </p:nvSpPr>
        <p:spPr>
          <a:xfrm>
            <a:off x="4953321" y="4687482"/>
            <a:ext cx="109183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C09BBD-7B92-9F1A-41E1-33121EE7C522}"/>
              </a:ext>
            </a:extLst>
          </p:cNvPr>
          <p:cNvSpPr txBox="1"/>
          <p:nvPr/>
        </p:nvSpPr>
        <p:spPr>
          <a:xfrm>
            <a:off x="6285137" y="4687482"/>
            <a:ext cx="1949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30351C-195D-5B5B-2B03-F7F8795C3644}"/>
              </a:ext>
            </a:extLst>
          </p:cNvPr>
          <p:cNvSpPr txBox="1"/>
          <p:nvPr/>
        </p:nvSpPr>
        <p:spPr>
          <a:xfrm>
            <a:off x="6662995" y="4687482"/>
            <a:ext cx="115653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11DA6F-8922-B3A2-471F-4683742DEEE8}"/>
              </a:ext>
            </a:extLst>
          </p:cNvPr>
          <p:cNvSpPr txBox="1"/>
          <p:nvPr/>
        </p:nvSpPr>
        <p:spPr>
          <a:xfrm>
            <a:off x="8065680" y="4687482"/>
            <a:ext cx="79297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5A6A5B-A5EA-B3E5-2DC0-55F9AD23B111}"/>
              </a:ext>
            </a:extLst>
          </p:cNvPr>
          <p:cNvSpPr txBox="1"/>
          <p:nvPr/>
        </p:nvSpPr>
        <p:spPr>
          <a:xfrm>
            <a:off x="9079729" y="4687482"/>
            <a:ext cx="77995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hearing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E6B3F8-7A28-814C-7FD9-822A6A6D8B4F}"/>
              </a:ext>
            </a:extLst>
          </p:cNvPr>
          <p:cNvSpPr txBox="1"/>
          <p:nvPr/>
        </p:nvSpPr>
        <p:spPr>
          <a:xfrm>
            <a:off x="2726662" y="5062729"/>
            <a:ext cx="518545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 such as music, noise and speech are used.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51C44C-773F-3A45-2D50-0AC96ACFCED5}"/>
              </a:ext>
            </a:extLst>
          </p:cNvPr>
          <p:cNvSpPr txBox="1"/>
          <p:nvPr/>
        </p:nvSpPr>
        <p:spPr>
          <a:xfrm>
            <a:off x="2187469" y="553366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64BF385-69DC-2F38-8BCF-FBB5B6CC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29CD54-03B1-4377-A1BE-AC359830A1EF}" type="slidenum">
              <a:rPr/>
              <a:t>15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58E805C-A944-3007-C7E0-F9240C7902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523EA-F47D-B794-837B-A1E28267137A}"/>
              </a:ext>
            </a:extLst>
          </p:cNvPr>
          <p:cNvSpPr txBox="1"/>
          <p:nvPr/>
        </p:nvSpPr>
        <p:spPr>
          <a:xfrm>
            <a:off x="2296875" y="1480412"/>
            <a:ext cx="30717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63E619B-218E-228E-EF7F-EE1E51BDF55B}"/>
              </a:ext>
            </a:extLst>
          </p:cNvPr>
          <p:cNvSpPr/>
          <p:nvPr/>
        </p:nvSpPr>
        <p:spPr>
          <a:xfrm>
            <a:off x="2296875" y="2161343"/>
            <a:ext cx="3712950" cy="3037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370" h="94">
                <a:moveTo>
                  <a:pt x="0" y="0"/>
                </a:moveTo>
                <a:lnTo>
                  <a:pt x="5686" y="0"/>
                </a:lnTo>
                <a:lnTo>
                  <a:pt x="11370" y="0"/>
                </a:lnTo>
                <a:lnTo>
                  <a:pt x="11370" y="94"/>
                </a:lnTo>
                <a:lnTo>
                  <a:pt x="5686" y="94"/>
                </a:lnTo>
                <a:lnTo>
                  <a:pt x="0" y="94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2BC7C-D7F3-3419-08AA-E7D3837D248B}"/>
              </a:ext>
            </a:extLst>
          </p:cNvPr>
          <p:cNvSpPr txBox="1"/>
          <p:nvPr/>
        </p:nvSpPr>
        <p:spPr>
          <a:xfrm>
            <a:off x="2296875" y="1866763"/>
            <a:ext cx="338496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The representation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A45F0-5190-3A33-5B29-22DB5CB9C15E}"/>
              </a:ext>
            </a:extLst>
          </p:cNvPr>
          <p:cNvSpPr txBox="1"/>
          <p:nvPr/>
        </p:nvSpPr>
        <p:spPr>
          <a:xfrm>
            <a:off x="2021563" y="225376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49A0B-331D-E09F-516D-255BEA61CE83}"/>
              </a:ext>
            </a:extLst>
          </p:cNvPr>
          <p:cNvSpPr txBox="1"/>
          <p:nvPr/>
        </p:nvSpPr>
        <p:spPr>
          <a:xfrm>
            <a:off x="2301446" y="225376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1B5EA-2069-0CF1-298F-49958CB2F690}"/>
              </a:ext>
            </a:extLst>
          </p:cNvPr>
          <p:cNvSpPr txBox="1"/>
          <p:nvPr/>
        </p:nvSpPr>
        <p:spPr>
          <a:xfrm>
            <a:off x="2939595" y="2253767"/>
            <a:ext cx="667266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Representation  media  are  defined  by  internal  computer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0D7DE-53E0-F491-39B8-0A1105DD47AB}"/>
              </a:ext>
            </a:extLst>
          </p:cNvPr>
          <p:cNvSpPr txBox="1"/>
          <p:nvPr/>
        </p:nvSpPr>
        <p:spPr>
          <a:xfrm>
            <a:off x="2301446" y="2569575"/>
            <a:ext cx="700865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representation of information. The central question is </a:t>
            </a:r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how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8FFD6-D40B-7EDD-D546-914D6FCB30F0}"/>
              </a:ext>
            </a:extLst>
          </p:cNvPr>
          <p:cNvSpPr txBox="1"/>
          <p:nvPr/>
        </p:nvSpPr>
        <p:spPr>
          <a:xfrm>
            <a:off x="2301446" y="2885709"/>
            <a:ext cx="705436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information is coded?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answer is that </a:t>
            </a:r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various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071FC9-A553-7FC8-FEA0-15C238377437}"/>
              </a:ext>
            </a:extLst>
          </p:cNvPr>
          <p:cNvSpPr txBox="1"/>
          <p:nvPr/>
        </p:nvSpPr>
        <p:spPr>
          <a:xfrm>
            <a:off x="2301446" y="3202171"/>
            <a:ext cx="7963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format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6A6E2-49C1-3809-8CC7-100319E05A0E}"/>
              </a:ext>
            </a:extLst>
          </p:cNvPr>
          <p:cNvSpPr txBox="1"/>
          <p:nvPr/>
        </p:nvSpPr>
        <p:spPr>
          <a:xfrm>
            <a:off x="3419675" y="3202171"/>
            <a:ext cx="38433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D8340A-28FD-3BFA-2F8B-2F2CAEFCCA67}"/>
              </a:ext>
            </a:extLst>
          </p:cNvPr>
          <p:cNvSpPr txBox="1"/>
          <p:nvPr/>
        </p:nvSpPr>
        <p:spPr>
          <a:xfrm>
            <a:off x="4087870" y="3202171"/>
            <a:ext cx="5973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1D66F-7862-B86B-3796-1A497C991B75}"/>
              </a:ext>
            </a:extLst>
          </p:cNvPr>
          <p:cNvSpPr txBox="1"/>
          <p:nvPr/>
        </p:nvSpPr>
        <p:spPr>
          <a:xfrm>
            <a:off x="4990878" y="3202171"/>
            <a:ext cx="2415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A10B46-31DE-C787-EF3D-98C9785E8F17}"/>
              </a:ext>
            </a:extLst>
          </p:cNvPr>
          <p:cNvSpPr txBox="1"/>
          <p:nvPr/>
        </p:nvSpPr>
        <p:spPr>
          <a:xfrm>
            <a:off x="5502964" y="3202171"/>
            <a:ext cx="11665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134EB-6195-A013-ECE9-536729FDF618}"/>
              </a:ext>
            </a:extLst>
          </p:cNvPr>
          <p:cNvSpPr txBox="1"/>
          <p:nvPr/>
        </p:nvSpPr>
        <p:spPr>
          <a:xfrm>
            <a:off x="7027792" y="3202171"/>
            <a:ext cx="7397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8BAAD2-FCF5-F844-4A3E-5F31D3C1D973}"/>
              </a:ext>
            </a:extLst>
          </p:cNvPr>
          <p:cNvSpPr txBox="1"/>
          <p:nvPr/>
        </p:nvSpPr>
        <p:spPr>
          <a:xfrm>
            <a:off x="8084623" y="3202171"/>
            <a:ext cx="14075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B0C5E8-C4E3-107F-A6C2-71F3C7E3EEEA}"/>
              </a:ext>
            </a:extLst>
          </p:cNvPr>
          <p:cNvSpPr txBox="1"/>
          <p:nvPr/>
        </p:nvSpPr>
        <p:spPr>
          <a:xfrm>
            <a:off x="9877576" y="3202171"/>
            <a:ext cx="19922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4D059-A24A-4DC4-CCF6-C548451AE691}"/>
              </a:ext>
            </a:extLst>
          </p:cNvPr>
          <p:cNvSpPr txBox="1"/>
          <p:nvPr/>
        </p:nvSpPr>
        <p:spPr>
          <a:xfrm>
            <a:off x="2301447" y="3518305"/>
            <a:ext cx="112389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E5CE70-4B20-90CF-A372-8C5F269D844E}"/>
              </a:ext>
            </a:extLst>
          </p:cNvPr>
          <p:cNvSpPr txBox="1"/>
          <p:nvPr/>
        </p:nvSpPr>
        <p:spPr>
          <a:xfrm>
            <a:off x="2296875" y="3931436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7EF42-40D0-0176-DD9A-E1B4A843DE21}"/>
              </a:ext>
            </a:extLst>
          </p:cNvPr>
          <p:cNvSpPr txBox="1"/>
          <p:nvPr/>
        </p:nvSpPr>
        <p:spPr>
          <a:xfrm>
            <a:off x="2480416" y="3897799"/>
            <a:ext cx="373615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Text, character is coded in ASCII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528197-26BC-2C8A-FC67-874DD029C577}"/>
              </a:ext>
            </a:extLst>
          </p:cNvPr>
          <p:cNvSpPr txBox="1"/>
          <p:nvPr/>
        </p:nvSpPr>
        <p:spPr>
          <a:xfrm>
            <a:off x="2296875" y="4264880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C39A6C-A529-E30F-4F75-3BDCC23206E0}"/>
              </a:ext>
            </a:extLst>
          </p:cNvPr>
          <p:cNvSpPr txBox="1"/>
          <p:nvPr/>
        </p:nvSpPr>
        <p:spPr>
          <a:xfrm>
            <a:off x="2480416" y="4231569"/>
            <a:ext cx="687855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Graphics  are  coded  according  to  CEPT  (Conference  of  European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39374-42A2-4846-4060-848C89184256}"/>
              </a:ext>
            </a:extLst>
          </p:cNvPr>
          <p:cNvSpPr txBox="1"/>
          <p:nvPr/>
        </p:nvSpPr>
        <p:spPr>
          <a:xfrm>
            <a:off x="2480416" y="4504594"/>
            <a:ext cx="61452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Postal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FD9CAC-65DF-90FF-D487-4BD2925BBE0D}"/>
              </a:ext>
            </a:extLst>
          </p:cNvPr>
          <p:cNvSpPr txBox="1"/>
          <p:nvPr/>
        </p:nvSpPr>
        <p:spPr>
          <a:xfrm>
            <a:off x="3447109" y="4504594"/>
            <a:ext cx="36894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FB59A0-3578-A161-EEF0-F3DDEA5D6F45}"/>
              </a:ext>
            </a:extLst>
          </p:cNvPr>
          <p:cNvSpPr txBox="1"/>
          <p:nvPr/>
        </p:nvSpPr>
        <p:spPr>
          <a:xfrm>
            <a:off x="4147635" y="4504594"/>
            <a:ext cx="2003112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Telecommunications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F3BF3E-D2DD-B27D-8461-F194E8443DFA}"/>
              </a:ext>
            </a:extLst>
          </p:cNvPr>
          <p:cNvSpPr txBox="1"/>
          <p:nvPr/>
        </p:nvSpPr>
        <p:spPr>
          <a:xfrm>
            <a:off x="6640462" y="4504594"/>
            <a:ext cx="147450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Administration)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CFA58E-1E8E-7F4B-10BB-42CB3D0BA344}"/>
              </a:ext>
            </a:extLst>
          </p:cNvPr>
          <p:cNvSpPr txBox="1"/>
          <p:nvPr/>
        </p:nvSpPr>
        <p:spPr>
          <a:xfrm>
            <a:off x="8557518" y="4504594"/>
            <a:ext cx="196592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55939A-07AB-5289-FA26-F8149BE45DDF}"/>
              </a:ext>
            </a:extLst>
          </p:cNvPr>
          <p:cNvSpPr txBox="1"/>
          <p:nvPr/>
        </p:nvSpPr>
        <p:spPr>
          <a:xfrm>
            <a:off x="9066665" y="4504594"/>
            <a:ext cx="94179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CAPTAIN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C2EF09-2DB7-39D1-6185-82BD668361CC}"/>
              </a:ext>
            </a:extLst>
          </p:cNvPr>
          <p:cNvSpPr txBox="1"/>
          <p:nvPr/>
        </p:nvSpPr>
        <p:spPr>
          <a:xfrm>
            <a:off x="2480416" y="4777620"/>
            <a:ext cx="104438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(Character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F19528-5B7C-F72D-6E7A-7D1C1059B50B}"/>
              </a:ext>
            </a:extLst>
          </p:cNvPr>
          <p:cNvSpPr txBox="1"/>
          <p:nvPr/>
        </p:nvSpPr>
        <p:spPr>
          <a:xfrm>
            <a:off x="3806680" y="4777620"/>
            <a:ext cx="36894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944717-FA26-0A78-49F8-3175474CBECC}"/>
              </a:ext>
            </a:extLst>
          </p:cNvPr>
          <p:cNvSpPr txBox="1"/>
          <p:nvPr/>
        </p:nvSpPr>
        <p:spPr>
          <a:xfrm>
            <a:off x="4389308" y="4777620"/>
            <a:ext cx="71288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Pattern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F78B2A-01DE-1427-CBB7-3D1533B8D5A0}"/>
              </a:ext>
            </a:extLst>
          </p:cNvPr>
          <p:cNvSpPr txBox="1"/>
          <p:nvPr/>
        </p:nvSpPr>
        <p:spPr>
          <a:xfrm>
            <a:off x="5349796" y="4777620"/>
            <a:ext cx="102053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Telephone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337635-DFDC-38E7-89A0-DC97A4D2A78A}"/>
              </a:ext>
            </a:extLst>
          </p:cNvPr>
          <p:cNvSpPr txBox="1"/>
          <p:nvPr/>
        </p:nvSpPr>
        <p:spPr>
          <a:xfrm>
            <a:off x="6651566" y="4777620"/>
            <a:ext cx="71263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Access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FB854-82AB-2144-4518-1E310C67E35D}"/>
              </a:ext>
            </a:extLst>
          </p:cNvPr>
          <p:cNvSpPr txBox="1"/>
          <p:nvPr/>
        </p:nvSpPr>
        <p:spPr>
          <a:xfrm>
            <a:off x="7609114" y="4777620"/>
            <a:ext cx="1106072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6B45E4-4ADD-C19E-6360-657C64020DB1}"/>
              </a:ext>
            </a:extLst>
          </p:cNvPr>
          <p:cNvSpPr txBox="1"/>
          <p:nvPr/>
        </p:nvSpPr>
        <p:spPr>
          <a:xfrm>
            <a:off x="9004287" y="4777620"/>
            <a:ext cx="111787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Networks)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86D1B0-850C-9F6D-120B-4E87F5C074C4}"/>
              </a:ext>
            </a:extLst>
          </p:cNvPr>
          <p:cNvSpPr txBox="1"/>
          <p:nvPr/>
        </p:nvSpPr>
        <p:spPr>
          <a:xfrm>
            <a:off x="2480416" y="5050645"/>
            <a:ext cx="192975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 text standard.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4D1FFE-987D-1EB4-528B-F60D6DD54B73}"/>
              </a:ext>
            </a:extLst>
          </p:cNvPr>
          <p:cNvSpPr txBox="1"/>
          <p:nvPr/>
        </p:nvSpPr>
        <p:spPr>
          <a:xfrm>
            <a:off x="2296875" y="5417726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F795E8-FDF7-CF17-83F2-90C52F6131C2}"/>
              </a:ext>
            </a:extLst>
          </p:cNvPr>
          <p:cNvSpPr txBox="1"/>
          <p:nvPr/>
        </p:nvSpPr>
        <p:spPr>
          <a:xfrm>
            <a:off x="2480416" y="5384415"/>
            <a:ext cx="362560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can be coded as JPEG format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94C2A3-D118-ACFE-6342-AE2624D8748E}"/>
              </a:ext>
            </a:extLst>
          </p:cNvPr>
          <p:cNvSpPr txBox="1"/>
          <p:nvPr/>
        </p:nvSpPr>
        <p:spPr>
          <a:xfrm>
            <a:off x="2296875" y="5751498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A5CBE5-A7C6-983D-B518-197D40F4DFC1}"/>
              </a:ext>
            </a:extLst>
          </p:cNvPr>
          <p:cNvSpPr txBox="1"/>
          <p:nvPr/>
        </p:nvSpPr>
        <p:spPr>
          <a:xfrm>
            <a:off x="2480416" y="5718513"/>
            <a:ext cx="660501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Audio video sequence can be coded in different TV standard format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FAF83E-097C-E0D6-3369-4A79CC7BE227}"/>
              </a:ext>
            </a:extLst>
          </p:cNvPr>
          <p:cNvSpPr txBox="1"/>
          <p:nvPr/>
        </p:nvSpPr>
        <p:spPr>
          <a:xfrm>
            <a:off x="2480416" y="5991538"/>
            <a:ext cx="650832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(PAL, NTSC, SECAM and stored in the computer in MPEG format)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C38CCFD-673C-C801-9FBA-460BF713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6473AE-4418-40DB-A0BA-82EFA1FDA4CC}" type="slidenum">
              <a:rPr/>
              <a:t>16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F195E64-28CD-66B9-BCCA-288A933642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71998-2A37-5FB7-2BF5-A01808E444AD}"/>
              </a:ext>
            </a:extLst>
          </p:cNvPr>
          <p:cNvSpPr txBox="1"/>
          <p:nvPr/>
        </p:nvSpPr>
        <p:spPr>
          <a:xfrm>
            <a:off x="2269769" y="1447427"/>
            <a:ext cx="3350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EBE0F8A-2F78-B93C-1B1D-0685266704E7}"/>
              </a:ext>
            </a:extLst>
          </p:cNvPr>
          <p:cNvSpPr/>
          <p:nvPr/>
        </p:nvSpPr>
        <p:spPr>
          <a:xfrm>
            <a:off x="2269769" y="2347170"/>
            <a:ext cx="3853054" cy="3886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99" h="120">
                <a:moveTo>
                  <a:pt x="0" y="0"/>
                </a:moveTo>
                <a:lnTo>
                  <a:pt x="5900" y="0"/>
                </a:lnTo>
                <a:lnTo>
                  <a:pt x="11799" y="0"/>
                </a:lnTo>
                <a:lnTo>
                  <a:pt x="11799" y="120"/>
                </a:lnTo>
                <a:lnTo>
                  <a:pt x="5900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433AB-40AF-F547-6BDF-610F42720449}"/>
              </a:ext>
            </a:extLst>
          </p:cNvPr>
          <p:cNvSpPr txBox="1"/>
          <p:nvPr/>
        </p:nvSpPr>
        <p:spPr>
          <a:xfrm>
            <a:off x="2269768" y="1976496"/>
            <a:ext cx="34440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 The Presentation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CC69-D4DC-1AD0-A722-342B457541E0}"/>
              </a:ext>
            </a:extLst>
          </p:cNvPr>
          <p:cNvSpPr txBox="1"/>
          <p:nvPr/>
        </p:nvSpPr>
        <p:spPr>
          <a:xfrm>
            <a:off x="1988578" y="250621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4E41F8-65FE-C675-FD1D-72163103CF08}"/>
              </a:ext>
            </a:extLst>
          </p:cNvPr>
          <p:cNvSpPr txBox="1"/>
          <p:nvPr/>
        </p:nvSpPr>
        <p:spPr>
          <a:xfrm>
            <a:off x="2334105" y="250621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09E0E-8EDD-D87C-3A0C-0E764E2E3EF8}"/>
              </a:ext>
            </a:extLst>
          </p:cNvPr>
          <p:cNvSpPr txBox="1"/>
          <p:nvPr/>
        </p:nvSpPr>
        <p:spPr>
          <a:xfrm>
            <a:off x="2926532" y="2506217"/>
            <a:ext cx="64708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Presentation media refer to the tools and devices for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772A1-13F6-0BCE-BF9F-6B08D0EF8B12}"/>
              </a:ext>
            </a:extLst>
          </p:cNvPr>
          <p:cNvSpPr txBox="1"/>
          <p:nvPr/>
        </p:nvSpPr>
        <p:spPr>
          <a:xfrm>
            <a:off x="2334105" y="2947107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B5F83-BB98-554B-A8E2-F2158832ED8B}"/>
              </a:ext>
            </a:extLst>
          </p:cNvPr>
          <p:cNvSpPr txBox="1"/>
          <p:nvPr/>
        </p:nvSpPr>
        <p:spPr>
          <a:xfrm>
            <a:off x="2968661" y="2947107"/>
            <a:ext cx="12261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input  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F8C68-29FD-F991-DAAC-F586D6987451}"/>
              </a:ext>
            </a:extLst>
          </p:cNvPr>
          <p:cNvSpPr txBox="1"/>
          <p:nvPr/>
        </p:nvSpPr>
        <p:spPr>
          <a:xfrm>
            <a:off x="4565337" y="2947107"/>
            <a:ext cx="7761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35E10-E260-0218-DD2E-D65217F70064}"/>
              </a:ext>
            </a:extLst>
          </p:cNvPr>
          <p:cNvSpPr txBox="1"/>
          <p:nvPr/>
        </p:nvSpPr>
        <p:spPr>
          <a:xfrm>
            <a:off x="5636212" y="2947107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C84498-5626-3551-72D0-47ED31A85A11}"/>
              </a:ext>
            </a:extLst>
          </p:cNvPr>
          <p:cNvSpPr txBox="1"/>
          <p:nvPr/>
        </p:nvSpPr>
        <p:spPr>
          <a:xfrm>
            <a:off x="6095718" y="2947107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92C4B-C4FD-AC97-467C-663FCE5C4420}"/>
              </a:ext>
            </a:extLst>
          </p:cNvPr>
          <p:cNvSpPr txBox="1"/>
          <p:nvPr/>
        </p:nvSpPr>
        <p:spPr>
          <a:xfrm>
            <a:off x="6730273" y="2947107"/>
            <a:ext cx="20896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information.  The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64B62-EB71-C741-6367-A1D93ED910A1}"/>
              </a:ext>
            </a:extLst>
          </p:cNvPr>
          <p:cNvSpPr txBox="1"/>
          <p:nvPr/>
        </p:nvSpPr>
        <p:spPr>
          <a:xfrm>
            <a:off x="9299520" y="2947107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central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FA508D-32A8-B2CC-22DC-24765EB7496D}"/>
              </a:ext>
            </a:extLst>
          </p:cNvPr>
          <p:cNvSpPr txBox="1"/>
          <p:nvPr/>
        </p:nvSpPr>
        <p:spPr>
          <a:xfrm>
            <a:off x="2334105" y="3387998"/>
            <a:ext cx="695087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question is, through which</a:t>
            </a:r>
            <a:r>
              <a:rPr lang="en-US" sz="2177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 the information is delivered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ABF8A-ACD2-2A7D-2FE0-7599647AFE12}"/>
              </a:ext>
            </a:extLst>
          </p:cNvPr>
          <p:cNvSpPr txBox="1"/>
          <p:nvPr/>
        </p:nvSpPr>
        <p:spPr>
          <a:xfrm>
            <a:off x="2334105" y="3828887"/>
            <a:ext cx="68406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by the computer and is introduced to the computer</a:t>
            </a:r>
            <a:r>
              <a:rPr lang="en-US" sz="2177">
                <a:solidFill>
                  <a:srgbClr val="800000"/>
                </a:solidFill>
                <a:latin typeface="Arial" pitchFamily="18"/>
                <a:ea typeface="Noto Sans CJK SC Regular" pitchFamily="2"/>
                <a:cs typeface="Arial" pitchFamily="2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7994A7-0FA3-C36F-8416-76F029537B4D}"/>
              </a:ext>
            </a:extLst>
          </p:cNvPr>
          <p:cNvSpPr txBox="1"/>
          <p:nvPr/>
        </p:nvSpPr>
        <p:spPr>
          <a:xfrm>
            <a:off x="2551612" y="4366449"/>
            <a:ext cx="7329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586290-25F8-5B99-F984-C874DF9B094F}"/>
              </a:ext>
            </a:extLst>
          </p:cNvPr>
          <p:cNvSpPr txBox="1"/>
          <p:nvPr/>
        </p:nvSpPr>
        <p:spPr>
          <a:xfrm>
            <a:off x="2739072" y="4338035"/>
            <a:ext cx="67054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Output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Paper, screen and speaker are the output media.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8B9D72-A61E-77B5-07F4-28D0D25457C5}"/>
              </a:ext>
            </a:extLst>
          </p:cNvPr>
          <p:cNvSpPr txBox="1"/>
          <p:nvPr/>
        </p:nvSpPr>
        <p:spPr>
          <a:xfrm>
            <a:off x="2551612" y="4807339"/>
            <a:ext cx="7329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F2786-7E56-B63A-2D33-431D29B242ED}"/>
              </a:ext>
            </a:extLst>
          </p:cNvPr>
          <p:cNvSpPr txBox="1"/>
          <p:nvPr/>
        </p:nvSpPr>
        <p:spPr>
          <a:xfrm>
            <a:off x="2739071" y="4779251"/>
            <a:ext cx="631493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Input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Keyboard, mouse, camera, microphone are the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71EDE4-DA3E-9E25-B54D-2A3F31B8E262}"/>
              </a:ext>
            </a:extLst>
          </p:cNvPr>
          <p:cNvSpPr txBox="1"/>
          <p:nvPr/>
        </p:nvSpPr>
        <p:spPr>
          <a:xfrm>
            <a:off x="2739072" y="5146661"/>
            <a:ext cx="127368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input media.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293EA3-2E5C-099A-72A0-E74D0BD982D2}"/>
              </a:ext>
            </a:extLst>
          </p:cNvPr>
          <p:cNvSpPr txBox="1"/>
          <p:nvPr/>
        </p:nvSpPr>
        <p:spPr>
          <a:xfrm>
            <a:off x="2551612" y="5615965"/>
            <a:ext cx="7329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86E3C3-341A-6CE5-18CE-BA3DE3200258}"/>
              </a:ext>
            </a:extLst>
          </p:cNvPr>
          <p:cNvSpPr txBox="1"/>
          <p:nvPr/>
        </p:nvSpPr>
        <p:spPr>
          <a:xfrm>
            <a:off x="2739072" y="5587878"/>
            <a:ext cx="396320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Soft copy presentation.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9D7A86-0C14-37F0-F14A-4FD94B218DBA}"/>
              </a:ext>
            </a:extLst>
          </p:cNvPr>
          <p:cNvSpPr txBox="1"/>
          <p:nvPr/>
        </p:nvSpPr>
        <p:spPr>
          <a:xfrm>
            <a:off x="2551612" y="6056855"/>
            <a:ext cx="7329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DA9D1B-FFA8-0D8E-3A2D-DD8180FA774C}"/>
              </a:ext>
            </a:extLst>
          </p:cNvPr>
          <p:cNvSpPr txBox="1"/>
          <p:nvPr/>
        </p:nvSpPr>
        <p:spPr>
          <a:xfrm>
            <a:off x="2739071" y="6028767"/>
            <a:ext cx="39894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Paper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Hard copy presentation.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1D8A26-1765-A9F5-1C23-68F64803E363}"/>
              </a:ext>
            </a:extLst>
          </p:cNvPr>
          <p:cNvSpPr txBox="1"/>
          <p:nvPr/>
        </p:nvSpPr>
        <p:spPr>
          <a:xfrm>
            <a:off x="2832802" y="649056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E48A002-7B62-16EB-B622-1C4B176F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C4C83C-5ED8-4291-84EC-08A377E074F9}" type="slidenum">
              <a:rPr/>
              <a:t>17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F702A0D-DBE4-BE1A-7F62-02277B623D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5FB1A-E94B-1138-7173-E01608B8EBAF}"/>
              </a:ext>
            </a:extLst>
          </p:cNvPr>
          <p:cNvSpPr txBox="1"/>
          <p:nvPr/>
        </p:nvSpPr>
        <p:spPr>
          <a:xfrm>
            <a:off x="2265850" y="1512743"/>
            <a:ext cx="3350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52E8357-CC88-6B16-595D-8BE5333D3077}"/>
              </a:ext>
            </a:extLst>
          </p:cNvPr>
          <p:cNvSpPr/>
          <p:nvPr/>
        </p:nvSpPr>
        <p:spPr>
          <a:xfrm>
            <a:off x="2265849" y="2668204"/>
            <a:ext cx="3047369" cy="4996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32" h="154">
                <a:moveTo>
                  <a:pt x="0" y="0"/>
                </a:moveTo>
                <a:lnTo>
                  <a:pt x="4666" y="0"/>
                </a:lnTo>
                <a:lnTo>
                  <a:pt x="9332" y="0"/>
                </a:lnTo>
                <a:lnTo>
                  <a:pt x="9332" y="154"/>
                </a:lnTo>
                <a:lnTo>
                  <a:pt x="4666" y="154"/>
                </a:lnTo>
                <a:lnTo>
                  <a:pt x="0" y="154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49034-2635-1590-5B38-D2B22EC54296}"/>
              </a:ext>
            </a:extLst>
          </p:cNvPr>
          <p:cNvSpPr txBox="1"/>
          <p:nvPr/>
        </p:nvSpPr>
        <p:spPr>
          <a:xfrm>
            <a:off x="2265850" y="2192369"/>
            <a:ext cx="2777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 The storage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1FBA5-30A3-B23A-5E6E-1AD741B4E627}"/>
              </a:ext>
            </a:extLst>
          </p:cNvPr>
          <p:cNvSpPr txBox="1"/>
          <p:nvPr/>
        </p:nvSpPr>
        <p:spPr>
          <a:xfrm>
            <a:off x="2265849" y="2943189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37931-17EB-ED6D-24B7-381DA75C3769}"/>
              </a:ext>
            </a:extLst>
          </p:cNvPr>
          <p:cNvSpPr txBox="1"/>
          <p:nvPr/>
        </p:nvSpPr>
        <p:spPr>
          <a:xfrm>
            <a:off x="2910202" y="2872320"/>
            <a:ext cx="9777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60DB5-3F0F-7571-CE17-BF4E51C5CED0}"/>
              </a:ext>
            </a:extLst>
          </p:cNvPr>
          <p:cNvSpPr txBox="1"/>
          <p:nvPr/>
        </p:nvSpPr>
        <p:spPr>
          <a:xfrm>
            <a:off x="4226668" y="2872320"/>
            <a:ext cx="760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0A599-5E63-5761-C12D-A7191B60D7BA}"/>
              </a:ext>
            </a:extLst>
          </p:cNvPr>
          <p:cNvSpPr txBox="1"/>
          <p:nvPr/>
        </p:nvSpPr>
        <p:spPr>
          <a:xfrm>
            <a:off x="5306360" y="2872320"/>
            <a:ext cx="5740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8A194-4BCC-7202-E139-FF5D18EAE17A}"/>
              </a:ext>
            </a:extLst>
          </p:cNvPr>
          <p:cNvSpPr txBox="1"/>
          <p:nvPr/>
        </p:nvSpPr>
        <p:spPr>
          <a:xfrm>
            <a:off x="6178670" y="2872320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B0F18-F1AB-57A3-DB8B-27DD70A46E74}"/>
              </a:ext>
            </a:extLst>
          </p:cNvPr>
          <p:cNvSpPr txBox="1"/>
          <p:nvPr/>
        </p:nvSpPr>
        <p:spPr>
          <a:xfrm>
            <a:off x="6677366" y="2872320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23553-8B1F-BF01-4AF5-8C4F02D957B9}"/>
              </a:ext>
            </a:extLst>
          </p:cNvPr>
          <p:cNvSpPr txBox="1"/>
          <p:nvPr/>
        </p:nvSpPr>
        <p:spPr>
          <a:xfrm>
            <a:off x="7347192" y="2872320"/>
            <a:ext cx="5432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951AF-4CFE-2A57-2264-42A5768CB910}"/>
              </a:ext>
            </a:extLst>
          </p:cNvPr>
          <p:cNvSpPr txBox="1"/>
          <p:nvPr/>
        </p:nvSpPr>
        <p:spPr>
          <a:xfrm>
            <a:off x="8187496" y="2872320"/>
            <a:ext cx="7909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carrier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30C44-B2D1-B7AD-6A0E-2CB3F36672B9}"/>
              </a:ext>
            </a:extLst>
          </p:cNvPr>
          <p:cNvSpPr txBox="1"/>
          <p:nvPr/>
        </p:nvSpPr>
        <p:spPr>
          <a:xfrm>
            <a:off x="9299194" y="2872320"/>
            <a:ext cx="7136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13B8B-CBBB-4D0A-6CA6-67566B311510}"/>
              </a:ext>
            </a:extLst>
          </p:cNvPr>
          <p:cNvSpPr txBox="1"/>
          <p:nvPr/>
        </p:nvSpPr>
        <p:spPr>
          <a:xfrm>
            <a:off x="2265849" y="3438619"/>
            <a:ext cx="733470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enables  storage  of  information.  The  central  question  is,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EF22F-F59E-17C5-0FC0-134F4AB389FE}"/>
              </a:ext>
            </a:extLst>
          </p:cNvPr>
          <p:cNvSpPr txBox="1"/>
          <p:nvPr/>
        </p:nvSpPr>
        <p:spPr>
          <a:xfrm>
            <a:off x="2265850" y="4004918"/>
            <a:ext cx="69304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how will information be stored? The answer is hard disk,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78694-90F9-87EF-7E7A-C776B487EDA3}"/>
              </a:ext>
            </a:extLst>
          </p:cNvPr>
          <p:cNvSpPr txBox="1"/>
          <p:nvPr/>
        </p:nvSpPr>
        <p:spPr>
          <a:xfrm>
            <a:off x="2265849" y="4571217"/>
            <a:ext cx="190783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CD-ROM, etc.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980A8E3-9011-57BB-90D0-CF20DDBF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0A0A9E-722A-4A8E-814F-9F410D52F2E0}" type="slidenum">
              <a:rPr/>
              <a:t>18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7AD2B7D-F531-6D6D-704D-1853437021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83962-2AA2-3B11-6BA9-4B16CC838B55}"/>
              </a:ext>
            </a:extLst>
          </p:cNvPr>
          <p:cNvSpPr txBox="1"/>
          <p:nvPr/>
        </p:nvSpPr>
        <p:spPr>
          <a:xfrm>
            <a:off x="2270095" y="1513071"/>
            <a:ext cx="3350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763D0DD-F79F-E5C4-408E-A73AF2391D1D}"/>
              </a:ext>
            </a:extLst>
          </p:cNvPr>
          <p:cNvSpPr/>
          <p:nvPr/>
        </p:nvSpPr>
        <p:spPr>
          <a:xfrm>
            <a:off x="2270095" y="2614644"/>
            <a:ext cx="3838359" cy="473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54" h="146">
                <a:moveTo>
                  <a:pt x="0" y="0"/>
                </a:moveTo>
                <a:lnTo>
                  <a:pt x="5877" y="0"/>
                </a:lnTo>
                <a:lnTo>
                  <a:pt x="11754" y="0"/>
                </a:lnTo>
                <a:lnTo>
                  <a:pt x="11754" y="146"/>
                </a:lnTo>
                <a:lnTo>
                  <a:pt x="5877" y="146"/>
                </a:lnTo>
                <a:lnTo>
                  <a:pt x="0" y="146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CFF2A-C17E-6E2C-B450-CD753F07BAD0}"/>
              </a:ext>
            </a:extLst>
          </p:cNvPr>
          <p:cNvSpPr txBox="1"/>
          <p:nvPr/>
        </p:nvSpPr>
        <p:spPr>
          <a:xfrm>
            <a:off x="2270095" y="2161015"/>
            <a:ext cx="35063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5. The transmission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9100B-4AE0-5AF2-1D72-2DE7558C5B78}"/>
              </a:ext>
            </a:extLst>
          </p:cNvPr>
          <p:cNvSpPr txBox="1"/>
          <p:nvPr/>
        </p:nvSpPr>
        <p:spPr>
          <a:xfrm>
            <a:off x="2270095" y="2876565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A9E40-129D-A9E2-288C-E23DD2694D6C}"/>
              </a:ext>
            </a:extLst>
          </p:cNvPr>
          <p:cNvSpPr txBox="1"/>
          <p:nvPr/>
        </p:nvSpPr>
        <p:spPr>
          <a:xfrm>
            <a:off x="2912814" y="2809289"/>
            <a:ext cx="16494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8D370-0C3C-81C5-D2BA-0D6E306F28DF}"/>
              </a:ext>
            </a:extLst>
          </p:cNvPr>
          <p:cNvSpPr txBox="1"/>
          <p:nvPr/>
        </p:nvSpPr>
        <p:spPr>
          <a:xfrm>
            <a:off x="4927195" y="2809289"/>
            <a:ext cx="760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16FEB-2A05-EC28-41F5-E58981089D35}"/>
              </a:ext>
            </a:extLst>
          </p:cNvPr>
          <p:cNvSpPr txBox="1"/>
          <p:nvPr/>
        </p:nvSpPr>
        <p:spPr>
          <a:xfrm>
            <a:off x="5968675" y="2809289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7252C-F41A-A243-A4B0-23D43F03B05F}"/>
              </a:ext>
            </a:extLst>
          </p:cNvPr>
          <p:cNvSpPr txBox="1"/>
          <p:nvPr/>
        </p:nvSpPr>
        <p:spPr>
          <a:xfrm>
            <a:off x="6616948" y="2809289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3D08D-84C4-1127-77BF-3EB61DBE81FA}"/>
              </a:ext>
            </a:extLst>
          </p:cNvPr>
          <p:cNvSpPr txBox="1"/>
          <p:nvPr/>
        </p:nvSpPr>
        <p:spPr>
          <a:xfrm>
            <a:off x="7247257" y="2809289"/>
            <a:ext cx="10036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different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E4137-A092-F65C-97B0-B46F570FB581}"/>
              </a:ext>
            </a:extLst>
          </p:cNvPr>
          <p:cNvSpPr txBox="1"/>
          <p:nvPr/>
        </p:nvSpPr>
        <p:spPr>
          <a:xfrm>
            <a:off x="8553272" y="2809289"/>
            <a:ext cx="13808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D984E5-AA93-B669-8407-4EBF32F2AFBE}"/>
              </a:ext>
            </a:extLst>
          </p:cNvPr>
          <p:cNvSpPr txBox="1"/>
          <p:nvPr/>
        </p:nvSpPr>
        <p:spPr>
          <a:xfrm>
            <a:off x="2270095" y="3349134"/>
            <a:ext cx="7179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carrier  that  enables  continuous  data  transmission.  The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9EEC6D-BCF9-6114-5780-28CD8FD5F47A}"/>
              </a:ext>
            </a:extLst>
          </p:cNvPr>
          <p:cNvSpPr txBox="1"/>
          <p:nvPr/>
        </p:nvSpPr>
        <p:spPr>
          <a:xfrm>
            <a:off x="2270095" y="3888980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central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515B0-8FA5-6E65-8785-5CBFE0FB1959}"/>
              </a:ext>
            </a:extLst>
          </p:cNvPr>
          <p:cNvSpPr txBox="1"/>
          <p:nvPr/>
        </p:nvSpPr>
        <p:spPr>
          <a:xfrm>
            <a:off x="3440251" y="3888980"/>
            <a:ext cx="10553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question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667284-E668-3E8E-57CE-93F46C4B96D0}"/>
              </a:ext>
            </a:extLst>
          </p:cNvPr>
          <p:cNvSpPr txBox="1"/>
          <p:nvPr/>
        </p:nvSpPr>
        <p:spPr>
          <a:xfrm>
            <a:off x="4849141" y="3888980"/>
            <a:ext cx="2791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4210A8-6D7A-9FB4-3AA2-9682B9B223E6}"/>
              </a:ext>
            </a:extLst>
          </p:cNvPr>
          <p:cNvSpPr txBox="1"/>
          <p:nvPr/>
        </p:nvSpPr>
        <p:spPr>
          <a:xfrm>
            <a:off x="5405642" y="3888980"/>
            <a:ext cx="5430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C39045-BAE5-D029-48E8-2E8727501892}"/>
              </a:ext>
            </a:extLst>
          </p:cNvPr>
          <p:cNvSpPr txBox="1"/>
          <p:nvPr/>
        </p:nvSpPr>
        <p:spPr>
          <a:xfrm>
            <a:off x="6251499" y="3888980"/>
            <a:ext cx="7136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5C0E5-B8DF-3146-E6AE-4782C0F4F1D1}"/>
              </a:ext>
            </a:extLst>
          </p:cNvPr>
          <p:cNvSpPr txBox="1"/>
          <p:nvPr/>
        </p:nvSpPr>
        <p:spPr>
          <a:xfrm>
            <a:off x="7285795" y="3888980"/>
            <a:ext cx="13808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B3FFD-99A7-B7A9-B464-E5759555144C}"/>
              </a:ext>
            </a:extLst>
          </p:cNvPr>
          <p:cNvSpPr txBox="1"/>
          <p:nvPr/>
        </p:nvSpPr>
        <p:spPr>
          <a:xfrm>
            <a:off x="9050662" y="3888980"/>
            <a:ext cx="3876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5B52D0-17EA-206E-30D4-AE08C4E4FE96}"/>
              </a:ext>
            </a:extLst>
          </p:cNvPr>
          <p:cNvSpPr txBox="1"/>
          <p:nvPr/>
        </p:nvSpPr>
        <p:spPr>
          <a:xfrm>
            <a:off x="9728000" y="3888980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A24D6-26AC-05E7-E31D-72B343C228EF}"/>
              </a:ext>
            </a:extLst>
          </p:cNvPr>
          <p:cNvSpPr txBox="1"/>
          <p:nvPr/>
        </p:nvSpPr>
        <p:spPr>
          <a:xfrm>
            <a:off x="2270095" y="4428826"/>
            <a:ext cx="70285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transmitted?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answer is co-axial cable, fiber optics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BA77EB-5232-B667-89FF-8A05B5E9599E}"/>
              </a:ext>
            </a:extLst>
          </p:cNvPr>
          <p:cNvSpPr txBox="1"/>
          <p:nvPr/>
        </p:nvSpPr>
        <p:spPr>
          <a:xfrm>
            <a:off x="2270095" y="4969325"/>
            <a:ext cx="25297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 well as free air.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60271F63-00C7-76D6-D50E-99BEC959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673343-18B2-4F45-9064-B26BCAEEC714}" type="slidenum">
              <a:rPr/>
              <a:t>19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328EE209-1987-E049-6F2D-2EBD0C776D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1.2. The medium aspect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114F6-5D2B-5820-E3A9-4CA60673AAD6}"/>
              </a:ext>
            </a:extLst>
          </p:cNvPr>
          <p:cNvSpPr txBox="1"/>
          <p:nvPr/>
        </p:nvSpPr>
        <p:spPr>
          <a:xfrm>
            <a:off x="2270095" y="1513071"/>
            <a:ext cx="3350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Classification of Media : 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A606F9F-441F-6C6F-2D82-69B622F66092}"/>
              </a:ext>
            </a:extLst>
          </p:cNvPr>
          <p:cNvSpPr/>
          <p:nvPr/>
        </p:nvSpPr>
        <p:spPr>
          <a:xfrm>
            <a:off x="2270095" y="2466047"/>
            <a:ext cx="5257046" cy="411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098" h="127">
                <a:moveTo>
                  <a:pt x="0" y="0"/>
                </a:moveTo>
                <a:lnTo>
                  <a:pt x="5365" y="0"/>
                </a:lnTo>
                <a:lnTo>
                  <a:pt x="10732" y="0"/>
                </a:lnTo>
                <a:lnTo>
                  <a:pt x="16098" y="0"/>
                </a:lnTo>
                <a:lnTo>
                  <a:pt x="16098" y="127"/>
                </a:lnTo>
                <a:lnTo>
                  <a:pt x="10732" y="127"/>
                </a:lnTo>
                <a:lnTo>
                  <a:pt x="5365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E2C4C-3A80-925E-7E13-660C3A152F92}"/>
              </a:ext>
            </a:extLst>
          </p:cNvPr>
          <p:cNvSpPr txBox="1"/>
          <p:nvPr/>
        </p:nvSpPr>
        <p:spPr>
          <a:xfrm>
            <a:off x="2270095" y="2073491"/>
            <a:ext cx="470058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6. The information Exchange 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FEEFC-523C-259F-6B0F-9BC04EAC8C4B}"/>
              </a:ext>
            </a:extLst>
          </p:cNvPr>
          <p:cNvSpPr txBox="1"/>
          <p:nvPr/>
        </p:nvSpPr>
        <p:spPr>
          <a:xfrm>
            <a:off x="2270095" y="2692697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37090-B549-CE13-5B24-14A47F9B8CEA}"/>
              </a:ext>
            </a:extLst>
          </p:cNvPr>
          <p:cNvSpPr txBox="1"/>
          <p:nvPr/>
        </p:nvSpPr>
        <p:spPr>
          <a:xfrm>
            <a:off x="2926858" y="2634565"/>
            <a:ext cx="64395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exchange media includes all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41868-F807-B689-2750-737B5564FFF1}"/>
              </a:ext>
            </a:extLst>
          </p:cNvPr>
          <p:cNvSpPr txBox="1"/>
          <p:nvPr/>
        </p:nvSpPr>
        <p:spPr>
          <a:xfrm>
            <a:off x="2270095" y="3101583"/>
            <a:ext cx="69195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carrier for transmission, i.e. all storage and transmission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6F905-295A-5343-C7BD-2820C6850D3B}"/>
              </a:ext>
            </a:extLst>
          </p:cNvPr>
          <p:cNvSpPr txBox="1"/>
          <p:nvPr/>
        </p:nvSpPr>
        <p:spPr>
          <a:xfrm>
            <a:off x="2270095" y="3568600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E2387-215A-B2A1-57A3-C2D588881831}"/>
              </a:ext>
            </a:extLst>
          </p:cNvPr>
          <p:cNvSpPr txBox="1"/>
          <p:nvPr/>
        </p:nvSpPr>
        <p:spPr>
          <a:xfrm>
            <a:off x="3453314" y="3568600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D4AFC-2F05-1603-D04E-4C309CCD0E35}"/>
              </a:ext>
            </a:extLst>
          </p:cNvPr>
          <p:cNvSpPr txBox="1"/>
          <p:nvPr/>
        </p:nvSpPr>
        <p:spPr>
          <a:xfrm>
            <a:off x="4233525" y="3568600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central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04ABE-104D-AA43-D5DA-04425A4DEC8F}"/>
              </a:ext>
            </a:extLst>
          </p:cNvPr>
          <p:cNvSpPr txBox="1"/>
          <p:nvPr/>
        </p:nvSpPr>
        <p:spPr>
          <a:xfrm>
            <a:off x="5415113" y="3568600"/>
            <a:ext cx="10553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question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F3807-B220-68DB-19C7-A4606C76C8B9}"/>
              </a:ext>
            </a:extLst>
          </p:cNvPr>
          <p:cNvSpPr txBox="1"/>
          <p:nvPr/>
        </p:nvSpPr>
        <p:spPr>
          <a:xfrm>
            <a:off x="6840985" y="3568600"/>
            <a:ext cx="2791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611EED-5AD3-C520-2F56-0C480E54B23A}"/>
              </a:ext>
            </a:extLst>
          </p:cNvPr>
          <p:cNvSpPr txBox="1"/>
          <p:nvPr/>
        </p:nvSpPr>
        <p:spPr>
          <a:xfrm>
            <a:off x="7395853" y="3568600"/>
            <a:ext cx="7911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9BD7D-9320-E814-F19C-F3AB9C08E40E}"/>
              </a:ext>
            </a:extLst>
          </p:cNvPr>
          <p:cNvSpPr txBox="1"/>
          <p:nvPr/>
        </p:nvSpPr>
        <p:spPr>
          <a:xfrm>
            <a:off x="8522574" y="3568600"/>
            <a:ext cx="15354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B1C5B-F910-CBB9-85E3-4BEDFC5BF828}"/>
              </a:ext>
            </a:extLst>
          </p:cNvPr>
          <p:cNvSpPr txBox="1"/>
          <p:nvPr/>
        </p:nvSpPr>
        <p:spPr>
          <a:xfrm>
            <a:off x="2270095" y="4035617"/>
            <a:ext cx="8691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carrier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D291A-C5AA-4823-CC16-AEE47F1368A7}"/>
              </a:ext>
            </a:extLst>
          </p:cNvPr>
          <p:cNvSpPr txBox="1"/>
          <p:nvPr/>
        </p:nvSpPr>
        <p:spPr>
          <a:xfrm>
            <a:off x="3549004" y="4035617"/>
            <a:ext cx="4499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3FE87-E75F-8113-1952-3C3025F41A3F}"/>
              </a:ext>
            </a:extLst>
          </p:cNvPr>
          <p:cNvSpPr txBox="1"/>
          <p:nvPr/>
        </p:nvSpPr>
        <p:spPr>
          <a:xfrm>
            <a:off x="4355344" y="4035617"/>
            <a:ext cx="3257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9AFF72-B65D-DBAE-FDD7-45CB8C8556A7}"/>
              </a:ext>
            </a:extLst>
          </p:cNvPr>
          <p:cNvSpPr txBox="1"/>
          <p:nvPr/>
        </p:nvSpPr>
        <p:spPr>
          <a:xfrm>
            <a:off x="5023210" y="4035617"/>
            <a:ext cx="6515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5AB733-86A5-C39C-E8AE-17027CEC1AAB}"/>
              </a:ext>
            </a:extLst>
          </p:cNvPr>
          <p:cNvSpPr txBox="1"/>
          <p:nvPr/>
        </p:nvSpPr>
        <p:spPr>
          <a:xfrm>
            <a:off x="6056201" y="4035617"/>
            <a:ext cx="3721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53F425-7B36-3E1A-9E77-597F95B96F24}"/>
              </a:ext>
            </a:extLst>
          </p:cNvPr>
          <p:cNvSpPr txBox="1"/>
          <p:nvPr/>
        </p:nvSpPr>
        <p:spPr>
          <a:xfrm>
            <a:off x="6776647" y="4035617"/>
            <a:ext cx="15354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F79553-6C77-BC72-A08E-87B764E7F46D}"/>
              </a:ext>
            </a:extLst>
          </p:cNvPr>
          <p:cNvSpPr txBox="1"/>
          <p:nvPr/>
        </p:nvSpPr>
        <p:spPr>
          <a:xfrm>
            <a:off x="8799191" y="4035617"/>
            <a:ext cx="12878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exchange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DF2397-1B99-29CA-7467-383D624E63B3}"/>
              </a:ext>
            </a:extLst>
          </p:cNvPr>
          <p:cNvSpPr txBox="1"/>
          <p:nvPr/>
        </p:nvSpPr>
        <p:spPr>
          <a:xfrm>
            <a:off x="2270095" y="4503287"/>
            <a:ext cx="70335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between different places?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The answer is combine uses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F6C153-7B47-06CD-8607-D0074F2D6B52}"/>
              </a:ext>
            </a:extLst>
          </p:cNvPr>
          <p:cNvSpPr txBox="1"/>
          <p:nvPr/>
        </p:nvSpPr>
        <p:spPr>
          <a:xfrm>
            <a:off x="2270095" y="4970305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80CEC-C70A-FBFC-661F-27D6889FF048}"/>
              </a:ext>
            </a:extLst>
          </p:cNvPr>
          <p:cNvSpPr txBox="1"/>
          <p:nvPr/>
        </p:nvSpPr>
        <p:spPr>
          <a:xfrm>
            <a:off x="2786099" y="4970305"/>
            <a:ext cx="9310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55F3BD-0C0E-8358-88DD-C92B3ED83C6D}"/>
              </a:ext>
            </a:extLst>
          </p:cNvPr>
          <p:cNvSpPr txBox="1"/>
          <p:nvPr/>
        </p:nvSpPr>
        <p:spPr>
          <a:xfrm>
            <a:off x="4081665" y="4970305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AE501A-BC1F-7D19-DEF7-122DFC9EA4F9}"/>
              </a:ext>
            </a:extLst>
          </p:cNvPr>
          <p:cNvSpPr txBox="1"/>
          <p:nvPr/>
        </p:nvSpPr>
        <p:spPr>
          <a:xfrm>
            <a:off x="4855998" y="4970305"/>
            <a:ext cx="15668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BA2401-2C8A-7A75-098A-5231A1DD7CAF}"/>
              </a:ext>
            </a:extLst>
          </p:cNvPr>
          <p:cNvSpPr txBox="1"/>
          <p:nvPr/>
        </p:nvSpPr>
        <p:spPr>
          <a:xfrm>
            <a:off x="6865805" y="4970305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08176C-6EBD-AC29-EE74-3B23574185F2}"/>
              </a:ext>
            </a:extLst>
          </p:cNvPr>
          <p:cNvSpPr txBox="1"/>
          <p:nvPr/>
        </p:nvSpPr>
        <p:spPr>
          <a:xfrm>
            <a:off x="8059803" y="4970305"/>
            <a:ext cx="4966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FAAF0A-F10E-27F8-A15E-A52C233039EB}"/>
              </a:ext>
            </a:extLst>
          </p:cNvPr>
          <p:cNvSpPr txBox="1"/>
          <p:nvPr/>
        </p:nvSpPr>
        <p:spPr>
          <a:xfrm>
            <a:off x="8866468" y="4970305"/>
            <a:ext cx="12256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Electronic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85EBF4-0D5F-3821-4152-68F26CCE0F3B}"/>
              </a:ext>
            </a:extLst>
          </p:cNvPr>
          <p:cNvSpPr txBox="1"/>
          <p:nvPr/>
        </p:nvSpPr>
        <p:spPr>
          <a:xfrm>
            <a:off x="2270095" y="5437648"/>
            <a:ext cx="20787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mailing system.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43291C-79AE-3263-1936-EEE4C108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F639D4-E027-4F39-AC29-01F4DC11651D}" type="slidenum">
              <a:rPr/>
              <a:t>20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5980968-2F06-28C2-7129-D6AAFC3E99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1.3. Main Properties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60D8F-5C94-E001-2688-10CB405C7FC5}"/>
              </a:ext>
            </a:extLst>
          </p:cNvPr>
          <p:cNvSpPr txBox="1"/>
          <p:nvPr/>
        </p:nvSpPr>
        <p:spPr>
          <a:xfrm>
            <a:off x="2021237" y="15127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CEEB0-8A42-9B5F-523C-DFAA69B4D05B}"/>
              </a:ext>
            </a:extLst>
          </p:cNvPr>
          <p:cNvSpPr txBox="1"/>
          <p:nvPr/>
        </p:nvSpPr>
        <p:spPr>
          <a:xfrm>
            <a:off x="2911182" y="1512743"/>
            <a:ext cx="64026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The uses of term multimedia are not every arbitrary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18C0B-8E6B-100C-D177-DEFDC6D4130C}"/>
              </a:ext>
            </a:extLst>
          </p:cNvPr>
          <p:cNvSpPr txBox="1"/>
          <p:nvPr/>
        </p:nvSpPr>
        <p:spPr>
          <a:xfrm>
            <a:off x="2021237" y="2021238"/>
            <a:ext cx="75668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combination  of  media.  The  main  properties  of  multimedia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8A150-CEBF-D819-9F52-445DAC37275A}"/>
              </a:ext>
            </a:extLst>
          </p:cNvPr>
          <p:cNvSpPr txBox="1"/>
          <p:nvPr/>
        </p:nvSpPr>
        <p:spPr>
          <a:xfrm>
            <a:off x="2021237" y="2530385"/>
            <a:ext cx="15979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are: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749394-6801-8C2D-6047-7E79829C0808}"/>
              </a:ext>
            </a:extLst>
          </p:cNvPr>
          <p:cNvSpPr txBox="1"/>
          <p:nvPr/>
        </p:nvSpPr>
        <p:spPr>
          <a:xfrm>
            <a:off x="2292629" y="3197926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DD7BD-7BC0-A13D-AA50-6FCB639F6F88}"/>
              </a:ext>
            </a:extLst>
          </p:cNvPr>
          <p:cNvSpPr txBox="1"/>
          <p:nvPr/>
        </p:nvSpPr>
        <p:spPr>
          <a:xfrm>
            <a:off x="2530058" y="3140446"/>
            <a:ext cx="27154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Combination of media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0A198-4BFE-1664-2117-212ABC918422}"/>
              </a:ext>
            </a:extLst>
          </p:cNvPr>
          <p:cNvSpPr txBox="1"/>
          <p:nvPr/>
        </p:nvSpPr>
        <p:spPr>
          <a:xfrm>
            <a:off x="2292629" y="3807987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38242-3623-ED2B-00E4-86546E4511A8}"/>
              </a:ext>
            </a:extLst>
          </p:cNvPr>
          <p:cNvSpPr txBox="1"/>
          <p:nvPr/>
        </p:nvSpPr>
        <p:spPr>
          <a:xfrm>
            <a:off x="2530057" y="3750508"/>
            <a:ext cx="36930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Computer support integration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36999-1CDB-2417-7E5E-2F103E7B18A0}"/>
              </a:ext>
            </a:extLst>
          </p:cNvPr>
          <p:cNvSpPr txBox="1"/>
          <p:nvPr/>
        </p:nvSpPr>
        <p:spPr>
          <a:xfrm>
            <a:off x="2292629" y="4418702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D72DF3-B045-046A-6197-780BD247069E}"/>
              </a:ext>
            </a:extLst>
          </p:cNvPr>
          <p:cNvSpPr txBox="1"/>
          <p:nvPr/>
        </p:nvSpPr>
        <p:spPr>
          <a:xfrm>
            <a:off x="2530057" y="4361223"/>
            <a:ext cx="327339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Communication systems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40881-7562-81D7-1F6C-75CEE83F8E8E}"/>
              </a:ext>
            </a:extLst>
          </p:cNvPr>
          <p:cNvSpPr txBox="1"/>
          <p:nvPr/>
        </p:nvSpPr>
        <p:spPr>
          <a:xfrm>
            <a:off x="2292629" y="5028764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D93D20-F315-AF6C-4EE6-58C4A1858185}"/>
              </a:ext>
            </a:extLst>
          </p:cNvPr>
          <p:cNvSpPr txBox="1"/>
          <p:nvPr/>
        </p:nvSpPr>
        <p:spPr>
          <a:xfrm>
            <a:off x="2530057" y="4971937"/>
            <a:ext cx="20022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Independence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E370F31-DB87-ECFA-DF09-808C92ED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001052-5CA3-47D8-89A2-19AE8C4E24D0}" type="slidenum">
              <a:t>21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0BB12D3-EF34-278C-8758-DE299C2190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1.3. Main Properties ...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8866004-1129-4558-8648-E03D1716D152}"/>
              </a:ext>
            </a:extLst>
          </p:cNvPr>
          <p:cNvSpPr/>
          <p:nvPr/>
        </p:nvSpPr>
        <p:spPr>
          <a:xfrm>
            <a:off x="2018298" y="1906606"/>
            <a:ext cx="3475195" cy="411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642" h="127">
                <a:moveTo>
                  <a:pt x="0" y="0"/>
                </a:moveTo>
                <a:lnTo>
                  <a:pt x="5321" y="0"/>
                </a:lnTo>
                <a:lnTo>
                  <a:pt x="10642" y="0"/>
                </a:lnTo>
                <a:lnTo>
                  <a:pt x="10642" y="127"/>
                </a:lnTo>
                <a:lnTo>
                  <a:pt x="5321" y="127"/>
                </a:lnTo>
                <a:lnTo>
                  <a:pt x="0" y="127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E7DB1-56A6-3BA0-EDA6-EFA82B4927A1}"/>
              </a:ext>
            </a:extLst>
          </p:cNvPr>
          <p:cNvSpPr txBox="1"/>
          <p:nvPr/>
        </p:nvSpPr>
        <p:spPr>
          <a:xfrm>
            <a:off x="2018298" y="1512743"/>
            <a:ext cx="32419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Combination of media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15F1A-7A0E-8E91-CE0D-7B47EB3D8443}"/>
              </a:ext>
            </a:extLst>
          </p:cNvPr>
          <p:cNvSpPr txBox="1"/>
          <p:nvPr/>
        </p:nvSpPr>
        <p:spPr>
          <a:xfrm>
            <a:off x="2018298" y="207479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B121C-ED7F-9F60-5FD4-C442403CB975}"/>
              </a:ext>
            </a:extLst>
          </p:cNvPr>
          <p:cNvSpPr txBox="1"/>
          <p:nvPr/>
        </p:nvSpPr>
        <p:spPr>
          <a:xfrm>
            <a:off x="2917387" y="2074798"/>
            <a:ext cx="646997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simple  text  processing  program  with  in  corporate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766F4-8C8D-AAFE-F378-3E9D433AC4FC}"/>
              </a:ext>
            </a:extLst>
          </p:cNvPr>
          <p:cNvSpPr txBox="1"/>
          <p:nvPr/>
        </p:nvSpPr>
        <p:spPr>
          <a:xfrm>
            <a:off x="2018298" y="2544101"/>
            <a:ext cx="58498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is often called a multimedia application.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76C26-67CF-1B20-6644-3063B7223412}"/>
              </a:ext>
            </a:extLst>
          </p:cNvPr>
          <p:cNvSpPr txBox="1"/>
          <p:nvPr/>
        </p:nvSpPr>
        <p:spPr>
          <a:xfrm>
            <a:off x="2018298" y="310615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11943-1BF4-C400-A28F-96BCB4DC2363}"/>
              </a:ext>
            </a:extLst>
          </p:cNvPr>
          <p:cNvSpPr txBox="1"/>
          <p:nvPr/>
        </p:nvSpPr>
        <p:spPr>
          <a:xfrm>
            <a:off x="2917388" y="3106154"/>
            <a:ext cx="66711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Because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two  media  are  processed  through  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20D2E-13B7-AAD9-B3D0-CCD3C4D46DE0}"/>
              </a:ext>
            </a:extLst>
          </p:cNvPr>
          <p:cNvSpPr txBox="1"/>
          <p:nvPr/>
        </p:nvSpPr>
        <p:spPr>
          <a:xfrm>
            <a:off x="2018297" y="3574805"/>
            <a:ext cx="76653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program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But  one  should  talk  multimedia  only  when  both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8620C-A248-6CFD-0A87-84ADB00D2174}"/>
              </a:ext>
            </a:extLst>
          </p:cNvPr>
          <p:cNvSpPr txBox="1"/>
          <p:nvPr/>
        </p:nvSpPr>
        <p:spPr>
          <a:xfrm>
            <a:off x="2018297" y="4043128"/>
            <a:ext cx="13501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continuous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5567E-CA77-1DB0-77E8-F65C7C4EA948}"/>
              </a:ext>
            </a:extLst>
          </p:cNvPr>
          <p:cNvSpPr txBox="1"/>
          <p:nvPr/>
        </p:nvSpPr>
        <p:spPr>
          <a:xfrm>
            <a:off x="3726340" y="4043128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E2519-191C-935B-D9FA-62D855590D32}"/>
              </a:ext>
            </a:extLst>
          </p:cNvPr>
          <p:cNvSpPr txBox="1"/>
          <p:nvPr/>
        </p:nvSpPr>
        <p:spPr>
          <a:xfrm>
            <a:off x="4481079" y="4043128"/>
            <a:ext cx="9774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discrete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E4E327-DB3B-C877-E06C-6FD5BCE5CE09}"/>
              </a:ext>
            </a:extLst>
          </p:cNvPr>
          <p:cNvSpPr txBox="1"/>
          <p:nvPr/>
        </p:nvSpPr>
        <p:spPr>
          <a:xfrm>
            <a:off x="5789380" y="4043128"/>
            <a:ext cx="760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C590F-3086-2A53-388C-DBB2F5F00D8D}"/>
              </a:ext>
            </a:extLst>
          </p:cNvPr>
          <p:cNvSpPr txBox="1"/>
          <p:nvPr/>
        </p:nvSpPr>
        <p:spPr>
          <a:xfrm>
            <a:off x="6860907" y="4043128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B2549-E424-B5AF-8BA8-08FBABD061AE}"/>
              </a:ext>
            </a:extLst>
          </p:cNvPr>
          <p:cNvSpPr txBox="1"/>
          <p:nvPr/>
        </p:nvSpPr>
        <p:spPr>
          <a:xfrm>
            <a:off x="7549674" y="4043128"/>
            <a:ext cx="9464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utilized.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EDA89E-99CD-77C3-EA04-703BF56764D4}"/>
              </a:ext>
            </a:extLst>
          </p:cNvPr>
          <p:cNvSpPr txBox="1"/>
          <p:nvPr/>
        </p:nvSpPr>
        <p:spPr>
          <a:xfrm>
            <a:off x="8823359" y="4043128"/>
            <a:ext cx="34144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ED8CB9-A2FD-38A0-742E-382247DC9990}"/>
              </a:ext>
            </a:extLst>
          </p:cNvPr>
          <p:cNvSpPr txBox="1"/>
          <p:nvPr/>
        </p:nvSpPr>
        <p:spPr>
          <a:xfrm>
            <a:off x="9446484" y="4043128"/>
            <a:ext cx="4499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518C2-9A60-B0D7-3DEB-A180CF6C99C1}"/>
              </a:ext>
            </a:extLst>
          </p:cNvPr>
          <p:cNvSpPr txBox="1"/>
          <p:nvPr/>
        </p:nvSpPr>
        <p:spPr>
          <a:xfrm>
            <a:off x="2018298" y="4512105"/>
            <a:ext cx="13499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57261E-8B21-DF43-8CB0-3367B8148288}"/>
              </a:ext>
            </a:extLst>
          </p:cNvPr>
          <p:cNvSpPr txBox="1"/>
          <p:nvPr/>
        </p:nvSpPr>
        <p:spPr>
          <a:xfrm>
            <a:off x="3666248" y="4512105"/>
            <a:ext cx="10394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program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96D830-6ADC-3543-EFAE-434F62EFFF1E}"/>
              </a:ext>
            </a:extLst>
          </p:cNvPr>
          <p:cNvSpPr txBox="1"/>
          <p:nvPr/>
        </p:nvSpPr>
        <p:spPr>
          <a:xfrm>
            <a:off x="4979121" y="4512105"/>
            <a:ext cx="4964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E19EBF-27C0-FFC5-BA25-34B029538178}"/>
              </a:ext>
            </a:extLst>
          </p:cNvPr>
          <p:cNvSpPr txBox="1"/>
          <p:nvPr/>
        </p:nvSpPr>
        <p:spPr>
          <a:xfrm>
            <a:off x="5708387" y="4512105"/>
            <a:ext cx="15517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incorporated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19D1AE-4B4E-E6CF-AF90-4A37E5E28AE3}"/>
              </a:ext>
            </a:extLst>
          </p:cNvPr>
          <p:cNvSpPr txBox="1"/>
          <p:nvPr/>
        </p:nvSpPr>
        <p:spPr>
          <a:xfrm>
            <a:off x="7572210" y="4512105"/>
            <a:ext cx="8998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D0C602-2F63-7214-A6EA-4F3F4BA91050}"/>
              </a:ext>
            </a:extLst>
          </p:cNvPr>
          <p:cNvSpPr txBox="1"/>
          <p:nvPr/>
        </p:nvSpPr>
        <p:spPr>
          <a:xfrm>
            <a:off x="8735180" y="4512105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277487-E7D5-3DD9-5DE2-9800C8B86F65}"/>
              </a:ext>
            </a:extLst>
          </p:cNvPr>
          <p:cNvSpPr txBox="1"/>
          <p:nvPr/>
        </p:nvSpPr>
        <p:spPr>
          <a:xfrm>
            <a:off x="9147006" y="4512105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23CB37-785F-A8B7-75D2-AE0C5149B57B}"/>
              </a:ext>
            </a:extLst>
          </p:cNvPr>
          <p:cNvSpPr txBox="1"/>
          <p:nvPr/>
        </p:nvSpPr>
        <p:spPr>
          <a:xfrm>
            <a:off x="9760986" y="4512105"/>
            <a:ext cx="1552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D6944-E27A-5603-BA71-A0F25C1AB0F2}"/>
              </a:ext>
            </a:extLst>
          </p:cNvPr>
          <p:cNvSpPr txBox="1"/>
          <p:nvPr/>
        </p:nvSpPr>
        <p:spPr>
          <a:xfrm>
            <a:off x="2018297" y="4980755"/>
            <a:ext cx="29946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application.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133703-65CD-E7DC-3E76-02C58F28C3F4}"/>
              </a:ext>
            </a:extLst>
          </p:cNvPr>
          <p:cNvSpPr txBox="1"/>
          <p:nvPr/>
        </p:nvSpPr>
        <p:spPr>
          <a:xfrm>
            <a:off x="2018298" y="554313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6E58BFE-0320-96E3-A66C-9A04CACD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3D68C1-2CFE-40FD-9F4B-21B3DDD6D8CC}" type="slidenum">
              <a:t>22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DC6C5AD-F765-45A1-B76E-E29961D295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1.3. Main Properties ...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FD50DA2-E3B5-FD87-ADBD-36590F734AC4}"/>
              </a:ext>
            </a:extLst>
          </p:cNvPr>
          <p:cNvSpPr/>
          <p:nvPr/>
        </p:nvSpPr>
        <p:spPr>
          <a:xfrm>
            <a:off x="2021236" y="1852067"/>
            <a:ext cx="4503614" cy="3527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791" h="109">
                <a:moveTo>
                  <a:pt x="0" y="0"/>
                </a:moveTo>
                <a:lnTo>
                  <a:pt x="4596" y="0"/>
                </a:lnTo>
                <a:lnTo>
                  <a:pt x="9194" y="0"/>
                </a:lnTo>
                <a:lnTo>
                  <a:pt x="13791" y="0"/>
                </a:lnTo>
                <a:lnTo>
                  <a:pt x="13791" y="109"/>
                </a:lnTo>
                <a:lnTo>
                  <a:pt x="9194" y="109"/>
                </a:lnTo>
                <a:lnTo>
                  <a:pt x="4596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E7E4B-2D4C-0ACD-19E6-F4C5C6195037}"/>
              </a:ext>
            </a:extLst>
          </p:cNvPr>
          <p:cNvSpPr txBox="1"/>
          <p:nvPr/>
        </p:nvSpPr>
        <p:spPr>
          <a:xfrm>
            <a:off x="2021236" y="1513071"/>
            <a:ext cx="42653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support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91B22-0017-E9C3-E006-A35CC23E2678}"/>
              </a:ext>
            </a:extLst>
          </p:cNvPr>
          <p:cNvSpPr txBox="1"/>
          <p:nvPr/>
        </p:nvSpPr>
        <p:spPr>
          <a:xfrm>
            <a:off x="2021237" y="199707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D71FC-9614-1376-CA7C-6BE47FFCFEB4}"/>
              </a:ext>
            </a:extLst>
          </p:cNvPr>
          <p:cNvSpPr txBox="1"/>
          <p:nvPr/>
        </p:nvSpPr>
        <p:spPr>
          <a:xfrm>
            <a:off x="2905957" y="1997070"/>
            <a:ext cx="62788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is idle tools for media combinations. 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47AF7-2702-6A58-537D-B2DB572B1218}"/>
              </a:ext>
            </a:extLst>
          </p:cNvPr>
          <p:cNvSpPr txBox="1"/>
          <p:nvPr/>
        </p:nvSpPr>
        <p:spPr>
          <a:xfrm>
            <a:off x="2021236" y="2401057"/>
            <a:ext cx="73859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 should  be  capable  of  computer-controlled  media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DC065-7751-8A9C-91A8-8AA00CF74603}"/>
              </a:ext>
            </a:extLst>
          </p:cNvPr>
          <p:cNvSpPr txBox="1"/>
          <p:nvPr/>
        </p:nvSpPr>
        <p:spPr>
          <a:xfrm>
            <a:off x="2021236" y="2804390"/>
            <a:ext cx="72566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processing.  The  system  should  be  programmable  by 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966B4A-3D7C-9D62-57C8-6261C671AA69}"/>
              </a:ext>
            </a:extLst>
          </p:cNvPr>
          <p:cNvSpPr txBox="1"/>
          <p:nvPr/>
        </p:nvSpPr>
        <p:spPr>
          <a:xfrm>
            <a:off x="2021237" y="3207723"/>
            <a:ext cx="45614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programmer or even a user.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E5B0FB2-370F-573E-1645-32C65372B895}"/>
              </a:ext>
            </a:extLst>
          </p:cNvPr>
          <p:cNvSpPr/>
          <p:nvPr/>
        </p:nvSpPr>
        <p:spPr>
          <a:xfrm>
            <a:off x="2021237" y="4030392"/>
            <a:ext cx="3601584" cy="3527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29" h="109">
                <a:moveTo>
                  <a:pt x="0" y="0"/>
                </a:moveTo>
                <a:lnTo>
                  <a:pt x="5515" y="0"/>
                </a:lnTo>
                <a:lnTo>
                  <a:pt x="11029" y="0"/>
                </a:lnTo>
                <a:lnTo>
                  <a:pt x="11029" y="109"/>
                </a:lnTo>
                <a:lnTo>
                  <a:pt x="5515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9DD72-97DB-4AD4-8135-1AF443E67333}"/>
              </a:ext>
            </a:extLst>
          </p:cNvPr>
          <p:cNvSpPr txBox="1"/>
          <p:nvPr/>
        </p:nvSpPr>
        <p:spPr>
          <a:xfrm>
            <a:off x="2021237" y="3691722"/>
            <a:ext cx="341292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3.Communication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23A201-0314-2936-53E0-538112034DBE}"/>
              </a:ext>
            </a:extLst>
          </p:cNvPr>
          <p:cNvSpPr txBox="1"/>
          <p:nvPr/>
        </p:nvSpPr>
        <p:spPr>
          <a:xfrm>
            <a:off x="2021237" y="417637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2230F6-852A-4D58-542F-5FD2B1E5A451}"/>
              </a:ext>
            </a:extLst>
          </p:cNvPr>
          <p:cNvSpPr txBox="1"/>
          <p:nvPr/>
        </p:nvSpPr>
        <p:spPr>
          <a:xfrm>
            <a:off x="2905957" y="4176374"/>
            <a:ext cx="3010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Communication-capable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AB92B-5C5A-8341-5811-7926D0BEBE79}"/>
              </a:ext>
            </a:extLst>
          </p:cNvPr>
          <p:cNvSpPr txBox="1"/>
          <p:nvPr/>
        </p:nvSpPr>
        <p:spPr>
          <a:xfrm>
            <a:off x="6279585" y="4176374"/>
            <a:ext cx="1349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C3D7B-738E-217A-B58D-05B9A8B798AD}"/>
              </a:ext>
            </a:extLst>
          </p:cNvPr>
          <p:cNvSpPr txBox="1"/>
          <p:nvPr/>
        </p:nvSpPr>
        <p:spPr>
          <a:xfrm>
            <a:off x="7895530" y="4176374"/>
            <a:ext cx="10237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1C552E-B41E-7C40-6FC6-973E33DCD95C}"/>
              </a:ext>
            </a:extLst>
          </p:cNvPr>
          <p:cNvSpPr txBox="1"/>
          <p:nvPr/>
        </p:nvSpPr>
        <p:spPr>
          <a:xfrm>
            <a:off x="9166600" y="4176374"/>
            <a:ext cx="6049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B181E7-3FCF-CEF7-2E8B-F0DCDA7D1BC5}"/>
              </a:ext>
            </a:extLst>
          </p:cNvPr>
          <p:cNvSpPr txBox="1"/>
          <p:nvPr/>
        </p:nvSpPr>
        <p:spPr>
          <a:xfrm>
            <a:off x="2021237" y="4579708"/>
            <a:ext cx="756777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  approached.  A  reason  for  this  is  that  most  of  today’s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414B1-A4A0-5372-459F-1BB1A00E1A8F}"/>
              </a:ext>
            </a:extLst>
          </p:cNvPr>
          <p:cNvSpPr txBox="1"/>
          <p:nvPr/>
        </p:nvSpPr>
        <p:spPr>
          <a:xfrm>
            <a:off x="2021237" y="4983041"/>
            <a:ext cx="13032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ED015-A283-FFE2-0EDE-A4AAE142A206}"/>
              </a:ext>
            </a:extLst>
          </p:cNvPr>
          <p:cNvSpPr txBox="1"/>
          <p:nvPr/>
        </p:nvSpPr>
        <p:spPr>
          <a:xfrm>
            <a:off x="3654817" y="4983041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B5EA88-162D-1298-2883-3D66AEA201C1}"/>
              </a:ext>
            </a:extLst>
          </p:cNvPr>
          <p:cNvSpPr txBox="1"/>
          <p:nvPr/>
        </p:nvSpPr>
        <p:spPr>
          <a:xfrm>
            <a:off x="4337381" y="4983041"/>
            <a:ext cx="19087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interconnected;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DD59D-2329-6095-4517-A7227980E604}"/>
              </a:ext>
            </a:extLst>
          </p:cNvPr>
          <p:cNvSpPr txBox="1"/>
          <p:nvPr/>
        </p:nvSpPr>
        <p:spPr>
          <a:xfrm>
            <a:off x="6611395" y="4983041"/>
            <a:ext cx="14275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considering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5ABBB-78F6-2EC3-F8C9-BAF8AE11179E}"/>
              </a:ext>
            </a:extLst>
          </p:cNvPr>
          <p:cNvSpPr txBox="1"/>
          <p:nvPr/>
        </p:nvSpPr>
        <p:spPr>
          <a:xfrm>
            <a:off x="8377242" y="4983041"/>
            <a:ext cx="1349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BC6D0C-FA97-46D3-9F45-0D50F3A41947}"/>
              </a:ext>
            </a:extLst>
          </p:cNvPr>
          <p:cNvSpPr txBox="1"/>
          <p:nvPr/>
        </p:nvSpPr>
        <p:spPr>
          <a:xfrm>
            <a:off x="2021236" y="5387027"/>
            <a:ext cx="73239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functions from only the local processing viewpoint would be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2D4BDD-F82A-D4A1-A666-4264E767D5B0}"/>
              </a:ext>
            </a:extLst>
          </p:cNvPr>
          <p:cNvSpPr txBox="1"/>
          <p:nvPr/>
        </p:nvSpPr>
        <p:spPr>
          <a:xfrm>
            <a:off x="2021237" y="5790361"/>
            <a:ext cx="39412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restriction, if not a step back.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5D547A-761D-5F5E-58E0-4A365EFF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2C062A-11AF-4C43-BC4D-6B709F392051}" type="slidenum">
              <a:t>23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9B3EE04-97F8-3116-F3CA-FFF0419AE4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1.3. Main Properties ...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2F3D409-675A-407B-E1DB-49EFCF27A8D0}"/>
              </a:ext>
            </a:extLst>
          </p:cNvPr>
          <p:cNvSpPr/>
          <p:nvPr/>
        </p:nvSpPr>
        <p:spPr>
          <a:xfrm>
            <a:off x="2214902" y="1800792"/>
            <a:ext cx="2517974" cy="3363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11" h="104">
                <a:moveTo>
                  <a:pt x="0" y="0"/>
                </a:moveTo>
                <a:lnTo>
                  <a:pt x="3856" y="0"/>
                </a:lnTo>
                <a:lnTo>
                  <a:pt x="7711" y="0"/>
                </a:lnTo>
                <a:lnTo>
                  <a:pt x="7711" y="104"/>
                </a:lnTo>
                <a:lnTo>
                  <a:pt x="3856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6BC7B-FB3E-8A6E-4176-BF27D464C350}"/>
              </a:ext>
            </a:extLst>
          </p:cNvPr>
          <p:cNvSpPr txBox="1"/>
          <p:nvPr/>
        </p:nvSpPr>
        <p:spPr>
          <a:xfrm>
            <a:off x="2214902" y="1479759"/>
            <a:ext cx="24356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 Independence: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69250-1C95-BF45-64A5-D585EC4AC1C8}"/>
              </a:ext>
            </a:extLst>
          </p:cNvPr>
          <p:cNvSpPr txBox="1"/>
          <p:nvPr/>
        </p:nvSpPr>
        <p:spPr>
          <a:xfrm>
            <a:off x="2214902" y="190007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06AB7-E4D2-6B88-6FA4-6D0589810642}"/>
              </a:ext>
            </a:extLst>
          </p:cNvPr>
          <p:cNvSpPr txBox="1"/>
          <p:nvPr/>
        </p:nvSpPr>
        <p:spPr>
          <a:xfrm>
            <a:off x="3141098" y="1900074"/>
            <a:ext cx="62636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 important aspect of different media is their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5DF5E-2D39-B982-B8FF-7EB617D3729A}"/>
              </a:ext>
            </a:extLst>
          </p:cNvPr>
          <p:cNvSpPr txBox="1"/>
          <p:nvPr/>
        </p:nvSpPr>
        <p:spPr>
          <a:xfrm>
            <a:off x="2214902" y="2243642"/>
            <a:ext cx="740247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 independence  from  each  other.  In  general  there  is 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DF2CD-582E-F9C6-5A3D-5560CD97AE57}"/>
              </a:ext>
            </a:extLst>
          </p:cNvPr>
          <p:cNvSpPr txBox="1"/>
          <p:nvPr/>
        </p:nvSpPr>
        <p:spPr>
          <a:xfrm>
            <a:off x="2214902" y="2587537"/>
            <a:ext cx="72883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request for independence of different media but multimedia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489C0-D063-5555-9A0A-3D224E8E9DAB}"/>
              </a:ext>
            </a:extLst>
          </p:cNvPr>
          <p:cNvSpPr txBox="1"/>
          <p:nvPr/>
        </p:nvSpPr>
        <p:spPr>
          <a:xfrm>
            <a:off x="2214902" y="2931105"/>
            <a:ext cx="561724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may requires several level of independence.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6EEDD-F271-D7D3-370B-C9DBBF839FA7}"/>
              </a:ext>
            </a:extLst>
          </p:cNvPr>
          <p:cNvSpPr txBox="1"/>
          <p:nvPr/>
        </p:nvSpPr>
        <p:spPr>
          <a:xfrm>
            <a:off x="2214902" y="335109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5BDD1-4323-6A31-00B8-809D6AE35738}"/>
              </a:ext>
            </a:extLst>
          </p:cNvPr>
          <p:cNvSpPr txBox="1"/>
          <p:nvPr/>
        </p:nvSpPr>
        <p:spPr>
          <a:xfrm>
            <a:off x="3141099" y="3351093"/>
            <a:ext cx="64240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  A  computer  controlled  video  recorder  stores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A21FDC-2446-2F51-7B82-E52059489829}"/>
              </a:ext>
            </a:extLst>
          </p:cNvPr>
          <p:cNvSpPr txBox="1"/>
          <p:nvPr/>
        </p:nvSpPr>
        <p:spPr>
          <a:xfrm>
            <a:off x="2214902" y="3694662"/>
            <a:ext cx="72172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audio  and  video  information's.  There  is  inherently  tight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BC33F-BF52-A384-F6C3-70892B5F89B1}"/>
              </a:ext>
            </a:extLst>
          </p:cNvPr>
          <p:cNvSpPr txBox="1"/>
          <p:nvPr/>
        </p:nvSpPr>
        <p:spPr>
          <a:xfrm>
            <a:off x="2214902" y="4038556"/>
            <a:ext cx="755719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connection  between  two  types  of  media.  Both  media  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AC637-EDD1-0D66-87BB-F26E16B92C4A}"/>
              </a:ext>
            </a:extLst>
          </p:cNvPr>
          <p:cNvSpPr txBox="1"/>
          <p:nvPr/>
        </p:nvSpPr>
        <p:spPr>
          <a:xfrm>
            <a:off x="2214902" y="4382124"/>
            <a:ext cx="73399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coupled together through common storage medium of tape.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ED1AF-E2A4-D907-B02E-E0E3C063A55F}"/>
              </a:ext>
            </a:extLst>
          </p:cNvPr>
          <p:cNvSpPr txBox="1"/>
          <p:nvPr/>
        </p:nvSpPr>
        <p:spPr>
          <a:xfrm>
            <a:off x="2214902" y="4725692"/>
            <a:ext cx="72940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  the  other  hand  for  the  purpose  of  presentation  the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FFE13-71CC-7B3C-5DB5-81E576963AC8}"/>
              </a:ext>
            </a:extLst>
          </p:cNvPr>
          <p:cNvSpPr txBox="1"/>
          <p:nvPr/>
        </p:nvSpPr>
        <p:spPr>
          <a:xfrm>
            <a:off x="2214902" y="5069587"/>
            <a:ext cx="74065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combination  of  DAT  (digital  audio  tape  recorder)  signals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B18AB-3B3E-BC27-0716-108A9E48F17D}"/>
              </a:ext>
            </a:extLst>
          </p:cNvPr>
          <p:cNvSpPr txBox="1"/>
          <p:nvPr/>
        </p:nvSpPr>
        <p:spPr>
          <a:xfrm>
            <a:off x="2214902" y="5413481"/>
            <a:ext cx="72154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computer available text satisfies the request for media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F2CF8-EFCE-C3C5-087E-36B4FD14F2E5}"/>
              </a:ext>
            </a:extLst>
          </p:cNvPr>
          <p:cNvSpPr txBox="1"/>
          <p:nvPr/>
        </p:nvSpPr>
        <p:spPr>
          <a:xfrm>
            <a:off x="2214902" y="5757049"/>
            <a:ext cx="19866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independence.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5BE84-C3C5-0B83-2489-B41C7D60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1D9A4D-1A29-4187-A2ED-C1502A37AC9E}" type="slidenum">
              <a:rPr/>
              <a:t>24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176AD9A4-4C7E-67F9-CA34-158D3239E7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1.4. Definition of Multimedia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E104A-1D96-96D5-826E-CEC769035082}"/>
              </a:ext>
            </a:extLst>
          </p:cNvPr>
          <p:cNvSpPr txBox="1"/>
          <p:nvPr/>
        </p:nvSpPr>
        <p:spPr>
          <a:xfrm>
            <a:off x="-12848481" y="1672444"/>
            <a:ext cx="37711062" cy="537953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algn="just" hangingPunct="0">
              <a:lnSpc>
                <a:spcPct val="150000"/>
              </a:lnSpc>
              <a:spcBef>
                <a:spcPts val="514"/>
              </a:spcBef>
              <a:spcAft>
                <a:spcPts val="514"/>
              </a:spcAft>
            </a:pP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A multimedia system is characterized by </a:t>
            </a:r>
            <a:r>
              <a:rPr lang="en-US" sz="2359" b="1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computer-controlled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, </a:t>
            </a:r>
            <a:r>
              <a:rPr lang="en-US" sz="2359" b="1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integrated</a:t>
            </a:r>
            <a:r>
              <a:rPr lang="en-US" sz="2359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 production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, </a:t>
            </a:r>
            <a:r>
              <a:rPr lang="en-US" sz="2359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manipulation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, </a:t>
            </a:r>
            <a:r>
              <a:rPr lang="en-US" sz="2359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presentation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, </a:t>
            </a:r>
            <a:r>
              <a:rPr lang="en-US" sz="2359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storage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 and </a:t>
            </a:r>
            <a:r>
              <a:rPr lang="en-US" sz="2359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communication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 of </a:t>
            </a:r>
            <a:r>
              <a:rPr lang="en-US" sz="2359" b="1">
                <a:solidFill>
                  <a:srgbClr val="800000"/>
                </a:solidFill>
                <a:latin typeface="Liberation Sans" pitchFamily="18"/>
                <a:ea typeface="Noto Sans CJK SC Regular" pitchFamily="2"/>
                <a:cs typeface="FreeSans" pitchFamily="2"/>
              </a:rPr>
              <a:t>independent information</a:t>
            </a:r>
            <a:r>
              <a:rPr lang="en-US" sz="2359">
                <a:latin typeface="Liberation Sans" pitchFamily="18"/>
                <a:ea typeface="Noto Sans CJK SC Regular" pitchFamily="2"/>
                <a:cs typeface="FreeSans" pitchFamily="2"/>
              </a:rPr>
              <a:t> which is encoded at least through a continuous(time-dependent) and a discrete(time-independent) medium.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C79BB4C1-6723-1B71-5872-6A26C7E4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F11182-66EA-45D1-B246-57177EF8FED9}" type="slidenum">
              <a:rPr/>
              <a:t>25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F5C94B2-E87D-A6F8-BCDC-3C23795670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Applications of Multimedia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9EECC-BB3D-92B8-BBF5-A0E4551EB701}"/>
              </a:ext>
            </a:extLst>
          </p:cNvPr>
          <p:cNvSpPr txBox="1"/>
          <p:nvPr/>
        </p:nvSpPr>
        <p:spPr>
          <a:xfrm>
            <a:off x="2021563" y="1445794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17D68-C7F9-E5E7-5850-623975F06A9E}"/>
              </a:ext>
            </a:extLst>
          </p:cNvPr>
          <p:cNvSpPr txBox="1"/>
          <p:nvPr/>
        </p:nvSpPr>
        <p:spPr>
          <a:xfrm>
            <a:off x="3074148" y="1445794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33329-A096-433F-4BED-7E5AD478F63A}"/>
              </a:ext>
            </a:extLst>
          </p:cNvPr>
          <p:cNvSpPr txBox="1"/>
          <p:nvPr/>
        </p:nvSpPr>
        <p:spPr>
          <a:xfrm>
            <a:off x="2395178" y="1445794"/>
            <a:ext cx="491172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plays major role in following areas: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70FAC-51FB-6E2C-C487-DF80EA3E5D71}"/>
              </a:ext>
            </a:extLst>
          </p:cNvPr>
          <p:cNvSpPr txBox="1"/>
          <p:nvPr/>
        </p:nvSpPr>
        <p:spPr>
          <a:xfrm>
            <a:off x="2407261" y="1830511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FE597-623F-3244-C40B-E9B145ED2006}"/>
              </a:ext>
            </a:extLst>
          </p:cNvPr>
          <p:cNvSpPr txBox="1"/>
          <p:nvPr/>
        </p:nvSpPr>
        <p:spPr>
          <a:xfrm>
            <a:off x="2617907" y="1790995"/>
            <a:ext cx="236500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Instruction (Teaching)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20601-9423-92D6-48BA-0161C838C1A7}"/>
              </a:ext>
            </a:extLst>
          </p:cNvPr>
          <p:cNvSpPr txBox="1"/>
          <p:nvPr/>
        </p:nvSpPr>
        <p:spPr>
          <a:xfrm>
            <a:off x="2407261" y="2176039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AD5D6-AEF3-EDFF-FFE0-E205128B64BF}"/>
              </a:ext>
            </a:extLst>
          </p:cNvPr>
          <p:cNvSpPr txBox="1"/>
          <p:nvPr/>
        </p:nvSpPr>
        <p:spPr>
          <a:xfrm>
            <a:off x="2617908" y="2136849"/>
            <a:ext cx="107856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Business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E0601-F29E-884A-DDE8-536CFA02C7EE}"/>
              </a:ext>
            </a:extLst>
          </p:cNvPr>
          <p:cNvSpPr txBox="1"/>
          <p:nvPr/>
        </p:nvSpPr>
        <p:spPr>
          <a:xfrm>
            <a:off x="2723396" y="2514382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D1064-936D-49AD-CC7C-7F73B521F4A3}"/>
              </a:ext>
            </a:extLst>
          </p:cNvPr>
          <p:cNvSpPr txBox="1"/>
          <p:nvPr/>
        </p:nvSpPr>
        <p:spPr>
          <a:xfrm>
            <a:off x="2933716" y="2480090"/>
            <a:ext cx="148123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Advertisements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97969-5B30-4872-65FE-57B59D302163}"/>
              </a:ext>
            </a:extLst>
          </p:cNvPr>
          <p:cNvSpPr txBox="1"/>
          <p:nvPr/>
        </p:nvSpPr>
        <p:spPr>
          <a:xfrm>
            <a:off x="2723396" y="2807656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298A2-5003-4CF0-0C19-FA58B5426FB4}"/>
              </a:ext>
            </a:extLst>
          </p:cNvPr>
          <p:cNvSpPr txBox="1"/>
          <p:nvPr/>
        </p:nvSpPr>
        <p:spPr>
          <a:xfrm>
            <a:off x="2933716" y="2773691"/>
            <a:ext cx="168379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Training materials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760B9-0314-5AC6-2A2E-C55B75D49AFF}"/>
              </a:ext>
            </a:extLst>
          </p:cNvPr>
          <p:cNvSpPr txBox="1"/>
          <p:nvPr/>
        </p:nvSpPr>
        <p:spPr>
          <a:xfrm>
            <a:off x="2723396" y="3101256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C8BE7-6163-6B90-F49E-71A7906EC689}"/>
              </a:ext>
            </a:extLst>
          </p:cNvPr>
          <p:cNvSpPr txBox="1"/>
          <p:nvPr/>
        </p:nvSpPr>
        <p:spPr>
          <a:xfrm>
            <a:off x="2933716" y="3067291"/>
            <a:ext cx="1326710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Presentations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483D16-7D1E-D88E-82FF-822B2854CDBD}"/>
              </a:ext>
            </a:extLst>
          </p:cNvPr>
          <p:cNvSpPr txBox="1"/>
          <p:nvPr/>
        </p:nvSpPr>
        <p:spPr>
          <a:xfrm>
            <a:off x="2723396" y="3395510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5FAA0-7983-4DC5-0946-D46A7EC2F8FB}"/>
              </a:ext>
            </a:extLst>
          </p:cNvPr>
          <p:cNvSpPr txBox="1"/>
          <p:nvPr/>
        </p:nvSpPr>
        <p:spPr>
          <a:xfrm>
            <a:off x="2933716" y="3360564"/>
            <a:ext cx="247599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Customer support services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4FA29-AE56-B09C-9E79-96FAEDFA587B}"/>
              </a:ext>
            </a:extLst>
          </p:cNvPr>
          <p:cNvSpPr txBox="1"/>
          <p:nvPr/>
        </p:nvSpPr>
        <p:spPr>
          <a:xfrm>
            <a:off x="2407261" y="3695968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CAA6C-CD37-D911-217C-0CECEE878109}"/>
              </a:ext>
            </a:extLst>
          </p:cNvPr>
          <p:cNvSpPr txBox="1"/>
          <p:nvPr/>
        </p:nvSpPr>
        <p:spPr>
          <a:xfrm>
            <a:off x="2617907" y="3657104"/>
            <a:ext cx="158543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Entertainment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A38D73-4060-D731-01E0-1B8D287F7719}"/>
              </a:ext>
            </a:extLst>
          </p:cNvPr>
          <p:cNvSpPr txBox="1"/>
          <p:nvPr/>
        </p:nvSpPr>
        <p:spPr>
          <a:xfrm>
            <a:off x="2723396" y="4034311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758759-2F5C-1915-62DC-C044A710DE99}"/>
              </a:ext>
            </a:extLst>
          </p:cNvPr>
          <p:cNvSpPr txBox="1"/>
          <p:nvPr/>
        </p:nvSpPr>
        <p:spPr>
          <a:xfrm>
            <a:off x="2933716" y="3999692"/>
            <a:ext cx="1724446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Interactive Games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1F8706-2409-F357-2077-13EDD96E900B}"/>
              </a:ext>
            </a:extLst>
          </p:cNvPr>
          <p:cNvSpPr txBox="1"/>
          <p:nvPr/>
        </p:nvSpPr>
        <p:spPr>
          <a:xfrm>
            <a:off x="2407261" y="4335096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BFD4A9-D75E-89D7-0F73-5AF1FDF487EE}"/>
              </a:ext>
            </a:extLst>
          </p:cNvPr>
          <p:cNvSpPr txBox="1"/>
          <p:nvPr/>
        </p:nvSpPr>
        <p:spPr>
          <a:xfrm>
            <a:off x="2617907" y="4295579"/>
            <a:ext cx="228344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Enabling Technology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9CA589-9CD0-1CED-6A71-FDB5D8795759}"/>
              </a:ext>
            </a:extLst>
          </p:cNvPr>
          <p:cNvSpPr txBox="1"/>
          <p:nvPr/>
        </p:nvSpPr>
        <p:spPr>
          <a:xfrm>
            <a:off x="2723396" y="4673439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89B016-9F7C-F802-4D8D-2C5F3A1436EB}"/>
              </a:ext>
            </a:extLst>
          </p:cNvPr>
          <p:cNvSpPr txBox="1"/>
          <p:nvPr/>
        </p:nvSpPr>
        <p:spPr>
          <a:xfrm>
            <a:off x="2933715" y="4639147"/>
            <a:ext cx="3338478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Accessibility to web based materials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CAFA9A-1F39-9347-D8C2-0692C319DDAF}"/>
              </a:ext>
            </a:extLst>
          </p:cNvPr>
          <p:cNvSpPr txBox="1"/>
          <p:nvPr/>
        </p:nvSpPr>
        <p:spPr>
          <a:xfrm>
            <a:off x="2723396" y="4967039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0EC36-BD35-E49E-9B70-34C1B3C7F16E}"/>
              </a:ext>
            </a:extLst>
          </p:cNvPr>
          <p:cNvSpPr txBox="1"/>
          <p:nvPr/>
        </p:nvSpPr>
        <p:spPr>
          <a:xfrm>
            <a:off x="2933715" y="4932421"/>
            <a:ext cx="400231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Teaching-learning disabled children &amp; adults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4B8B38-EBE8-5D5E-A461-3AF9BFDC384B}"/>
              </a:ext>
            </a:extLst>
          </p:cNvPr>
          <p:cNvSpPr txBox="1"/>
          <p:nvPr/>
        </p:nvSpPr>
        <p:spPr>
          <a:xfrm>
            <a:off x="2407261" y="5267497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A8BE9-0FCC-3102-D7B4-7AAAF51563E1}"/>
              </a:ext>
            </a:extLst>
          </p:cNvPr>
          <p:cNvSpPr txBox="1"/>
          <p:nvPr/>
        </p:nvSpPr>
        <p:spPr>
          <a:xfrm>
            <a:off x="2617908" y="5228307"/>
            <a:ext cx="250767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Fine Arts &amp; Humanities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32D8D8-1309-ADDA-3458-91E5C6B1ED63}"/>
              </a:ext>
            </a:extLst>
          </p:cNvPr>
          <p:cNvSpPr txBox="1"/>
          <p:nvPr/>
        </p:nvSpPr>
        <p:spPr>
          <a:xfrm>
            <a:off x="2723396" y="5606493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7B8EFF-7430-2CAD-1975-0653F0A7DACD}"/>
              </a:ext>
            </a:extLst>
          </p:cNvPr>
          <p:cNvSpPr txBox="1"/>
          <p:nvPr/>
        </p:nvSpPr>
        <p:spPr>
          <a:xfrm>
            <a:off x="2933716" y="5572201"/>
            <a:ext cx="137063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Museum tours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D61A05-30E4-F903-DAB6-6C17B3E43189}"/>
              </a:ext>
            </a:extLst>
          </p:cNvPr>
          <p:cNvSpPr txBox="1"/>
          <p:nvPr/>
        </p:nvSpPr>
        <p:spPr>
          <a:xfrm>
            <a:off x="2723396" y="5900094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6724E4-28B5-2407-9611-50A51D056B5C}"/>
              </a:ext>
            </a:extLst>
          </p:cNvPr>
          <p:cNvSpPr txBox="1"/>
          <p:nvPr/>
        </p:nvSpPr>
        <p:spPr>
          <a:xfrm>
            <a:off x="2933716" y="5865149"/>
            <a:ext cx="1359731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Art exhibitions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A26976-B4E4-E74E-8112-05F9C4ED7AAF}"/>
              </a:ext>
            </a:extLst>
          </p:cNvPr>
          <p:cNvSpPr txBox="1"/>
          <p:nvPr/>
        </p:nvSpPr>
        <p:spPr>
          <a:xfrm>
            <a:off x="2723396" y="6193367"/>
            <a:ext cx="58606" cy="19261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2E8762-3CD7-0A7D-94BA-EDC8540092B6}"/>
              </a:ext>
            </a:extLst>
          </p:cNvPr>
          <p:cNvSpPr txBox="1"/>
          <p:nvPr/>
        </p:nvSpPr>
        <p:spPr>
          <a:xfrm>
            <a:off x="2933716" y="6158749"/>
            <a:ext cx="2376933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Presentations of literature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D2F8B31-FA13-5ABD-5C1D-937F6957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F9B22A-715C-4DD9-939C-D1F48EF80DFF}" type="slidenum">
              <a:rPr/>
              <a:t>26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E5F22CD-BF51-6E7F-454C-520E9F2590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1.4. Definition of Multimedia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7016D-0C1F-7268-E1A0-EE651596D97C}"/>
              </a:ext>
            </a:extLst>
          </p:cNvPr>
          <p:cNvSpPr txBox="1"/>
          <p:nvPr/>
        </p:nvSpPr>
        <p:spPr>
          <a:xfrm>
            <a:off x="2021563" y="1512743"/>
            <a:ext cx="47052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Usages of Multimedia Application: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F49F2-C321-F157-24C3-47C5F547E721}"/>
              </a:ext>
            </a:extLst>
          </p:cNvPr>
          <p:cNvSpPr txBox="1"/>
          <p:nvPr/>
        </p:nvSpPr>
        <p:spPr>
          <a:xfrm>
            <a:off x="2021564" y="203985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59EFE-E60A-B598-6385-A48D3A408000}"/>
              </a:ext>
            </a:extLst>
          </p:cNvPr>
          <p:cNvSpPr txBox="1"/>
          <p:nvPr/>
        </p:nvSpPr>
        <p:spPr>
          <a:xfrm>
            <a:off x="3381465" y="2039853"/>
            <a:ext cx="17071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Education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47A4C-DCE6-B5B0-192B-19433F355F06}"/>
              </a:ext>
            </a:extLst>
          </p:cNvPr>
          <p:cNvSpPr txBox="1"/>
          <p:nvPr/>
        </p:nvSpPr>
        <p:spPr>
          <a:xfrm>
            <a:off x="2021564" y="256728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2F97E-37C6-9E5F-53C0-538B1F341595}"/>
              </a:ext>
            </a:extLst>
          </p:cNvPr>
          <p:cNvSpPr txBox="1"/>
          <p:nvPr/>
        </p:nvSpPr>
        <p:spPr>
          <a:xfrm>
            <a:off x="3381465" y="2567289"/>
            <a:ext cx="14586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Training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61819-8C7E-D616-8F26-1DBDE7AD03F4}"/>
              </a:ext>
            </a:extLst>
          </p:cNvPr>
          <p:cNvSpPr txBox="1"/>
          <p:nvPr/>
        </p:nvSpPr>
        <p:spPr>
          <a:xfrm>
            <a:off x="2021564" y="309472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380108-D377-8871-9E61-461FD8227F3C}"/>
              </a:ext>
            </a:extLst>
          </p:cNvPr>
          <p:cNvSpPr txBox="1"/>
          <p:nvPr/>
        </p:nvSpPr>
        <p:spPr>
          <a:xfrm>
            <a:off x="3381465" y="3094724"/>
            <a:ext cx="22034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 Entertainment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FE815-3E6C-D33D-8D1C-A8126F952084}"/>
              </a:ext>
            </a:extLst>
          </p:cNvPr>
          <p:cNvSpPr txBox="1"/>
          <p:nvPr/>
        </p:nvSpPr>
        <p:spPr>
          <a:xfrm>
            <a:off x="2021564" y="362183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19C55-F15C-3BF7-DA22-75370EBA7DEE}"/>
              </a:ext>
            </a:extLst>
          </p:cNvPr>
          <p:cNvSpPr txBox="1"/>
          <p:nvPr/>
        </p:nvSpPr>
        <p:spPr>
          <a:xfrm>
            <a:off x="3381465" y="3621833"/>
            <a:ext cx="22344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 Advertisement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63D557-A2D2-2D84-E984-1763622B7A2F}"/>
              </a:ext>
            </a:extLst>
          </p:cNvPr>
          <p:cNvSpPr txBox="1"/>
          <p:nvPr/>
        </p:nvSpPr>
        <p:spPr>
          <a:xfrm>
            <a:off x="2021564" y="414861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D51BB-BA22-F663-8F30-975F51228F8A}"/>
              </a:ext>
            </a:extLst>
          </p:cNvPr>
          <p:cNvSpPr txBox="1"/>
          <p:nvPr/>
        </p:nvSpPr>
        <p:spPr>
          <a:xfrm>
            <a:off x="3381466" y="4148616"/>
            <a:ext cx="20329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5. Presentation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66E2A8-ACFF-86EF-1959-A327768DD672}"/>
              </a:ext>
            </a:extLst>
          </p:cNvPr>
          <p:cNvSpPr txBox="1"/>
          <p:nvPr/>
        </p:nvSpPr>
        <p:spPr>
          <a:xfrm>
            <a:off x="2021564" y="467605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AD7AD-58DA-68D7-0D0A-1045B6960D85}"/>
              </a:ext>
            </a:extLst>
          </p:cNvPr>
          <p:cNvSpPr txBox="1"/>
          <p:nvPr/>
        </p:nvSpPr>
        <p:spPr>
          <a:xfrm>
            <a:off x="3381466" y="4676051"/>
            <a:ext cx="36151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6. Business Communication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0C70D-48A6-48F0-8A6B-80D1C2644ACC}"/>
              </a:ext>
            </a:extLst>
          </p:cNvPr>
          <p:cNvSpPr txBox="1"/>
          <p:nvPr/>
        </p:nvSpPr>
        <p:spPr>
          <a:xfrm>
            <a:off x="2021564" y="520316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BE967D-59A0-8219-650F-D8879EBDEB84}"/>
              </a:ext>
            </a:extLst>
          </p:cNvPr>
          <p:cNvSpPr txBox="1"/>
          <p:nvPr/>
        </p:nvSpPr>
        <p:spPr>
          <a:xfrm>
            <a:off x="3381465" y="5203160"/>
            <a:ext cx="267951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7. Web page Design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650EFC-6FA7-6431-F989-D5A87BE0B9FA}"/>
              </a:ext>
            </a:extLst>
          </p:cNvPr>
          <p:cNvSpPr txBox="1"/>
          <p:nvPr/>
        </p:nvSpPr>
        <p:spPr>
          <a:xfrm>
            <a:off x="2021564" y="573026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43B69C-1FFA-021E-A507-894F40BE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BD9A30-D747-4EE7-AF2D-E207D299ECD5}" type="slidenum">
              <a:rPr/>
              <a:t>27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0C1543D-1A52-7E60-9194-9463FC3399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1.4. Definition of Multimedia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2A725-6C4B-7B12-6160-8DC640DC1C65}"/>
              </a:ext>
            </a:extLst>
          </p:cNvPr>
          <p:cNvSpPr txBox="1"/>
          <p:nvPr/>
        </p:nvSpPr>
        <p:spPr>
          <a:xfrm>
            <a:off x="2315490" y="1512743"/>
            <a:ext cx="23524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Tools: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65B8B-E52C-34A4-0460-383BE4EB81FD}"/>
              </a:ext>
            </a:extLst>
          </p:cNvPr>
          <p:cNvSpPr txBox="1"/>
          <p:nvPr/>
        </p:nvSpPr>
        <p:spPr>
          <a:xfrm>
            <a:off x="2315489" y="208002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F549A-07CA-1CC8-DB0D-D064179BA0BF}"/>
              </a:ext>
            </a:extLst>
          </p:cNvPr>
          <p:cNvSpPr txBox="1"/>
          <p:nvPr/>
        </p:nvSpPr>
        <p:spPr>
          <a:xfrm>
            <a:off x="2554877" y="2030709"/>
            <a:ext cx="21672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Text Editing Tools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38177-BC4B-A073-FE86-BBB23E773C6C}"/>
              </a:ext>
            </a:extLst>
          </p:cNvPr>
          <p:cNvSpPr txBox="1"/>
          <p:nvPr/>
        </p:nvSpPr>
        <p:spPr>
          <a:xfrm>
            <a:off x="2315489" y="259798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B5BDB-4C17-0485-1FFA-1FFD145C2209}"/>
              </a:ext>
            </a:extLst>
          </p:cNvPr>
          <p:cNvSpPr txBox="1"/>
          <p:nvPr/>
        </p:nvSpPr>
        <p:spPr>
          <a:xfrm>
            <a:off x="2554877" y="2549000"/>
            <a:ext cx="33776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Drawing and Painting Tools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5CB615-433B-6823-0AC8-3FFD0A1A6425}"/>
              </a:ext>
            </a:extLst>
          </p:cNvPr>
          <p:cNvSpPr txBox="1"/>
          <p:nvPr/>
        </p:nvSpPr>
        <p:spPr>
          <a:xfrm>
            <a:off x="2315489" y="3116279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60B89-3542-4E3C-3B25-B726BD2CD510}"/>
              </a:ext>
            </a:extLst>
          </p:cNvPr>
          <p:cNvSpPr txBox="1"/>
          <p:nvPr/>
        </p:nvSpPr>
        <p:spPr>
          <a:xfrm>
            <a:off x="2554878" y="3067291"/>
            <a:ext cx="24311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Editing 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29F9B-31B8-A5A5-4CCD-E749A04000FE}"/>
              </a:ext>
            </a:extLst>
          </p:cNvPr>
          <p:cNvSpPr txBox="1"/>
          <p:nvPr/>
        </p:nvSpPr>
        <p:spPr>
          <a:xfrm>
            <a:off x="2315489" y="363424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3154D-DDA6-82B1-85F9-21D83F208101}"/>
              </a:ext>
            </a:extLst>
          </p:cNvPr>
          <p:cNvSpPr txBox="1"/>
          <p:nvPr/>
        </p:nvSpPr>
        <p:spPr>
          <a:xfrm>
            <a:off x="2554878" y="3585256"/>
            <a:ext cx="23691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Audio Editing Tools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00F0A-AA5D-F616-96CE-42176485B322}"/>
              </a:ext>
            </a:extLst>
          </p:cNvPr>
          <p:cNvSpPr txBox="1"/>
          <p:nvPr/>
        </p:nvSpPr>
        <p:spPr>
          <a:xfrm>
            <a:off x="2315489" y="415188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50456E-A664-2D8F-7320-8A03C356E169}"/>
              </a:ext>
            </a:extLst>
          </p:cNvPr>
          <p:cNvSpPr txBox="1"/>
          <p:nvPr/>
        </p:nvSpPr>
        <p:spPr>
          <a:xfrm>
            <a:off x="2554878" y="4103220"/>
            <a:ext cx="23641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 Editing Tools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C75F4-4956-2E39-9C5B-B15A4E3A461D}"/>
              </a:ext>
            </a:extLst>
          </p:cNvPr>
          <p:cNvSpPr txBox="1"/>
          <p:nvPr/>
        </p:nvSpPr>
        <p:spPr>
          <a:xfrm>
            <a:off x="2315489" y="4670499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E6258-8792-A4F9-2DFC-9B93ECB040A4}"/>
              </a:ext>
            </a:extLst>
          </p:cNvPr>
          <p:cNvSpPr txBox="1"/>
          <p:nvPr/>
        </p:nvSpPr>
        <p:spPr>
          <a:xfrm>
            <a:off x="2554878" y="4621511"/>
            <a:ext cx="41535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 and 3D Modeling Tools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19631-61CD-3743-DD83-5B73E0896915}"/>
              </a:ext>
            </a:extLst>
          </p:cNvPr>
          <p:cNvSpPr txBox="1"/>
          <p:nvPr/>
        </p:nvSpPr>
        <p:spPr>
          <a:xfrm>
            <a:off x="2315489" y="518813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497AD-5F23-8952-9832-49F1384932D3}"/>
              </a:ext>
            </a:extLst>
          </p:cNvPr>
          <p:cNvSpPr txBox="1"/>
          <p:nvPr/>
        </p:nvSpPr>
        <p:spPr>
          <a:xfrm>
            <a:off x="2554878" y="5139475"/>
            <a:ext cx="502682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OCR (optical character recognition)Tools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675D2-187E-C4B5-8EAF-FE2542298E55}"/>
              </a:ext>
            </a:extLst>
          </p:cNvPr>
          <p:cNvSpPr txBox="1"/>
          <p:nvPr/>
        </p:nvSpPr>
        <p:spPr>
          <a:xfrm>
            <a:off x="2315489" y="570610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E87E20-B2E1-1CC5-F41C-0ACACD595356}"/>
              </a:ext>
            </a:extLst>
          </p:cNvPr>
          <p:cNvSpPr txBox="1"/>
          <p:nvPr/>
        </p:nvSpPr>
        <p:spPr>
          <a:xfrm>
            <a:off x="2554878" y="5657440"/>
            <a:ext cx="29588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Voice Recognition Tools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66392-85F3-F071-472F-2054D416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DD564D-0DFE-498F-82E2-456F55F32B4E}" type="slidenum">
              <a:rPr/>
              <a:t>28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6E1EBCC-2949-1C9A-D41A-AEEFF56D85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Global Structure of Multimedia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E9645-F728-92A6-1EFF-3647D5EA190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82637" y="1200202"/>
            <a:ext cx="6893566" cy="5293624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5AE174-F176-2AD0-1B0A-F26469E8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53088A-1D2D-47C3-873E-2F9D5D25BB00}" type="slidenum">
              <a:rPr/>
              <a:t>29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7EDE4D4-91DF-30AF-34BE-9E124D7945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Global Structure of Multimedia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7B10D-3E8A-8BC3-C602-4124F6F35460}"/>
              </a:ext>
            </a:extLst>
          </p:cNvPr>
          <p:cNvSpPr txBox="1"/>
          <p:nvPr/>
        </p:nvSpPr>
        <p:spPr>
          <a:xfrm>
            <a:off x="2152197" y="159504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E9FE7-DF22-003D-AABB-CC48F0DF5B69}"/>
              </a:ext>
            </a:extLst>
          </p:cNvPr>
          <p:cNvSpPr txBox="1"/>
          <p:nvPr/>
        </p:nvSpPr>
        <p:spPr>
          <a:xfrm>
            <a:off x="2979439" y="1512743"/>
            <a:ext cx="18463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Device 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838C5-FA8E-C6FB-93E6-866F1248BD9C}"/>
              </a:ext>
            </a:extLst>
          </p:cNvPr>
          <p:cNvSpPr txBox="1"/>
          <p:nvPr/>
        </p:nvSpPr>
        <p:spPr>
          <a:xfrm>
            <a:off x="2152197" y="2468334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EBF73-BEC5-497B-47F0-09E830C16187}"/>
              </a:ext>
            </a:extLst>
          </p:cNvPr>
          <p:cNvSpPr txBox="1"/>
          <p:nvPr/>
        </p:nvSpPr>
        <p:spPr>
          <a:xfrm>
            <a:off x="2979438" y="2385381"/>
            <a:ext cx="19238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domain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CA108-8196-9176-EF89-ECDE5857DFDD}"/>
              </a:ext>
            </a:extLst>
          </p:cNvPr>
          <p:cNvSpPr txBox="1"/>
          <p:nvPr/>
        </p:nvSpPr>
        <p:spPr>
          <a:xfrm>
            <a:off x="2152197" y="3340642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54D05-CB45-7DF6-129B-4DD54B4BADDD}"/>
              </a:ext>
            </a:extLst>
          </p:cNvPr>
          <p:cNvSpPr txBox="1"/>
          <p:nvPr/>
        </p:nvSpPr>
        <p:spPr>
          <a:xfrm>
            <a:off x="2979439" y="3258344"/>
            <a:ext cx="23586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 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12589-B8A1-A20C-6765-BF935F36E279}"/>
              </a:ext>
            </a:extLst>
          </p:cNvPr>
          <p:cNvSpPr txBox="1"/>
          <p:nvPr/>
        </p:nvSpPr>
        <p:spPr>
          <a:xfrm>
            <a:off x="2152197" y="421393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F4E1B-1308-7AEA-9663-4017744EAF97}"/>
              </a:ext>
            </a:extLst>
          </p:cNvPr>
          <p:cNvSpPr txBox="1"/>
          <p:nvPr/>
        </p:nvSpPr>
        <p:spPr>
          <a:xfrm>
            <a:off x="2979439" y="4131633"/>
            <a:ext cx="17220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Cross domain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86C1A2F-79F4-E66C-1CF7-247D49B6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CB4DA2-B06E-491C-BCC2-57DBFCD72C2D}" type="slidenum">
              <a:t>30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3C796616-34EE-F399-0E88-64E4FD8F6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Global Structure of Multimedia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149E8C3-C8F1-FD1A-C904-6FB2BC460CDA}"/>
              </a:ext>
            </a:extLst>
          </p:cNvPr>
          <p:cNvSpPr/>
          <p:nvPr/>
        </p:nvSpPr>
        <p:spPr>
          <a:xfrm>
            <a:off x="2021563" y="1793934"/>
            <a:ext cx="2505890" cy="326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74" h="101">
                <a:moveTo>
                  <a:pt x="0" y="0"/>
                </a:moveTo>
                <a:lnTo>
                  <a:pt x="3837" y="0"/>
                </a:lnTo>
                <a:lnTo>
                  <a:pt x="7674" y="0"/>
                </a:lnTo>
                <a:lnTo>
                  <a:pt x="7674" y="101"/>
                </a:lnTo>
                <a:lnTo>
                  <a:pt x="3837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7F787B-79FE-D2C6-76C2-9AC384BB050C}"/>
              </a:ext>
            </a:extLst>
          </p:cNvPr>
          <p:cNvSpPr txBox="1"/>
          <p:nvPr/>
        </p:nvSpPr>
        <p:spPr>
          <a:xfrm>
            <a:off x="2021564" y="1479759"/>
            <a:ext cx="22808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Device 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A6A38-50A5-6771-97D7-43B40051ECD7}"/>
              </a:ext>
            </a:extLst>
          </p:cNvPr>
          <p:cNvSpPr txBox="1"/>
          <p:nvPr/>
        </p:nvSpPr>
        <p:spPr>
          <a:xfrm>
            <a:off x="2021564" y="189093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D2247-5927-BC18-C538-F08619B4F787}"/>
              </a:ext>
            </a:extLst>
          </p:cNvPr>
          <p:cNvSpPr txBox="1"/>
          <p:nvPr/>
        </p:nvSpPr>
        <p:spPr>
          <a:xfrm>
            <a:off x="2942207" y="1890930"/>
            <a:ext cx="1705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9F95D-13BC-F914-C17F-3D00E74BD254}"/>
              </a:ext>
            </a:extLst>
          </p:cNvPr>
          <p:cNvSpPr txBox="1"/>
          <p:nvPr/>
        </p:nvSpPr>
        <p:spPr>
          <a:xfrm>
            <a:off x="3366768" y="1890930"/>
            <a:ext cx="7138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A6394-523D-3548-1E2F-A7705225F625}"/>
              </a:ext>
            </a:extLst>
          </p:cNvPr>
          <p:cNvSpPr txBox="1"/>
          <p:nvPr/>
        </p:nvSpPr>
        <p:spPr>
          <a:xfrm>
            <a:off x="4385062" y="1890930"/>
            <a:ext cx="558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159EF-42C7-4895-D8B2-2986818E8576}"/>
              </a:ext>
            </a:extLst>
          </p:cNvPr>
          <p:cNvSpPr txBox="1"/>
          <p:nvPr/>
        </p:nvSpPr>
        <p:spPr>
          <a:xfrm>
            <a:off x="5233531" y="1890930"/>
            <a:ext cx="142712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EFB9A-C7FC-9D69-965E-B765201B12DA}"/>
              </a:ext>
            </a:extLst>
          </p:cNvPr>
          <p:cNvSpPr txBox="1"/>
          <p:nvPr/>
        </p:nvSpPr>
        <p:spPr>
          <a:xfrm>
            <a:off x="7037263" y="1890930"/>
            <a:ext cx="11169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between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501BEA-2350-A474-0BF6-7D8AF42271A9}"/>
              </a:ext>
            </a:extLst>
          </p:cNvPr>
          <p:cNvSpPr txBox="1"/>
          <p:nvPr/>
        </p:nvSpPr>
        <p:spPr>
          <a:xfrm>
            <a:off x="8501998" y="1890930"/>
            <a:ext cx="14737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707345-6997-70A0-A208-3C09C91BCCB9}"/>
              </a:ext>
            </a:extLst>
          </p:cNvPr>
          <p:cNvSpPr txBox="1"/>
          <p:nvPr/>
        </p:nvSpPr>
        <p:spPr>
          <a:xfrm>
            <a:off x="2021564" y="2227313"/>
            <a:ext cx="47008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 and multimedia devices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7D180-4E67-37AF-18A7-D9FD598AB559}"/>
              </a:ext>
            </a:extLst>
          </p:cNvPr>
          <p:cNvSpPr txBox="1"/>
          <p:nvPr/>
        </p:nvSpPr>
        <p:spPr>
          <a:xfrm>
            <a:off x="2021564" y="2638484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92E6A-E44E-F22E-138C-79A869FE0DEB}"/>
              </a:ext>
            </a:extLst>
          </p:cNvPr>
          <p:cNvSpPr txBox="1"/>
          <p:nvPr/>
        </p:nvSpPr>
        <p:spPr>
          <a:xfrm>
            <a:off x="2942207" y="2638484"/>
            <a:ext cx="6515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5E6E9A-4D96-F066-6F43-57ADF4EE90CE}"/>
              </a:ext>
            </a:extLst>
          </p:cNvPr>
          <p:cNvSpPr txBox="1"/>
          <p:nvPr/>
        </p:nvSpPr>
        <p:spPr>
          <a:xfrm>
            <a:off x="3868404" y="2638484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54DF2-F20E-3DC8-8B99-C224AA9CA071}"/>
              </a:ext>
            </a:extLst>
          </p:cNvPr>
          <p:cNvSpPr txBox="1"/>
          <p:nvPr/>
        </p:nvSpPr>
        <p:spPr>
          <a:xfrm>
            <a:off x="4420660" y="2638484"/>
            <a:ext cx="21720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AGP(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Accelerated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C536C-F601-A713-DE60-11E9C027E417}"/>
              </a:ext>
            </a:extLst>
          </p:cNvPr>
          <p:cNvSpPr txBox="1"/>
          <p:nvPr/>
        </p:nvSpPr>
        <p:spPr>
          <a:xfrm>
            <a:off x="7020607" y="2638484"/>
            <a:ext cx="11170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Graphics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EC8CB8-D57F-1F80-40F5-CEF3722844FC}"/>
              </a:ext>
            </a:extLst>
          </p:cNvPr>
          <p:cNvSpPr txBox="1"/>
          <p:nvPr/>
        </p:nvSpPr>
        <p:spPr>
          <a:xfrm>
            <a:off x="8459216" y="2638484"/>
            <a:ext cx="6049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Port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C8D39B-EA1A-DE4F-9B6A-C18931DCFAFD}"/>
              </a:ext>
            </a:extLst>
          </p:cNvPr>
          <p:cNvSpPr txBox="1"/>
          <p:nvPr/>
        </p:nvSpPr>
        <p:spPr>
          <a:xfrm>
            <a:off x="9336751" y="2638484"/>
            <a:ext cx="71359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Card,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44BDC-E878-343F-9616-9565E1F1DA04}"/>
              </a:ext>
            </a:extLst>
          </p:cNvPr>
          <p:cNvSpPr txBox="1"/>
          <p:nvPr/>
        </p:nvSpPr>
        <p:spPr>
          <a:xfrm>
            <a:off x="2021564" y="2974540"/>
            <a:ext cx="2295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 Card etc.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1F7090-9DBC-36D3-B79A-89B3E63672C3}"/>
              </a:ext>
            </a:extLst>
          </p:cNvPr>
          <p:cNvSpPr txBox="1"/>
          <p:nvPr/>
        </p:nvSpPr>
        <p:spPr>
          <a:xfrm>
            <a:off x="2021564" y="338571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BE2B2E-B51A-8623-4206-2EA7DACE919C}"/>
              </a:ext>
            </a:extLst>
          </p:cNvPr>
          <p:cNvSpPr txBox="1"/>
          <p:nvPr/>
        </p:nvSpPr>
        <p:spPr>
          <a:xfrm>
            <a:off x="2021564" y="379688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75CFD-9741-5B62-2630-D43F613A3047}"/>
              </a:ext>
            </a:extLst>
          </p:cNvPr>
          <p:cNvSpPr txBox="1"/>
          <p:nvPr/>
        </p:nvSpPr>
        <p:spPr>
          <a:xfrm>
            <a:off x="2942207" y="3796883"/>
            <a:ext cx="65949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Basic  concepts  for  the  processing  of  digital  audio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181BC-D4ED-D48E-88A5-6051902C4D11}"/>
              </a:ext>
            </a:extLst>
          </p:cNvPr>
          <p:cNvSpPr txBox="1"/>
          <p:nvPr/>
        </p:nvSpPr>
        <p:spPr>
          <a:xfrm>
            <a:off x="2021564" y="4133266"/>
            <a:ext cx="72782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 video  data  are  based  on  digital  signal  processing.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C2031-1F98-EC49-323D-4F7642E0CFD4}"/>
              </a:ext>
            </a:extLst>
          </p:cNvPr>
          <p:cNvSpPr txBox="1"/>
          <p:nvPr/>
        </p:nvSpPr>
        <p:spPr>
          <a:xfrm>
            <a:off x="2021563" y="4469322"/>
            <a:ext cx="73963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Different  methods  for  the  processing  of  image,  graphics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0AD1E-5050-EAE6-305B-0DE96BF94DA1}"/>
              </a:ext>
            </a:extLst>
          </p:cNvPr>
          <p:cNvSpPr txBox="1"/>
          <p:nvPr/>
        </p:nvSpPr>
        <p:spPr>
          <a:xfrm>
            <a:off x="2021564" y="4806032"/>
            <a:ext cx="37553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animation are described.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4964E-9EA4-F24E-9A96-AB5A19843823}"/>
              </a:ext>
            </a:extLst>
          </p:cNvPr>
          <p:cNvSpPr txBox="1"/>
          <p:nvPr/>
        </p:nvSpPr>
        <p:spPr>
          <a:xfrm>
            <a:off x="2021564" y="521655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99710-05F8-412B-ACD5-06A91FCC51EE}"/>
              </a:ext>
            </a:extLst>
          </p:cNvPr>
          <p:cNvSpPr txBox="1"/>
          <p:nvPr/>
        </p:nvSpPr>
        <p:spPr>
          <a:xfrm>
            <a:off x="2942207" y="5216550"/>
            <a:ext cx="66720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audio  techniques  section  includes  music  MIDI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8D872C-B7D9-82DD-8EF1-2917C405F96B}"/>
              </a:ext>
            </a:extLst>
          </p:cNvPr>
          <p:cNvSpPr txBox="1"/>
          <p:nvPr/>
        </p:nvSpPr>
        <p:spPr>
          <a:xfrm>
            <a:off x="2021564" y="5553260"/>
            <a:ext cx="10391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(Musical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018E42-5DB4-661E-E0EE-6E75005107C4}"/>
              </a:ext>
            </a:extLst>
          </p:cNvPr>
          <p:cNvSpPr txBox="1"/>
          <p:nvPr/>
        </p:nvSpPr>
        <p:spPr>
          <a:xfrm>
            <a:off x="3535614" y="5553260"/>
            <a:ext cx="13188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Instrument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DEC7CF-B5AF-638D-137A-A442BFD322A2}"/>
              </a:ext>
            </a:extLst>
          </p:cNvPr>
          <p:cNvSpPr txBox="1"/>
          <p:nvPr/>
        </p:nvSpPr>
        <p:spPr>
          <a:xfrm>
            <a:off x="5356328" y="5553260"/>
            <a:ext cx="7756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1C2B70-292F-C67E-9D63-3FDB6EC4BBC7}"/>
              </a:ext>
            </a:extLst>
          </p:cNvPr>
          <p:cNvSpPr txBox="1"/>
          <p:nvPr/>
        </p:nvSpPr>
        <p:spPr>
          <a:xfrm>
            <a:off x="6580043" y="5553260"/>
            <a:ext cx="11792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Interface)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EAB30D-8E8D-B57D-C550-80B61716CDFC}"/>
              </a:ext>
            </a:extLst>
          </p:cNvPr>
          <p:cNvSpPr txBox="1"/>
          <p:nvPr/>
        </p:nvSpPr>
        <p:spPr>
          <a:xfrm>
            <a:off x="8247588" y="5553260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401799-5E1B-CF5E-62F9-F2A29E148B26}"/>
              </a:ext>
            </a:extLst>
          </p:cNvPr>
          <p:cNvSpPr txBox="1"/>
          <p:nvPr/>
        </p:nvSpPr>
        <p:spPr>
          <a:xfrm>
            <a:off x="9129696" y="5553260"/>
            <a:ext cx="9001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speech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89C95C-BA6C-2DB2-89F9-62A5BFF8206C}"/>
              </a:ext>
            </a:extLst>
          </p:cNvPr>
          <p:cNvSpPr txBox="1"/>
          <p:nvPr/>
        </p:nvSpPr>
        <p:spPr>
          <a:xfrm>
            <a:off x="2021564" y="5889643"/>
            <a:ext cx="158267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processing.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49C4263A-13B4-2649-3479-9B08568C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BA50AD-0751-49C8-9A03-9B206D91C659}" type="slidenum">
              <a:t>31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67E6D53-F0F7-7D2E-061A-A99A0CE1FC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Global Structure of Multimedia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DE23A04-4515-9704-0365-4222F4D96AB5}"/>
              </a:ext>
            </a:extLst>
          </p:cNvPr>
          <p:cNvSpPr/>
          <p:nvPr/>
        </p:nvSpPr>
        <p:spPr>
          <a:xfrm>
            <a:off x="2021563" y="1626070"/>
            <a:ext cx="2476498" cy="3200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584" h="99">
                <a:moveTo>
                  <a:pt x="0" y="0"/>
                </a:moveTo>
                <a:lnTo>
                  <a:pt x="3792" y="0"/>
                </a:lnTo>
                <a:lnTo>
                  <a:pt x="7584" y="0"/>
                </a:lnTo>
                <a:lnTo>
                  <a:pt x="7584" y="99"/>
                </a:lnTo>
                <a:lnTo>
                  <a:pt x="3792" y="99"/>
                </a:lnTo>
                <a:lnTo>
                  <a:pt x="0" y="99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D99DF-83DC-EA13-0D15-E2A8CB5DBB1E}"/>
              </a:ext>
            </a:extLst>
          </p:cNvPr>
          <p:cNvSpPr txBox="1"/>
          <p:nvPr/>
        </p:nvSpPr>
        <p:spPr>
          <a:xfrm>
            <a:off x="2021564" y="1319079"/>
            <a:ext cx="21763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System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86191-E469-85E6-9921-C07D266CCED4}"/>
              </a:ext>
            </a:extLst>
          </p:cNvPr>
          <p:cNvSpPr txBox="1"/>
          <p:nvPr/>
        </p:nvSpPr>
        <p:spPr>
          <a:xfrm>
            <a:off x="2021563" y="168550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55117-AEBB-60D9-4314-DF907E117AEA}"/>
              </a:ext>
            </a:extLst>
          </p:cNvPr>
          <p:cNvSpPr txBox="1"/>
          <p:nvPr/>
        </p:nvSpPr>
        <p:spPr>
          <a:xfrm>
            <a:off x="2975193" y="1685507"/>
            <a:ext cx="647106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interface  between  the  device  domain  and  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6F5BF-AE20-6064-6DBA-D9BAF89AB290}"/>
              </a:ext>
            </a:extLst>
          </p:cNvPr>
          <p:cNvSpPr txBox="1"/>
          <p:nvPr/>
        </p:nvSpPr>
        <p:spPr>
          <a:xfrm>
            <a:off x="2021563" y="1978782"/>
            <a:ext cx="70305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domain is specified by the computer technology.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F1EFA-6B16-D813-88AE-D54725475EDB}"/>
              </a:ext>
            </a:extLst>
          </p:cNvPr>
          <p:cNvSpPr txBox="1"/>
          <p:nvPr/>
        </p:nvSpPr>
        <p:spPr>
          <a:xfrm>
            <a:off x="2021563" y="234553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77FE1-5370-7BF5-3EBF-81565950E3C8}"/>
              </a:ext>
            </a:extLst>
          </p:cNvPr>
          <p:cNvSpPr txBox="1"/>
          <p:nvPr/>
        </p:nvSpPr>
        <p:spPr>
          <a:xfrm>
            <a:off x="2975193" y="2345537"/>
            <a:ext cx="644420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 utilize the device domain, several system services 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5C064-9314-6B52-86F9-1334A1907F7B}"/>
              </a:ext>
            </a:extLst>
          </p:cNvPr>
          <p:cNvSpPr txBox="1"/>
          <p:nvPr/>
        </p:nvSpPr>
        <p:spPr>
          <a:xfrm>
            <a:off x="2021564" y="2638811"/>
            <a:ext cx="45334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needed. Basically, three services exits.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5A640-38D3-DBCA-F57B-22F9C31E4367}"/>
              </a:ext>
            </a:extLst>
          </p:cNvPr>
          <p:cNvSpPr txBox="1"/>
          <p:nvPr/>
        </p:nvSpPr>
        <p:spPr>
          <a:xfrm>
            <a:off x="2021563" y="3004912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C1FD2-0A0E-6404-E1DB-563E870B0A26}"/>
              </a:ext>
            </a:extLst>
          </p:cNvPr>
          <p:cNvSpPr txBox="1"/>
          <p:nvPr/>
        </p:nvSpPr>
        <p:spPr>
          <a:xfrm>
            <a:off x="2975193" y="3004912"/>
            <a:ext cx="639662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These services are mostly implemented in software. The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42BB3-D93E-FD57-7490-5FFC28847B3F}"/>
              </a:ext>
            </a:extLst>
          </p:cNvPr>
          <p:cNvSpPr txBox="1"/>
          <p:nvPr/>
        </p:nvSpPr>
        <p:spPr>
          <a:xfrm>
            <a:off x="2021563" y="3298187"/>
            <a:ext cx="726968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operating  system,  serves  as  an  interface  between  computer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F4CD8-0D5F-64CB-3D7D-C0F903D47F74}"/>
              </a:ext>
            </a:extLst>
          </p:cNvPr>
          <p:cNvSpPr txBox="1"/>
          <p:nvPr/>
        </p:nvSpPr>
        <p:spPr>
          <a:xfrm>
            <a:off x="2021564" y="3591134"/>
            <a:ext cx="61457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hardware/system and all other software components.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DDE98-D457-9D7D-BBBD-9C8191FFDEE5}"/>
              </a:ext>
            </a:extLst>
          </p:cNvPr>
          <p:cNvSpPr txBox="1"/>
          <p:nvPr/>
        </p:nvSpPr>
        <p:spPr>
          <a:xfrm>
            <a:off x="2021563" y="3957890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C99B7-A7B2-8087-B11C-78FDD4C82FBC}"/>
              </a:ext>
            </a:extLst>
          </p:cNvPr>
          <p:cNvSpPr txBox="1"/>
          <p:nvPr/>
        </p:nvSpPr>
        <p:spPr>
          <a:xfrm>
            <a:off x="2915755" y="3957890"/>
            <a:ext cx="15632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63AE4-635A-850B-0104-91885EA25CF2}"/>
              </a:ext>
            </a:extLst>
          </p:cNvPr>
          <p:cNvSpPr txBox="1"/>
          <p:nvPr/>
        </p:nvSpPr>
        <p:spPr>
          <a:xfrm>
            <a:off x="3327578" y="3957890"/>
            <a:ext cx="106676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provides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C7414-BE24-678A-32BB-46E9CF018F9C}"/>
              </a:ext>
            </a:extLst>
          </p:cNvPr>
          <p:cNvSpPr txBox="1"/>
          <p:nvPr/>
        </p:nvSpPr>
        <p:spPr>
          <a:xfrm>
            <a:off x="4716546" y="3957890"/>
            <a:ext cx="3838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9DB393-DB5F-9D41-FE91-5CF90746C13B}"/>
              </a:ext>
            </a:extLst>
          </p:cNvPr>
          <p:cNvSpPr txBox="1"/>
          <p:nvPr/>
        </p:nvSpPr>
        <p:spPr>
          <a:xfrm>
            <a:off x="5374617" y="3957890"/>
            <a:ext cx="54066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CD003-6CC9-BB73-4E80-B0393C03444B}"/>
              </a:ext>
            </a:extLst>
          </p:cNvPr>
          <p:cNvSpPr txBox="1"/>
          <p:nvPr/>
        </p:nvSpPr>
        <p:spPr>
          <a:xfrm>
            <a:off x="6198265" y="3957890"/>
            <a:ext cx="5117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53728F-1634-914D-E793-2C76F871363B}"/>
              </a:ext>
            </a:extLst>
          </p:cNvPr>
          <p:cNvSpPr txBox="1"/>
          <p:nvPr/>
        </p:nvSpPr>
        <p:spPr>
          <a:xfrm>
            <a:off x="6992520" y="3957890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17464-48A6-79B7-6993-D77513B340DE}"/>
              </a:ext>
            </a:extLst>
          </p:cNvPr>
          <p:cNvSpPr txBox="1"/>
          <p:nvPr/>
        </p:nvSpPr>
        <p:spPr>
          <a:xfrm>
            <a:off x="7391608" y="3957890"/>
            <a:ext cx="164961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programming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1184F-9E10-B9B2-AA06-5A48AF587662}"/>
              </a:ext>
            </a:extLst>
          </p:cNvPr>
          <p:cNvSpPr txBox="1"/>
          <p:nvPr/>
        </p:nvSpPr>
        <p:spPr>
          <a:xfrm>
            <a:off x="9398149" y="3957890"/>
            <a:ext cx="45499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75643-E087-62E1-3592-21669D828588}"/>
              </a:ext>
            </a:extLst>
          </p:cNvPr>
          <p:cNvSpPr txBox="1"/>
          <p:nvPr/>
        </p:nvSpPr>
        <p:spPr>
          <a:xfrm>
            <a:off x="2021563" y="4251163"/>
            <a:ext cx="17489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computational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1763FE-0FF9-9CAB-709F-2B403E02E16B}"/>
              </a:ext>
            </a:extLst>
          </p:cNvPr>
          <p:cNvSpPr txBox="1"/>
          <p:nvPr/>
        </p:nvSpPr>
        <p:spPr>
          <a:xfrm>
            <a:off x="4127714" y="4251163"/>
            <a:ext cx="16070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environment,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8009A0-8171-2F82-AE38-95C3D4A60DDF}"/>
              </a:ext>
            </a:extLst>
          </p:cNvPr>
          <p:cNvSpPr txBox="1"/>
          <p:nvPr/>
        </p:nvSpPr>
        <p:spPr>
          <a:xfrm>
            <a:off x="6082001" y="4251163"/>
            <a:ext cx="72519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C6E88-36F1-5684-103E-53495EEC921E}"/>
              </a:ext>
            </a:extLst>
          </p:cNvPr>
          <p:cNvSpPr txBox="1"/>
          <p:nvPr/>
        </p:nvSpPr>
        <p:spPr>
          <a:xfrm>
            <a:off x="7092129" y="4251163"/>
            <a:ext cx="8387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should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5528B-3F51-EDAA-3ECF-62CD150D2C59}"/>
              </a:ext>
            </a:extLst>
          </p:cNvPr>
          <p:cNvSpPr txBox="1"/>
          <p:nvPr/>
        </p:nvSpPr>
        <p:spPr>
          <a:xfrm>
            <a:off x="8225381" y="4251163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8A87C6-B2BB-1859-B385-E2500ED2DA5D}"/>
              </a:ext>
            </a:extLst>
          </p:cNvPr>
          <p:cNvSpPr txBox="1"/>
          <p:nvPr/>
        </p:nvSpPr>
        <p:spPr>
          <a:xfrm>
            <a:off x="8779923" y="4251163"/>
            <a:ext cx="5693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easy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5A3A41-7C6A-CCE0-1809-95F7294593D8}"/>
              </a:ext>
            </a:extLst>
          </p:cNvPr>
          <p:cNvSpPr txBox="1"/>
          <p:nvPr/>
        </p:nvSpPr>
        <p:spPr>
          <a:xfrm>
            <a:off x="9625780" y="4251163"/>
            <a:ext cx="2415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426BB5-4A71-6CDE-B74B-D4B2549FD40D}"/>
              </a:ext>
            </a:extLst>
          </p:cNvPr>
          <p:cNvSpPr txBox="1"/>
          <p:nvPr/>
        </p:nvSpPr>
        <p:spPr>
          <a:xfrm>
            <a:off x="2021564" y="4544110"/>
            <a:ext cx="99565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operate.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F1E51-E289-8C3D-C5EF-E3F28C34535A}"/>
              </a:ext>
            </a:extLst>
          </p:cNvPr>
          <p:cNvSpPr txBox="1"/>
          <p:nvPr/>
        </p:nvSpPr>
        <p:spPr>
          <a:xfrm>
            <a:off x="2021563" y="4910866"/>
            <a:ext cx="1422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154613-19B8-F066-517E-8B53857B7527}"/>
              </a:ext>
            </a:extLst>
          </p:cNvPr>
          <p:cNvSpPr txBox="1"/>
          <p:nvPr/>
        </p:nvSpPr>
        <p:spPr>
          <a:xfrm>
            <a:off x="2975193" y="4910866"/>
            <a:ext cx="63735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database system allows a structured access to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6F2B2F-7D86-B811-22A8-51D65B13D190}"/>
              </a:ext>
            </a:extLst>
          </p:cNvPr>
          <p:cNvSpPr txBox="1"/>
          <p:nvPr/>
        </p:nvSpPr>
        <p:spPr>
          <a:xfrm>
            <a:off x="2021564" y="5204140"/>
            <a:ext cx="725140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 a  management  of  large  databases.  The  communication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4663CB-6213-673A-E364-842635F45851}"/>
              </a:ext>
            </a:extLst>
          </p:cNvPr>
          <p:cNvSpPr txBox="1"/>
          <p:nvPr/>
        </p:nvSpPr>
        <p:spPr>
          <a:xfrm>
            <a:off x="2021563" y="5497740"/>
            <a:ext cx="735470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 is  responsible  for  data  transmission  according  to  the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153F65-6D04-F906-62FE-610645283133}"/>
              </a:ext>
            </a:extLst>
          </p:cNvPr>
          <p:cNvSpPr txBox="1"/>
          <p:nvPr/>
        </p:nvSpPr>
        <p:spPr>
          <a:xfrm>
            <a:off x="2021563" y="5790687"/>
            <a:ext cx="729796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timing and reliability requirements of the networked multimedia.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0B384A0-F081-ABA5-5C6F-0AD2166E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7766AD-2BB1-46FF-B222-53E7A09139D1}" type="slidenum">
              <a:rPr/>
              <a:t>32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55AC11E-6265-6E0D-D834-5D9C8E0E96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Global Structure of Multimedia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8F4F65-1D2A-32EC-B057-4210E9A012FE}"/>
              </a:ext>
            </a:extLst>
          </p:cNvPr>
          <p:cNvSpPr/>
          <p:nvPr/>
        </p:nvSpPr>
        <p:spPr>
          <a:xfrm>
            <a:off x="2018297" y="1874274"/>
            <a:ext cx="3107461" cy="3788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516" h="117">
                <a:moveTo>
                  <a:pt x="0" y="0"/>
                </a:moveTo>
                <a:lnTo>
                  <a:pt x="4759" y="0"/>
                </a:lnTo>
                <a:lnTo>
                  <a:pt x="9516" y="0"/>
                </a:lnTo>
                <a:lnTo>
                  <a:pt x="9516" y="117"/>
                </a:lnTo>
                <a:lnTo>
                  <a:pt x="4759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1009F-FC28-EC21-043B-52BE0F45EA85}"/>
              </a:ext>
            </a:extLst>
          </p:cNvPr>
          <p:cNvSpPr txBox="1"/>
          <p:nvPr/>
        </p:nvSpPr>
        <p:spPr>
          <a:xfrm>
            <a:off x="2018298" y="1512743"/>
            <a:ext cx="289034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 Application 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78C3C-7276-0341-F519-BF3BB13D9790}"/>
              </a:ext>
            </a:extLst>
          </p:cNvPr>
          <p:cNvSpPr txBox="1"/>
          <p:nvPr/>
        </p:nvSpPr>
        <p:spPr>
          <a:xfrm>
            <a:off x="2018298" y="202907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2E4B7-67BA-BEF6-FBF7-44D9548B84D0}"/>
              </a:ext>
            </a:extLst>
          </p:cNvPr>
          <p:cNvSpPr txBox="1"/>
          <p:nvPr/>
        </p:nvSpPr>
        <p:spPr>
          <a:xfrm>
            <a:off x="2920326" y="2029076"/>
            <a:ext cx="660847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Provides  functions  to  the  user  to  develop  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64A9D-48BF-6E4D-AB52-B8D580589537}"/>
              </a:ext>
            </a:extLst>
          </p:cNvPr>
          <p:cNvSpPr txBox="1"/>
          <p:nvPr/>
        </p:nvSpPr>
        <p:spPr>
          <a:xfrm>
            <a:off x="2018298" y="2459515"/>
            <a:ext cx="39560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present multimedia projects.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12308-5BF4-0994-8391-1556542942EE}"/>
              </a:ext>
            </a:extLst>
          </p:cNvPr>
          <p:cNvSpPr txBox="1"/>
          <p:nvPr/>
        </p:nvSpPr>
        <p:spPr>
          <a:xfrm>
            <a:off x="2018298" y="297584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B6C15C-28F0-3D0B-C77C-6D72B300FDA0}"/>
              </a:ext>
            </a:extLst>
          </p:cNvPr>
          <p:cNvSpPr txBox="1"/>
          <p:nvPr/>
        </p:nvSpPr>
        <p:spPr>
          <a:xfrm>
            <a:off x="2920326" y="2975847"/>
            <a:ext cx="527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0FA16-E767-BA84-A4E2-E503D99D1403}"/>
              </a:ext>
            </a:extLst>
          </p:cNvPr>
          <p:cNvSpPr txBox="1"/>
          <p:nvPr/>
        </p:nvSpPr>
        <p:spPr>
          <a:xfrm>
            <a:off x="3797862" y="2975847"/>
            <a:ext cx="102412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includes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24B2C-BD1E-B25A-4C06-64B8A96E3B4F}"/>
              </a:ext>
            </a:extLst>
          </p:cNvPr>
          <p:cNvSpPr txBox="1"/>
          <p:nvPr/>
        </p:nvSpPr>
        <p:spPr>
          <a:xfrm>
            <a:off x="5210669" y="2975847"/>
            <a:ext cx="10550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software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70F6F-5009-C922-7C64-CE4F6FB79F62}"/>
              </a:ext>
            </a:extLst>
          </p:cNvPr>
          <p:cNvSpPr txBox="1"/>
          <p:nvPr/>
        </p:nvSpPr>
        <p:spPr>
          <a:xfrm>
            <a:off x="6656790" y="2975847"/>
            <a:ext cx="6672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tools,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C218B-4B71-0F45-D884-406C4C9DEDBF}"/>
              </a:ext>
            </a:extLst>
          </p:cNvPr>
          <p:cNvSpPr txBox="1"/>
          <p:nvPr/>
        </p:nvSpPr>
        <p:spPr>
          <a:xfrm>
            <a:off x="7684555" y="2975847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300C7-5AA3-D34A-9C64-04B510BF960E}"/>
              </a:ext>
            </a:extLst>
          </p:cNvPr>
          <p:cNvSpPr txBox="1"/>
          <p:nvPr/>
        </p:nvSpPr>
        <p:spPr>
          <a:xfrm>
            <a:off x="8494814" y="2975847"/>
            <a:ext cx="1349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8ECF96-93BC-E2B6-D000-42EFE88CA4A4}"/>
              </a:ext>
            </a:extLst>
          </p:cNvPr>
          <p:cNvSpPr txBox="1"/>
          <p:nvPr/>
        </p:nvSpPr>
        <p:spPr>
          <a:xfrm>
            <a:off x="2018298" y="3405960"/>
            <a:ext cx="45414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projects development methodology.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433F91-6381-4FB9-C51F-349C1D919A7C}"/>
              </a:ext>
            </a:extLst>
          </p:cNvPr>
          <p:cNvSpPr txBox="1"/>
          <p:nvPr/>
        </p:nvSpPr>
        <p:spPr>
          <a:xfrm>
            <a:off x="2018298" y="392261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2C5F6A-FF2E-0544-0C7A-384DD39CC4DB}"/>
              </a:ext>
            </a:extLst>
          </p:cNvPr>
          <p:cNvSpPr txBox="1"/>
          <p:nvPr/>
        </p:nvSpPr>
        <p:spPr>
          <a:xfrm>
            <a:off x="2920327" y="3922618"/>
            <a:ext cx="65119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services of the system domain are offered to the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58061-D92A-B488-1FF4-7A9310D4484A}"/>
              </a:ext>
            </a:extLst>
          </p:cNvPr>
          <p:cNvSpPr txBox="1"/>
          <p:nvPr/>
        </p:nvSpPr>
        <p:spPr>
          <a:xfrm>
            <a:off x="2018298" y="4352731"/>
            <a:ext cx="13345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53F44E-507C-88A0-F6E5-AAA186538B32}"/>
              </a:ext>
            </a:extLst>
          </p:cNvPr>
          <p:cNvSpPr txBox="1"/>
          <p:nvPr/>
        </p:nvSpPr>
        <p:spPr>
          <a:xfrm>
            <a:off x="3919679" y="4352731"/>
            <a:ext cx="915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domain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5DB3CE-5EA5-5593-7360-428EB5AAA1E3}"/>
              </a:ext>
            </a:extLst>
          </p:cNvPr>
          <p:cNvSpPr txBox="1"/>
          <p:nvPr/>
        </p:nvSpPr>
        <p:spPr>
          <a:xfrm>
            <a:off x="5367105" y="4352731"/>
            <a:ext cx="9467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8AA541-F262-F811-F446-51D646EEFEF2}"/>
              </a:ext>
            </a:extLst>
          </p:cNvPr>
          <p:cNvSpPr txBox="1"/>
          <p:nvPr/>
        </p:nvSpPr>
        <p:spPr>
          <a:xfrm>
            <a:off x="6848823" y="4352731"/>
            <a:ext cx="8068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proper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0FEC1C-8AB7-E864-4758-24E8F1D0F6A1}"/>
              </a:ext>
            </a:extLst>
          </p:cNvPr>
          <p:cNvSpPr txBox="1"/>
          <p:nvPr/>
        </p:nvSpPr>
        <p:spPr>
          <a:xfrm>
            <a:off x="8179006" y="4352731"/>
            <a:ext cx="16444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programming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51107C-80C7-CD4F-7280-57DB4F2D27F4}"/>
              </a:ext>
            </a:extLst>
          </p:cNvPr>
          <p:cNvSpPr txBox="1"/>
          <p:nvPr/>
        </p:nvSpPr>
        <p:spPr>
          <a:xfrm>
            <a:off x="2018297" y="4782845"/>
            <a:ext cx="73247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abstractions.  Another  topic  embedded  in  the 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EE1622-199A-AA50-F721-C81A9E604DB1}"/>
              </a:ext>
            </a:extLst>
          </p:cNvPr>
          <p:cNvSpPr txBox="1"/>
          <p:nvPr/>
        </p:nvSpPr>
        <p:spPr>
          <a:xfrm>
            <a:off x="2018298" y="5213284"/>
            <a:ext cx="386394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domain is document handling.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1DF601F-F20C-5E25-D2EA-93BD762F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23E914-E7F4-48CF-BDAA-FF14674CE4E0}" type="slidenum">
              <a:t>33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378A0AF-06DF-710E-34FA-18AF567AC1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Global Structure of Multimedia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303DC00-71B6-12B0-6653-92BF8D788C45}"/>
              </a:ext>
            </a:extLst>
          </p:cNvPr>
          <p:cNvSpPr/>
          <p:nvPr/>
        </p:nvSpPr>
        <p:spPr>
          <a:xfrm>
            <a:off x="2021237" y="1873621"/>
            <a:ext cx="2181264" cy="3755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80" h="116">
                <a:moveTo>
                  <a:pt x="0" y="0"/>
                </a:moveTo>
                <a:lnTo>
                  <a:pt x="3340" y="0"/>
                </a:lnTo>
                <a:lnTo>
                  <a:pt x="6680" y="0"/>
                </a:lnTo>
                <a:lnTo>
                  <a:pt x="6680" y="116"/>
                </a:lnTo>
                <a:lnTo>
                  <a:pt x="3340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16579-D934-9335-6B1E-4C640AEC2115}"/>
              </a:ext>
            </a:extLst>
          </p:cNvPr>
          <p:cNvSpPr txBox="1"/>
          <p:nvPr/>
        </p:nvSpPr>
        <p:spPr>
          <a:xfrm>
            <a:off x="2021237" y="1512743"/>
            <a:ext cx="21719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 Cross 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8C322-8FD7-3A32-834B-ED873FD76264}"/>
              </a:ext>
            </a:extLst>
          </p:cNvPr>
          <p:cNvSpPr txBox="1"/>
          <p:nvPr/>
        </p:nvSpPr>
        <p:spPr>
          <a:xfrm>
            <a:off x="2021237" y="202776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C5DB6-B6F0-5155-F9E3-6DAF39156CD5}"/>
              </a:ext>
            </a:extLst>
          </p:cNvPr>
          <p:cNvSpPr txBox="1"/>
          <p:nvPr/>
        </p:nvSpPr>
        <p:spPr>
          <a:xfrm>
            <a:off x="2862848" y="2027769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64E04-FF50-3364-D089-105474C80321}"/>
              </a:ext>
            </a:extLst>
          </p:cNvPr>
          <p:cNvSpPr txBox="1"/>
          <p:nvPr/>
        </p:nvSpPr>
        <p:spPr>
          <a:xfrm>
            <a:off x="3346195" y="2027769"/>
            <a:ext cx="6206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turns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C7A20-B062-69DA-8CC1-A0C8A7338889}"/>
              </a:ext>
            </a:extLst>
          </p:cNvPr>
          <p:cNvSpPr txBox="1"/>
          <p:nvPr/>
        </p:nvSpPr>
        <p:spPr>
          <a:xfrm>
            <a:off x="4301130" y="2027769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1B874-425B-FE78-DE9C-9F18A4C314AA}"/>
              </a:ext>
            </a:extLst>
          </p:cNvPr>
          <p:cNvSpPr txBox="1"/>
          <p:nvPr/>
        </p:nvSpPr>
        <p:spPr>
          <a:xfrm>
            <a:off x="5019290" y="2027769"/>
            <a:ext cx="5432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E0B71-B393-BEF9-9768-8BF05DE6A0AE}"/>
              </a:ext>
            </a:extLst>
          </p:cNvPr>
          <p:cNvSpPr txBox="1"/>
          <p:nvPr/>
        </p:nvSpPr>
        <p:spPr>
          <a:xfrm>
            <a:off x="5893888" y="2027769"/>
            <a:ext cx="6826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BE6D78-8CC7-C404-F81A-F7FEE6929992}"/>
              </a:ext>
            </a:extLst>
          </p:cNvPr>
          <p:cNvSpPr txBox="1"/>
          <p:nvPr/>
        </p:nvSpPr>
        <p:spPr>
          <a:xfrm>
            <a:off x="6909241" y="2027769"/>
            <a:ext cx="9620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aspects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8962D-8230-004E-E358-3D445D9549D4}"/>
              </a:ext>
            </a:extLst>
          </p:cNvPr>
          <p:cNvSpPr txBox="1"/>
          <p:nvPr/>
        </p:nvSpPr>
        <p:spPr>
          <a:xfrm>
            <a:off x="8205133" y="2027769"/>
            <a:ext cx="5896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1D10C5-0AE1-A6AF-E145-FF4D605E7F04}"/>
              </a:ext>
            </a:extLst>
          </p:cNvPr>
          <p:cNvSpPr txBox="1"/>
          <p:nvPr/>
        </p:nvSpPr>
        <p:spPr>
          <a:xfrm>
            <a:off x="9126104" y="2027769"/>
            <a:ext cx="29482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7E0D57-EABB-B158-83E1-F3550BAA2C3E}"/>
              </a:ext>
            </a:extLst>
          </p:cNvPr>
          <p:cNvSpPr txBox="1"/>
          <p:nvPr/>
        </p:nvSpPr>
        <p:spPr>
          <a:xfrm>
            <a:off x="2021237" y="2457228"/>
            <a:ext cx="76753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synchronization  aspects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 are  difficult  to  locate  in  one  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2F25B7-DF1B-581F-F2A3-754A34B6AA0C}"/>
              </a:ext>
            </a:extLst>
          </p:cNvPr>
          <p:cNvSpPr txBox="1"/>
          <p:nvPr/>
        </p:nvSpPr>
        <p:spPr>
          <a:xfrm>
            <a:off x="2021237" y="2886689"/>
            <a:ext cx="4344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BA105E-7660-B59C-8E17-2FD20CF4B4E2}"/>
              </a:ext>
            </a:extLst>
          </p:cNvPr>
          <p:cNvSpPr txBox="1"/>
          <p:nvPr/>
        </p:nvSpPr>
        <p:spPr>
          <a:xfrm>
            <a:off x="2749196" y="2886689"/>
            <a:ext cx="15207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9E34DF-6E59-2041-69A8-D4426B2E6377}"/>
              </a:ext>
            </a:extLst>
          </p:cNvPr>
          <p:cNvSpPr txBox="1"/>
          <p:nvPr/>
        </p:nvSpPr>
        <p:spPr>
          <a:xfrm>
            <a:off x="4569257" y="2886689"/>
            <a:ext cx="2482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C9D76D-BB62-2B7D-3FFE-D5A55F5C2F15}"/>
              </a:ext>
            </a:extLst>
          </p:cNvPr>
          <p:cNvSpPr txBox="1"/>
          <p:nvPr/>
        </p:nvSpPr>
        <p:spPr>
          <a:xfrm>
            <a:off x="5109102" y="2886689"/>
            <a:ext cx="113268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domains.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DF6BCE-B0B8-70CE-867F-66026E6D3E6A}"/>
              </a:ext>
            </a:extLst>
          </p:cNvPr>
          <p:cNvSpPr txBox="1"/>
          <p:nvPr/>
        </p:nvSpPr>
        <p:spPr>
          <a:xfrm>
            <a:off x="6538894" y="2886689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CD9D5-01EF-87F0-6DA7-6D5E06D5CD8F}"/>
              </a:ext>
            </a:extLst>
          </p:cNvPr>
          <p:cNvSpPr txBox="1"/>
          <p:nvPr/>
        </p:nvSpPr>
        <p:spPr>
          <a:xfrm>
            <a:off x="7312902" y="2886689"/>
            <a:ext cx="8535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reason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42C998-119D-1DD4-3C1F-A18147F2396F}"/>
              </a:ext>
            </a:extLst>
          </p:cNvPr>
          <p:cNvSpPr txBox="1"/>
          <p:nvPr/>
        </p:nvSpPr>
        <p:spPr>
          <a:xfrm>
            <a:off x="8460195" y="2886689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D58D3-4D91-CF61-1414-068D8B2A312D}"/>
              </a:ext>
            </a:extLst>
          </p:cNvPr>
          <p:cNvSpPr txBox="1"/>
          <p:nvPr/>
        </p:nvSpPr>
        <p:spPr>
          <a:xfrm>
            <a:off x="8954973" y="2886689"/>
            <a:ext cx="46564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00525E-C3D3-B688-4CAD-BB861C7058BF}"/>
              </a:ext>
            </a:extLst>
          </p:cNvPr>
          <p:cNvSpPr txBox="1"/>
          <p:nvPr/>
        </p:nvSpPr>
        <p:spPr>
          <a:xfrm>
            <a:off x="2021237" y="3315823"/>
            <a:ext cx="20171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synchronization,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20B51-B7C6-4B43-DE1F-7A6FF8F21727}"/>
              </a:ext>
            </a:extLst>
          </p:cNvPr>
          <p:cNvSpPr txBox="1"/>
          <p:nvPr/>
        </p:nvSpPr>
        <p:spPr>
          <a:xfrm>
            <a:off x="4230913" y="3315823"/>
            <a:ext cx="6829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BC392A-8768-19C6-37C4-8692213BEC6E}"/>
              </a:ext>
            </a:extLst>
          </p:cNvPr>
          <p:cNvSpPr txBox="1"/>
          <p:nvPr/>
        </p:nvSpPr>
        <p:spPr>
          <a:xfrm>
            <a:off x="5100285" y="331582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285CB0-6FAD-8BD2-552B-8CB1AF41CBA9}"/>
              </a:ext>
            </a:extLst>
          </p:cNvPr>
          <p:cNvSpPr txBox="1"/>
          <p:nvPr/>
        </p:nvSpPr>
        <p:spPr>
          <a:xfrm>
            <a:off x="5672463" y="3315823"/>
            <a:ext cx="10860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temporal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F5A30-D12E-D3A2-7721-4F95FD7D2581}"/>
              </a:ext>
            </a:extLst>
          </p:cNvPr>
          <p:cNvSpPr txBox="1"/>
          <p:nvPr/>
        </p:nvSpPr>
        <p:spPr>
          <a:xfrm>
            <a:off x="6945819" y="3315823"/>
            <a:ext cx="14275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relationship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90AFCF-C7C1-0AC8-A37B-FD138F34A459}"/>
              </a:ext>
            </a:extLst>
          </p:cNvPr>
          <p:cNvSpPr txBox="1"/>
          <p:nvPr/>
        </p:nvSpPr>
        <p:spPr>
          <a:xfrm>
            <a:off x="8565030" y="3315823"/>
            <a:ext cx="8535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among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90B66F-DFDE-9776-1BF8-FA5305AB0C35}"/>
              </a:ext>
            </a:extLst>
          </p:cNvPr>
          <p:cNvSpPr txBox="1"/>
          <p:nvPr/>
        </p:nvSpPr>
        <p:spPr>
          <a:xfrm>
            <a:off x="2021237" y="3744956"/>
            <a:ext cx="41117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various  media,  relates  to  many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D0C6CC-3084-F6AE-356B-9FAA3F77BAAF}"/>
              </a:ext>
            </a:extLst>
          </p:cNvPr>
          <p:cNvSpPr txBox="1"/>
          <p:nvPr/>
        </p:nvSpPr>
        <p:spPr>
          <a:xfrm>
            <a:off x="6428507" y="3744956"/>
            <a:ext cx="29325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components  across  all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5423E7-C053-8B2B-5C7A-8859C975EBB7}"/>
              </a:ext>
            </a:extLst>
          </p:cNvPr>
          <p:cNvSpPr txBox="1"/>
          <p:nvPr/>
        </p:nvSpPr>
        <p:spPr>
          <a:xfrm>
            <a:off x="2021237" y="4174742"/>
            <a:ext cx="12878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domains.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A313BF37-645E-0DC9-838D-DB3E86FB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79ABC1-97DE-49B3-AEE6-01417ED15376}" type="slidenum">
              <a:rPr/>
              <a:t>34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61149D8-1240-D87F-0103-A2C5E26C93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42FCC-1906-04CC-F921-5664B85DE8CB}"/>
              </a:ext>
            </a:extLst>
          </p:cNvPr>
          <p:cNvSpPr txBox="1"/>
          <p:nvPr/>
        </p:nvSpPr>
        <p:spPr>
          <a:xfrm>
            <a:off x="2021237" y="15127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81DE8-40D7-3BA6-AC4F-10492AF1B182}"/>
              </a:ext>
            </a:extLst>
          </p:cNvPr>
          <p:cNvSpPr txBox="1"/>
          <p:nvPr/>
        </p:nvSpPr>
        <p:spPr>
          <a:xfrm>
            <a:off x="2927185" y="151274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8E398-0493-FB63-7181-F3B6480471FF}"/>
              </a:ext>
            </a:extLst>
          </p:cNvPr>
          <p:cNvSpPr txBox="1"/>
          <p:nvPr/>
        </p:nvSpPr>
        <p:spPr>
          <a:xfrm>
            <a:off x="3484013" y="1512743"/>
            <a:ext cx="1349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FE5DF-1FDA-6B65-008A-65D35A76FE60}"/>
              </a:ext>
            </a:extLst>
          </p:cNvPr>
          <p:cNvSpPr txBox="1"/>
          <p:nvPr/>
        </p:nvSpPr>
        <p:spPr>
          <a:xfrm>
            <a:off x="5248881" y="1512743"/>
            <a:ext cx="18773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communication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A921D-C91C-7B81-0287-06C1F2E4DD14}"/>
              </a:ext>
            </a:extLst>
          </p:cNvPr>
          <p:cNvSpPr txBox="1"/>
          <p:nvPr/>
        </p:nvSpPr>
        <p:spPr>
          <a:xfrm>
            <a:off x="7588539" y="1512743"/>
            <a:ext cx="8841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18159-09B9-8D21-95B7-1140D154C56C}"/>
              </a:ext>
            </a:extLst>
          </p:cNvPr>
          <p:cNvSpPr txBox="1"/>
          <p:nvPr/>
        </p:nvSpPr>
        <p:spPr>
          <a:xfrm>
            <a:off x="8849485" y="1512743"/>
            <a:ext cx="5432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C1827-C235-3793-C9CB-C8A382274D25}"/>
              </a:ext>
            </a:extLst>
          </p:cNvPr>
          <p:cNvSpPr txBox="1"/>
          <p:nvPr/>
        </p:nvSpPr>
        <p:spPr>
          <a:xfrm>
            <a:off x="9741391" y="151274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80F68-A03C-D919-7B5D-B161FFB93BAB}"/>
              </a:ext>
            </a:extLst>
          </p:cNvPr>
          <p:cNvSpPr txBox="1"/>
          <p:nvPr/>
        </p:nvSpPr>
        <p:spPr>
          <a:xfrm>
            <a:off x="2021237" y="1896809"/>
            <a:ext cx="9774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discrete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CB753-DDA4-EF9A-4704-5ABD6C99407A}"/>
              </a:ext>
            </a:extLst>
          </p:cNvPr>
          <p:cNvSpPr txBox="1"/>
          <p:nvPr/>
        </p:nvSpPr>
        <p:spPr>
          <a:xfrm>
            <a:off x="3360563" y="1896809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A82D0B-2865-0630-B598-CF7DDE570B18}"/>
              </a:ext>
            </a:extLst>
          </p:cNvPr>
          <p:cNvSpPr txBox="1"/>
          <p:nvPr/>
        </p:nvSpPr>
        <p:spPr>
          <a:xfrm>
            <a:off x="4145021" y="1896809"/>
            <a:ext cx="13501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continuous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AB01A-313D-D040-748A-A376170AC2E8}"/>
              </a:ext>
            </a:extLst>
          </p:cNvPr>
          <p:cNvSpPr txBox="1"/>
          <p:nvPr/>
        </p:nvSpPr>
        <p:spPr>
          <a:xfrm>
            <a:off x="5887356" y="1896809"/>
            <a:ext cx="760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81EB8E-18B3-8115-2181-B43268ABEAA6}"/>
              </a:ext>
            </a:extLst>
          </p:cNvPr>
          <p:cNvSpPr txBox="1"/>
          <p:nvPr/>
        </p:nvSpPr>
        <p:spPr>
          <a:xfrm>
            <a:off x="6992520" y="1896809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ADA34-A74C-4A64-28FA-294770B1E9C6}"/>
              </a:ext>
            </a:extLst>
          </p:cNvPr>
          <p:cNvSpPr txBox="1"/>
          <p:nvPr/>
        </p:nvSpPr>
        <p:spPr>
          <a:xfrm>
            <a:off x="7711008" y="1896809"/>
            <a:ext cx="138082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4EBE7E-D388-5C73-946B-9D6C14CB0F17}"/>
              </a:ext>
            </a:extLst>
          </p:cNvPr>
          <p:cNvSpPr txBox="1"/>
          <p:nvPr/>
        </p:nvSpPr>
        <p:spPr>
          <a:xfrm>
            <a:off x="9487961" y="1896809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3FEDD1-FCDA-E8F9-DDBA-42C8443DBB5D}"/>
              </a:ext>
            </a:extLst>
          </p:cNvPr>
          <p:cNvSpPr txBox="1"/>
          <p:nvPr/>
        </p:nvSpPr>
        <p:spPr>
          <a:xfrm>
            <a:off x="2021237" y="2281200"/>
            <a:ext cx="404976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access takes place.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9EAAA-3B90-66E4-2996-89BCBC3E63DE}"/>
              </a:ext>
            </a:extLst>
          </p:cNvPr>
          <p:cNvSpPr txBox="1"/>
          <p:nvPr/>
        </p:nvSpPr>
        <p:spPr>
          <a:xfrm>
            <a:off x="2021237" y="274233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40953-B29A-C6F1-5AFF-7334244FC21A}"/>
              </a:ext>
            </a:extLst>
          </p:cNvPr>
          <p:cNvSpPr txBox="1"/>
          <p:nvPr/>
        </p:nvSpPr>
        <p:spPr>
          <a:xfrm>
            <a:off x="2927185" y="2742338"/>
            <a:ext cx="640771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 transmitted  information  is  divided  into  small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E2474D-C85A-8749-20F5-8DAB00E534F5}"/>
              </a:ext>
            </a:extLst>
          </p:cNvPr>
          <p:cNvSpPr txBox="1"/>
          <p:nvPr/>
        </p:nvSpPr>
        <p:spPr>
          <a:xfrm>
            <a:off x="2021236" y="3177676"/>
            <a:ext cx="29483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 unit known 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842BF0-EDC2-F13A-9F43-4CCD1E3EB70C}"/>
              </a:ext>
            </a:extLst>
          </p:cNvPr>
          <p:cNvSpPr txBox="1"/>
          <p:nvPr/>
        </p:nvSpPr>
        <p:spPr>
          <a:xfrm>
            <a:off x="5298522" y="3129669"/>
            <a:ext cx="1213153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B4B8B0-14C7-E946-4FB8-736D269D6EDB}"/>
              </a:ext>
            </a:extLst>
          </p:cNvPr>
          <p:cNvSpPr txBox="1"/>
          <p:nvPr/>
        </p:nvSpPr>
        <p:spPr>
          <a:xfrm>
            <a:off x="6612049" y="3177676"/>
            <a:ext cx="2327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E622DD-7899-1EE5-1AE6-B050EEA30EEF}"/>
              </a:ext>
            </a:extLst>
          </p:cNvPr>
          <p:cNvSpPr txBox="1"/>
          <p:nvPr/>
        </p:nvSpPr>
        <p:spPr>
          <a:xfrm>
            <a:off x="2021237" y="365155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F25953-969F-DA9E-0FAD-3DB2BCEAF4D9}"/>
              </a:ext>
            </a:extLst>
          </p:cNvPr>
          <p:cNvSpPr txBox="1"/>
          <p:nvPr/>
        </p:nvSpPr>
        <p:spPr>
          <a:xfrm>
            <a:off x="2927185" y="3651552"/>
            <a:ext cx="67189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can  carry  information  of  either  continuous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F509F-03B9-7FDE-BCF1-B9E448CC0729}"/>
              </a:ext>
            </a:extLst>
          </p:cNvPr>
          <p:cNvSpPr txBox="1"/>
          <p:nvPr/>
        </p:nvSpPr>
        <p:spPr>
          <a:xfrm>
            <a:off x="2021237" y="4035617"/>
            <a:ext cx="22962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 discrete media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C7B5CF-79D6-3807-1135-A704106ADF25}"/>
              </a:ext>
            </a:extLst>
          </p:cNvPr>
          <p:cNvSpPr txBox="1"/>
          <p:nvPr/>
        </p:nvSpPr>
        <p:spPr>
          <a:xfrm>
            <a:off x="2021237" y="456076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4384C1-6360-462B-2DD3-BF7E90B68B31}"/>
              </a:ext>
            </a:extLst>
          </p:cNvPr>
          <p:cNvSpPr txBox="1"/>
          <p:nvPr/>
        </p:nvSpPr>
        <p:spPr>
          <a:xfrm>
            <a:off x="2927185" y="4513085"/>
            <a:ext cx="23525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4B3EF8-C3BD-3367-7B72-E4A289687352}"/>
              </a:ext>
            </a:extLst>
          </p:cNvPr>
          <p:cNvSpPr txBox="1"/>
          <p:nvPr/>
        </p:nvSpPr>
        <p:spPr>
          <a:xfrm>
            <a:off x="3642408" y="4513085"/>
            <a:ext cx="150259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1227B0-B686-BB72-3895-D046DBDD2D47}"/>
              </a:ext>
            </a:extLst>
          </p:cNvPr>
          <p:cNvSpPr txBox="1"/>
          <p:nvPr/>
        </p:nvSpPr>
        <p:spPr>
          <a:xfrm>
            <a:off x="5745291" y="4513085"/>
            <a:ext cx="307456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A42A3-0282-7AE7-2088-AF7F8B03E1AE}"/>
              </a:ext>
            </a:extLst>
          </p:cNvPr>
          <p:cNvSpPr txBox="1"/>
          <p:nvPr/>
        </p:nvSpPr>
        <p:spPr>
          <a:xfrm>
            <a:off x="6554243" y="4513085"/>
            <a:ext cx="152003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9597F0-6AC6-3CAD-5A10-B8B7C95B1A53}"/>
              </a:ext>
            </a:extLst>
          </p:cNvPr>
          <p:cNvSpPr txBox="1"/>
          <p:nvPr/>
        </p:nvSpPr>
        <p:spPr>
          <a:xfrm>
            <a:off x="8674436" y="4513085"/>
            <a:ext cx="1213153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0EDC0F-CFB6-820E-24FA-7D9569FF3579}"/>
              </a:ext>
            </a:extLst>
          </p:cNvPr>
          <p:cNvSpPr txBox="1"/>
          <p:nvPr/>
        </p:nvSpPr>
        <p:spPr>
          <a:xfrm>
            <a:off x="2021237" y="4961160"/>
            <a:ext cx="177369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00A21A-C2EF-A2B2-7F26-152D5DCD25D2}"/>
              </a:ext>
            </a:extLst>
          </p:cNvPr>
          <p:cNvSpPr txBox="1"/>
          <p:nvPr/>
        </p:nvSpPr>
        <p:spPr>
          <a:xfrm>
            <a:off x="4189111" y="4961160"/>
            <a:ext cx="289438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15C10A-82AD-B051-C35F-71FE2A48EA08}"/>
              </a:ext>
            </a:extLst>
          </p:cNvPr>
          <p:cNvSpPr txBox="1"/>
          <p:nvPr/>
        </p:nvSpPr>
        <p:spPr>
          <a:xfrm>
            <a:off x="4749205" y="4961160"/>
            <a:ext cx="181140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F038C8-7CEE-CA11-DA4B-E200AFEA6B8B}"/>
              </a:ext>
            </a:extLst>
          </p:cNvPr>
          <p:cNvSpPr txBox="1"/>
          <p:nvPr/>
        </p:nvSpPr>
        <p:spPr>
          <a:xfrm>
            <a:off x="5193034" y="4961160"/>
            <a:ext cx="669735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8E4A1-D11B-712F-40E4-F698A2479B37}"/>
              </a:ext>
            </a:extLst>
          </p:cNvPr>
          <p:cNvSpPr txBox="1"/>
          <p:nvPr/>
        </p:nvSpPr>
        <p:spPr>
          <a:xfrm>
            <a:off x="6164954" y="4961160"/>
            <a:ext cx="1646733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dependent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A4D195-3C89-8808-960D-3E2BDDEC46E0}"/>
              </a:ext>
            </a:extLst>
          </p:cNvPr>
          <p:cNvSpPr txBox="1"/>
          <p:nvPr/>
        </p:nvSpPr>
        <p:spPr>
          <a:xfrm>
            <a:off x="8195334" y="4961160"/>
            <a:ext cx="1158138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fashion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7B6AF7-94E9-2573-2464-412404F79C98}"/>
              </a:ext>
            </a:extLst>
          </p:cNvPr>
          <p:cNvSpPr txBox="1"/>
          <p:nvPr/>
        </p:nvSpPr>
        <p:spPr>
          <a:xfrm>
            <a:off x="9695996" y="4961160"/>
            <a:ext cx="271613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9DE6D5-2C14-7DA3-2914-C85CE1891A8B}"/>
              </a:ext>
            </a:extLst>
          </p:cNvPr>
          <p:cNvSpPr txBox="1"/>
          <p:nvPr/>
        </p:nvSpPr>
        <p:spPr>
          <a:xfrm>
            <a:off x="2021237" y="5409236"/>
            <a:ext cx="3113929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called a </a:t>
            </a:r>
            <a:r>
              <a:rPr lang="en-US" sz="2540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stream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4EE251-7478-4E5A-710A-ACB4F0632340}"/>
              </a:ext>
            </a:extLst>
          </p:cNvPr>
          <p:cNvSpPr txBox="1"/>
          <p:nvPr/>
        </p:nvSpPr>
        <p:spPr>
          <a:xfrm>
            <a:off x="5466060" y="5457243"/>
            <a:ext cx="40963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data stream will be used as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F48393-B25F-F4D5-B9D9-8567317A5356}"/>
              </a:ext>
            </a:extLst>
          </p:cNvPr>
          <p:cNvSpPr txBox="1"/>
          <p:nvPr/>
        </p:nvSpPr>
        <p:spPr>
          <a:xfrm>
            <a:off x="2021237" y="5854044"/>
            <a:ext cx="28700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synonym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flow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256C0919-C69D-D268-C8C3-25D36EEB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C200E56-006C-4CDB-ACC3-CB6B0EEF5E5E}" type="slidenum">
              <a:rPr/>
              <a:t>35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D8E3B94-87E6-69C0-99DE-372C3C41F4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6673C-83B6-E172-2081-CF242F2D0C55}"/>
              </a:ext>
            </a:extLst>
          </p:cNvPr>
          <p:cNvSpPr txBox="1"/>
          <p:nvPr/>
        </p:nvSpPr>
        <p:spPr>
          <a:xfrm>
            <a:off x="2021564" y="15127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F48B2-3832-27F8-B55A-121888CC26F4}"/>
              </a:ext>
            </a:extLst>
          </p:cNvPr>
          <p:cNvSpPr txBox="1"/>
          <p:nvPr/>
        </p:nvSpPr>
        <p:spPr>
          <a:xfrm>
            <a:off x="2917714" y="1512743"/>
            <a:ext cx="640778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 of information carrying different media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FDB77-D562-A8B6-603F-2FB4147B12E5}"/>
              </a:ext>
            </a:extLst>
          </p:cNvPr>
          <p:cNvSpPr txBox="1"/>
          <p:nvPr/>
        </p:nvSpPr>
        <p:spPr>
          <a:xfrm>
            <a:off x="2021563" y="1928488"/>
            <a:ext cx="61085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leads to data stream with very different features.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BB039-696F-29B9-8B1A-1C3CC3AF4BD1}"/>
              </a:ext>
            </a:extLst>
          </p:cNvPr>
          <p:cNvSpPr txBox="1"/>
          <p:nvPr/>
        </p:nvSpPr>
        <p:spPr>
          <a:xfrm>
            <a:off x="2021564" y="249739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8D546-0C7D-A18E-92C5-BCE524C69A42}"/>
              </a:ext>
            </a:extLst>
          </p:cNvPr>
          <p:cNvSpPr txBox="1"/>
          <p:nvPr/>
        </p:nvSpPr>
        <p:spPr>
          <a:xfrm>
            <a:off x="2917714" y="2497399"/>
            <a:ext cx="20172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attributes 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F8546-AD19-EBE0-AADD-60CFDB8B46C5}"/>
              </a:ext>
            </a:extLst>
          </p:cNvPr>
          <p:cNvSpPr txBox="1"/>
          <p:nvPr/>
        </p:nvSpPr>
        <p:spPr>
          <a:xfrm>
            <a:off x="5162008" y="2445473"/>
            <a:ext cx="2045112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synchronous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2FA02-8C62-F377-6FE9-11FC80EE37BE}"/>
              </a:ext>
            </a:extLst>
          </p:cNvPr>
          <p:cNvSpPr txBox="1"/>
          <p:nvPr/>
        </p:nvSpPr>
        <p:spPr>
          <a:xfrm>
            <a:off x="7350132" y="249739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A57D9-81C7-2890-B909-9E9D9421CC6A}"/>
              </a:ext>
            </a:extLst>
          </p:cNvPr>
          <p:cNvSpPr txBox="1"/>
          <p:nvPr/>
        </p:nvSpPr>
        <p:spPr>
          <a:xfrm>
            <a:off x="7520282" y="2445473"/>
            <a:ext cx="2226250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asynchronous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6B6E4-37AE-FD57-9989-42D0FF46FF62}"/>
              </a:ext>
            </a:extLst>
          </p:cNvPr>
          <p:cNvSpPr txBox="1"/>
          <p:nvPr/>
        </p:nvSpPr>
        <p:spPr>
          <a:xfrm>
            <a:off x="9905010" y="249739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AB460-49C9-43E4-A764-EA0388EC26EC}"/>
              </a:ext>
            </a:extLst>
          </p:cNvPr>
          <p:cNvSpPr txBox="1"/>
          <p:nvPr/>
        </p:nvSpPr>
        <p:spPr>
          <a:xfrm>
            <a:off x="2021564" y="2982379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2B2539-CC2E-2623-BE37-85EF231F91B0}"/>
              </a:ext>
            </a:extLst>
          </p:cNvPr>
          <p:cNvSpPr txBox="1"/>
          <p:nvPr/>
        </p:nvSpPr>
        <p:spPr>
          <a:xfrm>
            <a:off x="2604192" y="2930452"/>
            <a:ext cx="1954446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isochronous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9BD527-0C4E-AF3A-9E8A-9F180A82B671}"/>
              </a:ext>
            </a:extLst>
          </p:cNvPr>
          <p:cNvSpPr txBox="1"/>
          <p:nvPr/>
        </p:nvSpPr>
        <p:spPr>
          <a:xfrm>
            <a:off x="4697930" y="2982379"/>
            <a:ext cx="48565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data transmission conforms the field 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19D206-E58D-1EA8-2971-52A371F61127}"/>
              </a:ext>
            </a:extLst>
          </p:cNvPr>
          <p:cNvSpPr txBox="1"/>
          <p:nvPr/>
        </p:nvSpPr>
        <p:spPr>
          <a:xfrm>
            <a:off x="2021564" y="3412164"/>
            <a:ext cx="73853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 communication  and  switching.  Transmission  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B00D97-CEFA-28EF-DF67-D798C3D7A730}"/>
              </a:ext>
            </a:extLst>
          </p:cNvPr>
          <p:cNvSpPr txBox="1"/>
          <p:nvPr/>
        </p:nvSpPr>
        <p:spPr>
          <a:xfrm>
            <a:off x="2021564" y="3827908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03136-B471-46CC-75BA-7652A5F31E49}"/>
              </a:ext>
            </a:extLst>
          </p:cNvPr>
          <p:cNvSpPr txBox="1"/>
          <p:nvPr/>
        </p:nvSpPr>
        <p:spPr>
          <a:xfrm>
            <a:off x="2647628" y="3827908"/>
            <a:ext cx="5432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6609C7-2CE0-DA88-6655-76B82AC26E6B}"/>
              </a:ext>
            </a:extLst>
          </p:cNvPr>
          <p:cNvSpPr txBox="1"/>
          <p:nvPr/>
        </p:nvSpPr>
        <p:spPr>
          <a:xfrm>
            <a:off x="3437311" y="3827908"/>
            <a:ext cx="9620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2E29E6-7FBA-1C3B-A4B4-9BDF72706E09}"/>
              </a:ext>
            </a:extLst>
          </p:cNvPr>
          <p:cNvSpPr txBox="1"/>
          <p:nvPr/>
        </p:nvSpPr>
        <p:spPr>
          <a:xfrm>
            <a:off x="4677029" y="3827908"/>
            <a:ext cx="6672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takes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007FD-AF74-BE5A-C84E-680D4814E72D}"/>
              </a:ext>
            </a:extLst>
          </p:cNvPr>
          <p:cNvSpPr txBox="1"/>
          <p:nvPr/>
        </p:nvSpPr>
        <p:spPr>
          <a:xfrm>
            <a:off x="5599960" y="3827908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place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D1C30-A6C9-6735-BDC2-EC77EBAA68D7}"/>
              </a:ext>
            </a:extLst>
          </p:cNvPr>
          <p:cNvSpPr txBox="1"/>
          <p:nvPr/>
        </p:nvSpPr>
        <p:spPr>
          <a:xfrm>
            <a:off x="6525504" y="3827908"/>
            <a:ext cx="217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7D7C2-7FE3-87EE-9A92-60FFEEC4D658}"/>
              </a:ext>
            </a:extLst>
          </p:cNvPr>
          <p:cNvSpPr txBox="1"/>
          <p:nvPr/>
        </p:nvSpPr>
        <p:spPr>
          <a:xfrm>
            <a:off x="6967700" y="3827908"/>
            <a:ext cx="4500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8B0A04-F38D-5541-A522-C3B3D548285C}"/>
              </a:ext>
            </a:extLst>
          </p:cNvPr>
          <p:cNvSpPr txBox="1"/>
          <p:nvPr/>
        </p:nvSpPr>
        <p:spPr>
          <a:xfrm>
            <a:off x="7659082" y="3827908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8EC03C-0877-1A57-DD2E-60CD40A227CF}"/>
              </a:ext>
            </a:extLst>
          </p:cNvPr>
          <p:cNvSpPr txBox="1"/>
          <p:nvPr/>
        </p:nvSpPr>
        <p:spPr>
          <a:xfrm>
            <a:off x="8115975" y="3827908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7A7A19-2596-3459-29FC-C44BC48F5741}"/>
              </a:ext>
            </a:extLst>
          </p:cNvPr>
          <p:cNvSpPr txBox="1"/>
          <p:nvPr/>
        </p:nvSpPr>
        <p:spPr>
          <a:xfrm>
            <a:off x="8742366" y="3827908"/>
            <a:ext cx="10861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following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3490C-A0BB-7A5A-F30A-4696FE482A5C}"/>
              </a:ext>
            </a:extLst>
          </p:cNvPr>
          <p:cNvSpPr txBox="1"/>
          <p:nvPr/>
        </p:nvSpPr>
        <p:spPr>
          <a:xfrm>
            <a:off x="2021564" y="4243978"/>
            <a:ext cx="27150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 modes: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36D465-5A5F-1CCC-71BE-808F81501115}"/>
              </a:ext>
            </a:extLst>
          </p:cNvPr>
          <p:cNvSpPr txBox="1"/>
          <p:nvPr/>
        </p:nvSpPr>
        <p:spPr>
          <a:xfrm>
            <a:off x="2863826" y="4743328"/>
            <a:ext cx="44942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Asynchronous Transmission mode: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35DEA0-73E0-006D-3B64-DDFC550B2589}"/>
              </a:ext>
            </a:extLst>
          </p:cNvPr>
          <p:cNvSpPr txBox="1"/>
          <p:nvPr/>
        </p:nvSpPr>
        <p:spPr>
          <a:xfrm>
            <a:off x="2863826" y="5242024"/>
            <a:ext cx="43546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Synchronous Transmission mode: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3B4FD4-2CC5-CCA3-9579-81B92738AF3D}"/>
              </a:ext>
            </a:extLst>
          </p:cNvPr>
          <p:cNvSpPr txBox="1"/>
          <p:nvPr/>
        </p:nvSpPr>
        <p:spPr>
          <a:xfrm>
            <a:off x="2863826" y="5741046"/>
            <a:ext cx="42460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Isochronous Transmission mode: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568F44-D43F-8FCD-93B9-DEF351F20F08}"/>
              </a:ext>
            </a:extLst>
          </p:cNvPr>
          <p:cNvSpPr txBox="1"/>
          <p:nvPr/>
        </p:nvSpPr>
        <p:spPr>
          <a:xfrm>
            <a:off x="2021564" y="624039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A6B886CF-9595-8836-7115-AFC5C04B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A7D342-A0E6-48B8-A9E1-5B4B620C571A}" type="slidenum">
              <a:rPr/>
              <a:t>36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0837F41-AB67-B5C9-6CB9-4E872F901A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BDAEBAB-D198-DB28-DA9B-CE727C1D58F0}"/>
              </a:ext>
            </a:extLst>
          </p:cNvPr>
          <p:cNvSpPr/>
          <p:nvPr/>
        </p:nvSpPr>
        <p:spPr>
          <a:xfrm>
            <a:off x="2018950" y="1808304"/>
            <a:ext cx="4635881" cy="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96" h="106">
                <a:moveTo>
                  <a:pt x="0" y="0"/>
                </a:moveTo>
                <a:lnTo>
                  <a:pt x="4731" y="0"/>
                </a:lnTo>
                <a:lnTo>
                  <a:pt x="9464" y="0"/>
                </a:lnTo>
                <a:lnTo>
                  <a:pt x="14196" y="0"/>
                </a:lnTo>
                <a:lnTo>
                  <a:pt x="14196" y="106"/>
                </a:lnTo>
                <a:lnTo>
                  <a:pt x="9464" y="106"/>
                </a:lnTo>
                <a:lnTo>
                  <a:pt x="4731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505A4-3A34-1E01-1D44-2F45F67C4C60}"/>
              </a:ext>
            </a:extLst>
          </p:cNvPr>
          <p:cNvSpPr txBox="1"/>
          <p:nvPr/>
        </p:nvSpPr>
        <p:spPr>
          <a:xfrm>
            <a:off x="2018951" y="1480086"/>
            <a:ext cx="45747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Asynchronous Transmission mode: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61015-413B-9DEA-0E2F-8285F691C68A}"/>
              </a:ext>
            </a:extLst>
          </p:cNvPr>
          <p:cNvSpPr txBox="1"/>
          <p:nvPr/>
        </p:nvSpPr>
        <p:spPr>
          <a:xfrm>
            <a:off x="2018951" y="1954615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FC4D0-2DCD-198D-75E9-B892FC68C619}"/>
              </a:ext>
            </a:extLst>
          </p:cNvPr>
          <p:cNvSpPr txBox="1"/>
          <p:nvPr/>
        </p:nvSpPr>
        <p:spPr>
          <a:xfrm>
            <a:off x="2196613" y="1910852"/>
            <a:ext cx="4410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53A4E-295B-34EF-C9AE-E5ADD4321248}"/>
              </a:ext>
            </a:extLst>
          </p:cNvPr>
          <p:cNvSpPr txBox="1"/>
          <p:nvPr/>
        </p:nvSpPr>
        <p:spPr>
          <a:xfrm>
            <a:off x="3050634" y="1910852"/>
            <a:ext cx="159357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asynchronous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EFF7F-FF55-E4A0-CFED-4577AE4627F9}"/>
              </a:ext>
            </a:extLst>
          </p:cNvPr>
          <p:cNvSpPr txBox="1"/>
          <p:nvPr/>
        </p:nvSpPr>
        <p:spPr>
          <a:xfrm>
            <a:off x="5132290" y="1910852"/>
            <a:ext cx="143661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000C5-0DFE-3039-587E-8EF9D9195760}"/>
              </a:ext>
            </a:extLst>
          </p:cNvPr>
          <p:cNvSpPr txBox="1"/>
          <p:nvPr/>
        </p:nvSpPr>
        <p:spPr>
          <a:xfrm>
            <a:off x="7045427" y="1910852"/>
            <a:ext cx="6402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7FB8D-CBBE-C6FB-8776-3E34AAD51364}"/>
              </a:ext>
            </a:extLst>
          </p:cNvPr>
          <p:cNvSpPr txBox="1"/>
          <p:nvPr/>
        </p:nvSpPr>
        <p:spPr>
          <a:xfrm>
            <a:off x="8110749" y="1910852"/>
            <a:ext cx="96744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provides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5B3F98-9A77-4B10-D40B-78918E13B81E}"/>
              </a:ext>
            </a:extLst>
          </p:cNvPr>
          <p:cNvSpPr txBox="1"/>
          <p:nvPr/>
        </p:nvSpPr>
        <p:spPr>
          <a:xfrm>
            <a:off x="9524211" y="1910852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D07A7-01BC-701E-C55D-3E1E29432ABE}"/>
              </a:ext>
            </a:extLst>
          </p:cNvPr>
          <p:cNvSpPr txBox="1"/>
          <p:nvPr/>
        </p:nvSpPr>
        <p:spPr>
          <a:xfrm>
            <a:off x="2196613" y="2264217"/>
            <a:ext cx="604370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communication with no timely restriction (limit).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3B6D1-59E2-3C6F-DFB8-81E6960B782F}"/>
              </a:ext>
            </a:extLst>
          </p:cNvPr>
          <p:cNvSpPr txBox="1"/>
          <p:nvPr/>
        </p:nvSpPr>
        <p:spPr>
          <a:xfrm>
            <a:off x="2018951" y="2738747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024CF-AEB4-F51E-6388-B1AB383D7FFB}"/>
              </a:ext>
            </a:extLst>
          </p:cNvPr>
          <p:cNvSpPr txBox="1"/>
          <p:nvPr/>
        </p:nvSpPr>
        <p:spPr>
          <a:xfrm>
            <a:off x="2196614" y="2694984"/>
            <a:ext cx="58329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 reach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receivers as fast as possible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8DBE9-0A92-E324-BC9D-DC616D876167}"/>
              </a:ext>
            </a:extLst>
          </p:cNvPr>
          <p:cNvSpPr txBox="1"/>
          <p:nvPr/>
        </p:nvSpPr>
        <p:spPr>
          <a:xfrm>
            <a:off x="2018951" y="3169513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1F2B14-C984-ED2A-2751-6E4CE89917CD}"/>
              </a:ext>
            </a:extLst>
          </p:cNvPr>
          <p:cNvSpPr txBox="1"/>
          <p:nvPr/>
        </p:nvSpPr>
        <p:spPr>
          <a:xfrm>
            <a:off x="2196614" y="3126403"/>
            <a:ext cx="28450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18D902-0746-237C-4882-6F309CB3A825}"/>
              </a:ext>
            </a:extLst>
          </p:cNvPr>
          <p:cNvSpPr txBox="1"/>
          <p:nvPr/>
        </p:nvSpPr>
        <p:spPr>
          <a:xfrm>
            <a:off x="2710985" y="3126403"/>
            <a:ext cx="126611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F90B46-0CDE-265B-8F1C-45C5A2C09ACF}"/>
              </a:ext>
            </a:extLst>
          </p:cNvPr>
          <p:cNvSpPr txBox="1"/>
          <p:nvPr/>
        </p:nvSpPr>
        <p:spPr>
          <a:xfrm>
            <a:off x="4269778" y="3126403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F7A709-7884-CC77-2F4B-E38837A21D1A}"/>
              </a:ext>
            </a:extLst>
          </p:cNvPr>
          <p:cNvSpPr txBox="1"/>
          <p:nvPr/>
        </p:nvSpPr>
        <p:spPr>
          <a:xfrm>
            <a:off x="4709689" y="3126403"/>
            <a:ext cx="8962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discrete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DF64AA-0636-E25C-AA82-24EF75DBF264}"/>
              </a:ext>
            </a:extLst>
          </p:cNvPr>
          <p:cNvSpPr txBox="1"/>
          <p:nvPr/>
        </p:nvSpPr>
        <p:spPr>
          <a:xfrm>
            <a:off x="5873312" y="3126403"/>
            <a:ext cx="6971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4EF3A8-4F3A-A2FB-A737-F843C3ACA75D}"/>
              </a:ext>
            </a:extLst>
          </p:cNvPr>
          <p:cNvSpPr txBox="1"/>
          <p:nvPr/>
        </p:nvSpPr>
        <p:spPr>
          <a:xfrm>
            <a:off x="6827921" y="3126403"/>
            <a:ext cx="4126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CC69E-64B7-4491-B6CA-E42B089931CE}"/>
              </a:ext>
            </a:extLst>
          </p:cNvPr>
          <p:cNvSpPr txBox="1"/>
          <p:nvPr/>
        </p:nvSpPr>
        <p:spPr>
          <a:xfrm>
            <a:off x="7479460" y="3126403"/>
            <a:ext cx="2846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C9A7D4-A2EB-7423-EDFF-E6C9B75809DE}"/>
              </a:ext>
            </a:extLst>
          </p:cNvPr>
          <p:cNvSpPr txBox="1"/>
          <p:nvPr/>
        </p:nvSpPr>
        <p:spPr>
          <a:xfrm>
            <a:off x="7995138" y="3126403"/>
            <a:ext cx="12659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E4F4A3-2D71-9E86-A63E-9121DB3BDF69}"/>
              </a:ext>
            </a:extLst>
          </p:cNvPr>
          <p:cNvSpPr txBox="1"/>
          <p:nvPr/>
        </p:nvSpPr>
        <p:spPr>
          <a:xfrm>
            <a:off x="9552623" y="3126403"/>
            <a:ext cx="2703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017D2A-7BAC-548C-A231-EBFACC00F4BA}"/>
              </a:ext>
            </a:extLst>
          </p:cNvPr>
          <p:cNvSpPr txBox="1"/>
          <p:nvPr/>
        </p:nvSpPr>
        <p:spPr>
          <a:xfrm>
            <a:off x="2196613" y="3478789"/>
            <a:ext cx="322947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asynchronous data stream.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FB2183-6B29-69A7-86A6-2F53AF41DF19}"/>
              </a:ext>
            </a:extLst>
          </p:cNvPr>
          <p:cNvSpPr txBox="1"/>
          <p:nvPr/>
        </p:nvSpPr>
        <p:spPr>
          <a:xfrm>
            <a:off x="2018951" y="3953318"/>
            <a:ext cx="76624" cy="25160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050539-406F-A219-C646-AA22FFFA2881}"/>
              </a:ext>
            </a:extLst>
          </p:cNvPr>
          <p:cNvSpPr txBox="1"/>
          <p:nvPr/>
        </p:nvSpPr>
        <p:spPr>
          <a:xfrm>
            <a:off x="2196613" y="3909555"/>
            <a:ext cx="1422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7E0A4D-C94A-1867-E845-3273B426E0B0}"/>
              </a:ext>
            </a:extLst>
          </p:cNvPr>
          <p:cNvSpPr txBox="1"/>
          <p:nvPr/>
        </p:nvSpPr>
        <p:spPr>
          <a:xfrm>
            <a:off x="2532017" y="3909555"/>
            <a:ext cx="2846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29C84-E0B0-7D69-4994-005B8E846F99}"/>
              </a:ext>
            </a:extLst>
          </p:cNvPr>
          <p:cNvSpPr txBox="1"/>
          <p:nvPr/>
        </p:nvSpPr>
        <p:spPr>
          <a:xfrm>
            <a:off x="3017649" y="3909555"/>
            <a:ext cx="159357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asynchronous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C7D240-FE82-E48E-094A-CA37FCA8B7CD}"/>
              </a:ext>
            </a:extLst>
          </p:cNvPr>
          <p:cNvSpPr txBox="1"/>
          <p:nvPr/>
        </p:nvSpPr>
        <p:spPr>
          <a:xfrm>
            <a:off x="4898455" y="3909555"/>
            <a:ext cx="6402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DABD2E-DFED-BA79-9110-A5E549FF7EB6}"/>
              </a:ext>
            </a:extLst>
          </p:cNvPr>
          <p:cNvSpPr txBox="1"/>
          <p:nvPr/>
        </p:nvSpPr>
        <p:spPr>
          <a:xfrm>
            <a:off x="5761947" y="3909555"/>
            <a:ext cx="184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E1942-078F-3DB0-17C0-B6F1BC3E56ED}"/>
              </a:ext>
            </a:extLst>
          </p:cNvPr>
          <p:cNvSpPr txBox="1"/>
          <p:nvPr/>
        </p:nvSpPr>
        <p:spPr>
          <a:xfrm>
            <a:off x="6142744" y="3909555"/>
            <a:ext cx="8253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chosen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B42D67-C652-6C83-748F-325653DDF858}"/>
              </a:ext>
            </a:extLst>
          </p:cNvPr>
          <p:cNvSpPr txBox="1"/>
          <p:nvPr/>
        </p:nvSpPr>
        <p:spPr>
          <a:xfrm>
            <a:off x="7204148" y="3909555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0E41C-3E08-E6C9-E8CE-ABC687AF0FD7}"/>
              </a:ext>
            </a:extLst>
          </p:cNvPr>
          <p:cNvSpPr txBox="1"/>
          <p:nvPr/>
        </p:nvSpPr>
        <p:spPr>
          <a:xfrm>
            <a:off x="7706110" y="3909555"/>
            <a:ext cx="15930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8381A2-6B05-7E13-5A77-943DB9A6BD65}"/>
              </a:ext>
            </a:extLst>
          </p:cNvPr>
          <p:cNvSpPr txBox="1"/>
          <p:nvPr/>
        </p:nvSpPr>
        <p:spPr>
          <a:xfrm>
            <a:off x="9583977" y="3909555"/>
            <a:ext cx="2415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8BF1A5-0DCC-88F3-B110-21C5285312C2}"/>
              </a:ext>
            </a:extLst>
          </p:cNvPr>
          <p:cNvSpPr txBox="1"/>
          <p:nvPr/>
        </p:nvSpPr>
        <p:spPr>
          <a:xfrm>
            <a:off x="2196613" y="4262594"/>
            <a:ext cx="71524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continuous media, additional technique most be applied 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D0A51F-4055-DACB-FA27-51F2A3B581BA}"/>
              </a:ext>
            </a:extLst>
          </p:cNvPr>
          <p:cNvSpPr txBox="1"/>
          <p:nvPr/>
        </p:nvSpPr>
        <p:spPr>
          <a:xfrm>
            <a:off x="2196613" y="4615306"/>
            <a:ext cx="35128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provide the time restriction.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535E65-3A6D-2410-79F0-EF3812EC58C0}"/>
              </a:ext>
            </a:extLst>
          </p:cNvPr>
          <p:cNvSpPr txBox="1"/>
          <p:nvPr/>
        </p:nvSpPr>
        <p:spPr>
          <a:xfrm>
            <a:off x="2018951" y="5089835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AE3F4B-A8AD-023C-C232-A6B35CC43B9A}"/>
              </a:ext>
            </a:extLst>
          </p:cNvPr>
          <p:cNvSpPr txBox="1"/>
          <p:nvPr/>
        </p:nvSpPr>
        <p:spPr>
          <a:xfrm>
            <a:off x="2196613" y="5046399"/>
            <a:ext cx="52642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48A23-2895-F43F-7ED3-6CD231CE55BE}"/>
              </a:ext>
            </a:extLst>
          </p:cNvPr>
          <p:cNvSpPr txBox="1"/>
          <p:nvPr/>
        </p:nvSpPr>
        <p:spPr>
          <a:xfrm>
            <a:off x="2985317" y="5046399"/>
            <a:ext cx="103868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Ethernet,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18C3DB-FAC8-EDB3-BAC6-CC44EB267924}"/>
              </a:ext>
            </a:extLst>
          </p:cNvPr>
          <p:cNvSpPr txBox="1"/>
          <p:nvPr/>
        </p:nvSpPr>
        <p:spPr>
          <a:xfrm>
            <a:off x="4318765" y="5046399"/>
            <a:ext cx="91057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protocol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583B61-2F56-206E-80FA-C881232B3C8C}"/>
              </a:ext>
            </a:extLst>
          </p:cNvPr>
          <p:cNvSpPr txBox="1"/>
          <p:nvPr/>
        </p:nvSpPr>
        <p:spPr>
          <a:xfrm>
            <a:off x="5517987" y="5046399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021F75-32CB-EDD9-441E-2687C5356C99}"/>
              </a:ext>
            </a:extLst>
          </p:cNvPr>
          <p:cNvSpPr txBox="1"/>
          <p:nvPr/>
        </p:nvSpPr>
        <p:spPr>
          <a:xfrm>
            <a:off x="5973900" y="5046399"/>
            <a:ext cx="113806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worldwide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4FD3E8-9C4A-6B3A-045A-9E5C4A910891}"/>
              </a:ext>
            </a:extLst>
          </p:cNvPr>
          <p:cNvSpPr txBox="1"/>
          <p:nvPr/>
        </p:nvSpPr>
        <p:spPr>
          <a:xfrm>
            <a:off x="7412836" y="5046399"/>
            <a:ext cx="85369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internet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7BCAF7-8E3B-97D9-F5A1-B0256392AAFC}"/>
              </a:ext>
            </a:extLst>
          </p:cNvPr>
          <p:cNvSpPr txBox="1"/>
          <p:nvPr/>
        </p:nvSpPr>
        <p:spPr>
          <a:xfrm>
            <a:off x="8550986" y="5046399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E66C0B-8125-8699-4372-439515B808F0}"/>
              </a:ext>
            </a:extLst>
          </p:cNvPr>
          <p:cNvSpPr txBox="1"/>
          <p:nvPr/>
        </p:nvSpPr>
        <p:spPr>
          <a:xfrm>
            <a:off x="9098997" y="5046399"/>
            <a:ext cx="69685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e-mail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85E3AE-D271-20D2-F3EC-2434A763CE06}"/>
              </a:ext>
            </a:extLst>
          </p:cNvPr>
          <p:cNvSpPr txBox="1"/>
          <p:nvPr/>
        </p:nvSpPr>
        <p:spPr>
          <a:xfrm>
            <a:off x="2196613" y="5399111"/>
            <a:ext cx="164993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transmission. 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80D51C-EA35-4989-9000-671556090077}"/>
              </a:ext>
            </a:extLst>
          </p:cNvPr>
          <p:cNvSpPr txBox="1"/>
          <p:nvPr/>
        </p:nvSpPr>
        <p:spPr>
          <a:xfrm>
            <a:off x="2018951" y="5873640"/>
            <a:ext cx="76624" cy="25160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8CB65B-3838-C563-9D8B-995D73C55DE7}"/>
              </a:ext>
            </a:extLst>
          </p:cNvPr>
          <p:cNvSpPr txBox="1"/>
          <p:nvPr/>
        </p:nvSpPr>
        <p:spPr>
          <a:xfrm>
            <a:off x="2196614" y="5830204"/>
            <a:ext cx="426636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 time bound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(E.g. postal service)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0EE31B-4414-E198-51C1-6506BA91884A}"/>
              </a:ext>
            </a:extLst>
          </p:cNvPr>
          <p:cNvSpPr txBox="1"/>
          <p:nvPr/>
        </p:nvSpPr>
        <p:spPr>
          <a:xfrm>
            <a:off x="2018951" y="6304733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912546-8092-D4C7-5E19-C44A24967E48}"/>
              </a:ext>
            </a:extLst>
          </p:cNvPr>
          <p:cNvSpPr txBox="1"/>
          <p:nvPr/>
        </p:nvSpPr>
        <p:spPr>
          <a:xfrm>
            <a:off x="2196614" y="6261623"/>
            <a:ext cx="20907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 mail system.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6A3F255-4B4A-7129-D2FB-9314DBC3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DFB57B-3E79-49DA-880C-7324EBAC93F5}" type="slidenum">
              <a:t>37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83F2F81-8FC4-213D-5E2B-CA97B21170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9B5B7B1-90F6-D8D9-D87C-03676205E472}"/>
              </a:ext>
            </a:extLst>
          </p:cNvPr>
          <p:cNvSpPr/>
          <p:nvPr/>
        </p:nvSpPr>
        <p:spPr>
          <a:xfrm>
            <a:off x="2021237" y="1761602"/>
            <a:ext cx="4549662" cy="3233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932" h="100">
                <a:moveTo>
                  <a:pt x="0" y="0"/>
                </a:moveTo>
                <a:lnTo>
                  <a:pt x="4644" y="0"/>
                </a:lnTo>
                <a:lnTo>
                  <a:pt x="9288" y="0"/>
                </a:lnTo>
                <a:lnTo>
                  <a:pt x="13932" y="0"/>
                </a:lnTo>
                <a:lnTo>
                  <a:pt x="13932" y="100"/>
                </a:lnTo>
                <a:lnTo>
                  <a:pt x="9288" y="100"/>
                </a:lnTo>
                <a:lnTo>
                  <a:pt x="464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AEAA3-F2E3-AE40-5281-7FD98AB2A137}"/>
              </a:ext>
            </a:extLst>
          </p:cNvPr>
          <p:cNvSpPr txBox="1"/>
          <p:nvPr/>
        </p:nvSpPr>
        <p:spPr>
          <a:xfrm>
            <a:off x="2021237" y="1450040"/>
            <a:ext cx="434721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Synchronous Transmission mode: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6E2E4-A8BE-7C48-31C3-5EFE9CD84C22}"/>
              </a:ext>
            </a:extLst>
          </p:cNvPr>
          <p:cNvSpPr txBox="1"/>
          <p:nvPr/>
        </p:nvSpPr>
        <p:spPr>
          <a:xfrm>
            <a:off x="2021237" y="1892564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F7FFF-2B31-8B6D-B1FD-E6A4CF07EBE9}"/>
              </a:ext>
            </a:extLst>
          </p:cNvPr>
          <p:cNvSpPr txBox="1"/>
          <p:nvPr/>
        </p:nvSpPr>
        <p:spPr>
          <a:xfrm>
            <a:off x="2202165" y="1850759"/>
            <a:ext cx="586134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synchronous  transmission  mode  defines  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5B825-2E29-5A5E-CD3B-0CE7A1A7AAE7}"/>
              </a:ext>
            </a:extLst>
          </p:cNvPr>
          <p:cNvSpPr txBox="1"/>
          <p:nvPr/>
        </p:nvSpPr>
        <p:spPr>
          <a:xfrm>
            <a:off x="8574501" y="1824960"/>
            <a:ext cx="13032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maximum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8AFEE3-EFF4-7208-FF1F-6BD074D2ACBE}"/>
              </a:ext>
            </a:extLst>
          </p:cNvPr>
          <p:cNvSpPr txBox="1"/>
          <p:nvPr/>
        </p:nvSpPr>
        <p:spPr>
          <a:xfrm>
            <a:off x="2202166" y="2149912"/>
            <a:ext cx="70434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end to end delay for each packet of the data stream.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11FD5-A021-2B6F-E8FB-672DC9FBA571}"/>
              </a:ext>
            </a:extLst>
          </p:cNvPr>
          <p:cNvSpPr txBox="1"/>
          <p:nvPr/>
        </p:nvSpPr>
        <p:spPr>
          <a:xfrm>
            <a:off x="2021237" y="2595049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045ECF-E44E-033E-8945-D0031CFC0E9F}"/>
              </a:ext>
            </a:extLst>
          </p:cNvPr>
          <p:cNvSpPr txBox="1"/>
          <p:nvPr/>
        </p:nvSpPr>
        <p:spPr>
          <a:xfrm>
            <a:off x="2202166" y="2553572"/>
            <a:ext cx="707116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upper bound will never be violated. (E.g. Ping operation)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DB409-5CF9-13FF-E4AE-1BB2375EA3E3}"/>
              </a:ext>
            </a:extLst>
          </p:cNvPr>
          <p:cNvSpPr txBox="1"/>
          <p:nvPr/>
        </p:nvSpPr>
        <p:spPr>
          <a:xfrm>
            <a:off x="2021237" y="2967030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5FFD2-9796-01F3-FA1C-C362C4D52389}"/>
              </a:ext>
            </a:extLst>
          </p:cNvPr>
          <p:cNvSpPr txBox="1"/>
          <p:nvPr/>
        </p:nvSpPr>
        <p:spPr>
          <a:xfrm>
            <a:off x="2202165" y="2925553"/>
            <a:ext cx="113800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Moreover,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593F23-4957-D06F-EEE0-E06D625BFCD2}"/>
              </a:ext>
            </a:extLst>
          </p:cNvPr>
          <p:cNvSpPr txBox="1"/>
          <p:nvPr/>
        </p:nvSpPr>
        <p:spPr>
          <a:xfrm>
            <a:off x="3696947" y="2925553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7322F7-B79D-689C-A1B8-BE738FADAB55}"/>
              </a:ext>
            </a:extLst>
          </p:cNvPr>
          <p:cNvSpPr txBox="1"/>
          <p:nvPr/>
        </p:nvSpPr>
        <p:spPr>
          <a:xfrm>
            <a:off x="4113017" y="2925553"/>
            <a:ext cx="81092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A9929-1E24-A3F7-2D02-B4F53C1209F6}"/>
              </a:ext>
            </a:extLst>
          </p:cNvPr>
          <p:cNvSpPr txBox="1"/>
          <p:nvPr/>
        </p:nvSpPr>
        <p:spPr>
          <a:xfrm>
            <a:off x="5253779" y="2925553"/>
            <a:ext cx="4410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8D9A96-7047-3890-C0FC-B12E74C5E9F2}"/>
              </a:ext>
            </a:extLst>
          </p:cNvPr>
          <p:cNvSpPr txBox="1"/>
          <p:nvPr/>
        </p:nvSpPr>
        <p:spPr>
          <a:xfrm>
            <a:off x="5992516" y="2925553"/>
            <a:ext cx="6830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C950F6-61C1-BDA7-6810-2B5A7AA9BD3E}"/>
              </a:ext>
            </a:extLst>
          </p:cNvPr>
          <p:cNvSpPr txBox="1"/>
          <p:nvPr/>
        </p:nvSpPr>
        <p:spPr>
          <a:xfrm>
            <a:off x="6994480" y="2925553"/>
            <a:ext cx="3838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695AC-A48A-FE76-E43A-C472C2C961F5}"/>
              </a:ext>
            </a:extLst>
          </p:cNvPr>
          <p:cNvSpPr txBox="1"/>
          <p:nvPr/>
        </p:nvSpPr>
        <p:spPr>
          <a:xfrm>
            <a:off x="7673125" y="2925553"/>
            <a:ext cx="98212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8F5CCE-C362-8576-31B4-F7CB862F0A83}"/>
              </a:ext>
            </a:extLst>
          </p:cNvPr>
          <p:cNvSpPr txBox="1"/>
          <p:nvPr/>
        </p:nvSpPr>
        <p:spPr>
          <a:xfrm>
            <a:off x="8997428" y="2925553"/>
            <a:ext cx="22756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F843F-9B75-1F15-47A5-ADFB2330F3CF}"/>
              </a:ext>
            </a:extLst>
          </p:cNvPr>
          <p:cNvSpPr txBox="1"/>
          <p:nvPr/>
        </p:nvSpPr>
        <p:spPr>
          <a:xfrm>
            <a:off x="9507229" y="2925553"/>
            <a:ext cx="4410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0C3892-1EBC-81A8-2394-56681BB0BC44}"/>
              </a:ext>
            </a:extLst>
          </p:cNvPr>
          <p:cNvSpPr txBox="1"/>
          <p:nvPr/>
        </p:nvSpPr>
        <p:spPr>
          <a:xfrm>
            <a:off x="2202166" y="3223072"/>
            <a:ext cx="214763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arbitrary(random)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CF4B1E-8049-D7AC-0C5C-B150B6F99013}"/>
              </a:ext>
            </a:extLst>
          </p:cNvPr>
          <p:cNvSpPr txBox="1"/>
          <p:nvPr/>
        </p:nvSpPr>
        <p:spPr>
          <a:xfrm>
            <a:off x="4713606" y="3223072"/>
            <a:ext cx="76854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earlier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3018A-3196-2AFA-1279-964C765211BD}"/>
              </a:ext>
            </a:extLst>
          </p:cNvPr>
          <p:cNvSpPr txBox="1"/>
          <p:nvPr/>
        </p:nvSpPr>
        <p:spPr>
          <a:xfrm>
            <a:off x="5734513" y="3223072"/>
            <a:ext cx="59740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87E6D2-7623-BC63-EF0E-7D8A97804A52}"/>
              </a:ext>
            </a:extLst>
          </p:cNvPr>
          <p:cNvSpPr txBox="1"/>
          <p:nvPr/>
        </p:nvSpPr>
        <p:spPr>
          <a:xfrm>
            <a:off x="6569919" y="3223072"/>
            <a:ext cx="31309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600DA3-1A6A-F2AF-64F9-1B47843B57BF}"/>
              </a:ext>
            </a:extLst>
          </p:cNvPr>
          <p:cNvSpPr txBox="1"/>
          <p:nvPr/>
        </p:nvSpPr>
        <p:spPr>
          <a:xfrm>
            <a:off x="7098335" y="3223072"/>
            <a:ext cx="55463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905FF9-C0DF-AB3D-85D1-124DB5A61971}"/>
              </a:ext>
            </a:extLst>
          </p:cNvPr>
          <p:cNvSpPr txBox="1"/>
          <p:nvPr/>
        </p:nvSpPr>
        <p:spPr>
          <a:xfrm>
            <a:off x="7887038" y="3223072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20D648-B0CA-AAFC-5635-9E3D90477880}"/>
              </a:ext>
            </a:extLst>
          </p:cNvPr>
          <p:cNvSpPr txBox="1"/>
          <p:nvPr/>
        </p:nvSpPr>
        <p:spPr>
          <a:xfrm>
            <a:off x="8309313" y="3223072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897C53-223D-8518-3A73-F033B84B7BC8}"/>
              </a:ext>
            </a:extLst>
          </p:cNvPr>
          <p:cNvSpPr txBox="1"/>
          <p:nvPr/>
        </p:nvSpPr>
        <p:spPr>
          <a:xfrm>
            <a:off x="8884104" y="3223072"/>
            <a:ext cx="4835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7A9343-0B0B-81CF-9479-9A63CCD46E1E}"/>
              </a:ext>
            </a:extLst>
          </p:cNvPr>
          <p:cNvSpPr txBox="1"/>
          <p:nvPr/>
        </p:nvSpPr>
        <p:spPr>
          <a:xfrm>
            <a:off x="9597693" y="3223072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A777D8-6E47-7B4E-AD1F-4A48A4C52F4D}"/>
              </a:ext>
            </a:extLst>
          </p:cNvPr>
          <p:cNvSpPr txBox="1"/>
          <p:nvPr/>
        </p:nvSpPr>
        <p:spPr>
          <a:xfrm>
            <a:off x="2202165" y="3521245"/>
            <a:ext cx="536249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receiver has to hold the packet temporarily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09F5BD-E578-1B15-C465-CF091964E10B}"/>
              </a:ext>
            </a:extLst>
          </p:cNvPr>
          <p:cNvSpPr txBox="1"/>
          <p:nvPr/>
        </p:nvSpPr>
        <p:spPr>
          <a:xfrm>
            <a:off x="2021237" y="3934702"/>
            <a:ext cx="76624" cy="25160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297EB3-4520-3A60-7414-F06748D46F72}"/>
              </a:ext>
            </a:extLst>
          </p:cNvPr>
          <p:cNvSpPr txBox="1"/>
          <p:nvPr/>
        </p:nvSpPr>
        <p:spPr>
          <a:xfrm>
            <a:off x="2202165" y="3893552"/>
            <a:ext cx="566597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packet has a start frame and the end frame.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AB85FA-30E7-EE4D-2C42-39B7BCEF86B4}"/>
              </a:ext>
            </a:extLst>
          </p:cNvPr>
          <p:cNvSpPr txBox="1"/>
          <p:nvPr/>
        </p:nvSpPr>
        <p:spPr>
          <a:xfrm>
            <a:off x="2021237" y="4307010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EC80C5-1E30-82E6-C49A-48DA78F98B3E}"/>
              </a:ext>
            </a:extLst>
          </p:cNvPr>
          <p:cNvSpPr txBox="1"/>
          <p:nvPr/>
        </p:nvSpPr>
        <p:spPr>
          <a:xfrm>
            <a:off x="2202165" y="4265860"/>
            <a:ext cx="721274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Start  frame  is  used  to  tell  the  receiving  station  that  a  new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05B274-2F86-7942-0CA5-C82791EBC5B4}"/>
              </a:ext>
            </a:extLst>
          </p:cNvPr>
          <p:cNvSpPr txBox="1"/>
          <p:nvPr/>
        </p:nvSpPr>
        <p:spPr>
          <a:xfrm>
            <a:off x="2202165" y="4563706"/>
            <a:ext cx="738356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  of  characters  is  arriving  and  used  to  synchronize  the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F0D38A-431D-0544-17C6-CA54ED01990B}"/>
              </a:ext>
            </a:extLst>
          </p:cNvPr>
          <p:cNvSpPr txBox="1"/>
          <p:nvPr/>
        </p:nvSpPr>
        <p:spPr>
          <a:xfrm>
            <a:off x="2202165" y="4861225"/>
            <a:ext cx="380456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receiving station's internal clock.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C35E7D-4FDC-B95D-C2A6-492CA7E6DCFD}"/>
              </a:ext>
            </a:extLst>
          </p:cNvPr>
          <p:cNvSpPr txBox="1"/>
          <p:nvPr/>
        </p:nvSpPr>
        <p:spPr>
          <a:xfrm>
            <a:off x="2021237" y="5275009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F5A067-0A2B-93F3-93F2-968A8EB0041C}"/>
              </a:ext>
            </a:extLst>
          </p:cNvPr>
          <p:cNvSpPr txBox="1"/>
          <p:nvPr/>
        </p:nvSpPr>
        <p:spPr>
          <a:xfrm>
            <a:off x="2202166" y="5233531"/>
            <a:ext cx="60326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end frame is used to indicate the end of packet.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242E8E-421E-4DA5-B710-98B3D13657FC}"/>
              </a:ext>
            </a:extLst>
          </p:cNvPr>
          <p:cNvSpPr txBox="1"/>
          <p:nvPr/>
        </p:nvSpPr>
        <p:spPr>
          <a:xfrm>
            <a:off x="2021237" y="5646990"/>
            <a:ext cx="76624" cy="25160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CA6D83-7409-9781-E1BA-243C4F0505F0}"/>
              </a:ext>
            </a:extLst>
          </p:cNvPr>
          <p:cNvSpPr txBox="1"/>
          <p:nvPr/>
        </p:nvSpPr>
        <p:spPr>
          <a:xfrm>
            <a:off x="2202165" y="5605840"/>
            <a:ext cx="74260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  retrieving  uncompressed  video  at  data  rate  140Mbits/s  &amp;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34F838-3608-3687-4929-1E6BB892B1CA}"/>
              </a:ext>
            </a:extLst>
          </p:cNvPr>
          <p:cNvSpPr txBox="1"/>
          <p:nvPr/>
        </p:nvSpPr>
        <p:spPr>
          <a:xfrm>
            <a:off x="2202165" y="5904012"/>
            <a:ext cx="691465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maximal end-to-end delay 1 second the receiver should have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8DA7F2-290F-CFC1-7A81-AB8CE9A4318D}"/>
              </a:ext>
            </a:extLst>
          </p:cNvPr>
          <p:cNvSpPr txBox="1"/>
          <p:nvPr/>
        </p:nvSpPr>
        <p:spPr>
          <a:xfrm>
            <a:off x="2202165" y="6201857"/>
            <a:ext cx="371287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temporary storage 17.5 MBytes 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21C7492-6D9C-D5B1-B924-AB8A7026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2963B4-3349-4377-92EB-E0891D1B1FA1}" type="slidenum">
              <a:rPr/>
              <a:t>38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BDCD0ED-E8D6-1C21-7569-AB35605DF6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1B4620F-CBEE-A065-18B7-7C55776B7005}"/>
              </a:ext>
            </a:extLst>
          </p:cNvPr>
          <p:cNvSpPr/>
          <p:nvPr/>
        </p:nvSpPr>
        <p:spPr>
          <a:xfrm>
            <a:off x="2021237" y="1807325"/>
            <a:ext cx="4731897" cy="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0" h="106">
                <a:moveTo>
                  <a:pt x="0" y="0"/>
                </a:moveTo>
                <a:lnTo>
                  <a:pt x="4829" y="0"/>
                </a:lnTo>
                <a:lnTo>
                  <a:pt x="9660" y="0"/>
                </a:lnTo>
                <a:lnTo>
                  <a:pt x="14490" y="0"/>
                </a:lnTo>
                <a:lnTo>
                  <a:pt x="14490" y="106"/>
                </a:lnTo>
                <a:lnTo>
                  <a:pt x="9660" y="106"/>
                </a:lnTo>
                <a:lnTo>
                  <a:pt x="4829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91AF7-04A7-6B3B-7236-C7E52C51662A}"/>
              </a:ext>
            </a:extLst>
          </p:cNvPr>
          <p:cNvSpPr txBox="1"/>
          <p:nvPr/>
        </p:nvSpPr>
        <p:spPr>
          <a:xfrm>
            <a:off x="2021237" y="1479432"/>
            <a:ext cx="46178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Isochronous Transmission mode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47A29-CA39-D362-78A7-E75430B5CCB1}"/>
              </a:ext>
            </a:extLst>
          </p:cNvPr>
          <p:cNvSpPr txBox="1"/>
          <p:nvPr/>
        </p:nvSpPr>
        <p:spPr>
          <a:xfrm>
            <a:off x="2021237" y="195265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75341-AD9C-2CFB-5CD3-A36322A71919}"/>
              </a:ext>
            </a:extLst>
          </p:cNvPr>
          <p:cNvSpPr txBox="1"/>
          <p:nvPr/>
        </p:nvSpPr>
        <p:spPr>
          <a:xfrm>
            <a:off x="2202166" y="1908566"/>
            <a:ext cx="64533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Defines maximum &amp; minimum end-to-end delay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8890A-2F7E-907D-C286-B9CD1D44C9EC}"/>
              </a:ext>
            </a:extLst>
          </p:cNvPr>
          <p:cNvSpPr txBox="1"/>
          <p:nvPr/>
        </p:nvSpPr>
        <p:spPr>
          <a:xfrm>
            <a:off x="2021237" y="238211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5D6FE-250D-054D-4132-D5676829FB3B}"/>
              </a:ext>
            </a:extLst>
          </p:cNvPr>
          <p:cNvSpPr txBox="1"/>
          <p:nvPr/>
        </p:nvSpPr>
        <p:spPr>
          <a:xfrm>
            <a:off x="2202165" y="2338026"/>
            <a:ext cx="527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E6288-69E0-B76C-D956-506AAFFD7C7F}"/>
              </a:ext>
            </a:extLst>
          </p:cNvPr>
          <p:cNvSpPr txBox="1"/>
          <p:nvPr/>
        </p:nvSpPr>
        <p:spPr>
          <a:xfrm>
            <a:off x="3005892" y="2338026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means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16F7B-0581-0287-89C1-4543869326BB}"/>
              </a:ext>
            </a:extLst>
          </p:cNvPr>
          <p:cNvSpPr txBox="1"/>
          <p:nvPr/>
        </p:nvSpPr>
        <p:spPr>
          <a:xfrm>
            <a:off x="4147308" y="2338026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0048B-1A45-5F44-7D3A-366DA2610D5A}"/>
              </a:ext>
            </a:extLst>
          </p:cNvPr>
          <p:cNvSpPr txBox="1"/>
          <p:nvPr/>
        </p:nvSpPr>
        <p:spPr>
          <a:xfrm>
            <a:off x="4801785" y="2338026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delay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A7E091-AC5B-AF42-B81D-CBE3AB147DE4}"/>
              </a:ext>
            </a:extLst>
          </p:cNvPr>
          <p:cNvSpPr txBox="1"/>
          <p:nvPr/>
        </p:nvSpPr>
        <p:spPr>
          <a:xfrm>
            <a:off x="5756068" y="2338026"/>
            <a:ext cx="527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jitter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F760B-6E7E-2EB2-4E62-67FAAAB84C56}"/>
              </a:ext>
            </a:extLst>
          </p:cNvPr>
          <p:cNvSpPr txBox="1"/>
          <p:nvPr/>
        </p:nvSpPr>
        <p:spPr>
          <a:xfrm>
            <a:off x="6560775" y="2338026"/>
            <a:ext cx="3257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6B693-BAD8-6D9D-B3F2-A22FA0F5978A}"/>
              </a:ext>
            </a:extLst>
          </p:cNvPr>
          <p:cNvSpPr txBox="1"/>
          <p:nvPr/>
        </p:nvSpPr>
        <p:spPr>
          <a:xfrm>
            <a:off x="7147649" y="2338026"/>
            <a:ext cx="116378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673868-D589-AD45-2B34-F4383271D6C5}"/>
              </a:ext>
            </a:extLst>
          </p:cNvPr>
          <p:cNvSpPr txBox="1"/>
          <p:nvPr/>
        </p:nvSpPr>
        <p:spPr>
          <a:xfrm>
            <a:off x="8640470" y="2338026"/>
            <a:ext cx="8224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10A065-4EFB-05FC-EA63-1C397A88CD09}"/>
              </a:ext>
            </a:extLst>
          </p:cNvPr>
          <p:cNvSpPr txBox="1"/>
          <p:nvPr/>
        </p:nvSpPr>
        <p:spPr>
          <a:xfrm>
            <a:off x="9765231" y="2338026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3071E3-1B15-75D3-DD2B-AD206574DAE0}"/>
              </a:ext>
            </a:extLst>
          </p:cNvPr>
          <p:cNvSpPr txBox="1"/>
          <p:nvPr/>
        </p:nvSpPr>
        <p:spPr>
          <a:xfrm>
            <a:off x="2202165" y="2688778"/>
            <a:ext cx="131940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bounded.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2C825-BE28-52DA-EFAB-6A96AEC001FB}"/>
              </a:ext>
            </a:extLst>
          </p:cNvPr>
          <p:cNvSpPr txBox="1"/>
          <p:nvPr/>
        </p:nvSpPr>
        <p:spPr>
          <a:xfrm>
            <a:off x="2021237" y="316232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9F80F-B589-0B3D-7705-69DBD1740B6A}"/>
              </a:ext>
            </a:extLst>
          </p:cNvPr>
          <p:cNvSpPr txBox="1"/>
          <p:nvPr/>
        </p:nvSpPr>
        <p:spPr>
          <a:xfrm>
            <a:off x="2202165" y="3117911"/>
            <a:ext cx="71835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Isochronous transmission mode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minimizes the overhead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009E44-3095-2C61-03CC-FFE61DE676E5}"/>
              </a:ext>
            </a:extLst>
          </p:cNvPr>
          <p:cNvSpPr txBox="1"/>
          <p:nvPr/>
        </p:nvSpPr>
        <p:spPr>
          <a:xfrm>
            <a:off x="2202165" y="3468991"/>
            <a:ext cx="21258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the receiver.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7A08A-5757-F6DC-1702-ED5331EA2CC7}"/>
              </a:ext>
            </a:extLst>
          </p:cNvPr>
          <p:cNvSpPr txBox="1"/>
          <p:nvPr/>
        </p:nvSpPr>
        <p:spPr>
          <a:xfrm>
            <a:off x="2021237" y="394221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CCCDA8-BCF9-6296-38CE-E46E8CB27F2F}"/>
              </a:ext>
            </a:extLst>
          </p:cNvPr>
          <p:cNvSpPr txBox="1"/>
          <p:nvPr/>
        </p:nvSpPr>
        <p:spPr>
          <a:xfrm>
            <a:off x="2202165" y="3898124"/>
            <a:ext cx="70677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Upper time bound + lower time bound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(E.g. TV systems)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5E1787-9CA8-FF4C-3527-E3C273AD7545}"/>
              </a:ext>
            </a:extLst>
          </p:cNvPr>
          <p:cNvSpPr txBox="1"/>
          <p:nvPr/>
        </p:nvSpPr>
        <p:spPr>
          <a:xfrm>
            <a:off x="2021237" y="437134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3BDDA3-C429-0EBA-1991-24E4B6CA03C7}"/>
              </a:ext>
            </a:extLst>
          </p:cNvPr>
          <p:cNvSpPr txBox="1"/>
          <p:nvPr/>
        </p:nvSpPr>
        <p:spPr>
          <a:xfrm>
            <a:off x="2202165" y="4327258"/>
            <a:ext cx="74021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 will  reach  destination  in  between  these  upper  and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98FF9-9BC4-4B2B-8708-B42749E7E345}"/>
              </a:ext>
            </a:extLst>
          </p:cNvPr>
          <p:cNvSpPr txBox="1"/>
          <p:nvPr/>
        </p:nvSpPr>
        <p:spPr>
          <a:xfrm>
            <a:off x="2202165" y="4678011"/>
            <a:ext cx="22033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lower bound time.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5FF5C7-5A18-01C4-0A06-736EF0D7B752}"/>
              </a:ext>
            </a:extLst>
          </p:cNvPr>
          <p:cNvSpPr txBox="1"/>
          <p:nvPr/>
        </p:nvSpPr>
        <p:spPr>
          <a:xfrm>
            <a:off x="2021237" y="515123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4C95C2-778A-8FF6-97AC-3134E102BE35}"/>
              </a:ext>
            </a:extLst>
          </p:cNvPr>
          <p:cNvSpPr txBox="1"/>
          <p:nvPr/>
        </p:nvSpPr>
        <p:spPr>
          <a:xfrm>
            <a:off x="2202165" y="5107143"/>
            <a:ext cx="5896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620803-4B41-7DBF-84EB-D213DC3392C5}"/>
              </a:ext>
            </a:extLst>
          </p:cNvPr>
          <p:cNvSpPr txBox="1"/>
          <p:nvPr/>
        </p:nvSpPr>
        <p:spPr>
          <a:xfrm>
            <a:off x="3065984" y="5107143"/>
            <a:ext cx="9310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88C4BC-51B3-A2ED-2E02-DE71759E066F}"/>
              </a:ext>
            </a:extLst>
          </p:cNvPr>
          <p:cNvSpPr txBox="1"/>
          <p:nvPr/>
        </p:nvSpPr>
        <p:spPr>
          <a:xfrm>
            <a:off x="4299170" y="5107143"/>
            <a:ext cx="7087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buffer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30D90F-042A-97B7-C37A-0C85ED0B3D09}"/>
              </a:ext>
            </a:extLst>
          </p:cNvPr>
          <p:cNvSpPr txBox="1"/>
          <p:nvPr/>
        </p:nvSpPr>
        <p:spPr>
          <a:xfrm>
            <a:off x="5293296" y="510714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37FDB0-6A6D-E4F1-88D4-BD41A331B039}"/>
              </a:ext>
            </a:extLst>
          </p:cNvPr>
          <p:cNvSpPr txBox="1"/>
          <p:nvPr/>
        </p:nvSpPr>
        <p:spPr>
          <a:xfrm>
            <a:off x="5769785" y="5107143"/>
            <a:ext cx="9928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A58D0C-B318-5CA5-DB3D-DB2F070D2857}"/>
              </a:ext>
            </a:extLst>
          </p:cNvPr>
          <p:cNvSpPr txBox="1"/>
          <p:nvPr/>
        </p:nvSpPr>
        <p:spPr>
          <a:xfrm>
            <a:off x="7070900" y="5107143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37B27F-5125-7BAB-0ECD-D182E378D97A}"/>
              </a:ext>
            </a:extLst>
          </p:cNvPr>
          <p:cNvSpPr txBox="1"/>
          <p:nvPr/>
        </p:nvSpPr>
        <p:spPr>
          <a:xfrm>
            <a:off x="7515711" y="5107143"/>
            <a:ext cx="9314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needed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CC7257-0BEA-0683-78A2-6160D44D04DA}"/>
              </a:ext>
            </a:extLst>
          </p:cNvPr>
          <p:cNvSpPr txBox="1"/>
          <p:nvPr/>
        </p:nvSpPr>
        <p:spPr>
          <a:xfrm>
            <a:off x="8747591" y="5107143"/>
            <a:ext cx="5432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DDC8CD-7BB7-D89F-23D5-0CAA011615E1}"/>
              </a:ext>
            </a:extLst>
          </p:cNvPr>
          <p:cNvSpPr txBox="1"/>
          <p:nvPr/>
        </p:nvSpPr>
        <p:spPr>
          <a:xfrm>
            <a:off x="9561443" y="510714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D8A187-3ED5-F496-704E-F0E4C000455B}"/>
              </a:ext>
            </a:extLst>
          </p:cNvPr>
          <p:cNvSpPr txBox="1"/>
          <p:nvPr/>
        </p:nvSpPr>
        <p:spPr>
          <a:xfrm>
            <a:off x="2202165" y="5457897"/>
            <a:ext cx="40806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synchronous transmission mode.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231CD6-EECA-3F5A-D197-691BA4B26F65}"/>
              </a:ext>
            </a:extLst>
          </p:cNvPr>
          <p:cNvSpPr txBox="1"/>
          <p:nvPr/>
        </p:nvSpPr>
        <p:spPr>
          <a:xfrm>
            <a:off x="2021237" y="593177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C0C904-C9D5-2A23-7B9A-C277BF1F837E}"/>
              </a:ext>
            </a:extLst>
          </p:cNvPr>
          <p:cNvSpPr txBox="1"/>
          <p:nvPr/>
        </p:nvSpPr>
        <p:spPr>
          <a:xfrm>
            <a:off x="2202165" y="5887357"/>
            <a:ext cx="57567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requirements at the receiver reduces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CE6DC4-2043-D3EF-93CA-3925F216AACE}"/>
              </a:ext>
            </a:extLst>
          </p:cNvPr>
          <p:cNvSpPr txBox="1"/>
          <p:nvPr/>
        </p:nvSpPr>
        <p:spPr>
          <a:xfrm>
            <a:off x="2202165" y="631616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31DEA34-E5EC-6725-901C-2903B648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5AB31E-0F88-463C-91A2-3834BF916AC7}" type="slidenum">
              <a:rPr/>
              <a:t>39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2F8C05A-42EE-3600-5ACA-5C786B1AA8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7CD61A6-444D-6CB1-0ECD-2BC8DB0E8A15}"/>
              </a:ext>
            </a:extLst>
          </p:cNvPr>
          <p:cNvSpPr/>
          <p:nvPr/>
        </p:nvSpPr>
        <p:spPr>
          <a:xfrm>
            <a:off x="2479436" y="1790669"/>
            <a:ext cx="7477174" cy="3592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896" h="111">
                <a:moveTo>
                  <a:pt x="0" y="0"/>
                </a:moveTo>
                <a:lnTo>
                  <a:pt x="5723" y="0"/>
                </a:lnTo>
                <a:lnTo>
                  <a:pt x="11448" y="0"/>
                </a:lnTo>
                <a:lnTo>
                  <a:pt x="17172" y="0"/>
                </a:lnTo>
                <a:lnTo>
                  <a:pt x="22896" y="0"/>
                </a:lnTo>
                <a:lnTo>
                  <a:pt x="22896" y="111"/>
                </a:lnTo>
                <a:lnTo>
                  <a:pt x="17172" y="111"/>
                </a:lnTo>
                <a:lnTo>
                  <a:pt x="11448" y="111"/>
                </a:lnTo>
                <a:lnTo>
                  <a:pt x="572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C0A47-6EC1-FD88-03A6-7F10B48970D3}"/>
              </a:ext>
            </a:extLst>
          </p:cNvPr>
          <p:cNvSpPr txBox="1"/>
          <p:nvPr/>
        </p:nvSpPr>
        <p:spPr>
          <a:xfrm>
            <a:off x="2479436" y="1446447"/>
            <a:ext cx="656263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stream characteristics for continuous media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0125B-2305-5BF2-C1B7-9D7C88EF10B1}"/>
              </a:ext>
            </a:extLst>
          </p:cNvPr>
          <p:cNvSpPr txBox="1"/>
          <p:nvPr/>
        </p:nvSpPr>
        <p:spPr>
          <a:xfrm>
            <a:off x="2021563" y="1848148"/>
            <a:ext cx="593656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Characteristics for continuous media can be classified according to: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16B1D-9F12-7D79-B349-A2D315E5BD77}"/>
              </a:ext>
            </a:extLst>
          </p:cNvPr>
          <p:cNvSpPr txBox="1"/>
          <p:nvPr/>
        </p:nvSpPr>
        <p:spPr>
          <a:xfrm>
            <a:off x="2021563" y="2138482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EBD97-5747-0432-C0A8-9C7DB5C7A1A3}"/>
              </a:ext>
            </a:extLst>
          </p:cNvPr>
          <p:cNvSpPr txBox="1"/>
          <p:nvPr/>
        </p:nvSpPr>
        <p:spPr>
          <a:xfrm>
            <a:off x="2021564" y="2428490"/>
            <a:ext cx="621105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 interval between a complete transmission of consecutive packets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A4370-EB22-970B-8494-B141D405292B}"/>
              </a:ext>
            </a:extLst>
          </p:cNvPr>
          <p:cNvSpPr txBox="1"/>
          <p:nvPr/>
        </p:nvSpPr>
        <p:spPr>
          <a:xfrm>
            <a:off x="2021563" y="2718824"/>
            <a:ext cx="134857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    </a:t>
            </a:r>
            <a:r>
              <a:rPr lang="en-US" sz="1551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Periodicity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52419-8341-5D11-17AB-024769B120A1}"/>
              </a:ext>
            </a:extLst>
          </p:cNvPr>
          <p:cNvSpPr txBox="1"/>
          <p:nvPr/>
        </p:nvSpPr>
        <p:spPr>
          <a:xfrm>
            <a:off x="2021563" y="3008506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E751C-9558-554F-C3C8-FF96CA1789A9}"/>
              </a:ext>
            </a:extLst>
          </p:cNvPr>
          <p:cNvSpPr txBox="1"/>
          <p:nvPr/>
        </p:nvSpPr>
        <p:spPr>
          <a:xfrm>
            <a:off x="2976173" y="3008506"/>
            <a:ext cx="1801775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(a) Strongly Periodic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C3B01-2341-32DA-FF47-CB2593471483}"/>
              </a:ext>
            </a:extLst>
          </p:cNvPr>
          <p:cNvSpPr txBox="1"/>
          <p:nvPr/>
        </p:nvSpPr>
        <p:spPr>
          <a:xfrm>
            <a:off x="2021563" y="3298514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12F68A-6183-4AF6-80DD-24CC8E3BFFFD}"/>
              </a:ext>
            </a:extLst>
          </p:cNvPr>
          <p:cNvSpPr txBox="1"/>
          <p:nvPr/>
        </p:nvSpPr>
        <p:spPr>
          <a:xfrm>
            <a:off x="2976173" y="3298514"/>
            <a:ext cx="172059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(b) Weakly Periodic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93326-825F-3E76-CD78-53DC29A6A6A0}"/>
              </a:ext>
            </a:extLst>
          </p:cNvPr>
          <p:cNvSpPr txBox="1"/>
          <p:nvPr/>
        </p:nvSpPr>
        <p:spPr>
          <a:xfrm>
            <a:off x="2021563" y="3588848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C46D2-1C6D-E3B6-7653-E25508B5896D}"/>
              </a:ext>
            </a:extLst>
          </p:cNvPr>
          <p:cNvSpPr txBox="1"/>
          <p:nvPr/>
        </p:nvSpPr>
        <p:spPr>
          <a:xfrm>
            <a:off x="2976173" y="3588848"/>
            <a:ext cx="1105367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(c) Aperiodic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67C17-EA6B-771E-538B-84096FE11A39}"/>
              </a:ext>
            </a:extLst>
          </p:cNvPr>
          <p:cNvSpPr txBox="1"/>
          <p:nvPr/>
        </p:nvSpPr>
        <p:spPr>
          <a:xfrm>
            <a:off x="2021563" y="3878529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71255D-80BE-79B7-8E06-7717A98056A0}"/>
              </a:ext>
            </a:extLst>
          </p:cNvPr>
          <p:cNvSpPr txBox="1"/>
          <p:nvPr/>
        </p:nvSpPr>
        <p:spPr>
          <a:xfrm>
            <a:off x="2021563" y="4169191"/>
            <a:ext cx="43929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Variation in amount of consecutive packet amount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C3D4D-7D13-0AE1-D7F9-9266B4FD9545}"/>
              </a:ext>
            </a:extLst>
          </p:cNvPr>
          <p:cNvSpPr txBox="1"/>
          <p:nvPr/>
        </p:nvSpPr>
        <p:spPr>
          <a:xfrm>
            <a:off x="2021563" y="4458872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A8BC2F-09FC-CBCA-AB50-400FD716023C}"/>
              </a:ext>
            </a:extLst>
          </p:cNvPr>
          <p:cNvSpPr txBox="1"/>
          <p:nvPr/>
        </p:nvSpPr>
        <p:spPr>
          <a:xfrm>
            <a:off x="2976173" y="4458872"/>
            <a:ext cx="99482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(a) Regular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0A767-90E4-CEB7-C756-2AA7B6950340}"/>
              </a:ext>
            </a:extLst>
          </p:cNvPr>
          <p:cNvSpPr txBox="1"/>
          <p:nvPr/>
        </p:nvSpPr>
        <p:spPr>
          <a:xfrm>
            <a:off x="2021563" y="4748879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8B1AB-10C5-754D-BFE1-161777DE6C76}"/>
              </a:ext>
            </a:extLst>
          </p:cNvPr>
          <p:cNvSpPr txBox="1"/>
          <p:nvPr/>
        </p:nvSpPr>
        <p:spPr>
          <a:xfrm>
            <a:off x="2976173" y="4748879"/>
            <a:ext cx="162114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(b) Weakly regular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0E5ECB-5D08-AFA2-7F02-1ACA4824B2EA}"/>
              </a:ext>
            </a:extLst>
          </p:cNvPr>
          <p:cNvSpPr txBox="1"/>
          <p:nvPr/>
        </p:nvSpPr>
        <p:spPr>
          <a:xfrm>
            <a:off x="2021563" y="5039214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64A617-8285-71C9-9B15-1491DC278CB4}"/>
              </a:ext>
            </a:extLst>
          </p:cNvPr>
          <p:cNvSpPr txBox="1"/>
          <p:nvPr/>
        </p:nvSpPr>
        <p:spPr>
          <a:xfrm>
            <a:off x="2976173" y="5039214"/>
            <a:ext cx="102778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(c) Irregular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42760A-7C2A-C22A-D896-A2D548DE6250}"/>
              </a:ext>
            </a:extLst>
          </p:cNvPr>
          <p:cNvSpPr txBox="1"/>
          <p:nvPr/>
        </p:nvSpPr>
        <p:spPr>
          <a:xfrm>
            <a:off x="2021563" y="5328896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8508C9-866B-806D-0694-8C560B16541F}"/>
              </a:ext>
            </a:extLst>
          </p:cNvPr>
          <p:cNvSpPr txBox="1"/>
          <p:nvPr/>
        </p:nvSpPr>
        <p:spPr>
          <a:xfrm>
            <a:off x="2021563" y="5618903"/>
            <a:ext cx="1746888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Contiguous packets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407A3-B291-8BBA-0B41-D50B530DC494}"/>
              </a:ext>
            </a:extLst>
          </p:cNvPr>
          <p:cNvSpPr txBox="1"/>
          <p:nvPr/>
        </p:nvSpPr>
        <p:spPr>
          <a:xfrm>
            <a:off x="2021563" y="5909564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C38902-1609-17E3-E812-3F95A2C3646A}"/>
              </a:ext>
            </a:extLst>
          </p:cNvPr>
          <p:cNvSpPr txBox="1"/>
          <p:nvPr/>
        </p:nvSpPr>
        <p:spPr>
          <a:xfrm>
            <a:off x="2976172" y="5909564"/>
            <a:ext cx="130452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(a) Continuous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CDE366-891B-542A-DE17-A2665EF66C7C}"/>
              </a:ext>
            </a:extLst>
          </p:cNvPr>
          <p:cNvSpPr txBox="1"/>
          <p:nvPr/>
        </p:nvSpPr>
        <p:spPr>
          <a:xfrm>
            <a:off x="2021563" y="6199245"/>
            <a:ext cx="5527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6A36B-8680-FE02-79BA-012669758F83}"/>
              </a:ext>
            </a:extLst>
          </p:cNvPr>
          <p:cNvSpPr txBox="1"/>
          <p:nvPr/>
        </p:nvSpPr>
        <p:spPr>
          <a:xfrm>
            <a:off x="2976173" y="6199245"/>
            <a:ext cx="1027782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(b) Discrete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79B8634-C999-0F78-965A-0CC3217D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ED6842-A5E6-4503-AD94-7711C1E9EA52}" type="slidenum">
              <a:t>40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D66EFE6-26CD-AA6E-663F-80A461DBBC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315FE-23B6-C1F8-8B75-0C621C47BCCA}"/>
              </a:ext>
            </a:extLst>
          </p:cNvPr>
          <p:cNvSpPr txBox="1"/>
          <p:nvPr/>
        </p:nvSpPr>
        <p:spPr>
          <a:xfrm>
            <a:off x="2021237" y="1513071"/>
            <a:ext cx="47429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 interval based characteristics: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C16E873-582F-B832-928D-96E7C1E2B9D6}"/>
              </a:ext>
            </a:extLst>
          </p:cNvPr>
          <p:cNvSpPr/>
          <p:nvPr/>
        </p:nvSpPr>
        <p:spPr>
          <a:xfrm>
            <a:off x="2472904" y="2304061"/>
            <a:ext cx="5685853" cy="2449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11" h="76">
                <a:moveTo>
                  <a:pt x="0" y="0"/>
                </a:moveTo>
                <a:lnTo>
                  <a:pt x="5804" y="0"/>
                </a:lnTo>
                <a:lnTo>
                  <a:pt x="11608" y="0"/>
                </a:lnTo>
                <a:lnTo>
                  <a:pt x="17411" y="0"/>
                </a:lnTo>
                <a:lnTo>
                  <a:pt x="17411" y="76"/>
                </a:lnTo>
                <a:lnTo>
                  <a:pt x="11608" y="76"/>
                </a:lnTo>
                <a:lnTo>
                  <a:pt x="5804" y="76"/>
                </a:lnTo>
                <a:lnTo>
                  <a:pt x="0" y="76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1FCEF-E72E-DDB9-6D20-784C63F5DBF2}"/>
              </a:ext>
            </a:extLst>
          </p:cNvPr>
          <p:cNvSpPr txBox="1"/>
          <p:nvPr/>
        </p:nvSpPr>
        <p:spPr>
          <a:xfrm>
            <a:off x="2021236" y="1978129"/>
            <a:ext cx="577158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(1) Strongly periodic data stream transmission: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86A325-455E-3F0C-8F9A-F837F89754B5}"/>
              </a:ext>
            </a:extLst>
          </p:cNvPr>
          <p:cNvSpPr/>
          <p:nvPr/>
        </p:nvSpPr>
        <p:spPr>
          <a:xfrm>
            <a:off x="2583943" y="3219807"/>
            <a:ext cx="6820411" cy="2109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885" h="647">
                <a:moveTo>
                  <a:pt x="20283" y="0"/>
                </a:moveTo>
                <a:lnTo>
                  <a:pt x="20283" y="647"/>
                </a:lnTo>
                <a:lnTo>
                  <a:pt x="20785" y="378"/>
                </a:lnTo>
                <a:lnTo>
                  <a:pt x="20413" y="378"/>
                </a:lnTo>
                <a:lnTo>
                  <a:pt x="20433" y="356"/>
                </a:lnTo>
                <a:lnTo>
                  <a:pt x="20433" y="292"/>
                </a:lnTo>
                <a:lnTo>
                  <a:pt x="20413" y="270"/>
                </a:lnTo>
                <a:lnTo>
                  <a:pt x="20785" y="270"/>
                </a:lnTo>
                <a:close/>
                <a:moveTo>
                  <a:pt x="20283" y="270"/>
                </a:moveTo>
                <a:lnTo>
                  <a:pt x="21" y="270"/>
                </a:lnTo>
                <a:lnTo>
                  <a:pt x="0" y="292"/>
                </a:lnTo>
                <a:lnTo>
                  <a:pt x="0" y="356"/>
                </a:lnTo>
                <a:lnTo>
                  <a:pt x="21" y="378"/>
                </a:lnTo>
                <a:lnTo>
                  <a:pt x="20283" y="378"/>
                </a:lnTo>
                <a:close/>
                <a:moveTo>
                  <a:pt x="20785" y="270"/>
                </a:moveTo>
                <a:lnTo>
                  <a:pt x="20413" y="270"/>
                </a:lnTo>
                <a:lnTo>
                  <a:pt x="20433" y="292"/>
                </a:lnTo>
                <a:lnTo>
                  <a:pt x="20433" y="356"/>
                </a:lnTo>
                <a:lnTo>
                  <a:pt x="20413" y="378"/>
                </a:lnTo>
                <a:lnTo>
                  <a:pt x="20785" y="378"/>
                </a:lnTo>
                <a:lnTo>
                  <a:pt x="20885" y="325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50CFF58-FA88-BFB6-8328-1C8569CCA5D7}"/>
              </a:ext>
            </a:extLst>
          </p:cNvPr>
          <p:cNvSpPr/>
          <p:nvPr/>
        </p:nvSpPr>
        <p:spPr>
          <a:xfrm>
            <a:off x="2633584" y="2669837"/>
            <a:ext cx="611041" cy="72599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2" h="2224">
                <a:moveTo>
                  <a:pt x="0" y="2224"/>
                </a:moveTo>
                <a:lnTo>
                  <a:pt x="1872" y="2224"/>
                </a:lnTo>
                <a:lnTo>
                  <a:pt x="1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7E7E">
              <a:alpha val="50000"/>
            </a:srgbClr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153B682-6F8B-D0C8-0BCB-A485EF5E10DA}"/>
              </a:ext>
            </a:extLst>
          </p:cNvPr>
          <p:cNvSpPr/>
          <p:nvPr/>
        </p:nvSpPr>
        <p:spPr>
          <a:xfrm>
            <a:off x="2600599" y="2599294"/>
            <a:ext cx="611041" cy="7263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2" h="2225">
                <a:moveTo>
                  <a:pt x="0" y="2225"/>
                </a:moveTo>
                <a:lnTo>
                  <a:pt x="1872" y="2225"/>
                </a:lnTo>
                <a:lnTo>
                  <a:pt x="1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440" cap="flat">
            <a:solidFill>
              <a:srgbClr val="F1F1F1"/>
            </a:solidFill>
            <a:prstDash val="solid"/>
            <a:miter/>
          </a:ln>
        </p:spPr>
        <p:txBody>
          <a:bodyPr wrap="none" lIns="653" tIns="653" rIns="653" bIns="65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44061B-3DE9-6EC5-B3FC-15C97F2B631C}"/>
              </a:ext>
            </a:extLst>
          </p:cNvPr>
          <p:cNvSpPr/>
          <p:nvPr/>
        </p:nvSpPr>
        <p:spPr>
          <a:xfrm>
            <a:off x="3936007" y="2669837"/>
            <a:ext cx="611041" cy="72599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2" h="2224">
                <a:moveTo>
                  <a:pt x="0" y="2224"/>
                </a:moveTo>
                <a:lnTo>
                  <a:pt x="1872" y="2224"/>
                </a:lnTo>
                <a:lnTo>
                  <a:pt x="1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7E7E">
              <a:alpha val="50000"/>
            </a:srgbClr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6330D8-9D2D-2FC2-5575-650AC0D221CC}"/>
              </a:ext>
            </a:extLst>
          </p:cNvPr>
          <p:cNvSpPr/>
          <p:nvPr/>
        </p:nvSpPr>
        <p:spPr>
          <a:xfrm>
            <a:off x="3903349" y="2599294"/>
            <a:ext cx="611041" cy="7263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2" h="2225">
                <a:moveTo>
                  <a:pt x="0" y="2225"/>
                </a:moveTo>
                <a:lnTo>
                  <a:pt x="1872" y="2225"/>
                </a:lnTo>
                <a:lnTo>
                  <a:pt x="1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440" cap="flat">
            <a:solidFill>
              <a:srgbClr val="F1F1F1"/>
            </a:solidFill>
            <a:prstDash val="solid"/>
            <a:miter/>
          </a:ln>
        </p:spPr>
        <p:txBody>
          <a:bodyPr wrap="none" lIns="653" tIns="653" rIns="653" bIns="65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E7A7B0-2F1A-2063-C94C-393ED7F2A9BC}"/>
              </a:ext>
            </a:extLst>
          </p:cNvPr>
          <p:cNvSpPr/>
          <p:nvPr/>
        </p:nvSpPr>
        <p:spPr>
          <a:xfrm>
            <a:off x="5317790" y="2669837"/>
            <a:ext cx="611041" cy="72599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2" h="2224">
                <a:moveTo>
                  <a:pt x="0" y="2224"/>
                </a:moveTo>
                <a:lnTo>
                  <a:pt x="1872" y="2224"/>
                </a:lnTo>
                <a:lnTo>
                  <a:pt x="1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7E7E">
              <a:alpha val="50000"/>
            </a:srgbClr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3EF185-D790-0788-86CD-2519248AA400}"/>
              </a:ext>
            </a:extLst>
          </p:cNvPr>
          <p:cNvSpPr/>
          <p:nvPr/>
        </p:nvSpPr>
        <p:spPr>
          <a:xfrm>
            <a:off x="5284479" y="2599294"/>
            <a:ext cx="611368" cy="7263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3" h="2225">
                <a:moveTo>
                  <a:pt x="0" y="2225"/>
                </a:moveTo>
                <a:lnTo>
                  <a:pt x="1873" y="2225"/>
                </a:lnTo>
                <a:lnTo>
                  <a:pt x="187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440" cap="flat">
            <a:solidFill>
              <a:srgbClr val="F1F1F1"/>
            </a:solidFill>
            <a:prstDash val="solid"/>
            <a:miter/>
          </a:ln>
        </p:spPr>
        <p:txBody>
          <a:bodyPr wrap="none" lIns="653" tIns="653" rIns="653" bIns="65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E2528B-AF98-2A51-1DC6-5DFBF098F3D3}"/>
              </a:ext>
            </a:extLst>
          </p:cNvPr>
          <p:cNvSpPr/>
          <p:nvPr/>
        </p:nvSpPr>
        <p:spPr>
          <a:xfrm>
            <a:off x="6726680" y="2669837"/>
            <a:ext cx="611368" cy="72599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3" h="2224">
                <a:moveTo>
                  <a:pt x="0" y="2224"/>
                </a:moveTo>
                <a:lnTo>
                  <a:pt x="1873" y="2224"/>
                </a:lnTo>
                <a:lnTo>
                  <a:pt x="187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7E7E">
              <a:alpha val="50000"/>
            </a:srgbClr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EB21C4F-EDE0-2776-8A89-E63ECA3D16DF}"/>
              </a:ext>
            </a:extLst>
          </p:cNvPr>
          <p:cNvSpPr/>
          <p:nvPr/>
        </p:nvSpPr>
        <p:spPr>
          <a:xfrm>
            <a:off x="6694022" y="2599294"/>
            <a:ext cx="611368" cy="7263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3" h="2225">
                <a:moveTo>
                  <a:pt x="0" y="2225"/>
                </a:moveTo>
                <a:lnTo>
                  <a:pt x="1873" y="2225"/>
                </a:lnTo>
                <a:lnTo>
                  <a:pt x="187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440" cap="flat">
            <a:solidFill>
              <a:srgbClr val="F1F1F1"/>
            </a:solidFill>
            <a:prstDash val="solid"/>
            <a:miter/>
          </a:ln>
        </p:spPr>
        <p:txBody>
          <a:bodyPr wrap="none" lIns="653" tIns="653" rIns="653" bIns="65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220AB1-4DB1-BB0A-46DD-95AF890EF3A3}"/>
              </a:ext>
            </a:extLst>
          </p:cNvPr>
          <p:cNvSpPr/>
          <p:nvPr/>
        </p:nvSpPr>
        <p:spPr>
          <a:xfrm>
            <a:off x="3211967" y="3325621"/>
            <a:ext cx="1276296" cy="86153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09" h="2639">
                <a:moveTo>
                  <a:pt x="0" y="0"/>
                </a:moveTo>
                <a:lnTo>
                  <a:pt x="0" y="2639"/>
                </a:lnTo>
                <a:moveTo>
                  <a:pt x="3909" y="0"/>
                </a:moveTo>
                <a:lnTo>
                  <a:pt x="3909" y="2639"/>
                </a:lnTo>
              </a:path>
            </a:pathLst>
          </a:custGeom>
          <a:noFill/>
          <a:ln w="9360" cap="flat">
            <a:solidFill>
              <a:srgbClr val="000000"/>
            </a:solidFill>
            <a:prstDash val="solid"/>
            <a:round/>
          </a:ln>
        </p:spPr>
        <p:txBody>
          <a:bodyPr wrap="none" lIns="4246" tIns="4246" rIns="4246" bIns="4246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5BD208-38B3-A6A3-1122-FEF413720054}"/>
              </a:ext>
            </a:extLst>
          </p:cNvPr>
          <p:cNvSpPr/>
          <p:nvPr/>
        </p:nvSpPr>
        <p:spPr>
          <a:xfrm>
            <a:off x="3211967" y="3492179"/>
            <a:ext cx="1276296" cy="21130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09" h="648">
                <a:moveTo>
                  <a:pt x="603" y="0"/>
                </a:moveTo>
                <a:lnTo>
                  <a:pt x="0" y="324"/>
                </a:lnTo>
                <a:lnTo>
                  <a:pt x="603" y="648"/>
                </a:lnTo>
                <a:lnTo>
                  <a:pt x="603" y="377"/>
                </a:lnTo>
                <a:lnTo>
                  <a:pt x="471" y="377"/>
                </a:lnTo>
                <a:lnTo>
                  <a:pt x="452" y="356"/>
                </a:lnTo>
                <a:lnTo>
                  <a:pt x="452" y="292"/>
                </a:lnTo>
                <a:lnTo>
                  <a:pt x="471" y="270"/>
                </a:lnTo>
                <a:lnTo>
                  <a:pt x="603" y="270"/>
                </a:lnTo>
                <a:close/>
                <a:moveTo>
                  <a:pt x="3307" y="0"/>
                </a:moveTo>
                <a:lnTo>
                  <a:pt x="3307" y="648"/>
                </a:lnTo>
                <a:lnTo>
                  <a:pt x="3809" y="377"/>
                </a:lnTo>
                <a:lnTo>
                  <a:pt x="3438" y="377"/>
                </a:lnTo>
                <a:lnTo>
                  <a:pt x="3457" y="356"/>
                </a:lnTo>
                <a:lnTo>
                  <a:pt x="3457" y="292"/>
                </a:lnTo>
                <a:lnTo>
                  <a:pt x="3438" y="270"/>
                </a:lnTo>
                <a:lnTo>
                  <a:pt x="3809" y="270"/>
                </a:lnTo>
                <a:close/>
                <a:moveTo>
                  <a:pt x="603" y="270"/>
                </a:moveTo>
                <a:lnTo>
                  <a:pt x="471" y="270"/>
                </a:lnTo>
                <a:lnTo>
                  <a:pt x="452" y="292"/>
                </a:lnTo>
                <a:lnTo>
                  <a:pt x="452" y="356"/>
                </a:lnTo>
                <a:lnTo>
                  <a:pt x="471" y="377"/>
                </a:lnTo>
                <a:lnTo>
                  <a:pt x="603" y="377"/>
                </a:lnTo>
                <a:close/>
                <a:moveTo>
                  <a:pt x="3307" y="270"/>
                </a:moveTo>
                <a:lnTo>
                  <a:pt x="603" y="270"/>
                </a:lnTo>
                <a:lnTo>
                  <a:pt x="603" y="377"/>
                </a:lnTo>
                <a:lnTo>
                  <a:pt x="3307" y="377"/>
                </a:lnTo>
                <a:close/>
                <a:moveTo>
                  <a:pt x="3809" y="270"/>
                </a:moveTo>
                <a:lnTo>
                  <a:pt x="3438" y="270"/>
                </a:lnTo>
                <a:lnTo>
                  <a:pt x="3457" y="292"/>
                </a:lnTo>
                <a:lnTo>
                  <a:pt x="3457" y="356"/>
                </a:lnTo>
                <a:lnTo>
                  <a:pt x="3438" y="377"/>
                </a:lnTo>
                <a:lnTo>
                  <a:pt x="3809" y="377"/>
                </a:lnTo>
                <a:lnTo>
                  <a:pt x="3909" y="324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91534-C3A2-BEFD-6C3E-A38D6F9E8095}"/>
              </a:ext>
            </a:extLst>
          </p:cNvPr>
          <p:cNvSpPr txBox="1"/>
          <p:nvPr/>
        </p:nvSpPr>
        <p:spPr>
          <a:xfrm>
            <a:off x="2380155" y="4900089"/>
            <a:ext cx="660578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 interval between two consecutive packets is constant. E.g.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F95B7-6203-EB3B-30E3-0A016C422B70}"/>
              </a:ext>
            </a:extLst>
          </p:cNvPr>
          <p:cNvSpPr txBox="1"/>
          <p:nvPr/>
        </p:nvSpPr>
        <p:spPr>
          <a:xfrm>
            <a:off x="2380155" y="5223082"/>
            <a:ext cx="123437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PCM-coded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C4B98-1A94-2471-C41D-AFA6364F6A5F}"/>
              </a:ext>
            </a:extLst>
          </p:cNvPr>
          <p:cNvSpPr txBox="1"/>
          <p:nvPr/>
        </p:nvSpPr>
        <p:spPr>
          <a:xfrm>
            <a:off x="3915758" y="5223082"/>
            <a:ext cx="75392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speech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C552F6-0746-B0EE-C9E2-289755505491}"/>
              </a:ext>
            </a:extLst>
          </p:cNvPr>
          <p:cNvSpPr txBox="1"/>
          <p:nvPr/>
        </p:nvSpPr>
        <p:spPr>
          <a:xfrm>
            <a:off x="4936012" y="5223082"/>
            <a:ext cx="50699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FDE717-C4BC-850C-6F85-772C7948C482}"/>
              </a:ext>
            </a:extLst>
          </p:cNvPr>
          <p:cNvSpPr txBox="1"/>
          <p:nvPr/>
        </p:nvSpPr>
        <p:spPr>
          <a:xfrm>
            <a:off x="5690425" y="5223082"/>
            <a:ext cx="18197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9593F3-3AF5-A3D4-F99F-9DBC6A05DBDA}"/>
              </a:ext>
            </a:extLst>
          </p:cNvPr>
          <p:cNvSpPr txBox="1"/>
          <p:nvPr/>
        </p:nvSpPr>
        <p:spPr>
          <a:xfrm>
            <a:off x="6097024" y="5223082"/>
            <a:ext cx="101373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traditional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200360-0DED-4D6E-E89D-9B91F1766BCF}"/>
              </a:ext>
            </a:extLst>
          </p:cNvPr>
          <p:cNvSpPr txBox="1"/>
          <p:nvPr/>
        </p:nvSpPr>
        <p:spPr>
          <a:xfrm>
            <a:off x="7395853" y="5223082"/>
            <a:ext cx="102714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telephone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3F4B81-84BE-5061-0152-C4AD3A34F17D}"/>
              </a:ext>
            </a:extLst>
          </p:cNvPr>
          <p:cNvSpPr txBox="1"/>
          <p:nvPr/>
        </p:nvSpPr>
        <p:spPr>
          <a:xfrm>
            <a:off x="8708401" y="5223082"/>
            <a:ext cx="96154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switching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20F286-7ACD-EC53-0C48-D39D43A866C9}"/>
              </a:ext>
            </a:extLst>
          </p:cNvPr>
          <p:cNvSpPr txBox="1"/>
          <p:nvPr/>
        </p:nvSpPr>
        <p:spPr>
          <a:xfrm>
            <a:off x="2380154" y="5546727"/>
            <a:ext cx="435279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systems. It is also called strongly periodic.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10DD6-F4F3-34FE-837A-AAB668AD394B}"/>
              </a:ext>
            </a:extLst>
          </p:cNvPr>
          <p:cNvSpPr txBox="1"/>
          <p:nvPr/>
        </p:nvSpPr>
        <p:spPr>
          <a:xfrm>
            <a:off x="3677025" y="3862527"/>
            <a:ext cx="14279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17C9C73-1174-C1D5-9DCF-BAB569DB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A51606-BB0C-4DCE-860C-D8C79F00CFD5}" type="slidenum">
              <a:rPr/>
              <a:t>41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4E3CA69-5EC3-2137-4FB4-D1391A325F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599CF-4153-39CE-8F7D-7E788B79E0DA}"/>
              </a:ext>
            </a:extLst>
          </p:cNvPr>
          <p:cNvSpPr txBox="1"/>
          <p:nvPr/>
        </p:nvSpPr>
        <p:spPr>
          <a:xfrm>
            <a:off x="2021564" y="1513071"/>
            <a:ext cx="47429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 interval based characteristics: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F7970-2FCC-42AF-D055-EEB0C00A014A}"/>
              </a:ext>
            </a:extLst>
          </p:cNvPr>
          <p:cNvSpPr txBox="1"/>
          <p:nvPr/>
        </p:nvSpPr>
        <p:spPr>
          <a:xfrm>
            <a:off x="2021563" y="1960493"/>
            <a:ext cx="55800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(2) 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Weakly periodic data stream transmission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D2C1834-9E60-392C-9468-C1119F42A053}"/>
              </a:ext>
            </a:extLst>
          </p:cNvPr>
          <p:cNvSpPr/>
          <p:nvPr/>
        </p:nvSpPr>
        <p:spPr>
          <a:xfrm>
            <a:off x="2462453" y="2274342"/>
            <a:ext cx="5432096" cy="2351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634" h="73">
                <a:moveTo>
                  <a:pt x="0" y="0"/>
                </a:moveTo>
                <a:lnTo>
                  <a:pt x="5545" y="0"/>
                </a:lnTo>
                <a:lnTo>
                  <a:pt x="11089" y="0"/>
                </a:lnTo>
                <a:lnTo>
                  <a:pt x="16634" y="0"/>
                </a:lnTo>
                <a:lnTo>
                  <a:pt x="16634" y="73"/>
                </a:lnTo>
                <a:lnTo>
                  <a:pt x="11089" y="73"/>
                </a:lnTo>
                <a:lnTo>
                  <a:pt x="5545" y="73"/>
                </a:ln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F2138-7B4E-B181-0D07-CA1200FCAB55}"/>
              </a:ext>
            </a:extLst>
          </p:cNvPr>
          <p:cNvSpPr txBox="1"/>
          <p:nvPr/>
        </p:nvSpPr>
        <p:spPr>
          <a:xfrm>
            <a:off x="7895203" y="2007521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35279-82A0-FBFC-568B-1D3E3A37308D}"/>
              </a:ext>
            </a:extLst>
          </p:cNvPr>
          <p:cNvSpPr txBox="1"/>
          <p:nvPr/>
        </p:nvSpPr>
        <p:spPr>
          <a:xfrm>
            <a:off x="2021564" y="240856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918885-E607-9840-368D-171F4A02C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202" y="2792959"/>
            <a:ext cx="5248882" cy="1633254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162DC4-BB9C-4710-1F4C-C6A4030C7D93}"/>
              </a:ext>
            </a:extLst>
          </p:cNvPr>
          <p:cNvSpPr txBox="1"/>
          <p:nvPr/>
        </p:nvSpPr>
        <p:spPr>
          <a:xfrm>
            <a:off x="2168527" y="4832811"/>
            <a:ext cx="759348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  interval  between  the  consecutive  packets  is  of  periodic  nature.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E81C8-68EE-C386-0BCF-53BA8EB5E4C1}"/>
              </a:ext>
            </a:extLst>
          </p:cNvPr>
          <p:cNvSpPr txBox="1"/>
          <p:nvPr/>
        </p:nvSpPr>
        <p:spPr>
          <a:xfrm>
            <a:off x="2168527" y="5143722"/>
            <a:ext cx="736836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Duration  of  time  interval  between  two  consecutive  packets  can  be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5D8B5-758C-2F00-65BF-D476D5128464}"/>
              </a:ext>
            </a:extLst>
          </p:cNvPr>
          <p:cNvSpPr txBox="1"/>
          <p:nvPr/>
        </p:nvSpPr>
        <p:spPr>
          <a:xfrm>
            <a:off x="2168527" y="5454958"/>
            <a:ext cx="736836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described  by  using  a  periodic  function  with  finite  period.  But, 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FAED59-F47C-6806-00E9-8C093440ECDC}"/>
              </a:ext>
            </a:extLst>
          </p:cNvPr>
          <p:cNvSpPr txBox="1"/>
          <p:nvPr/>
        </p:nvSpPr>
        <p:spPr>
          <a:xfrm>
            <a:off x="2168527" y="5765867"/>
            <a:ext cx="593912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interval between two consecutive packets is not constant.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CD7D81D-FAC8-0EE5-AE54-72E4E21B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05586A-3917-40C6-A6BA-34D0A62D7960}" type="slidenum">
              <a:t>42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4372693-4BFD-997F-04EE-FE19C99651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11B2F-1064-6167-C1C3-742543597B76}"/>
              </a:ext>
            </a:extLst>
          </p:cNvPr>
          <p:cNvSpPr txBox="1"/>
          <p:nvPr/>
        </p:nvSpPr>
        <p:spPr>
          <a:xfrm>
            <a:off x="2021564" y="1512743"/>
            <a:ext cx="47429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 interval based characteristics: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37620-6961-DB4B-7D0D-B99E4AAA8C45}"/>
              </a:ext>
            </a:extLst>
          </p:cNvPr>
          <p:cNvSpPr txBox="1"/>
          <p:nvPr/>
        </p:nvSpPr>
        <p:spPr>
          <a:xfrm>
            <a:off x="2021563" y="1980088"/>
            <a:ext cx="48457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(3) Aperiodic data stream transmission: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62B12-30E4-3C46-CA07-282BD8DD27A1}"/>
              </a:ext>
            </a:extLst>
          </p:cNvPr>
          <p:cNvSpPr txBox="1"/>
          <p:nvPr/>
        </p:nvSpPr>
        <p:spPr>
          <a:xfrm>
            <a:off x="2021564" y="244743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E2EF0-4BE2-3993-6792-342832375D2A}"/>
              </a:ext>
            </a:extLst>
          </p:cNvPr>
          <p:cNvSpPr txBox="1"/>
          <p:nvPr/>
        </p:nvSpPr>
        <p:spPr>
          <a:xfrm>
            <a:off x="2203145" y="291510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C2212-D045-61EE-34F1-93C4C1F02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749" y="2766832"/>
            <a:ext cx="7785798" cy="145624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E4F368-2366-9E08-3AAE-CEA88D63B6DB}"/>
              </a:ext>
            </a:extLst>
          </p:cNvPr>
          <p:cNvSpPr txBox="1"/>
          <p:nvPr/>
        </p:nvSpPr>
        <p:spPr>
          <a:xfrm>
            <a:off x="2234497" y="5078078"/>
            <a:ext cx="674498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 of the time interval between packets is neither strongly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BAAE86-316C-7AE5-4132-652A26F2E7B7}"/>
              </a:ext>
            </a:extLst>
          </p:cNvPr>
          <p:cNvSpPr txBox="1"/>
          <p:nvPr/>
        </p:nvSpPr>
        <p:spPr>
          <a:xfrm>
            <a:off x="2234497" y="5402704"/>
            <a:ext cx="33791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754FD-5FB4-AE35-919A-616AD1525F64}"/>
              </a:ext>
            </a:extLst>
          </p:cNvPr>
          <p:cNvSpPr txBox="1"/>
          <p:nvPr/>
        </p:nvSpPr>
        <p:spPr>
          <a:xfrm>
            <a:off x="2767485" y="5402704"/>
            <a:ext cx="71461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weakly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F2F7B-F87D-FCF5-D2D6-10C9FD237B86}"/>
              </a:ext>
            </a:extLst>
          </p:cNvPr>
          <p:cNvSpPr txBox="1"/>
          <p:nvPr/>
        </p:nvSpPr>
        <p:spPr>
          <a:xfrm>
            <a:off x="3706745" y="5402704"/>
            <a:ext cx="88370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periodic.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90EA0-B1C9-66BB-F917-7D1ADB77ABB9}"/>
              </a:ext>
            </a:extLst>
          </p:cNvPr>
          <p:cNvSpPr txBox="1"/>
          <p:nvPr/>
        </p:nvSpPr>
        <p:spPr>
          <a:xfrm>
            <a:off x="4829545" y="5402704"/>
            <a:ext cx="38997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ACE99-810A-0EEB-7315-F6AC3D94DBF2}"/>
              </a:ext>
            </a:extLst>
          </p:cNvPr>
          <p:cNvSpPr txBox="1"/>
          <p:nvPr/>
        </p:nvSpPr>
        <p:spPr>
          <a:xfrm>
            <a:off x="5414786" y="5402704"/>
            <a:ext cx="126066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Cooperative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01367-F70A-93CE-73BF-4CBFDC02176D}"/>
              </a:ext>
            </a:extLst>
          </p:cNvPr>
          <p:cNvSpPr txBox="1"/>
          <p:nvPr/>
        </p:nvSpPr>
        <p:spPr>
          <a:xfrm>
            <a:off x="6943206" y="5402704"/>
            <a:ext cx="111787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CD02C-904C-E3A3-E3DB-8D5FDF2F5A3A}"/>
              </a:ext>
            </a:extLst>
          </p:cNvPr>
          <p:cNvSpPr txBox="1"/>
          <p:nvPr/>
        </p:nvSpPr>
        <p:spPr>
          <a:xfrm>
            <a:off x="8318458" y="5402704"/>
            <a:ext cx="41575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EADA74-FCB4-2AE3-2804-83240A64427E}"/>
              </a:ext>
            </a:extLst>
          </p:cNvPr>
          <p:cNvSpPr txBox="1"/>
          <p:nvPr/>
        </p:nvSpPr>
        <p:spPr>
          <a:xfrm>
            <a:off x="8935704" y="5402704"/>
            <a:ext cx="71487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shared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0AECA-8FA9-0989-B5B3-BDADA6C26CAD}"/>
              </a:ext>
            </a:extLst>
          </p:cNvPr>
          <p:cNvSpPr txBox="1"/>
          <p:nvPr/>
        </p:nvSpPr>
        <p:spPr>
          <a:xfrm>
            <a:off x="2234498" y="5727330"/>
            <a:ext cx="88357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Window.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88AF7D-A035-4883-927C-533D543E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25CF75-01EF-43FF-B1EF-421FAA015795}" type="slidenum">
              <a:rPr/>
              <a:t>43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166C48C7-7049-2EB1-7958-2366135075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8C586-9D55-77CE-B4EE-51D1E8F6D3D5}"/>
              </a:ext>
            </a:extLst>
          </p:cNvPr>
          <p:cNvSpPr txBox="1"/>
          <p:nvPr/>
        </p:nvSpPr>
        <p:spPr>
          <a:xfrm>
            <a:off x="2021237" y="1512743"/>
            <a:ext cx="50475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 Amount based characteristics: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9803992-8D75-FE1A-B9E1-3819B96F358E}"/>
              </a:ext>
            </a:extLst>
          </p:cNvPr>
          <p:cNvSpPr/>
          <p:nvPr/>
        </p:nvSpPr>
        <p:spPr>
          <a:xfrm>
            <a:off x="2021236" y="2230906"/>
            <a:ext cx="4242019" cy="222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990" h="69">
                <a:moveTo>
                  <a:pt x="0" y="0"/>
                </a:moveTo>
                <a:lnTo>
                  <a:pt x="4329" y="0"/>
                </a:lnTo>
                <a:lnTo>
                  <a:pt x="8660" y="0"/>
                </a:lnTo>
                <a:lnTo>
                  <a:pt x="12990" y="0"/>
                </a:lnTo>
                <a:lnTo>
                  <a:pt x="12990" y="69"/>
                </a:lnTo>
                <a:lnTo>
                  <a:pt x="8660" y="69"/>
                </a:lnTo>
                <a:lnTo>
                  <a:pt x="4329" y="69"/>
                </a:lnTo>
                <a:lnTo>
                  <a:pt x="0" y="69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D243B-3440-0D1B-0EC4-1C975258A708}"/>
              </a:ext>
            </a:extLst>
          </p:cNvPr>
          <p:cNvSpPr txBox="1"/>
          <p:nvPr/>
        </p:nvSpPr>
        <p:spPr>
          <a:xfrm>
            <a:off x="2021237" y="1935019"/>
            <a:ext cx="394095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(1) Strongly regular data 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66CCA-5D36-246F-B7C1-08F57E7065F4}"/>
              </a:ext>
            </a:extLst>
          </p:cNvPr>
          <p:cNvSpPr txBox="1"/>
          <p:nvPr/>
        </p:nvSpPr>
        <p:spPr>
          <a:xfrm>
            <a:off x="2021237" y="235762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A554C-9CAA-E645-74DE-2C2E817DB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441" y="2370685"/>
            <a:ext cx="2447431" cy="2238743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50213-EAD2-A1EB-1EC3-42D4F3CBDEEF}"/>
              </a:ext>
            </a:extLst>
          </p:cNvPr>
          <p:cNvSpPr txBox="1"/>
          <p:nvPr/>
        </p:nvSpPr>
        <p:spPr>
          <a:xfrm>
            <a:off x="2062386" y="4928175"/>
            <a:ext cx="745935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 size  of  all  the  packets  is  constant.  Amount  of  the  data  stays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8DABD-01C8-021B-5F1D-EE0587A2F27C}"/>
              </a:ext>
            </a:extLst>
          </p:cNvPr>
          <p:cNvSpPr txBox="1"/>
          <p:nvPr/>
        </p:nvSpPr>
        <p:spPr>
          <a:xfrm>
            <a:off x="2062387" y="5221449"/>
            <a:ext cx="744607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constant  during  the  life  time  of  a  data  stream.  E.g.  Uncompressed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8B031-D30B-5F5D-4FCB-06670BE6E58C}"/>
              </a:ext>
            </a:extLst>
          </p:cNvPr>
          <p:cNvSpPr txBox="1"/>
          <p:nvPr/>
        </p:nvSpPr>
        <p:spPr>
          <a:xfrm>
            <a:off x="2062387" y="5515049"/>
            <a:ext cx="701679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  data  transmission,  video  stream  taken  from  a  camera 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A9C97-0086-DA92-5A03-27D17E787F4C}"/>
              </a:ext>
            </a:extLst>
          </p:cNvPr>
          <p:cNvSpPr txBox="1"/>
          <p:nvPr/>
        </p:nvSpPr>
        <p:spPr>
          <a:xfrm>
            <a:off x="2062387" y="5808322"/>
            <a:ext cx="63546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uncompressed form, and the audio stream from an audio CD.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5EA31C5-7EC2-7828-8C8C-ADB8E501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02A1FE-1ABB-4E52-BA5F-66BA6C1198A0}" type="slidenum">
              <a:rPr/>
              <a:t>44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91E4041-5175-C17B-D99E-4049B2D6F6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015B0-A049-4321-BCBE-A04B4922632D}"/>
              </a:ext>
            </a:extLst>
          </p:cNvPr>
          <p:cNvSpPr txBox="1"/>
          <p:nvPr/>
        </p:nvSpPr>
        <p:spPr>
          <a:xfrm>
            <a:off x="2028095" y="1513071"/>
            <a:ext cx="50475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 Amount based characteristics: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85937-E42F-AFEB-96FA-856738D2B7BD}"/>
              </a:ext>
            </a:extLst>
          </p:cNvPr>
          <p:cNvSpPr txBox="1"/>
          <p:nvPr/>
        </p:nvSpPr>
        <p:spPr>
          <a:xfrm>
            <a:off x="2028095" y="1949062"/>
            <a:ext cx="39045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(2) Weakly regular data stream: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9B606-2A9C-EA54-F5E5-EB944F8B9CAC}"/>
              </a:ext>
            </a:extLst>
          </p:cNvPr>
          <p:cNvSpPr txBox="1"/>
          <p:nvPr/>
        </p:nvSpPr>
        <p:spPr>
          <a:xfrm>
            <a:off x="2028095" y="238505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27C77-08F6-7D29-3D54-FA5BE8DB32FC}"/>
              </a:ext>
            </a:extLst>
          </p:cNvPr>
          <p:cNvSpPr txBox="1"/>
          <p:nvPr/>
        </p:nvSpPr>
        <p:spPr>
          <a:xfrm>
            <a:off x="2028095" y="282137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DAF0A-AEF8-269A-AA35-F395F842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142" y="2394852"/>
            <a:ext cx="3092111" cy="2759647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60E0E7-6AEE-C8F7-8D2B-32502618210F}"/>
              </a:ext>
            </a:extLst>
          </p:cNvPr>
          <p:cNvSpPr txBox="1"/>
          <p:nvPr/>
        </p:nvSpPr>
        <p:spPr>
          <a:xfrm>
            <a:off x="1952001" y="5444834"/>
            <a:ext cx="49385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3C297-CB19-DD73-E8BE-1F9387371A15}"/>
              </a:ext>
            </a:extLst>
          </p:cNvPr>
          <p:cNvSpPr txBox="1"/>
          <p:nvPr/>
        </p:nvSpPr>
        <p:spPr>
          <a:xfrm>
            <a:off x="2700535" y="5444834"/>
            <a:ext cx="41575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80906-9042-D0FE-5318-A145B1D8808B}"/>
              </a:ext>
            </a:extLst>
          </p:cNvPr>
          <p:cNvSpPr txBox="1"/>
          <p:nvPr/>
        </p:nvSpPr>
        <p:spPr>
          <a:xfrm>
            <a:off x="3365136" y="5444834"/>
            <a:ext cx="1949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F97BA-EC78-3E74-5EF7-F2D0B0D1D3BC}"/>
              </a:ext>
            </a:extLst>
          </p:cNvPr>
          <p:cNvSpPr txBox="1"/>
          <p:nvPr/>
        </p:nvSpPr>
        <p:spPr>
          <a:xfrm>
            <a:off x="3787738" y="5444834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2C395-6BB3-9B83-AC62-C933971EA930}"/>
              </a:ext>
            </a:extLst>
          </p:cNvPr>
          <p:cNvSpPr txBox="1"/>
          <p:nvPr/>
        </p:nvSpPr>
        <p:spPr>
          <a:xfrm>
            <a:off x="4351751" y="5444834"/>
            <a:ext cx="80573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7A207-53EB-3ECC-AAA6-A967D8495673}"/>
              </a:ext>
            </a:extLst>
          </p:cNvPr>
          <p:cNvSpPr txBox="1"/>
          <p:nvPr/>
        </p:nvSpPr>
        <p:spPr>
          <a:xfrm>
            <a:off x="5436668" y="5444834"/>
            <a:ext cx="88396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CE627-0FB3-3191-3B32-B345D9EAB0C0}"/>
              </a:ext>
            </a:extLst>
          </p:cNvPr>
          <p:cNvSpPr txBox="1"/>
          <p:nvPr/>
        </p:nvSpPr>
        <p:spPr>
          <a:xfrm>
            <a:off x="6607477" y="5444834"/>
            <a:ext cx="116955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periodically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FE4753-0F8D-3328-84D0-F8DEDFA350E3}"/>
              </a:ext>
            </a:extLst>
          </p:cNvPr>
          <p:cNvSpPr txBox="1"/>
          <p:nvPr/>
        </p:nvSpPr>
        <p:spPr>
          <a:xfrm>
            <a:off x="8090502" y="5444834"/>
            <a:ext cx="49359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(with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5D4BD-90FF-1CB4-B51A-B3A8433E47B5}"/>
              </a:ext>
            </a:extLst>
          </p:cNvPr>
          <p:cNvSpPr txBox="1"/>
          <p:nvPr/>
        </p:nvSpPr>
        <p:spPr>
          <a:xfrm>
            <a:off x="8838709" y="5444834"/>
            <a:ext cx="58445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71FB7-2B4D-FBD0-20B5-95008CC6A9B4}"/>
              </a:ext>
            </a:extLst>
          </p:cNvPr>
          <p:cNvSpPr txBox="1"/>
          <p:nvPr/>
        </p:nvSpPr>
        <p:spPr>
          <a:xfrm>
            <a:off x="9682604" y="5444834"/>
            <a:ext cx="41588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1756FF-B401-7BEE-5996-C10731127F4F}"/>
              </a:ext>
            </a:extLst>
          </p:cNvPr>
          <p:cNvSpPr txBox="1"/>
          <p:nvPr/>
        </p:nvSpPr>
        <p:spPr>
          <a:xfrm>
            <a:off x="1952001" y="5747578"/>
            <a:ext cx="267675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compressed video stream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037ED4-06F1-0FF4-A2EE-EC614415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D8F05F-B860-4400-A209-F0B968DBF427}" type="slidenum">
              <a:t>45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3E9A525-10AC-0559-DC65-0D0BF46D23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CE208-96AB-8DD2-A21A-DE6AB6841984}"/>
              </a:ext>
            </a:extLst>
          </p:cNvPr>
          <p:cNvSpPr txBox="1"/>
          <p:nvPr/>
        </p:nvSpPr>
        <p:spPr>
          <a:xfrm>
            <a:off x="2021237" y="1513071"/>
            <a:ext cx="50475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 Amount based characteristics: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BAB674-D4E6-E981-0319-A96AE1D992A0}"/>
              </a:ext>
            </a:extLst>
          </p:cNvPr>
          <p:cNvSpPr/>
          <p:nvPr/>
        </p:nvSpPr>
        <p:spPr>
          <a:xfrm>
            <a:off x="2021237" y="2284139"/>
            <a:ext cx="3355338" cy="2384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75" h="74">
                <a:moveTo>
                  <a:pt x="0" y="0"/>
                </a:moveTo>
                <a:lnTo>
                  <a:pt x="5138" y="0"/>
                </a:lnTo>
                <a:lnTo>
                  <a:pt x="10275" y="0"/>
                </a:lnTo>
                <a:lnTo>
                  <a:pt x="10275" y="74"/>
                </a:lnTo>
                <a:lnTo>
                  <a:pt x="5138" y="74"/>
                </a:ln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90217-4C87-7972-0637-5B5A6F94021E}"/>
              </a:ext>
            </a:extLst>
          </p:cNvPr>
          <p:cNvSpPr txBox="1"/>
          <p:nvPr/>
        </p:nvSpPr>
        <p:spPr>
          <a:xfrm>
            <a:off x="2021237" y="1966371"/>
            <a:ext cx="300986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(3) Irregular data 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745A2-3884-40AF-3E88-66BCAC117BE0}"/>
              </a:ext>
            </a:extLst>
          </p:cNvPr>
          <p:cNvSpPr txBox="1"/>
          <p:nvPr/>
        </p:nvSpPr>
        <p:spPr>
          <a:xfrm>
            <a:off x="2021237" y="242032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5DDF8-1D3E-8759-6747-D19392366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829" y="2521894"/>
            <a:ext cx="2121826" cy="267375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C65429-5144-428B-EFF3-00FCEA97BE7D}"/>
              </a:ext>
            </a:extLst>
          </p:cNvPr>
          <p:cNvSpPr txBox="1"/>
          <p:nvPr/>
        </p:nvSpPr>
        <p:spPr>
          <a:xfrm>
            <a:off x="2120519" y="5288072"/>
            <a:ext cx="710893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size of the packets is neither constant nor changing periodically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8DE68-FE7C-78F8-56C3-17BF6C163B80}"/>
              </a:ext>
            </a:extLst>
          </p:cNvPr>
          <p:cNvSpPr txBox="1"/>
          <p:nvPr/>
        </p:nvSpPr>
        <p:spPr>
          <a:xfrm>
            <a:off x="2120519" y="5603227"/>
            <a:ext cx="722531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according to a periodic function. Transmission and processing is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4316C-84D8-7734-0478-3AA745A34B1E}"/>
              </a:ext>
            </a:extLst>
          </p:cNvPr>
          <p:cNvSpPr txBox="1"/>
          <p:nvPr/>
        </p:nvSpPr>
        <p:spPr>
          <a:xfrm>
            <a:off x="2120519" y="5918382"/>
            <a:ext cx="131247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complicated.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D00315D-B214-434F-69B8-E0274E53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448623-EBFA-496C-831B-B4A5CEE85B45}" type="slidenum">
              <a:t>46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5909BB8-21BE-5BC9-748F-DD8D092D24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126E3-E267-BD51-ED92-634CF80B77D7}"/>
              </a:ext>
            </a:extLst>
          </p:cNvPr>
          <p:cNvSpPr txBox="1"/>
          <p:nvPr/>
        </p:nvSpPr>
        <p:spPr>
          <a:xfrm>
            <a:off x="2021237" y="1512743"/>
            <a:ext cx="56938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Contiguous packets based characteristics: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26CDD-55C8-9AB6-3F91-5C364EC445F6}"/>
              </a:ext>
            </a:extLst>
          </p:cNvPr>
          <p:cNvSpPr txBox="1"/>
          <p:nvPr/>
        </p:nvSpPr>
        <p:spPr>
          <a:xfrm>
            <a:off x="2021237" y="193208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3476A-2757-5F55-4F4D-B8CE8FD0C49F}"/>
              </a:ext>
            </a:extLst>
          </p:cNvPr>
          <p:cNvSpPr txBox="1"/>
          <p:nvPr/>
        </p:nvSpPr>
        <p:spPr>
          <a:xfrm>
            <a:off x="2883422" y="1932080"/>
            <a:ext cx="64810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 characterizes  continuity,  or  connection  between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40FF7-4B46-A56D-237A-D93EEAE5AAAC}"/>
              </a:ext>
            </a:extLst>
          </p:cNvPr>
          <p:cNvSpPr txBox="1"/>
          <p:nvPr/>
        </p:nvSpPr>
        <p:spPr>
          <a:xfrm>
            <a:off x="2021237" y="2281853"/>
            <a:ext cx="732380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consecutive  packets.  Is  consecutive  packets  transmitted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C6090-3352-A953-3E99-36CA83C3335B}"/>
              </a:ext>
            </a:extLst>
          </p:cNvPr>
          <p:cNvSpPr txBox="1"/>
          <p:nvPr/>
        </p:nvSpPr>
        <p:spPr>
          <a:xfrm>
            <a:off x="2021237" y="2631626"/>
            <a:ext cx="76195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directly  one  after  another,  or  is  there  a  gap  between  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BA065-9C8B-C79D-43AB-69FAFA43A326}"/>
              </a:ext>
            </a:extLst>
          </p:cNvPr>
          <p:cNvSpPr txBox="1"/>
          <p:nvPr/>
        </p:nvSpPr>
        <p:spPr>
          <a:xfrm>
            <a:off x="2021237" y="2981072"/>
            <a:ext cx="10396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57DAB2-C308-47B5-D969-DCE165C4E50E}"/>
              </a:ext>
            </a:extLst>
          </p:cNvPr>
          <p:cNvSpPr txBox="1"/>
          <p:nvPr/>
        </p:nvSpPr>
        <p:spPr>
          <a:xfrm>
            <a:off x="2021237" y="3400408"/>
            <a:ext cx="338259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(1) 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Continuous data stream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3E2BD9-C617-B454-63F0-96C79D35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959" y="3924251"/>
            <a:ext cx="4097668" cy="998372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C16B4D-2BBF-8E15-11AE-C3710204A5D5}"/>
              </a:ext>
            </a:extLst>
          </p:cNvPr>
          <p:cNvSpPr txBox="1"/>
          <p:nvPr/>
        </p:nvSpPr>
        <p:spPr>
          <a:xfrm>
            <a:off x="2308632" y="5222103"/>
            <a:ext cx="74481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Packets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48D5F-84EB-FBB4-7920-23E674FB5308}"/>
              </a:ext>
            </a:extLst>
          </p:cNvPr>
          <p:cNvSpPr txBox="1"/>
          <p:nvPr/>
        </p:nvSpPr>
        <p:spPr>
          <a:xfrm>
            <a:off x="3282836" y="5222103"/>
            <a:ext cx="30264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4DCAF-49C5-DC9E-1307-26E141D9CDD2}"/>
              </a:ext>
            </a:extLst>
          </p:cNvPr>
          <p:cNvSpPr txBox="1"/>
          <p:nvPr/>
        </p:nvSpPr>
        <p:spPr>
          <a:xfrm>
            <a:off x="3802434" y="5222103"/>
            <a:ext cx="103573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6C218-71D2-CB95-52A9-F04B540E0487}"/>
              </a:ext>
            </a:extLst>
          </p:cNvPr>
          <p:cNvSpPr txBox="1"/>
          <p:nvPr/>
        </p:nvSpPr>
        <p:spPr>
          <a:xfrm>
            <a:off x="5077097" y="5222103"/>
            <a:ext cx="663451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without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83316F-8382-CD64-8973-927694B74987}"/>
              </a:ext>
            </a:extLst>
          </p:cNvPr>
          <p:cNvSpPr txBox="1"/>
          <p:nvPr/>
        </p:nvSpPr>
        <p:spPr>
          <a:xfrm>
            <a:off x="5964757" y="5222103"/>
            <a:ext cx="115230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intermediate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A24D1F-5C32-9037-2C41-83AA5F2D1EE4}"/>
              </a:ext>
            </a:extLst>
          </p:cNvPr>
          <p:cNvSpPr txBox="1"/>
          <p:nvPr/>
        </p:nvSpPr>
        <p:spPr>
          <a:xfrm>
            <a:off x="7356664" y="5222103"/>
            <a:ext cx="512191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gaps.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5494C-AB43-826C-9DA5-FBCD20442302}"/>
              </a:ext>
            </a:extLst>
          </p:cNvPr>
          <p:cNvSpPr txBox="1"/>
          <p:nvPr/>
        </p:nvSpPr>
        <p:spPr>
          <a:xfrm>
            <a:off x="8093767" y="5222103"/>
            <a:ext cx="40735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Also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50AF4F-B232-9D45-87A7-F1CC706FADC5}"/>
              </a:ext>
            </a:extLst>
          </p:cNvPr>
          <p:cNvSpPr txBox="1"/>
          <p:nvPr/>
        </p:nvSpPr>
        <p:spPr>
          <a:xfrm>
            <a:off x="8720485" y="5222103"/>
            <a:ext cx="54713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called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10197-D716-3EA6-234B-A4257879AD9B}"/>
              </a:ext>
            </a:extLst>
          </p:cNvPr>
          <p:cNvSpPr txBox="1"/>
          <p:nvPr/>
        </p:nvSpPr>
        <p:spPr>
          <a:xfrm>
            <a:off x="2308632" y="5484023"/>
            <a:ext cx="666887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connected information transfer. It allows maximum data throughput. E.g.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76F97D-A73D-EC09-4593-E7AC15A71B02}"/>
              </a:ext>
            </a:extLst>
          </p:cNvPr>
          <p:cNvSpPr txBox="1"/>
          <p:nvPr/>
        </p:nvSpPr>
        <p:spPr>
          <a:xfrm>
            <a:off x="2308632" y="5746272"/>
            <a:ext cx="503964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B-channel of ISDN with 64 Kb audio data transmission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AA469-517D-C17B-C874-A1032629A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9B1B11-7CB5-4A5E-A07C-DC0BD697738F}" type="slidenum">
              <a:t>47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8C0F5A2-71CE-241B-F63A-348F317A07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CAFCE-36B1-2CA4-71F1-8CBEBD57B701}"/>
              </a:ext>
            </a:extLst>
          </p:cNvPr>
          <p:cNvSpPr txBox="1"/>
          <p:nvPr/>
        </p:nvSpPr>
        <p:spPr>
          <a:xfrm>
            <a:off x="2021564" y="1512743"/>
            <a:ext cx="56938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Contiguous packets based characteristics: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D05A1-275B-4526-0F0C-194C9381E2AD}"/>
              </a:ext>
            </a:extLst>
          </p:cNvPr>
          <p:cNvSpPr txBox="1"/>
          <p:nvPr/>
        </p:nvSpPr>
        <p:spPr>
          <a:xfrm>
            <a:off x="2021564" y="1975842"/>
            <a:ext cx="30718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(2) Discrete data stream: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5D416-A41E-C223-F005-F0E1752AFA41}"/>
              </a:ext>
            </a:extLst>
          </p:cNvPr>
          <p:cNvSpPr txBox="1"/>
          <p:nvPr/>
        </p:nvSpPr>
        <p:spPr>
          <a:xfrm>
            <a:off x="2021564" y="243959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F8851-D057-70D2-A3F9-FF843CAB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06" y="2648282"/>
            <a:ext cx="5243656" cy="1032010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DD7D58-D901-0989-B726-F666B5D9B223}"/>
              </a:ext>
            </a:extLst>
          </p:cNvPr>
          <p:cNvSpPr txBox="1"/>
          <p:nvPr/>
        </p:nvSpPr>
        <p:spPr>
          <a:xfrm>
            <a:off x="2350108" y="4419682"/>
            <a:ext cx="631660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Gap exists among the packets. Also called unconnected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86DA1-B87B-1B2A-44B6-A986F8DE060F}"/>
              </a:ext>
            </a:extLst>
          </p:cNvPr>
          <p:cNvSpPr txBox="1"/>
          <p:nvPr/>
        </p:nvSpPr>
        <p:spPr>
          <a:xfrm>
            <a:off x="2350107" y="4741368"/>
            <a:ext cx="389388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stream. Duration of the gap may vary.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3FF6F49-E2D5-66F9-2AB0-BF6E206D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2C92A32-8CD3-4DA6-845C-F0BE9D976993}" type="slidenum">
              <a:t>48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9103FC3-C5EA-AE78-0876-AAD9136D6A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266" b="1"/>
              <a:t>1.6. Traditional Data Stream Characteristics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24913-20DE-80F8-105B-6963E041D028}"/>
              </a:ext>
            </a:extLst>
          </p:cNvPr>
          <p:cNvSpPr txBox="1"/>
          <p:nvPr/>
        </p:nvSpPr>
        <p:spPr>
          <a:xfrm>
            <a:off x="2021563" y="1512743"/>
            <a:ext cx="238911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Streaming Media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7EB24-9784-5350-CCB9-EFFC1D4A51D2}"/>
              </a:ext>
            </a:extLst>
          </p:cNvPr>
          <p:cNvSpPr txBox="1"/>
          <p:nvPr/>
        </p:nvSpPr>
        <p:spPr>
          <a:xfrm>
            <a:off x="2021563" y="212835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FE2EA-7B32-3212-BD05-11D41E6BFDE8}"/>
              </a:ext>
            </a:extLst>
          </p:cNvPr>
          <p:cNvSpPr txBox="1"/>
          <p:nvPr/>
        </p:nvSpPr>
        <p:spPr>
          <a:xfrm>
            <a:off x="2212289" y="2074798"/>
            <a:ext cx="70298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Popular approach to continuous media over the internet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12756-DD97-A18B-565C-9F3E7E41D589}"/>
              </a:ext>
            </a:extLst>
          </p:cNvPr>
          <p:cNvSpPr txBox="1"/>
          <p:nvPr/>
        </p:nvSpPr>
        <p:spPr>
          <a:xfrm>
            <a:off x="2021563" y="269041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6F9CA-B5E4-A169-82B8-FAA39BF5BD09}"/>
              </a:ext>
            </a:extLst>
          </p:cNvPr>
          <p:cNvSpPr txBox="1"/>
          <p:nvPr/>
        </p:nvSpPr>
        <p:spPr>
          <a:xfrm>
            <a:off x="2212289" y="2637178"/>
            <a:ext cx="67185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Playback at users computer is done while the media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86C38-D650-133C-7CFC-E43A2B62E6F3}"/>
              </a:ext>
            </a:extLst>
          </p:cNvPr>
          <p:cNvSpPr txBox="1"/>
          <p:nvPr/>
        </p:nvSpPr>
        <p:spPr>
          <a:xfrm>
            <a:off x="2212289" y="3105828"/>
            <a:ext cx="68428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being transferred (no waiting till complete download!!!)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43379-74F3-19D6-2D60-20B769CCA186}"/>
              </a:ext>
            </a:extLst>
          </p:cNvPr>
          <p:cNvSpPr txBox="1"/>
          <p:nvPr/>
        </p:nvSpPr>
        <p:spPr>
          <a:xfrm>
            <a:off x="2021563" y="372111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4433B-DAFC-8867-0162-B7739CECC1BF}"/>
              </a:ext>
            </a:extLst>
          </p:cNvPr>
          <p:cNvSpPr txBox="1"/>
          <p:nvPr/>
        </p:nvSpPr>
        <p:spPr>
          <a:xfrm>
            <a:off x="2212289" y="3668207"/>
            <a:ext cx="32795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 can find streaming in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3371B-073A-4B3F-DF89-A3CC90678BBF}"/>
              </a:ext>
            </a:extLst>
          </p:cNvPr>
          <p:cNvSpPr txBox="1"/>
          <p:nvPr/>
        </p:nvSpPr>
        <p:spPr>
          <a:xfrm>
            <a:off x="2307651" y="4252143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FA4E07-01A8-A92F-9C00-574F269BAA66}"/>
              </a:ext>
            </a:extLst>
          </p:cNvPr>
          <p:cNvSpPr txBox="1"/>
          <p:nvPr/>
        </p:nvSpPr>
        <p:spPr>
          <a:xfrm>
            <a:off x="2498052" y="4208381"/>
            <a:ext cx="237828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Internet radio stations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80657-6DDC-99C4-3CF9-9101B2D4F547}"/>
              </a:ext>
            </a:extLst>
          </p:cNvPr>
          <p:cNvSpPr txBox="1"/>
          <p:nvPr/>
        </p:nvSpPr>
        <p:spPr>
          <a:xfrm>
            <a:off x="2307651" y="4721120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14E46-3815-7A0D-6F0D-8B27F64615FA}"/>
              </a:ext>
            </a:extLst>
          </p:cNvPr>
          <p:cNvSpPr txBox="1"/>
          <p:nvPr/>
        </p:nvSpPr>
        <p:spPr>
          <a:xfrm>
            <a:off x="2498052" y="4677031"/>
            <a:ext cx="193636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Distance learning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E138AE-10D0-2B34-988F-B6637355B5EF}"/>
              </a:ext>
            </a:extLst>
          </p:cNvPr>
          <p:cNvSpPr txBox="1"/>
          <p:nvPr/>
        </p:nvSpPr>
        <p:spPr>
          <a:xfrm>
            <a:off x="2307651" y="5189770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AD8F05-0986-E4A8-2326-FE703237BF56}"/>
              </a:ext>
            </a:extLst>
          </p:cNvPr>
          <p:cNvSpPr txBox="1"/>
          <p:nvPr/>
        </p:nvSpPr>
        <p:spPr>
          <a:xfrm>
            <a:off x="2498052" y="5145028"/>
            <a:ext cx="154600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Cricket Live!!!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79F9B-6F4D-35E4-B06F-CD39844D4B3C}"/>
              </a:ext>
            </a:extLst>
          </p:cNvPr>
          <p:cNvSpPr txBox="1"/>
          <p:nvPr/>
        </p:nvSpPr>
        <p:spPr>
          <a:xfrm>
            <a:off x="2307651" y="5657767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42526C-2338-4075-3B1A-57F079BBD654}"/>
              </a:ext>
            </a:extLst>
          </p:cNvPr>
          <p:cNvSpPr txBox="1"/>
          <p:nvPr/>
        </p:nvSpPr>
        <p:spPr>
          <a:xfrm>
            <a:off x="2498052" y="5613678"/>
            <a:ext cx="158492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Movie Trailers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F7C956-7284-C2CF-32C0-CA5F09F5C27D}"/>
              </a:ext>
            </a:extLst>
          </p:cNvPr>
          <p:cNvSpPr txBox="1"/>
          <p:nvPr/>
        </p:nvSpPr>
        <p:spPr>
          <a:xfrm>
            <a:off x="2212289" y="610420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89E11-9A7C-6406-29F7-79D2ED28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8484D6-3AD7-47C2-86E6-F73FA7D6F05B}" type="slidenum">
              <a:rPr/>
              <a:t>49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89B2820-2141-44D2-08ED-26AF4497AC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469303"/>
            <a:ext cx="8229627" cy="1145009"/>
          </a:xfrm>
        </p:spPr>
        <p:txBody>
          <a:bodyPr vert="horz"/>
          <a:lstStyle/>
          <a:p>
            <a:pPr lvl="0" rtl="0"/>
            <a:r>
              <a:rPr lang="en-US" sz="3266" b="1"/>
              <a:t>Streaming Media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7BF94E-4C4E-763C-DF3C-6B885F5F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365" y="1535932"/>
            <a:ext cx="6826615" cy="4680950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96C0906-70E4-6CC3-EB05-C5F044B6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E5BAEB7-40E7-4924-A5CD-FEE493A52041}" type="slidenum">
              <a:rPr/>
              <a:t>50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D8ABFE2-38A6-2D6A-D026-4B5B948640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1.7. Information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F8E2A-B9DF-2795-5E16-A3D3610C0B09}"/>
              </a:ext>
            </a:extLst>
          </p:cNvPr>
          <p:cNvSpPr txBox="1"/>
          <p:nvPr/>
        </p:nvSpPr>
        <p:spPr>
          <a:xfrm>
            <a:off x="2021237" y="15127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BC711-21BE-0CC2-B62F-26EA8B9CE61E}"/>
              </a:ext>
            </a:extLst>
          </p:cNvPr>
          <p:cNvSpPr txBox="1"/>
          <p:nvPr/>
        </p:nvSpPr>
        <p:spPr>
          <a:xfrm>
            <a:off x="2926531" y="1512743"/>
            <a:ext cx="635994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Continuous media consists of a time dependent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AFBF9-42C8-EEFA-F76C-27DF09CAFEAA}"/>
              </a:ext>
            </a:extLst>
          </p:cNvPr>
          <p:cNvSpPr txBox="1"/>
          <p:nvPr/>
        </p:nvSpPr>
        <p:spPr>
          <a:xfrm>
            <a:off x="2021237" y="1936652"/>
            <a:ext cx="12878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3DB27-0355-83C6-6F90-C29EF36E9DB6}"/>
              </a:ext>
            </a:extLst>
          </p:cNvPr>
          <p:cNvSpPr txBox="1"/>
          <p:nvPr/>
        </p:nvSpPr>
        <p:spPr>
          <a:xfrm>
            <a:off x="3647306" y="1936652"/>
            <a:ext cx="2635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5B051-6413-6594-AB17-BDF8283B5661}"/>
              </a:ext>
            </a:extLst>
          </p:cNvPr>
          <p:cNvSpPr txBox="1"/>
          <p:nvPr/>
        </p:nvSpPr>
        <p:spPr>
          <a:xfrm>
            <a:off x="4163638" y="1936652"/>
            <a:ext cx="13030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DC20D-B0A1-24A9-7841-0F88081A88F7}"/>
              </a:ext>
            </a:extLst>
          </p:cNvPr>
          <p:cNvSpPr txBox="1"/>
          <p:nvPr/>
        </p:nvSpPr>
        <p:spPr>
          <a:xfrm>
            <a:off x="5801790" y="1936652"/>
            <a:ext cx="15354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C443C-1DF0-CBAB-CCFA-AB383D874FE4}"/>
              </a:ext>
            </a:extLst>
          </p:cNvPr>
          <p:cNvSpPr txBox="1"/>
          <p:nvPr/>
        </p:nvSpPr>
        <p:spPr>
          <a:xfrm>
            <a:off x="7692394" y="1936652"/>
            <a:ext cx="7444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units.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A58F5-26BC-68FB-2271-32DD7D8C9A7C}"/>
              </a:ext>
            </a:extLst>
          </p:cNvPr>
          <p:cNvSpPr txBox="1"/>
          <p:nvPr/>
        </p:nvSpPr>
        <p:spPr>
          <a:xfrm>
            <a:off x="8728976" y="1936652"/>
            <a:ext cx="63626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50E86-A56E-28F9-21B8-298562FCAACC}"/>
              </a:ext>
            </a:extLst>
          </p:cNvPr>
          <p:cNvSpPr txBox="1"/>
          <p:nvPr/>
        </p:nvSpPr>
        <p:spPr>
          <a:xfrm>
            <a:off x="9648967" y="1936652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AA5DE-98D9-9845-3F6E-99884F37DDAD}"/>
              </a:ext>
            </a:extLst>
          </p:cNvPr>
          <p:cNvSpPr txBox="1"/>
          <p:nvPr/>
        </p:nvSpPr>
        <p:spPr>
          <a:xfrm>
            <a:off x="2021236" y="2361213"/>
            <a:ext cx="74785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 unit  is  called  a  LDU  (logical  data  unit).  With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39C4F-28E6-29C5-B1E5-0CFAA7508B2B}"/>
              </a:ext>
            </a:extLst>
          </p:cNvPr>
          <p:cNvSpPr txBox="1"/>
          <p:nvPr/>
        </p:nvSpPr>
        <p:spPr>
          <a:xfrm>
            <a:off x="2021237" y="2785120"/>
            <a:ext cx="70602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respect to time there can be Closed LDU and Open LDU.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2993B-657F-0359-5860-586BC44BDEA0}"/>
              </a:ext>
            </a:extLst>
          </p:cNvPr>
          <p:cNvSpPr txBox="1"/>
          <p:nvPr/>
        </p:nvSpPr>
        <p:spPr>
          <a:xfrm>
            <a:off x="2021237" y="3341949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102886-3CF7-A4B2-81F7-ECD7D62BF772}"/>
              </a:ext>
            </a:extLst>
          </p:cNvPr>
          <p:cNvSpPr txBox="1"/>
          <p:nvPr/>
        </p:nvSpPr>
        <p:spPr>
          <a:xfrm>
            <a:off x="2202165" y="3293941"/>
            <a:ext cx="15824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Closed LDU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096C8-D962-DF2E-35C0-9A09EF63052C}"/>
              </a:ext>
            </a:extLst>
          </p:cNvPr>
          <p:cNvSpPr txBox="1"/>
          <p:nvPr/>
        </p:nvSpPr>
        <p:spPr>
          <a:xfrm>
            <a:off x="2564348" y="3798843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9620DB-4F4F-CE01-1EE9-2E193F07DA1F}"/>
              </a:ext>
            </a:extLst>
          </p:cNvPr>
          <p:cNvSpPr txBox="1"/>
          <p:nvPr/>
        </p:nvSpPr>
        <p:spPr>
          <a:xfrm>
            <a:off x="2745603" y="3775002"/>
            <a:ext cx="285174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Predefined duration is present.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A127-E8EF-B0B8-6F37-99A915B3FBD3}"/>
              </a:ext>
            </a:extLst>
          </p:cNvPr>
          <p:cNvSpPr txBox="1"/>
          <p:nvPr/>
        </p:nvSpPr>
        <p:spPr>
          <a:xfrm>
            <a:off x="2564348" y="4180621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6E780-1905-F8EA-7138-DDC75643C6A7}"/>
              </a:ext>
            </a:extLst>
          </p:cNvPr>
          <p:cNvSpPr txBox="1"/>
          <p:nvPr/>
        </p:nvSpPr>
        <p:spPr>
          <a:xfrm>
            <a:off x="2745603" y="4156780"/>
            <a:ext cx="612174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 data stream characteristics of audio samples in the computer.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A1FF79-A454-791C-C745-13EFDB16A74A}"/>
              </a:ext>
            </a:extLst>
          </p:cNvPr>
          <p:cNvSpPr txBox="1"/>
          <p:nvPr/>
        </p:nvSpPr>
        <p:spPr>
          <a:xfrm>
            <a:off x="2021237" y="461432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5480D4-E13E-31D1-07F8-304363BD7B3A}"/>
              </a:ext>
            </a:extLst>
          </p:cNvPr>
          <p:cNvSpPr txBox="1"/>
          <p:nvPr/>
        </p:nvSpPr>
        <p:spPr>
          <a:xfrm>
            <a:off x="2202165" y="4566318"/>
            <a:ext cx="13964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Open LDU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FEED34-7BFE-FDD0-2859-BA5003B879F1}"/>
              </a:ext>
            </a:extLst>
          </p:cNvPr>
          <p:cNvSpPr txBox="1"/>
          <p:nvPr/>
        </p:nvSpPr>
        <p:spPr>
          <a:xfrm>
            <a:off x="2564348" y="5071219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C7693C-EC0B-68D1-1F2C-A356E03CA428}"/>
              </a:ext>
            </a:extLst>
          </p:cNvPr>
          <p:cNvSpPr txBox="1"/>
          <p:nvPr/>
        </p:nvSpPr>
        <p:spPr>
          <a:xfrm>
            <a:off x="2745603" y="5047053"/>
            <a:ext cx="314265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Duration is not known in advance.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997584-B899-6A42-D528-F4DC3C30DC93}"/>
              </a:ext>
            </a:extLst>
          </p:cNvPr>
          <p:cNvSpPr txBox="1"/>
          <p:nvPr/>
        </p:nvSpPr>
        <p:spPr>
          <a:xfrm>
            <a:off x="2564348" y="5452672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051BC6-A3EF-725C-EF1B-77270736E8FB}"/>
              </a:ext>
            </a:extLst>
          </p:cNvPr>
          <p:cNvSpPr txBox="1"/>
          <p:nvPr/>
        </p:nvSpPr>
        <p:spPr>
          <a:xfrm>
            <a:off x="2745604" y="5428831"/>
            <a:ext cx="567918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 Data stream sent from camera/ microphone to computer.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729863-4EC3-B727-D995-A14AF4C58543}"/>
              </a:ext>
            </a:extLst>
          </p:cNvPr>
          <p:cNvSpPr txBox="1"/>
          <p:nvPr/>
        </p:nvSpPr>
        <p:spPr>
          <a:xfrm>
            <a:off x="2021237" y="583804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4B5C1F6-A13F-A5C3-91CB-572B7A02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36D638-1ABE-4D44-9C3B-CC549216FFAC}" type="slidenum">
              <a:rPr/>
              <a:t>51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110DB1B-5FAC-2542-1ABE-B6F74FEC64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1.7. Information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D877E-4814-F4C8-77D4-34C5BA4F898C}"/>
              </a:ext>
            </a:extLst>
          </p:cNvPr>
          <p:cNvSpPr txBox="1"/>
          <p:nvPr/>
        </p:nvSpPr>
        <p:spPr>
          <a:xfrm>
            <a:off x="2021237" y="151307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353BA-22F9-0A02-2377-E47F392B13B1}"/>
              </a:ext>
            </a:extLst>
          </p:cNvPr>
          <p:cNvSpPr txBox="1"/>
          <p:nvPr/>
        </p:nvSpPr>
        <p:spPr>
          <a:xfrm>
            <a:off x="2898446" y="1513071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89788-A25F-01C9-FB8F-CE3311CC81F5}"/>
              </a:ext>
            </a:extLst>
          </p:cNvPr>
          <p:cNvSpPr txBox="1"/>
          <p:nvPr/>
        </p:nvSpPr>
        <p:spPr>
          <a:xfrm>
            <a:off x="3773694" y="1513071"/>
            <a:ext cx="6049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CEE03-ADAF-AAC0-02C1-8D080515EAEB}"/>
              </a:ext>
            </a:extLst>
          </p:cNvPr>
          <p:cNvSpPr txBox="1"/>
          <p:nvPr/>
        </p:nvSpPr>
        <p:spPr>
          <a:xfrm>
            <a:off x="4781211" y="1513071"/>
            <a:ext cx="9311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2A3A2-1304-94DC-007E-2861159DC279}"/>
              </a:ext>
            </a:extLst>
          </p:cNvPr>
          <p:cNvSpPr txBox="1"/>
          <p:nvPr/>
        </p:nvSpPr>
        <p:spPr>
          <a:xfrm>
            <a:off x="6130335" y="1513071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names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3D9F2-BBAE-8F17-0B09-D7B86BA696A7}"/>
              </a:ext>
            </a:extLst>
          </p:cNvPr>
          <p:cNvSpPr txBox="1"/>
          <p:nvPr/>
        </p:nvSpPr>
        <p:spPr>
          <a:xfrm>
            <a:off x="7381484" y="1513071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6EDA2-8EBA-F8E2-4751-00CE440AD0F3}"/>
              </a:ext>
            </a:extLst>
          </p:cNvPr>
          <p:cNvSpPr txBox="1"/>
          <p:nvPr/>
        </p:nvSpPr>
        <p:spPr>
          <a:xfrm>
            <a:off x="8241058" y="1513071"/>
            <a:ext cx="1427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best-known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DEC98-567F-E43F-E9C2-FD257EF31D05}"/>
              </a:ext>
            </a:extLst>
          </p:cNvPr>
          <p:cNvSpPr txBox="1"/>
          <p:nvPr/>
        </p:nvSpPr>
        <p:spPr>
          <a:xfrm>
            <a:off x="2021237" y="1874601"/>
            <a:ext cx="71685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units are the symphony and the movie. LDU 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61290-41B2-6773-6C89-A82AD9BACDD4}"/>
              </a:ext>
            </a:extLst>
          </p:cNvPr>
          <p:cNvSpPr txBox="1"/>
          <p:nvPr/>
        </p:nvSpPr>
        <p:spPr>
          <a:xfrm>
            <a:off x="2021237" y="2236131"/>
            <a:ext cx="73501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whole symphony, individual sentences, individual notes,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19F5C-9778-DCA2-AD9D-22B4BD537456}"/>
              </a:ext>
            </a:extLst>
          </p:cNvPr>
          <p:cNvSpPr txBox="1"/>
          <p:nvPr/>
        </p:nvSpPr>
        <p:spPr>
          <a:xfrm>
            <a:off x="2021237" y="2597661"/>
            <a:ext cx="72158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grouped samples of 1/75 second duration or just individual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B620B-52FE-3284-98C9-B042D8D695C6}"/>
              </a:ext>
            </a:extLst>
          </p:cNvPr>
          <p:cNvSpPr txBox="1"/>
          <p:nvPr/>
        </p:nvSpPr>
        <p:spPr>
          <a:xfrm>
            <a:off x="2021237" y="2958865"/>
            <a:ext cx="11170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2807E-B69C-CDC8-62D5-12D492188F46}"/>
              </a:ext>
            </a:extLst>
          </p:cNvPr>
          <p:cNvSpPr txBox="1"/>
          <p:nvPr/>
        </p:nvSpPr>
        <p:spPr>
          <a:xfrm>
            <a:off x="2021237" y="339257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A2CEE3-8908-1CDA-7397-C1B6D888A027}"/>
              </a:ext>
            </a:extLst>
          </p:cNvPr>
          <p:cNvSpPr txBox="1"/>
          <p:nvPr/>
        </p:nvSpPr>
        <p:spPr>
          <a:xfrm>
            <a:off x="2898446" y="3392570"/>
            <a:ext cx="65484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  example  is  an  uncompressed  video  sequence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BA982E-633B-924E-7EE5-D4103EA2CE34}"/>
              </a:ext>
            </a:extLst>
          </p:cNvPr>
          <p:cNvSpPr txBox="1"/>
          <p:nvPr/>
        </p:nvSpPr>
        <p:spPr>
          <a:xfrm>
            <a:off x="2021237" y="3754427"/>
            <a:ext cx="73547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consisting of individual video clips which presents a specific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2B737-6CA5-42C5-0D8D-0703A565820E}"/>
              </a:ext>
            </a:extLst>
          </p:cNvPr>
          <p:cNvSpPr txBox="1"/>
          <p:nvPr/>
        </p:nvSpPr>
        <p:spPr>
          <a:xfrm>
            <a:off x="2021237" y="4115630"/>
            <a:ext cx="72932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scene. Such a scene is comprised of a sequence of image.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15DF6-A73F-1407-7B0D-E2DBC4072B83}"/>
              </a:ext>
            </a:extLst>
          </p:cNvPr>
          <p:cNvSpPr txBox="1"/>
          <p:nvPr/>
        </p:nvSpPr>
        <p:spPr>
          <a:xfrm>
            <a:off x="2021237" y="4477161"/>
            <a:ext cx="769685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  image  can  be  divided  into  group  of  pixels.  Each  pixel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E48404-4DD1-97D6-639D-918D0DA99067}"/>
              </a:ext>
            </a:extLst>
          </p:cNvPr>
          <p:cNvSpPr txBox="1"/>
          <p:nvPr/>
        </p:nvSpPr>
        <p:spPr>
          <a:xfrm>
            <a:off x="2021236" y="4838364"/>
            <a:ext cx="76134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consist  luminance  and  chrominance  values.  The  image  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40CADE-698B-6DD7-9001-8D5B574AE4FE}"/>
              </a:ext>
            </a:extLst>
          </p:cNvPr>
          <p:cNvSpPr txBox="1"/>
          <p:nvPr/>
        </p:nvSpPr>
        <p:spPr>
          <a:xfrm>
            <a:off x="2021237" y="5199894"/>
            <a:ext cx="72782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therefore not the only possible LDU of a video sequence. 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D40BB-E926-29B5-F284-16325EEC41B9}"/>
              </a:ext>
            </a:extLst>
          </p:cNvPr>
          <p:cNvSpPr txBox="1"/>
          <p:nvPr/>
        </p:nvSpPr>
        <p:spPr>
          <a:xfrm>
            <a:off x="2021237" y="5561751"/>
            <a:ext cx="456214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scene or a pixel also can be an LDU.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EF346-5F95-5F7E-07BE-AD8B056B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FBAF6D-3F71-4B50-9D91-017BE8DD2A45}" type="slidenum">
              <a:rPr/>
              <a:t>52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223AD73-CD60-0C3D-22D1-75276C378F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/>
              <a:t>1.7. Information Units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B99D35-2897-5D0A-8C1F-C09C0D13686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49395" y="1338348"/>
            <a:ext cx="5752150" cy="4021247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24DC4E-8220-78E8-D289-78E885CC3F03}"/>
              </a:ext>
            </a:extLst>
          </p:cNvPr>
          <p:cNvSpPr txBox="1"/>
          <p:nvPr/>
        </p:nvSpPr>
        <p:spPr>
          <a:xfrm>
            <a:off x="3603021" y="5554893"/>
            <a:ext cx="5642156" cy="376819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algn="ctr" hangingPunct="0"/>
            <a:r>
              <a:rPr lang="en-US" sz="1996">
                <a:latin typeface="Liberation Sans" pitchFamily="18"/>
                <a:ea typeface="Noto Sans CJK SC Regular" pitchFamily="2"/>
                <a:cs typeface="FreeSans" pitchFamily="2"/>
              </a:rPr>
              <a:t>Figure: Granularity of a motion picture sequence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51E94ED7-F517-B829-4FE8-FE00063B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FFD54A-5881-4E53-BE37-FB93C85785E8}" type="slidenum">
              <a:rPr/>
              <a:t>53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33DF305-352B-ABFC-7E15-EBC7C89D28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b="1"/>
              <a:t>Assignment 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49B7A-48D8-3830-0D64-934BB210C40C}"/>
              </a:ext>
            </a:extLst>
          </p:cNvPr>
          <p:cNvSpPr txBox="1"/>
          <p:nvPr/>
        </p:nvSpPr>
        <p:spPr>
          <a:xfrm>
            <a:off x="2021564" y="1521562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FFDC0-C534-C912-8EED-473DC060B84C}"/>
              </a:ext>
            </a:extLst>
          </p:cNvPr>
          <p:cNvSpPr txBox="1"/>
          <p:nvPr/>
        </p:nvSpPr>
        <p:spPr>
          <a:xfrm>
            <a:off x="2476170" y="1479432"/>
            <a:ext cx="8068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Define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967C1-4C20-A10A-6271-ECFA183A6CD1}"/>
              </a:ext>
            </a:extLst>
          </p:cNvPr>
          <p:cNvSpPr txBox="1"/>
          <p:nvPr/>
        </p:nvSpPr>
        <p:spPr>
          <a:xfrm>
            <a:off x="3559781" y="1479432"/>
            <a:ext cx="14272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6C68E-FC2D-F96F-98F1-D37CFF93096D}"/>
              </a:ext>
            </a:extLst>
          </p:cNvPr>
          <p:cNvSpPr txBox="1"/>
          <p:nvPr/>
        </p:nvSpPr>
        <p:spPr>
          <a:xfrm>
            <a:off x="5318770" y="1479432"/>
            <a:ext cx="915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Explain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61719-4096-13CA-8BDE-EBE9F0B12E74}"/>
              </a:ext>
            </a:extLst>
          </p:cNvPr>
          <p:cNvSpPr txBox="1"/>
          <p:nvPr/>
        </p:nvSpPr>
        <p:spPr>
          <a:xfrm>
            <a:off x="6518646" y="1479432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E4C63-6253-B00B-C649-071D9A898796}"/>
              </a:ext>
            </a:extLst>
          </p:cNvPr>
          <p:cNvSpPr txBox="1"/>
          <p:nvPr/>
        </p:nvSpPr>
        <p:spPr>
          <a:xfrm>
            <a:off x="7147975" y="1479432"/>
            <a:ext cx="13345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5C0EB7-2A73-90BF-0A4A-D6A82CAFC288}"/>
              </a:ext>
            </a:extLst>
          </p:cNvPr>
          <p:cNvSpPr txBox="1"/>
          <p:nvPr/>
        </p:nvSpPr>
        <p:spPr>
          <a:xfrm>
            <a:off x="8805722" y="1479432"/>
            <a:ext cx="69826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7635C0-E9CD-BEFB-C5CF-153BF8ED17DA}"/>
              </a:ext>
            </a:extLst>
          </p:cNvPr>
          <p:cNvSpPr txBox="1"/>
          <p:nvPr/>
        </p:nvSpPr>
        <p:spPr>
          <a:xfrm>
            <a:off x="9770784" y="1479432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92FA3-4F4C-E74B-D834-752434FFE4B8}"/>
              </a:ext>
            </a:extLst>
          </p:cNvPr>
          <p:cNvSpPr txBox="1"/>
          <p:nvPr/>
        </p:nvSpPr>
        <p:spPr>
          <a:xfrm>
            <a:off x="2476170" y="1815489"/>
            <a:ext cx="14272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A5291C-E3DC-91EB-DABE-927E70F1F743}"/>
              </a:ext>
            </a:extLst>
          </p:cNvPr>
          <p:cNvSpPr txBox="1"/>
          <p:nvPr/>
        </p:nvSpPr>
        <p:spPr>
          <a:xfrm>
            <a:off x="2021564" y="226846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8FC9D-7E74-E8C2-B10C-3F2EA04E2B0D}"/>
              </a:ext>
            </a:extLst>
          </p:cNvPr>
          <p:cNvSpPr txBox="1"/>
          <p:nvPr/>
        </p:nvSpPr>
        <p:spPr>
          <a:xfrm>
            <a:off x="2476171" y="2226007"/>
            <a:ext cx="6515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57E8B-3865-9B46-321B-1B8516387609}"/>
              </a:ext>
            </a:extLst>
          </p:cNvPr>
          <p:cNvSpPr txBox="1"/>
          <p:nvPr/>
        </p:nvSpPr>
        <p:spPr>
          <a:xfrm>
            <a:off x="3474542" y="2226007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32EC2-F757-9BB3-6346-6D60FC4B7008}"/>
              </a:ext>
            </a:extLst>
          </p:cNvPr>
          <p:cNvSpPr txBox="1"/>
          <p:nvPr/>
        </p:nvSpPr>
        <p:spPr>
          <a:xfrm>
            <a:off x="3984016" y="2226007"/>
            <a:ext cx="15048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54144D-5A1D-E4C9-2BF0-48F7243D75E6}"/>
              </a:ext>
            </a:extLst>
          </p:cNvPr>
          <p:cNvSpPr txBox="1"/>
          <p:nvPr/>
        </p:nvSpPr>
        <p:spPr>
          <a:xfrm>
            <a:off x="5911523" y="2226007"/>
            <a:ext cx="915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Explain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30C070-3698-77F4-90A9-59B4F7021504}"/>
              </a:ext>
            </a:extLst>
          </p:cNvPr>
          <p:cNvSpPr txBox="1"/>
          <p:nvPr/>
        </p:nvSpPr>
        <p:spPr>
          <a:xfrm>
            <a:off x="7197943" y="2226007"/>
            <a:ext cx="7449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global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938FD4-03AD-7349-F2F2-15E003BA6D12}"/>
              </a:ext>
            </a:extLst>
          </p:cNvPr>
          <p:cNvSpPr txBox="1"/>
          <p:nvPr/>
        </p:nvSpPr>
        <p:spPr>
          <a:xfrm>
            <a:off x="8297882" y="2226007"/>
            <a:ext cx="10860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0BC91F-F432-1D23-A2F8-51BAB3B1B99B}"/>
              </a:ext>
            </a:extLst>
          </p:cNvPr>
          <p:cNvSpPr txBox="1"/>
          <p:nvPr/>
        </p:nvSpPr>
        <p:spPr>
          <a:xfrm>
            <a:off x="9770784" y="2226007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2675B6-AD2A-8A9E-FDF4-0836038EF537}"/>
              </a:ext>
            </a:extLst>
          </p:cNvPr>
          <p:cNvSpPr txBox="1"/>
          <p:nvPr/>
        </p:nvSpPr>
        <p:spPr>
          <a:xfrm>
            <a:off x="2476170" y="2562063"/>
            <a:ext cx="23889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system.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52D55-EC62-A235-3CBE-00FE4C126C3B}"/>
              </a:ext>
            </a:extLst>
          </p:cNvPr>
          <p:cNvSpPr txBox="1"/>
          <p:nvPr/>
        </p:nvSpPr>
        <p:spPr>
          <a:xfrm>
            <a:off x="2021564" y="3014710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370B5-9F15-0F5D-C727-04900E1750DB}"/>
              </a:ext>
            </a:extLst>
          </p:cNvPr>
          <p:cNvSpPr txBox="1"/>
          <p:nvPr/>
        </p:nvSpPr>
        <p:spPr>
          <a:xfrm>
            <a:off x="2476171" y="2972581"/>
            <a:ext cx="68225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Define application domain? Explain the different criteria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566BAA-E1C5-0368-68F4-83D3AB7A0A59}"/>
              </a:ext>
            </a:extLst>
          </p:cNvPr>
          <p:cNvSpPr txBox="1"/>
          <p:nvPr/>
        </p:nvSpPr>
        <p:spPr>
          <a:xfrm>
            <a:off x="2476170" y="3308637"/>
            <a:ext cx="46564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868C7B-33EB-C9A7-6016-6CF141C79D19}"/>
              </a:ext>
            </a:extLst>
          </p:cNvPr>
          <p:cNvSpPr txBox="1"/>
          <p:nvPr/>
        </p:nvSpPr>
        <p:spPr>
          <a:xfrm>
            <a:off x="3200537" y="3308637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C4B808-450A-C76E-E94C-5FCBE8863E8A}"/>
              </a:ext>
            </a:extLst>
          </p:cNvPr>
          <p:cNvSpPr txBox="1"/>
          <p:nvPr/>
        </p:nvSpPr>
        <p:spPr>
          <a:xfrm>
            <a:off x="3856320" y="3308637"/>
            <a:ext cx="605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CCB224-FD92-2EB3-8235-DADAFA153FB7}"/>
              </a:ext>
            </a:extLst>
          </p:cNvPr>
          <p:cNvSpPr txBox="1"/>
          <p:nvPr/>
        </p:nvSpPr>
        <p:spPr>
          <a:xfrm>
            <a:off x="4732550" y="3308637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F7B806-B24A-783A-4E52-CF692341E037}"/>
              </a:ext>
            </a:extLst>
          </p:cNvPr>
          <p:cNvSpPr txBox="1"/>
          <p:nvPr/>
        </p:nvSpPr>
        <p:spPr>
          <a:xfrm>
            <a:off x="5203813" y="3308637"/>
            <a:ext cx="9151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classify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CDF32A-725F-A023-FFCD-5A3FFEF36F6A}"/>
              </a:ext>
            </a:extLst>
          </p:cNvPr>
          <p:cNvSpPr txBox="1"/>
          <p:nvPr/>
        </p:nvSpPr>
        <p:spPr>
          <a:xfrm>
            <a:off x="6415771" y="3308637"/>
            <a:ext cx="7602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media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77845A-90F3-7D5C-0C15-39C893CCBC19}"/>
              </a:ext>
            </a:extLst>
          </p:cNvPr>
          <p:cNvSpPr txBox="1"/>
          <p:nvPr/>
        </p:nvSpPr>
        <p:spPr>
          <a:xfrm>
            <a:off x="7459865" y="3308637"/>
            <a:ext cx="217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BD9AF5-7644-0D33-D23A-A8B292906A35}"/>
              </a:ext>
            </a:extLst>
          </p:cNvPr>
          <p:cNvSpPr txBox="1"/>
          <p:nvPr/>
        </p:nvSpPr>
        <p:spPr>
          <a:xfrm>
            <a:off x="7914472" y="3308637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A79B6D-FF81-507F-4BA4-55BC0F632DB5}"/>
              </a:ext>
            </a:extLst>
          </p:cNvPr>
          <p:cNvSpPr txBox="1"/>
          <p:nvPr/>
        </p:nvSpPr>
        <p:spPr>
          <a:xfrm>
            <a:off x="8553599" y="3308637"/>
            <a:ext cx="1349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9FEF5D-C487-BB91-23A2-B3FEC5BA5419}"/>
              </a:ext>
            </a:extLst>
          </p:cNvPr>
          <p:cNvSpPr txBox="1"/>
          <p:nvPr/>
        </p:nvSpPr>
        <p:spPr>
          <a:xfrm>
            <a:off x="2476170" y="3644041"/>
            <a:ext cx="9617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5A0B0F-1019-6317-14A9-982C4615DAEA}"/>
              </a:ext>
            </a:extLst>
          </p:cNvPr>
          <p:cNvSpPr txBox="1"/>
          <p:nvPr/>
        </p:nvSpPr>
        <p:spPr>
          <a:xfrm>
            <a:off x="2021564" y="4097015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D633C4-CC32-C226-46F9-10BCE4AF6B2C}"/>
              </a:ext>
            </a:extLst>
          </p:cNvPr>
          <p:cNvSpPr txBox="1"/>
          <p:nvPr/>
        </p:nvSpPr>
        <p:spPr>
          <a:xfrm>
            <a:off x="2476170" y="4055212"/>
            <a:ext cx="8068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Define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885425-00E2-C43E-194A-FECDCA207376}"/>
              </a:ext>
            </a:extLst>
          </p:cNvPr>
          <p:cNvSpPr txBox="1"/>
          <p:nvPr/>
        </p:nvSpPr>
        <p:spPr>
          <a:xfrm>
            <a:off x="3654817" y="4055212"/>
            <a:ext cx="1349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2D6401-0181-9791-B822-E3044CDE8690}"/>
              </a:ext>
            </a:extLst>
          </p:cNvPr>
          <p:cNvSpPr txBox="1"/>
          <p:nvPr/>
        </p:nvSpPr>
        <p:spPr>
          <a:xfrm>
            <a:off x="5424911" y="4055212"/>
            <a:ext cx="10083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D4F8EC-FB40-6E95-60BB-4953CF68A528}"/>
              </a:ext>
            </a:extLst>
          </p:cNvPr>
          <p:cNvSpPr txBox="1"/>
          <p:nvPr/>
        </p:nvSpPr>
        <p:spPr>
          <a:xfrm>
            <a:off x="6820411" y="4055212"/>
            <a:ext cx="915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Explain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B3AFD3-3AC7-0312-EEEE-62637C2AB524}"/>
              </a:ext>
            </a:extLst>
          </p:cNvPr>
          <p:cNvSpPr txBox="1"/>
          <p:nvPr/>
        </p:nvSpPr>
        <p:spPr>
          <a:xfrm>
            <a:off x="8117607" y="4055212"/>
            <a:ext cx="1241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properties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706031-C9CA-05C1-6C5C-DC6116E25D9E}"/>
              </a:ext>
            </a:extLst>
          </p:cNvPr>
          <p:cNvSpPr txBox="1"/>
          <p:nvPr/>
        </p:nvSpPr>
        <p:spPr>
          <a:xfrm>
            <a:off x="9769477" y="4055212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41CF5E-8521-C147-3D09-409E95EE5CD2}"/>
              </a:ext>
            </a:extLst>
          </p:cNvPr>
          <p:cNvSpPr txBox="1"/>
          <p:nvPr/>
        </p:nvSpPr>
        <p:spPr>
          <a:xfrm>
            <a:off x="2476171" y="4390942"/>
            <a:ext cx="24356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 System.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8B025B-CE0F-3C4D-21A0-F61C0190D62E}"/>
              </a:ext>
            </a:extLst>
          </p:cNvPr>
          <p:cNvSpPr txBox="1"/>
          <p:nvPr/>
        </p:nvSpPr>
        <p:spPr>
          <a:xfrm>
            <a:off x="2021564" y="484326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7AD257-932D-BA3D-C45E-A2FE82AEFEBB}"/>
              </a:ext>
            </a:extLst>
          </p:cNvPr>
          <p:cNvSpPr txBox="1"/>
          <p:nvPr/>
        </p:nvSpPr>
        <p:spPr>
          <a:xfrm>
            <a:off x="2476171" y="4801460"/>
            <a:ext cx="21049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Write short notes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A65A49-55EB-873B-FB37-E1F4C183E5F8}"/>
              </a:ext>
            </a:extLst>
          </p:cNvPr>
          <p:cNvSpPr txBox="1"/>
          <p:nvPr/>
        </p:nvSpPr>
        <p:spPr>
          <a:xfrm>
            <a:off x="2294263" y="5236145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70FF74-35A8-5A96-C4F7-6872C6C1AE21}"/>
              </a:ext>
            </a:extLst>
          </p:cNvPr>
          <p:cNvSpPr txBox="1"/>
          <p:nvPr/>
        </p:nvSpPr>
        <p:spPr>
          <a:xfrm>
            <a:off x="2749196" y="5200874"/>
            <a:ext cx="38459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stream with Transmission</a:t>
            </a:r>
            <a:r>
              <a:rPr lang="en-US" sz="182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37E5F1-2405-9340-A8C4-5733CFBEA673}"/>
              </a:ext>
            </a:extLst>
          </p:cNvPr>
          <p:cNvSpPr txBox="1"/>
          <p:nvPr/>
        </p:nvSpPr>
        <p:spPr>
          <a:xfrm>
            <a:off x="2294263" y="5578407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818A21-65F3-F8D3-CC82-65EE6C65EEFC}"/>
              </a:ext>
            </a:extLst>
          </p:cNvPr>
          <p:cNvSpPr txBox="1"/>
          <p:nvPr/>
        </p:nvSpPr>
        <p:spPr>
          <a:xfrm>
            <a:off x="2749196" y="5543136"/>
            <a:ext cx="506766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stream characteristics for continuous media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4868D3-E187-0D31-107E-F2C3A90EFD56}"/>
              </a:ext>
            </a:extLst>
          </p:cNvPr>
          <p:cNvSpPr txBox="1"/>
          <p:nvPr/>
        </p:nvSpPr>
        <p:spPr>
          <a:xfrm>
            <a:off x="2476171" y="623843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6EFDB0-A8AF-400E-2C23-E06BD1399347}"/>
              </a:ext>
            </a:extLst>
          </p:cNvPr>
          <p:cNvSpPr txBox="1"/>
          <p:nvPr/>
        </p:nvSpPr>
        <p:spPr>
          <a:xfrm>
            <a:off x="2476171" y="664895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FF5D7-3A5B-EA54-3DFD-B419F07AB9D0}"/>
              </a:ext>
            </a:extLst>
          </p:cNvPr>
          <p:cNvSpPr txBox="1"/>
          <p:nvPr/>
        </p:nvSpPr>
        <p:spPr>
          <a:xfrm>
            <a:off x="2476171" y="705947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9E80E-5364-2C86-0344-DD175D7A2FFE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6.2 Sound and Audio</a:t>
            </a:r>
          </a:p>
          <a:p>
            <a:r>
              <a:rPr lang="en-US" dirty="0"/>
              <a:t>6.2.1 Digital audio formats (WAV and mp3)</a:t>
            </a:r>
          </a:p>
          <a:p>
            <a:r>
              <a:rPr lang="en-US" dirty="0"/>
              <a:t>6.2.2 Audio sampling and quantization</a:t>
            </a:r>
          </a:p>
          <a:p>
            <a:r>
              <a:rPr lang="en-US" dirty="0"/>
              <a:t>6.2.3 Frequency, amplitude and waveform</a:t>
            </a:r>
          </a:p>
          <a:p>
            <a:r>
              <a:rPr lang="en-US" dirty="0"/>
              <a:t>6.2.4 MIDI hardware, software and messages</a:t>
            </a:r>
          </a:p>
        </p:txBody>
      </p:sp>
    </p:spTree>
    <p:extLst>
      <p:ext uri="{BB962C8B-B14F-4D97-AF65-F5344CB8AC3E}">
        <p14:creationId xmlns:p14="http://schemas.microsoft.com/office/powerpoint/2010/main" val="7972502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0EF47-E762-A8ED-2F99-EA88FC5B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168DB4-7F32-4356-A0AA-C857F004864E}" type="slidenum">
              <a:rPr/>
              <a:t>55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A217CF0-C3B5-2BEF-B61D-D0BCD0A2B0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 b="1" dirty="0"/>
              <a:t>6.2 </a:t>
            </a:r>
            <a:r>
              <a:rPr lang="en-US" sz="3629" b="1" dirty="0">
                <a:solidFill>
                  <a:srgbClr val="C9211E"/>
                </a:solidFill>
              </a:rPr>
              <a:t>Sound and Audio</a:t>
            </a:r>
            <a:r>
              <a:rPr lang="en-US" sz="3629" b="1" dirty="0"/>
              <a:t> 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B96E1827-30D9-4C99-4D57-BB70C86D77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10788" y="1135865"/>
            <a:ext cx="7690435" cy="4321051"/>
          </a:xfrm>
        </p:spPr>
        <p:txBody>
          <a:bodyPr vert="horz">
            <a:normAutofit/>
          </a:bodyPr>
          <a:lstStyle/>
          <a:p>
            <a:pPr lvl="0" rtl="0"/>
            <a:endParaRPr lang="en-US" sz="2540" b="1" dirty="0"/>
          </a:p>
          <a:p>
            <a:pPr lvl="0" rtl="0"/>
            <a:r>
              <a:rPr lang="en-US" sz="2540" b="1" dirty="0"/>
              <a:t>2.1. Basic Sound Concepts</a:t>
            </a:r>
          </a:p>
          <a:p>
            <a:pPr marL="424570"/>
            <a:r>
              <a:rPr lang="en-US" sz="2540" dirty="0"/>
              <a:t>2.1.1. Computer Representation of Sound/Audio</a:t>
            </a:r>
          </a:p>
          <a:p>
            <a:pPr marL="424570"/>
            <a:r>
              <a:rPr lang="en-US" sz="2540" dirty="0"/>
              <a:t>2.1.2. Computer Representation of Music: MIDI</a:t>
            </a:r>
          </a:p>
          <a:p>
            <a:pPr marL="424570"/>
            <a:r>
              <a:rPr lang="en-US" sz="2540" dirty="0"/>
              <a:t>2.1.3.  MIDI Devices, MIDI Modes, MIDI Messages   and MIDI Software.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892A11C-5DCD-A4EE-696A-34468586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557141-9BEE-4263-90A6-6F1F91422B49}" type="slidenum">
              <a:rPr/>
              <a:t>56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F94010F-543E-9538-CA7D-8D89083940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E89F6-12E2-7E66-3F6F-BEE4680D9175}"/>
              </a:ext>
            </a:extLst>
          </p:cNvPr>
          <p:cNvSpPr txBox="1"/>
          <p:nvPr/>
        </p:nvSpPr>
        <p:spPr>
          <a:xfrm>
            <a:off x="2217188" y="156401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F5053-0C19-9C37-7857-C461AFF6C49A}"/>
              </a:ext>
            </a:extLst>
          </p:cNvPr>
          <p:cNvSpPr txBox="1"/>
          <p:nvPr/>
        </p:nvSpPr>
        <p:spPr>
          <a:xfrm>
            <a:off x="2401709" y="1512743"/>
            <a:ext cx="69494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 is the physical phenomenon produced by the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17024-9B36-5F17-F467-720DD5C9EC70}"/>
              </a:ext>
            </a:extLst>
          </p:cNvPr>
          <p:cNvSpPr txBox="1"/>
          <p:nvPr/>
        </p:nvSpPr>
        <p:spPr>
          <a:xfrm>
            <a:off x="2401709" y="1966698"/>
            <a:ext cx="73850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vibration of matter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such as violin string or block of wood.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6F680-8918-1BDE-F97F-6741654B1B61}"/>
              </a:ext>
            </a:extLst>
          </p:cNvPr>
          <p:cNvSpPr txBox="1"/>
          <p:nvPr/>
        </p:nvSpPr>
        <p:spPr>
          <a:xfrm>
            <a:off x="2217188" y="256271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271F6-10CD-3996-A737-2F885B3B1054}"/>
              </a:ext>
            </a:extLst>
          </p:cNvPr>
          <p:cNvSpPr txBox="1"/>
          <p:nvPr/>
        </p:nvSpPr>
        <p:spPr>
          <a:xfrm>
            <a:off x="2401709" y="2511443"/>
            <a:ext cx="71838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When a matter vibrates, pressure variations are created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C80EB-A90D-5E2B-6881-9EC8EDE731F7}"/>
              </a:ext>
            </a:extLst>
          </p:cNvPr>
          <p:cNvSpPr txBox="1"/>
          <p:nvPr/>
        </p:nvSpPr>
        <p:spPr>
          <a:xfrm>
            <a:off x="2401709" y="2965396"/>
            <a:ext cx="27775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air surrounding it.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77430-70D9-492E-CD0C-82C4306A2533}"/>
              </a:ext>
            </a:extLst>
          </p:cNvPr>
          <p:cNvSpPr txBox="1"/>
          <p:nvPr/>
        </p:nvSpPr>
        <p:spPr>
          <a:xfrm>
            <a:off x="2217188" y="356141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E86D9-AE30-9AFE-87F2-23F2C453F2E4}"/>
              </a:ext>
            </a:extLst>
          </p:cNvPr>
          <p:cNvSpPr txBox="1"/>
          <p:nvPr/>
        </p:nvSpPr>
        <p:spPr>
          <a:xfrm>
            <a:off x="2401709" y="3509487"/>
            <a:ext cx="72622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 alteration  of  high  and  low  pressure  is  propagated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54157-DCE7-500A-5AF8-0E242DE52DE5}"/>
              </a:ext>
            </a:extLst>
          </p:cNvPr>
          <p:cNvSpPr txBox="1"/>
          <p:nvPr/>
        </p:nvSpPr>
        <p:spPr>
          <a:xfrm>
            <a:off x="2401709" y="3963442"/>
            <a:ext cx="73240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  the  air  in  a  wave  like  motion.  When  the  wave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8365F-7460-B5D2-BC77-0F04B062650A}"/>
              </a:ext>
            </a:extLst>
          </p:cNvPr>
          <p:cNvSpPr txBox="1"/>
          <p:nvPr/>
        </p:nvSpPr>
        <p:spPr>
          <a:xfrm>
            <a:off x="2401709" y="4417722"/>
            <a:ext cx="51522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reaches the human ear, a sound is heard.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FD57-CB90-6C27-B127-907CFD028448}"/>
              </a:ext>
            </a:extLst>
          </p:cNvPr>
          <p:cNvSpPr txBox="1"/>
          <p:nvPr/>
        </p:nvSpPr>
        <p:spPr>
          <a:xfrm>
            <a:off x="2401709" y="496246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324F47-0811-4741-615D-C8CBBEE9B4D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59512" y="4815503"/>
            <a:ext cx="8146021" cy="1348798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51A818D5-5DCA-EF9B-7AA6-DC213D74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369A03-C7F3-4D0A-A918-311ABD128F9F}" type="slidenum">
              <a:rPr/>
              <a:t>57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18DC836-40AF-F16D-34E9-899656DEB3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EF9A0-B8C3-FC24-AA1E-7D88E41F33E2}"/>
              </a:ext>
            </a:extLst>
          </p:cNvPr>
          <p:cNvSpPr txBox="1"/>
          <p:nvPr/>
        </p:nvSpPr>
        <p:spPr>
          <a:xfrm>
            <a:off x="2021237" y="155520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562CC-B1C9-BC5B-351D-F10FFE68CC52}"/>
              </a:ext>
            </a:extLst>
          </p:cNvPr>
          <p:cNvSpPr txBox="1"/>
          <p:nvPr/>
        </p:nvSpPr>
        <p:spPr>
          <a:xfrm>
            <a:off x="2202818" y="1513071"/>
            <a:ext cx="64395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pattern of the oscillation is called a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waveform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FBE43-68A1-C7BF-5921-19134B20108E}"/>
              </a:ext>
            </a:extLst>
          </p:cNvPr>
          <p:cNvSpPr txBox="1"/>
          <p:nvPr/>
        </p:nvSpPr>
        <p:spPr>
          <a:xfrm>
            <a:off x="2021237" y="2000009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8638B-D4E8-28EB-B284-01868F47E603}"/>
              </a:ext>
            </a:extLst>
          </p:cNvPr>
          <p:cNvSpPr txBox="1"/>
          <p:nvPr/>
        </p:nvSpPr>
        <p:spPr>
          <a:xfrm>
            <a:off x="2202819" y="1957880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F6EC4-72A5-2478-464C-83413437B5A7}"/>
              </a:ext>
            </a:extLst>
          </p:cNvPr>
          <p:cNvSpPr txBox="1"/>
          <p:nvPr/>
        </p:nvSpPr>
        <p:spPr>
          <a:xfrm>
            <a:off x="2978133" y="1957880"/>
            <a:ext cx="12100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FE754-6677-E7D9-B477-5717F56915EB}"/>
              </a:ext>
            </a:extLst>
          </p:cNvPr>
          <p:cNvSpPr txBox="1"/>
          <p:nvPr/>
        </p:nvSpPr>
        <p:spPr>
          <a:xfrm>
            <a:off x="4542803" y="1957880"/>
            <a:ext cx="9310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repeats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273BB-A30A-1F18-D1EF-C182EC1CB756}"/>
              </a:ext>
            </a:extLst>
          </p:cNvPr>
          <p:cNvSpPr txBox="1"/>
          <p:nvPr/>
        </p:nvSpPr>
        <p:spPr>
          <a:xfrm>
            <a:off x="5806690" y="1957880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CB21A-9FA5-58D9-1642-A4694E032F81}"/>
              </a:ext>
            </a:extLst>
          </p:cNvPr>
          <p:cNvSpPr txBox="1"/>
          <p:nvPr/>
        </p:nvSpPr>
        <p:spPr>
          <a:xfrm>
            <a:off x="6480762" y="1957880"/>
            <a:ext cx="6826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A2435-C2DD-3630-2864-3947FA631C06}"/>
              </a:ext>
            </a:extLst>
          </p:cNvPr>
          <p:cNvSpPr txBox="1"/>
          <p:nvPr/>
        </p:nvSpPr>
        <p:spPr>
          <a:xfrm>
            <a:off x="7473908" y="1957880"/>
            <a:ext cx="7605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shape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05710-F51B-2EC7-3B4C-EAE19EA4C283}"/>
              </a:ext>
            </a:extLst>
          </p:cNvPr>
          <p:cNvSpPr txBox="1"/>
          <p:nvPr/>
        </p:nvSpPr>
        <p:spPr>
          <a:xfrm>
            <a:off x="8553600" y="1957880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2B3CA-4D1C-6185-16AC-45F56E3D4F86}"/>
              </a:ext>
            </a:extLst>
          </p:cNvPr>
          <p:cNvSpPr txBox="1"/>
          <p:nvPr/>
        </p:nvSpPr>
        <p:spPr>
          <a:xfrm>
            <a:off x="9058500" y="1957880"/>
            <a:ext cx="8688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regular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B96CC-3AA9-EB37-0F64-14D6A1A43CE3}"/>
              </a:ext>
            </a:extLst>
          </p:cNvPr>
          <p:cNvSpPr txBox="1"/>
          <p:nvPr/>
        </p:nvSpPr>
        <p:spPr>
          <a:xfrm>
            <a:off x="2202818" y="2328881"/>
            <a:ext cx="525996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intervals and this point is called a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A4FF2F-F3CE-4FF0-8916-9C624CEE3C78}"/>
              </a:ext>
            </a:extLst>
          </p:cNvPr>
          <p:cNvSpPr txBox="1"/>
          <p:nvPr/>
        </p:nvSpPr>
        <p:spPr>
          <a:xfrm>
            <a:off x="2021237" y="281582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6EEAB6-8536-0E4C-FADA-7E858490C124}"/>
              </a:ext>
            </a:extLst>
          </p:cNvPr>
          <p:cNvSpPr txBox="1"/>
          <p:nvPr/>
        </p:nvSpPr>
        <p:spPr>
          <a:xfrm>
            <a:off x="2202819" y="2774017"/>
            <a:ext cx="7448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0B4247-7A13-9EF5-99D2-B54D2FBA2C16}"/>
              </a:ext>
            </a:extLst>
          </p:cNvPr>
          <p:cNvSpPr txBox="1"/>
          <p:nvPr/>
        </p:nvSpPr>
        <p:spPr>
          <a:xfrm>
            <a:off x="3245933" y="2774017"/>
            <a:ext cx="8374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6FCE4-BA42-3D52-FD3B-3B844BA72698}"/>
              </a:ext>
            </a:extLst>
          </p:cNvPr>
          <p:cNvSpPr txBox="1"/>
          <p:nvPr/>
        </p:nvSpPr>
        <p:spPr>
          <a:xfrm>
            <a:off x="4385390" y="2774017"/>
            <a:ext cx="6828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824696-727F-EE5B-69DF-48C072FCA00B}"/>
              </a:ext>
            </a:extLst>
          </p:cNvPr>
          <p:cNvSpPr txBox="1"/>
          <p:nvPr/>
        </p:nvSpPr>
        <p:spPr>
          <a:xfrm>
            <a:off x="5360573" y="2774017"/>
            <a:ext cx="77559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62596-BC87-C7E3-3D18-07736D85A0CF}"/>
              </a:ext>
            </a:extLst>
          </p:cNvPr>
          <p:cNvSpPr txBox="1"/>
          <p:nvPr/>
        </p:nvSpPr>
        <p:spPr>
          <a:xfrm>
            <a:off x="6436999" y="2774017"/>
            <a:ext cx="7602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occur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736D74-CCA2-4745-2704-149BC9D255CA}"/>
              </a:ext>
            </a:extLst>
          </p:cNvPr>
          <p:cNvSpPr txBox="1"/>
          <p:nvPr/>
        </p:nvSpPr>
        <p:spPr>
          <a:xfrm>
            <a:off x="7495135" y="2774017"/>
            <a:ext cx="12307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naturally,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063932-6098-E481-7D1B-ACC6510874FC}"/>
              </a:ext>
            </a:extLst>
          </p:cNvPr>
          <p:cNvSpPr txBox="1"/>
          <p:nvPr/>
        </p:nvSpPr>
        <p:spPr>
          <a:xfrm>
            <a:off x="9064706" y="2774017"/>
            <a:ext cx="86844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0750D-1ED0-4073-5FBA-5903CF05F227}"/>
              </a:ext>
            </a:extLst>
          </p:cNvPr>
          <p:cNvSpPr txBox="1"/>
          <p:nvPr/>
        </p:nvSpPr>
        <p:spPr>
          <a:xfrm>
            <a:off x="2202818" y="3144692"/>
            <a:ext cx="8381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waves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F0651-8DDC-1CB4-9CD0-E6684DDAA837}"/>
              </a:ext>
            </a:extLst>
          </p:cNvPr>
          <p:cNvSpPr txBox="1"/>
          <p:nvPr/>
        </p:nvSpPr>
        <p:spPr>
          <a:xfrm>
            <a:off x="3377220" y="3144692"/>
            <a:ext cx="4190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099D5E-AD44-D536-562D-860729167AD3}"/>
              </a:ext>
            </a:extLst>
          </p:cNvPr>
          <p:cNvSpPr txBox="1"/>
          <p:nvPr/>
        </p:nvSpPr>
        <p:spPr>
          <a:xfrm>
            <a:off x="4099953" y="3144692"/>
            <a:ext cx="7448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380CAD-8B36-08DA-8FC4-AD9B2FE83D0F}"/>
              </a:ext>
            </a:extLst>
          </p:cNvPr>
          <p:cNvSpPr txBox="1"/>
          <p:nvPr/>
        </p:nvSpPr>
        <p:spPr>
          <a:xfrm>
            <a:off x="5173440" y="3144692"/>
            <a:ext cx="11636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perfectly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944B7-8D9D-A657-D425-9F8294B1529A}"/>
              </a:ext>
            </a:extLst>
          </p:cNvPr>
          <p:cNvSpPr txBox="1"/>
          <p:nvPr/>
        </p:nvSpPr>
        <p:spPr>
          <a:xfrm>
            <a:off x="6700227" y="3144692"/>
            <a:ext cx="10080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smooth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D822A0-64E9-E7F9-0667-1C08826F9F6A}"/>
              </a:ext>
            </a:extLst>
          </p:cNvPr>
          <p:cNvSpPr txBox="1"/>
          <p:nvPr/>
        </p:nvSpPr>
        <p:spPr>
          <a:xfrm>
            <a:off x="8058823" y="3144692"/>
            <a:ext cx="2791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58B3BD-AFE4-FA8F-28DF-E70D3E91FB20}"/>
              </a:ext>
            </a:extLst>
          </p:cNvPr>
          <p:cNvSpPr txBox="1"/>
          <p:nvPr/>
        </p:nvSpPr>
        <p:spPr>
          <a:xfrm>
            <a:off x="8627408" y="3144692"/>
            <a:ext cx="12718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uniformly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870D73-E68E-31B4-D96C-1CFA80FE0C3B}"/>
              </a:ext>
            </a:extLst>
          </p:cNvPr>
          <p:cNvSpPr txBox="1"/>
          <p:nvPr/>
        </p:nvSpPr>
        <p:spPr>
          <a:xfrm>
            <a:off x="2202818" y="3515040"/>
            <a:ext cx="116352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periodic.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D51FB8-2DE4-4654-800A-40E8F0328563}"/>
              </a:ext>
            </a:extLst>
          </p:cNvPr>
          <p:cNvSpPr txBox="1"/>
          <p:nvPr/>
        </p:nvSpPr>
        <p:spPr>
          <a:xfrm>
            <a:off x="2021237" y="400263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2897BC-ADC9-43CE-9CBA-D5AB3B893466}"/>
              </a:ext>
            </a:extLst>
          </p:cNvPr>
          <p:cNvSpPr txBox="1"/>
          <p:nvPr/>
        </p:nvSpPr>
        <p:spPr>
          <a:xfrm>
            <a:off x="2202818" y="3960502"/>
            <a:ext cx="71367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Periodic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 Musical instruments, vowel sounds,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A14E47-E278-5047-25FB-8488ACFAFB7A}"/>
              </a:ext>
            </a:extLst>
          </p:cNvPr>
          <p:cNvSpPr txBox="1"/>
          <p:nvPr/>
        </p:nvSpPr>
        <p:spPr>
          <a:xfrm>
            <a:off x="2202818" y="4331177"/>
            <a:ext cx="36928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whistling wind, bird songs etc.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C68854-7F52-B93B-B559-66CD6DABC741}"/>
              </a:ext>
            </a:extLst>
          </p:cNvPr>
          <p:cNvSpPr txBox="1"/>
          <p:nvPr/>
        </p:nvSpPr>
        <p:spPr>
          <a:xfrm>
            <a:off x="2021237" y="4818116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8823AC-3688-4AD2-B99A-0B7A1E8A0C03}"/>
              </a:ext>
            </a:extLst>
          </p:cNvPr>
          <p:cNvSpPr txBox="1"/>
          <p:nvPr/>
        </p:nvSpPr>
        <p:spPr>
          <a:xfrm>
            <a:off x="2202819" y="4776313"/>
            <a:ext cx="172162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Non-periodic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144388-2241-999B-2B3A-FC4432AA6C08}"/>
              </a:ext>
            </a:extLst>
          </p:cNvPr>
          <p:cNvSpPr txBox="1"/>
          <p:nvPr/>
        </p:nvSpPr>
        <p:spPr>
          <a:xfrm>
            <a:off x="4462790" y="4776313"/>
            <a:ext cx="9150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1DA10E-586B-44F2-42C6-F8283B4E60CC}"/>
              </a:ext>
            </a:extLst>
          </p:cNvPr>
          <p:cNvSpPr txBox="1"/>
          <p:nvPr/>
        </p:nvSpPr>
        <p:spPr>
          <a:xfrm>
            <a:off x="5847512" y="4776313"/>
            <a:ext cx="4966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FE534A-A0CB-4AE0-FDE5-7F6742D810B6}"/>
              </a:ext>
            </a:extLst>
          </p:cNvPr>
          <p:cNvSpPr txBox="1"/>
          <p:nvPr/>
        </p:nvSpPr>
        <p:spPr>
          <a:xfrm>
            <a:off x="6778607" y="4776313"/>
            <a:ext cx="12569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Unpitched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5C8DA1-906B-6EA3-DC61-0F25150BA44D}"/>
              </a:ext>
            </a:extLst>
          </p:cNvPr>
          <p:cNvSpPr txBox="1"/>
          <p:nvPr/>
        </p:nvSpPr>
        <p:spPr>
          <a:xfrm>
            <a:off x="8536617" y="4776313"/>
            <a:ext cx="13499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percussion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D80377-D14F-C6BE-2368-4846FADDBDDF}"/>
              </a:ext>
            </a:extLst>
          </p:cNvPr>
          <p:cNvSpPr txBox="1"/>
          <p:nvPr/>
        </p:nvSpPr>
        <p:spPr>
          <a:xfrm>
            <a:off x="2202818" y="5146987"/>
            <a:ext cx="15359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Instruments,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5CDBC9-2398-6749-6217-61C003BC845D}"/>
              </a:ext>
            </a:extLst>
          </p:cNvPr>
          <p:cNvSpPr txBox="1"/>
          <p:nvPr/>
        </p:nvSpPr>
        <p:spPr>
          <a:xfrm>
            <a:off x="4384083" y="5146987"/>
            <a:ext cx="9777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coughs,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D282AC-1EF2-6934-CDE9-8BF630976BC9}"/>
              </a:ext>
            </a:extLst>
          </p:cNvPr>
          <p:cNvSpPr txBox="1"/>
          <p:nvPr/>
        </p:nvSpPr>
        <p:spPr>
          <a:xfrm>
            <a:off x="5959531" y="5146987"/>
            <a:ext cx="1117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sneezes,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0D41A7-4B58-1E24-629C-BA2F187173AC}"/>
              </a:ext>
            </a:extLst>
          </p:cNvPr>
          <p:cNvSpPr txBox="1"/>
          <p:nvPr/>
        </p:nvSpPr>
        <p:spPr>
          <a:xfrm>
            <a:off x="7685862" y="5146987"/>
            <a:ext cx="915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rushing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5C497B-CFF2-CAB7-0F70-75C8F030AE9F}"/>
              </a:ext>
            </a:extLst>
          </p:cNvPr>
          <p:cNvSpPr txBox="1"/>
          <p:nvPr/>
        </p:nvSpPr>
        <p:spPr>
          <a:xfrm>
            <a:off x="9194360" y="5146987"/>
            <a:ext cx="7448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water,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8A3073-0A95-1C86-539A-250AFDBA1EC7}"/>
              </a:ext>
            </a:extLst>
          </p:cNvPr>
          <p:cNvSpPr txBox="1"/>
          <p:nvPr/>
        </p:nvSpPr>
        <p:spPr>
          <a:xfrm>
            <a:off x="2202819" y="5517988"/>
            <a:ext cx="16449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Consonants,.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37A0CB-63BA-2F15-4FE6-03A843A69349}"/>
              </a:ext>
            </a:extLst>
          </p:cNvPr>
          <p:cNvSpPr txBox="1"/>
          <p:nvPr/>
        </p:nvSpPr>
        <p:spPr>
          <a:xfrm>
            <a:off x="2202818" y="596312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17C23B-4730-4402-A8EA-355B6379D714}"/>
              </a:ext>
            </a:extLst>
          </p:cNvPr>
          <p:cNvSpPr txBox="1"/>
          <p:nvPr/>
        </p:nvSpPr>
        <p:spPr>
          <a:xfrm>
            <a:off x="2202818" y="640793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6FC59-DFD4-F335-614B-493D328C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0BB462-5F7A-40F1-B28C-B84739D62110}" type="slidenum">
              <a:rPr/>
              <a:t>58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65BC158-2B2C-D718-D18F-5E0538FD63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2B61B-DF2E-2AA6-B2C9-CE2B859CF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526" y="1227962"/>
            <a:ext cx="4168864" cy="5119880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5B8C95-0B10-2450-25B1-9865DAB5390D}"/>
              </a:ext>
            </a:extLst>
          </p:cNvPr>
          <p:cNvSpPr txBox="1"/>
          <p:nvPr/>
        </p:nvSpPr>
        <p:spPr>
          <a:xfrm rot="16200000">
            <a:off x="3576168" y="3161759"/>
            <a:ext cx="2212498" cy="403493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en-US" sz="2177" b="1">
                <a:latin typeface="Liberation Sans" pitchFamily="18"/>
                <a:ea typeface="Noto Sans CJK SC Regular" pitchFamily="2"/>
                <a:cs typeface="FreeSans" pitchFamily="2"/>
              </a:rPr>
              <a:t>Periodic Sound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F03CD-A571-B151-6212-E344AB63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F0B7C0-85AD-430A-AE7B-6739672A262D}" type="slidenum">
              <a:rPr/>
              <a:t>59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25AC4AB-AE66-691E-EC29-FC55DC8B8D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6728F9-75D7-21E6-2334-A03314622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536" y="1454286"/>
            <a:ext cx="6160054" cy="4976836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E0A4FD-4A02-4041-39A2-246BF058B362}"/>
              </a:ext>
            </a:extLst>
          </p:cNvPr>
          <p:cNvSpPr txBox="1"/>
          <p:nvPr/>
        </p:nvSpPr>
        <p:spPr>
          <a:xfrm rot="16200000">
            <a:off x="1869867" y="3544190"/>
            <a:ext cx="2832796" cy="403493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en-US" sz="2177" b="1">
                <a:latin typeface="Liberation Sans" pitchFamily="18"/>
                <a:ea typeface="Noto Sans CJK SC Regular" pitchFamily="2"/>
                <a:cs typeface="FreeSans" pitchFamily="2"/>
              </a:rPr>
              <a:t>Non Periodic Sound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D82AD-84CA-7199-BAE8-EBE01103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CD1F6CA-12E9-474B-ACED-0AD53ADD28AE}" type="slidenum">
              <a:rPr/>
              <a:t>60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36B41A6B-7D08-72FB-73BF-D6A6DB7B8C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32518A-A6BD-1EC8-3C3B-8E717933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558" y="1546056"/>
            <a:ext cx="7956928" cy="3204783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B3D3D9A-E4F2-14E4-ED61-F493A100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5AF735-77CF-4F71-BE0A-DCC9318C32AA}" type="slidenum">
              <a:rPr/>
              <a:t>61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261D327-BB36-CC28-5A65-097CF993B5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9C43A-34AC-D153-F2EC-DC0E6E71CF58}"/>
              </a:ext>
            </a:extLst>
          </p:cNvPr>
          <p:cNvSpPr txBox="1"/>
          <p:nvPr/>
        </p:nvSpPr>
        <p:spPr>
          <a:xfrm>
            <a:off x="2021237" y="1174401"/>
            <a:ext cx="129432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Frequency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666D9-D17F-534C-6A15-F45C5CCFF77E}"/>
              </a:ext>
            </a:extLst>
          </p:cNvPr>
          <p:cNvSpPr txBox="1"/>
          <p:nvPr/>
        </p:nvSpPr>
        <p:spPr>
          <a:xfrm>
            <a:off x="2021237" y="1602229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894A4-9109-E55F-E7FD-9145F89DFA50}"/>
              </a:ext>
            </a:extLst>
          </p:cNvPr>
          <p:cNvSpPr txBox="1"/>
          <p:nvPr/>
        </p:nvSpPr>
        <p:spPr>
          <a:xfrm>
            <a:off x="2196939" y="1566304"/>
            <a:ext cx="70143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frequency of a sound is the reciprocal value of the period.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34A15-26BA-4B87-6957-28BC277E2D7E}"/>
              </a:ext>
            </a:extLst>
          </p:cNvPr>
          <p:cNvSpPr txBox="1"/>
          <p:nvPr/>
        </p:nvSpPr>
        <p:spPr>
          <a:xfrm>
            <a:off x="2196939" y="1892890"/>
            <a:ext cx="703981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 represents  the  number  of  periods  in  a  second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It 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8DB2A-BA00-C9E4-180D-6944B498F8C5}"/>
              </a:ext>
            </a:extLst>
          </p:cNvPr>
          <p:cNvSpPr txBox="1"/>
          <p:nvPr/>
        </p:nvSpPr>
        <p:spPr>
          <a:xfrm>
            <a:off x="2196939" y="2219148"/>
            <a:ext cx="57323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measured in hertz (Hz) or cycles per second (cps).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518CB-DFD7-F8A0-A188-26A94CF23AFE}"/>
              </a:ext>
            </a:extLst>
          </p:cNvPr>
          <p:cNvSpPr txBox="1"/>
          <p:nvPr/>
        </p:nvSpPr>
        <p:spPr>
          <a:xfrm>
            <a:off x="2021237" y="2611051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0ECF4-AFEA-55EA-F452-02F115B7C4BC}"/>
              </a:ext>
            </a:extLst>
          </p:cNvPr>
          <p:cNvSpPr txBox="1"/>
          <p:nvPr/>
        </p:nvSpPr>
        <p:spPr>
          <a:xfrm>
            <a:off x="2899750" y="2611051"/>
            <a:ext cx="194207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 KHz = 1000 Hz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781A2-8A5A-1627-4430-0B2E45D0730C}"/>
              </a:ext>
            </a:extLst>
          </p:cNvPr>
          <p:cNvSpPr txBox="1"/>
          <p:nvPr/>
        </p:nvSpPr>
        <p:spPr>
          <a:xfrm>
            <a:off x="2021237" y="3002954"/>
            <a:ext cx="39410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Some of the frequency ranges are: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7F1A2-8EE0-3D50-85ED-1CA4E39A38D2}"/>
              </a:ext>
            </a:extLst>
          </p:cNvPr>
          <p:cNvSpPr txBox="1"/>
          <p:nvPr/>
        </p:nvSpPr>
        <p:spPr>
          <a:xfrm>
            <a:off x="2284790" y="3414778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ED5D4-61C7-CFE2-98F8-8B05C240EA50}"/>
              </a:ext>
            </a:extLst>
          </p:cNvPr>
          <p:cNvSpPr txBox="1"/>
          <p:nvPr/>
        </p:nvSpPr>
        <p:spPr>
          <a:xfrm>
            <a:off x="2460168" y="3384080"/>
            <a:ext cx="129073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Infra sound 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0D059-C2CB-D81F-97FF-F812EBFED70C}"/>
              </a:ext>
            </a:extLst>
          </p:cNvPr>
          <p:cNvSpPr txBox="1"/>
          <p:nvPr/>
        </p:nvSpPr>
        <p:spPr>
          <a:xfrm>
            <a:off x="4656128" y="3384080"/>
            <a:ext cx="89704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0 - 20 Hz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57B291-76BA-28F4-A58F-D545B5DE79A8}"/>
              </a:ext>
            </a:extLst>
          </p:cNvPr>
          <p:cNvSpPr txBox="1"/>
          <p:nvPr/>
        </p:nvSpPr>
        <p:spPr>
          <a:xfrm>
            <a:off x="2284790" y="3753121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63519-364D-A872-14B3-A4FEF9D772D7}"/>
              </a:ext>
            </a:extLst>
          </p:cNvPr>
          <p:cNvSpPr txBox="1"/>
          <p:nvPr/>
        </p:nvSpPr>
        <p:spPr>
          <a:xfrm>
            <a:off x="2460168" y="3722422"/>
            <a:ext cx="233563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Human audible sound 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218AE1-F45E-6A06-4CE8-0FFD6172995B}"/>
              </a:ext>
            </a:extLst>
          </p:cNvPr>
          <p:cNvSpPr txBox="1"/>
          <p:nvPr/>
        </p:nvSpPr>
        <p:spPr>
          <a:xfrm>
            <a:off x="5534317" y="3722422"/>
            <a:ext cx="143770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20 Hz - 20KHz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42C0BD-F3BF-C050-2938-83482E031E84}"/>
              </a:ext>
            </a:extLst>
          </p:cNvPr>
          <p:cNvSpPr txBox="1"/>
          <p:nvPr/>
        </p:nvSpPr>
        <p:spPr>
          <a:xfrm>
            <a:off x="2284790" y="4091463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D92A3E-8E3B-CB43-E270-5EE40A76D935}"/>
              </a:ext>
            </a:extLst>
          </p:cNvPr>
          <p:cNvSpPr txBox="1"/>
          <p:nvPr/>
        </p:nvSpPr>
        <p:spPr>
          <a:xfrm>
            <a:off x="2460168" y="4060438"/>
            <a:ext cx="1315104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Ultra sound 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B996CC-F196-9062-980C-358645419CE5}"/>
              </a:ext>
            </a:extLst>
          </p:cNvPr>
          <p:cNvSpPr txBox="1"/>
          <p:nvPr/>
        </p:nvSpPr>
        <p:spPr>
          <a:xfrm>
            <a:off x="4656128" y="4060438"/>
            <a:ext cx="1425262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20KHz - 1GHz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5A5D55-6C36-A1B8-A7E7-1CFF8CDD7A6D}"/>
              </a:ext>
            </a:extLst>
          </p:cNvPr>
          <p:cNvSpPr txBox="1"/>
          <p:nvPr/>
        </p:nvSpPr>
        <p:spPr>
          <a:xfrm>
            <a:off x="2284790" y="4429480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88364B-12FB-3B07-F1E6-96170ED88C69}"/>
              </a:ext>
            </a:extLst>
          </p:cNvPr>
          <p:cNvSpPr txBox="1"/>
          <p:nvPr/>
        </p:nvSpPr>
        <p:spPr>
          <a:xfrm>
            <a:off x="2460167" y="4398781"/>
            <a:ext cx="143808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Hyper sound 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F4989B-7409-9FD5-60E9-9EED16E2E3DA}"/>
              </a:ext>
            </a:extLst>
          </p:cNvPr>
          <p:cNvSpPr txBox="1"/>
          <p:nvPr/>
        </p:nvSpPr>
        <p:spPr>
          <a:xfrm>
            <a:off x="4656129" y="4398781"/>
            <a:ext cx="141282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1GHz - 10THz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824B2F-2874-D43B-B991-F0ED93E65E4A}"/>
              </a:ext>
            </a:extLst>
          </p:cNvPr>
          <p:cNvSpPr txBox="1"/>
          <p:nvPr/>
        </p:nvSpPr>
        <p:spPr>
          <a:xfrm>
            <a:off x="2021237" y="474822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D1C8F4-ACD5-84C0-3AA8-94D441A7172C}"/>
              </a:ext>
            </a:extLst>
          </p:cNvPr>
          <p:cNvSpPr txBox="1"/>
          <p:nvPr/>
        </p:nvSpPr>
        <p:spPr>
          <a:xfrm>
            <a:off x="2899751" y="4748226"/>
            <a:ext cx="66016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Human  audible  sound  is  also  called  audio  or  acoustic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823CD3-08BD-D8CC-5BAA-0CBD12246E4F}"/>
              </a:ext>
            </a:extLst>
          </p:cNvPr>
          <p:cNvSpPr txBox="1"/>
          <p:nvPr/>
        </p:nvSpPr>
        <p:spPr>
          <a:xfrm>
            <a:off x="2021237" y="5074812"/>
            <a:ext cx="754039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signals  (waves).  Speech  is  an  acoustic signal produced  by  the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6B67B2-6B39-91B9-9066-14A522284A49}"/>
              </a:ext>
            </a:extLst>
          </p:cNvPr>
          <p:cNvSpPr txBox="1"/>
          <p:nvPr/>
        </p:nvSpPr>
        <p:spPr>
          <a:xfrm>
            <a:off x="2021237" y="5401071"/>
            <a:ext cx="9816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humans.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2BC9C7-1D02-6941-E613-4120E97C799B}"/>
              </a:ext>
            </a:extLst>
          </p:cNvPr>
          <p:cNvSpPr txBox="1"/>
          <p:nvPr/>
        </p:nvSpPr>
        <p:spPr>
          <a:xfrm>
            <a:off x="2196939" y="5792973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54990B1-DF6D-D312-F87F-9462BAA8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6D5225-ECCC-410B-8F8B-8C1ECFC23450}" type="slidenum">
              <a:rPr/>
              <a:t>62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A0C4BE8-89F1-5303-673B-439C1EE606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A8899-F79C-300F-8BBD-CE772912EC5C}"/>
              </a:ext>
            </a:extLst>
          </p:cNvPr>
          <p:cNvSpPr txBox="1"/>
          <p:nvPr/>
        </p:nvSpPr>
        <p:spPr>
          <a:xfrm>
            <a:off x="2576759" y="1512743"/>
            <a:ext cx="136486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Amplitude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F225B-3B9C-9B33-2A50-D816A3B59011}"/>
              </a:ext>
            </a:extLst>
          </p:cNvPr>
          <p:cNvSpPr txBox="1"/>
          <p:nvPr/>
        </p:nvSpPr>
        <p:spPr>
          <a:xfrm>
            <a:off x="2576759" y="191085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4446B-A674-434B-90D7-CD2549EFF744}"/>
              </a:ext>
            </a:extLst>
          </p:cNvPr>
          <p:cNvSpPr txBox="1"/>
          <p:nvPr/>
        </p:nvSpPr>
        <p:spPr>
          <a:xfrm>
            <a:off x="3406613" y="1910852"/>
            <a:ext cx="65151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amplitude of the sound is the measure of the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D528B-3E89-EE69-EBEB-CBA94B75AB64}"/>
              </a:ext>
            </a:extLst>
          </p:cNvPr>
          <p:cNvSpPr txBox="1"/>
          <p:nvPr/>
        </p:nvSpPr>
        <p:spPr>
          <a:xfrm>
            <a:off x="2576759" y="2242989"/>
            <a:ext cx="73229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displacement of the air pressure wave from its mean 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386EC-2362-7E57-A660-CF5E925282FE}"/>
              </a:ext>
            </a:extLst>
          </p:cNvPr>
          <p:cNvSpPr txBox="1"/>
          <p:nvPr/>
        </p:nvSpPr>
        <p:spPr>
          <a:xfrm>
            <a:off x="2576759" y="2574800"/>
            <a:ext cx="21100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quiescent state.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C6F16-0C06-8357-C486-499081ED5B22}"/>
              </a:ext>
            </a:extLst>
          </p:cNvPr>
          <p:cNvSpPr txBox="1"/>
          <p:nvPr/>
        </p:nvSpPr>
        <p:spPr>
          <a:xfrm>
            <a:off x="2576759" y="297290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0BB88-FE9A-85A2-828A-1CFDD36A0C7D}"/>
              </a:ext>
            </a:extLst>
          </p:cNvPr>
          <p:cNvSpPr txBox="1"/>
          <p:nvPr/>
        </p:nvSpPr>
        <p:spPr>
          <a:xfrm>
            <a:off x="3406613" y="2972908"/>
            <a:ext cx="62536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i.e.  Distance moved by a point on a vibrating body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C031E-F671-20B0-ED4B-57E8AAD8936D}"/>
              </a:ext>
            </a:extLst>
          </p:cNvPr>
          <p:cNvSpPr txBox="1"/>
          <p:nvPr/>
        </p:nvSpPr>
        <p:spPr>
          <a:xfrm>
            <a:off x="2576758" y="3304719"/>
            <a:ext cx="58336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 wave measured from its equilibrium position.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2F56A-1D1A-5E01-851B-6C01D305C29B}"/>
              </a:ext>
            </a:extLst>
          </p:cNvPr>
          <p:cNvSpPr txBox="1"/>
          <p:nvPr/>
        </p:nvSpPr>
        <p:spPr>
          <a:xfrm>
            <a:off x="2576759" y="370315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E77F4-AB48-C31F-37A4-CE9636621D66}"/>
              </a:ext>
            </a:extLst>
          </p:cNvPr>
          <p:cNvSpPr txBox="1"/>
          <p:nvPr/>
        </p:nvSpPr>
        <p:spPr>
          <a:xfrm>
            <a:off x="3406613" y="3703153"/>
            <a:ext cx="1862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7DE3B-68B2-91E8-C7B2-23A930DF3383}"/>
              </a:ext>
            </a:extLst>
          </p:cNvPr>
          <p:cNvSpPr txBox="1"/>
          <p:nvPr/>
        </p:nvSpPr>
        <p:spPr>
          <a:xfrm>
            <a:off x="3767490" y="3703153"/>
            <a:ext cx="7605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BE6D08-57E6-7330-8F55-593138BABDF8}"/>
              </a:ext>
            </a:extLst>
          </p:cNvPr>
          <p:cNvSpPr txBox="1"/>
          <p:nvPr/>
        </p:nvSpPr>
        <p:spPr>
          <a:xfrm>
            <a:off x="4711648" y="3703153"/>
            <a:ext cx="4500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A55744-B091-7E3E-D1BD-8CCE18FFA11E}"/>
              </a:ext>
            </a:extLst>
          </p:cNvPr>
          <p:cNvSpPr txBox="1"/>
          <p:nvPr/>
        </p:nvSpPr>
        <p:spPr>
          <a:xfrm>
            <a:off x="5349469" y="3703153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E4F9C1-1CE3-6C95-7266-6E08ABF19EC7}"/>
              </a:ext>
            </a:extLst>
          </p:cNvPr>
          <p:cNvSpPr txBox="1"/>
          <p:nvPr/>
        </p:nvSpPr>
        <p:spPr>
          <a:xfrm>
            <a:off x="5848491" y="3703153"/>
            <a:ext cx="12103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amplitude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464ED2-2CC1-F835-59DC-E868D5C28191}"/>
              </a:ext>
            </a:extLst>
          </p:cNvPr>
          <p:cNvSpPr txBox="1"/>
          <p:nvPr/>
        </p:nvSpPr>
        <p:spPr>
          <a:xfrm>
            <a:off x="7239420" y="3703153"/>
            <a:ext cx="102406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property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8F6BDC-7213-C5CF-8BE4-3CC1FD03E4CC}"/>
              </a:ext>
            </a:extLst>
          </p:cNvPr>
          <p:cNvSpPr txBox="1"/>
          <p:nvPr/>
        </p:nvSpPr>
        <p:spPr>
          <a:xfrm>
            <a:off x="8446479" y="3703153"/>
            <a:ext cx="14428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subjectively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C5E06A-F727-3273-25D2-67E22F8A83FC}"/>
              </a:ext>
            </a:extLst>
          </p:cNvPr>
          <p:cNvSpPr txBox="1"/>
          <p:nvPr/>
        </p:nvSpPr>
        <p:spPr>
          <a:xfrm>
            <a:off x="2576758" y="4034964"/>
            <a:ext cx="24364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heard as loudness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20D235-B6B2-EC22-0B46-0B33F0745899}"/>
              </a:ext>
            </a:extLst>
          </p:cNvPr>
          <p:cNvSpPr txBox="1"/>
          <p:nvPr/>
        </p:nvSpPr>
        <p:spPr>
          <a:xfrm>
            <a:off x="2576759" y="443339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B14F24C-95FE-5BC4-2917-2B098467B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660" y="4147636"/>
            <a:ext cx="2160035" cy="164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36D22F6-4B02-5F7F-5A74-43079360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68D90C-7DDF-4B5D-A92C-E21A10496F00}" type="slidenum">
              <a:rPr/>
              <a:t>63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4DB5E82-4C06-705B-6942-F915E69C5C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B66A87-752A-5BA5-AEB5-E792D3C79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673" y="1658728"/>
            <a:ext cx="7602256" cy="2007847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0E9850-0C4E-D682-A17D-221E3ECB2B2C}"/>
              </a:ext>
            </a:extLst>
          </p:cNvPr>
          <p:cNvSpPr txBox="1"/>
          <p:nvPr/>
        </p:nvSpPr>
        <p:spPr>
          <a:xfrm>
            <a:off x="2510789" y="1284133"/>
            <a:ext cx="45912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representation of sound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46BA5-B46C-CD90-BF7A-9B3468AFC2FB}"/>
              </a:ext>
            </a:extLst>
          </p:cNvPr>
          <p:cNvSpPr txBox="1"/>
          <p:nvPr/>
        </p:nvSpPr>
        <p:spPr>
          <a:xfrm>
            <a:off x="2276626" y="3740384"/>
            <a:ext cx="7739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3FDFB-316B-E102-FC28-5A7CB62943EF}"/>
              </a:ext>
            </a:extLst>
          </p:cNvPr>
          <p:cNvSpPr txBox="1"/>
          <p:nvPr/>
        </p:nvSpPr>
        <p:spPr>
          <a:xfrm>
            <a:off x="2536588" y="3740384"/>
            <a:ext cx="4829912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transducer converts pressure to voltage levels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D83E3-7ACF-2430-8B4F-C85974F1E2EA}"/>
              </a:ext>
            </a:extLst>
          </p:cNvPr>
          <p:cNvSpPr txBox="1"/>
          <p:nvPr/>
        </p:nvSpPr>
        <p:spPr>
          <a:xfrm>
            <a:off x="2276626" y="4018962"/>
            <a:ext cx="7739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B3C84D-8AF5-6BB5-9BB0-F2924CB90301}"/>
              </a:ext>
            </a:extLst>
          </p:cNvPr>
          <p:cNvSpPr txBox="1"/>
          <p:nvPr/>
        </p:nvSpPr>
        <p:spPr>
          <a:xfrm>
            <a:off x="2536589" y="4018962"/>
            <a:ext cx="7238905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analog signal is converted into a digital stream by discrete sampling: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2B5D7-8023-B58F-2471-EBEB2FB6A8DC}"/>
              </a:ext>
            </a:extLst>
          </p:cNvPr>
          <p:cNvSpPr txBox="1"/>
          <p:nvPr/>
        </p:nvSpPr>
        <p:spPr>
          <a:xfrm>
            <a:off x="2276626" y="4296886"/>
            <a:ext cx="7739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9AF1C-78EA-B10E-C1A8-B8F566C33B5D}"/>
              </a:ext>
            </a:extLst>
          </p:cNvPr>
          <p:cNvSpPr txBox="1"/>
          <p:nvPr/>
        </p:nvSpPr>
        <p:spPr>
          <a:xfrm>
            <a:off x="2536588" y="4296886"/>
            <a:ext cx="737419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analogous signal is sampled in regular time intervals, i.e. the amplitude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DB6E6-9E8F-D6C4-A183-1871A2EEED39}"/>
              </a:ext>
            </a:extLst>
          </p:cNvPr>
          <p:cNvSpPr txBox="1"/>
          <p:nvPr/>
        </p:nvSpPr>
        <p:spPr>
          <a:xfrm>
            <a:off x="2536589" y="4575463"/>
            <a:ext cx="251940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the wave is measured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22CFAF-BDBE-D145-20B6-F77E3B8A813A}"/>
              </a:ext>
            </a:extLst>
          </p:cNvPr>
          <p:cNvSpPr txBox="1"/>
          <p:nvPr/>
        </p:nvSpPr>
        <p:spPr>
          <a:xfrm>
            <a:off x="2276626" y="4853388"/>
            <a:ext cx="7739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14C2E-2799-7C3B-4B3E-B75B2860FAAC}"/>
              </a:ext>
            </a:extLst>
          </p:cNvPr>
          <p:cNvSpPr txBox="1"/>
          <p:nvPr/>
        </p:nvSpPr>
        <p:spPr>
          <a:xfrm>
            <a:off x="2536588" y="4853388"/>
            <a:ext cx="746037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Discretization both in time and amplitude (quantization) to get representative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42B9B-8114-5E09-C621-623592A4EADE}"/>
              </a:ext>
            </a:extLst>
          </p:cNvPr>
          <p:cNvSpPr txBox="1"/>
          <p:nvPr/>
        </p:nvSpPr>
        <p:spPr>
          <a:xfrm>
            <a:off x="2536589" y="5131312"/>
            <a:ext cx="733765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values in a limited range (e.g. quantization with 8 bit: 256 possible values)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A1AFF-FEBE-D682-9CDE-C2100E99946D}"/>
              </a:ext>
            </a:extLst>
          </p:cNvPr>
          <p:cNvSpPr txBox="1"/>
          <p:nvPr/>
        </p:nvSpPr>
        <p:spPr>
          <a:xfrm>
            <a:off x="2276626" y="5410216"/>
            <a:ext cx="7739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495097-9ACE-3AB3-1FC1-45EDA0435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835" y="5734514"/>
            <a:ext cx="7191739" cy="386351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3C6B99-55E1-896D-C195-6E3D024F1CB6}"/>
              </a:ext>
            </a:extLst>
          </p:cNvPr>
          <p:cNvSpPr txBox="1"/>
          <p:nvPr/>
        </p:nvSpPr>
        <p:spPr>
          <a:xfrm>
            <a:off x="2536589" y="5410216"/>
            <a:ext cx="2470035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Result: series of values: 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015441B-C4E4-6342-FF24-348715BE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34F0FA2-A197-44F3-B74C-3E5944CF44AD}" type="slidenum">
              <a:rPr/>
              <a:t>64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17A416D-A654-AE15-F1F8-80C93CD3C5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FB87B-B58F-1514-CFA2-11E5F4864184}"/>
              </a:ext>
            </a:extLst>
          </p:cNvPr>
          <p:cNvSpPr txBox="1"/>
          <p:nvPr/>
        </p:nvSpPr>
        <p:spPr>
          <a:xfrm>
            <a:off x="2249847" y="1513071"/>
            <a:ext cx="45912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representation of sound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651EF-44D0-C45C-D576-77539D74DE2B}"/>
              </a:ext>
            </a:extLst>
          </p:cNvPr>
          <p:cNvSpPr txBox="1"/>
          <p:nvPr/>
        </p:nvSpPr>
        <p:spPr>
          <a:xfrm>
            <a:off x="2249847" y="200262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3F16E-BD68-E361-C077-6B8672F5255A}"/>
              </a:ext>
            </a:extLst>
          </p:cNvPr>
          <p:cNvSpPr txBox="1"/>
          <p:nvPr/>
        </p:nvSpPr>
        <p:spPr>
          <a:xfrm>
            <a:off x="3154815" y="2002622"/>
            <a:ext cx="639284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smooth, continuous curve of a wave form is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B8A85-6D81-8981-48F1-DD341B798F20}"/>
              </a:ext>
            </a:extLst>
          </p:cNvPr>
          <p:cNvSpPr txBox="1"/>
          <p:nvPr/>
        </p:nvSpPr>
        <p:spPr>
          <a:xfrm>
            <a:off x="2249846" y="2411181"/>
            <a:ext cx="728212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directly represented in a computer.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computer measures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4EBE2-7BD0-2866-B35D-E3FE866B2D02}"/>
              </a:ext>
            </a:extLst>
          </p:cNvPr>
          <p:cNvSpPr txBox="1"/>
          <p:nvPr/>
        </p:nvSpPr>
        <p:spPr>
          <a:xfrm>
            <a:off x="2249847" y="2819086"/>
            <a:ext cx="72603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amplitude of the waveform at regular time intervals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ACE546-8E7D-D099-94DC-F6FEEA0FDE26}"/>
              </a:ext>
            </a:extLst>
          </p:cNvPr>
          <p:cNvSpPr txBox="1"/>
          <p:nvPr/>
        </p:nvSpPr>
        <p:spPr>
          <a:xfrm>
            <a:off x="2249846" y="3227318"/>
            <a:ext cx="62991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 produce a series of numbers called samples.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6A8D5-AB46-CB8E-800A-3A2FA54E9EA9}"/>
              </a:ext>
            </a:extLst>
          </p:cNvPr>
          <p:cNvSpPr txBox="1"/>
          <p:nvPr/>
        </p:nvSpPr>
        <p:spPr>
          <a:xfrm>
            <a:off x="2249847" y="371687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E71A7-E192-487E-0849-228699F33461}"/>
              </a:ext>
            </a:extLst>
          </p:cNvPr>
          <p:cNvSpPr txBox="1"/>
          <p:nvPr/>
        </p:nvSpPr>
        <p:spPr>
          <a:xfrm>
            <a:off x="3154815" y="3716870"/>
            <a:ext cx="7139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Audio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D7C83-AC51-6635-5AFE-A31B1A39BD0B}"/>
              </a:ext>
            </a:extLst>
          </p:cNvPr>
          <p:cNvSpPr txBox="1"/>
          <p:nvPr/>
        </p:nvSpPr>
        <p:spPr>
          <a:xfrm>
            <a:off x="4122488" y="3716870"/>
            <a:ext cx="8688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8CF15-8ABE-E043-96AF-F6D892E8744A}"/>
              </a:ext>
            </a:extLst>
          </p:cNvPr>
          <p:cNvSpPr txBox="1"/>
          <p:nvPr/>
        </p:nvSpPr>
        <p:spPr>
          <a:xfrm>
            <a:off x="5259004" y="3716870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A47D7-0ED9-ED8E-A6AF-5B20E2B50487}"/>
              </a:ext>
            </a:extLst>
          </p:cNvPr>
          <p:cNvSpPr txBox="1"/>
          <p:nvPr/>
        </p:nvSpPr>
        <p:spPr>
          <a:xfrm>
            <a:off x="5892255" y="3716870"/>
            <a:ext cx="12259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converted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03466A-7B72-314C-AE40-49032BDC236E}"/>
              </a:ext>
            </a:extLst>
          </p:cNvPr>
          <p:cNvSpPr txBox="1"/>
          <p:nvPr/>
        </p:nvSpPr>
        <p:spPr>
          <a:xfrm>
            <a:off x="7415449" y="3716870"/>
            <a:ext cx="4500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6C420-9339-B246-0E11-B07DF319A4FD}"/>
              </a:ext>
            </a:extLst>
          </p:cNvPr>
          <p:cNvSpPr txBox="1"/>
          <p:nvPr/>
        </p:nvSpPr>
        <p:spPr>
          <a:xfrm>
            <a:off x="8098339" y="3716870"/>
            <a:ext cx="729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901949-3E54-BDA3-335D-7F1136311F6C}"/>
              </a:ext>
            </a:extLst>
          </p:cNvPr>
          <p:cNvSpPr txBox="1"/>
          <p:nvPr/>
        </p:nvSpPr>
        <p:spPr>
          <a:xfrm>
            <a:off x="9084301" y="3716870"/>
            <a:ext cx="10394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73855A-CBF4-C307-615C-1A642CD0A64D}"/>
              </a:ext>
            </a:extLst>
          </p:cNvPr>
          <p:cNvSpPr txBox="1"/>
          <p:nvPr/>
        </p:nvSpPr>
        <p:spPr>
          <a:xfrm>
            <a:off x="2249847" y="4125100"/>
            <a:ext cx="72561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  Analog-to-Digital  Converter  (ADC).  The  reverse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513837-2D97-5E80-78E7-FCC33E01B79F}"/>
              </a:ext>
            </a:extLst>
          </p:cNvPr>
          <p:cNvSpPr txBox="1"/>
          <p:nvPr/>
        </p:nvSpPr>
        <p:spPr>
          <a:xfrm>
            <a:off x="2249847" y="4533333"/>
            <a:ext cx="75406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mechanism  is  performed  by  a Digital-to  Analog  Converter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C922CB-1ECA-FB1C-0DFE-7374CEC58340}"/>
              </a:ext>
            </a:extLst>
          </p:cNvPr>
          <p:cNvSpPr txBox="1"/>
          <p:nvPr/>
        </p:nvSpPr>
        <p:spPr>
          <a:xfrm>
            <a:off x="2249846" y="4941238"/>
            <a:ext cx="8529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(DAC).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F2289-A915-DA3B-DD0C-D333EA910D54}"/>
              </a:ext>
            </a:extLst>
          </p:cNvPr>
          <p:cNvSpPr txBox="1"/>
          <p:nvPr/>
        </p:nvSpPr>
        <p:spPr>
          <a:xfrm>
            <a:off x="3413798" y="4941238"/>
            <a:ext cx="4966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0BD52-9F2D-22E1-CAE0-D7A2F094D5AA}"/>
              </a:ext>
            </a:extLst>
          </p:cNvPr>
          <p:cNvSpPr txBox="1"/>
          <p:nvPr/>
        </p:nvSpPr>
        <p:spPr>
          <a:xfrm>
            <a:off x="4190091" y="4941238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CE6D0C-E01B-F1AD-849D-09A3DE646249}"/>
              </a:ext>
            </a:extLst>
          </p:cNvPr>
          <p:cNvSpPr txBox="1"/>
          <p:nvPr/>
        </p:nvSpPr>
        <p:spPr>
          <a:xfrm>
            <a:off x="4682908" y="4941238"/>
            <a:ext cx="5893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A309E9-5F1A-93C7-12CC-DD34F8085069}"/>
              </a:ext>
            </a:extLst>
          </p:cNvPr>
          <p:cNvSpPr txBox="1"/>
          <p:nvPr/>
        </p:nvSpPr>
        <p:spPr>
          <a:xfrm>
            <a:off x="5559464" y="4941238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E28E3-BFE9-7A7E-48C1-FC288DCE1F78}"/>
              </a:ext>
            </a:extLst>
          </p:cNvPr>
          <p:cNvSpPr txBox="1"/>
          <p:nvPr/>
        </p:nvSpPr>
        <p:spPr>
          <a:xfrm>
            <a:off x="6017664" y="4941238"/>
            <a:ext cx="1427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AM79C30A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9538FA-806F-DD24-24DD-F004D6BD8374}"/>
              </a:ext>
            </a:extLst>
          </p:cNvPr>
          <p:cNvSpPr txBox="1"/>
          <p:nvPr/>
        </p:nvSpPr>
        <p:spPr>
          <a:xfrm>
            <a:off x="7784490" y="4941238"/>
            <a:ext cx="729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020651-0D57-7FEC-A454-FE513BAABB19}"/>
              </a:ext>
            </a:extLst>
          </p:cNvPr>
          <p:cNvSpPr txBox="1"/>
          <p:nvPr/>
        </p:nvSpPr>
        <p:spPr>
          <a:xfrm>
            <a:off x="8815847" y="4941238"/>
            <a:ext cx="12876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subscriber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703E6-DA1F-02B1-B045-616BD673CC99}"/>
              </a:ext>
            </a:extLst>
          </p:cNvPr>
          <p:cNvSpPr txBox="1"/>
          <p:nvPr/>
        </p:nvSpPr>
        <p:spPr>
          <a:xfrm>
            <a:off x="2249847" y="5349470"/>
            <a:ext cx="18153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controller chip.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997285-DDF6-58D5-E882-1523A65A4212}"/>
              </a:ext>
            </a:extLst>
          </p:cNvPr>
          <p:cNvSpPr txBox="1"/>
          <p:nvPr/>
        </p:nvSpPr>
        <p:spPr>
          <a:xfrm>
            <a:off x="2249847" y="583934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BBF63B3-F069-CE97-8616-D61DFBEF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67844BC-4E2B-4D71-AEE0-0EB91FD00CA2}" type="slidenum">
              <a:rPr/>
              <a:t>65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1B6CF33-D729-BFE7-B781-1A4BB93765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ECB6E-302A-EA87-1208-FC9915208D42}"/>
              </a:ext>
            </a:extLst>
          </p:cNvPr>
          <p:cNvSpPr txBox="1"/>
          <p:nvPr/>
        </p:nvSpPr>
        <p:spPr>
          <a:xfrm>
            <a:off x="2249847" y="1342594"/>
            <a:ext cx="1680717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5E8EA-6A3C-0B70-A2C5-D5BC0C07526F}"/>
              </a:ext>
            </a:extLst>
          </p:cNvPr>
          <p:cNvSpPr txBox="1"/>
          <p:nvPr/>
        </p:nvSpPr>
        <p:spPr>
          <a:xfrm>
            <a:off x="2249847" y="189517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CD9A4-C7AA-16B7-1FEA-CC1DF5463AA3}"/>
              </a:ext>
            </a:extLst>
          </p:cNvPr>
          <p:cNvSpPr txBox="1"/>
          <p:nvPr/>
        </p:nvSpPr>
        <p:spPr>
          <a:xfrm>
            <a:off x="3149590" y="1895176"/>
            <a:ext cx="64242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  wave  form  the  smooth,  continuous  is 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3F6E1-8F09-2E32-AE70-80DBE8B19770}"/>
              </a:ext>
            </a:extLst>
          </p:cNvPr>
          <p:cNvSpPr txBox="1"/>
          <p:nvPr/>
        </p:nvSpPr>
        <p:spPr>
          <a:xfrm>
            <a:off x="2249847" y="2245929"/>
            <a:ext cx="46706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directly represented in the computer.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FE2C2-B93E-FB85-8717-58017207F759}"/>
              </a:ext>
            </a:extLst>
          </p:cNvPr>
          <p:cNvSpPr txBox="1"/>
          <p:nvPr/>
        </p:nvSpPr>
        <p:spPr>
          <a:xfrm>
            <a:off x="2249847" y="267440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94821-003E-6F2E-833A-6078BD6A739C}"/>
              </a:ext>
            </a:extLst>
          </p:cNvPr>
          <p:cNvSpPr txBox="1"/>
          <p:nvPr/>
        </p:nvSpPr>
        <p:spPr>
          <a:xfrm>
            <a:off x="3149590" y="2674409"/>
            <a:ext cx="62843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computer measures the amplitude of the wave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34B95-F3F5-C5C7-AA9D-E6781C8C6AB5}"/>
              </a:ext>
            </a:extLst>
          </p:cNvPr>
          <p:cNvSpPr txBox="1"/>
          <p:nvPr/>
        </p:nvSpPr>
        <p:spPr>
          <a:xfrm>
            <a:off x="2249847" y="3024835"/>
            <a:ext cx="69979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 in the regular time interval to produce the series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C11A8-2B67-9B79-F7C3-96DC3482243B}"/>
              </a:ext>
            </a:extLst>
          </p:cNvPr>
          <p:cNvSpPr txBox="1"/>
          <p:nvPr/>
        </p:nvSpPr>
        <p:spPr>
          <a:xfrm>
            <a:off x="2249847" y="3374935"/>
            <a:ext cx="72251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numbers. Each of this measurement is called sample. This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D38EE-D006-2F89-4E3E-A265DF99C759}"/>
              </a:ext>
            </a:extLst>
          </p:cNvPr>
          <p:cNvSpPr txBox="1"/>
          <p:nvPr/>
        </p:nvSpPr>
        <p:spPr>
          <a:xfrm>
            <a:off x="2249846" y="3726014"/>
            <a:ext cx="34909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 is called sampling.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FEAA88-B0D4-4FA4-D41D-A5C25446A830}"/>
              </a:ext>
            </a:extLst>
          </p:cNvPr>
          <p:cNvSpPr txBox="1"/>
          <p:nvPr/>
        </p:nvSpPr>
        <p:spPr>
          <a:xfrm>
            <a:off x="2249847" y="4172783"/>
            <a:ext cx="2676951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  rate</a:t>
            </a:r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D9A09-DFA2-F0DD-29A2-D85F94A9E9ED}"/>
              </a:ext>
            </a:extLst>
          </p:cNvPr>
          <p:cNvSpPr txBox="1"/>
          <p:nvPr/>
        </p:nvSpPr>
        <p:spPr>
          <a:xfrm>
            <a:off x="5059135" y="4271085"/>
            <a:ext cx="45157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the rate at which a continuous wave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C3BC0-116F-C12E-2873-3BE9CAE51A4F}"/>
              </a:ext>
            </a:extLst>
          </p:cNvPr>
          <p:cNvSpPr txBox="1"/>
          <p:nvPr/>
        </p:nvSpPr>
        <p:spPr>
          <a:xfrm>
            <a:off x="2249847" y="4647637"/>
            <a:ext cx="74578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  is  sampled  is  called  sampling  rate.  Like  frequency,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4824C-5D81-5BB1-D795-F31F1E111B12}"/>
              </a:ext>
            </a:extLst>
          </p:cNvPr>
          <p:cNvSpPr txBox="1"/>
          <p:nvPr/>
        </p:nvSpPr>
        <p:spPr>
          <a:xfrm>
            <a:off x="2249847" y="4998391"/>
            <a:ext cx="73077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 rate are measured in Hz. For loss less digitization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3C65BD-FDE1-FB23-4C10-939C7BEC9562}"/>
              </a:ext>
            </a:extLst>
          </p:cNvPr>
          <p:cNvSpPr txBox="1"/>
          <p:nvPr/>
        </p:nvSpPr>
        <p:spPr>
          <a:xfrm>
            <a:off x="2249846" y="5348817"/>
            <a:ext cx="718414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sampling rate should be at least twice of the maximum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2EA3A4-26F3-857A-C43C-FE0548F78E5C}"/>
              </a:ext>
            </a:extLst>
          </p:cNvPr>
          <p:cNvSpPr txBox="1"/>
          <p:nvPr/>
        </p:nvSpPr>
        <p:spPr>
          <a:xfrm>
            <a:off x="2249846" y="5699243"/>
            <a:ext cx="25294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frequency response.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EAAF3F4-C7FF-7F99-7389-3CBEAAA5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59FA1B-86A4-4EA6-A26B-37348EF8ED93}" type="slidenum">
              <a:rPr/>
              <a:t>66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BBF4BDD-2BEB-67DC-A2E5-234B0BFD6B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BFC23-A3DD-DE80-85CC-7FEDCB8C42AA}"/>
              </a:ext>
            </a:extLst>
          </p:cNvPr>
          <p:cNvSpPr txBox="1"/>
          <p:nvPr/>
        </p:nvSpPr>
        <p:spPr>
          <a:xfrm>
            <a:off x="2184203" y="1517643"/>
            <a:ext cx="2801344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 Rate..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6029D-84F5-D81F-8582-07E818B917B7}"/>
              </a:ext>
            </a:extLst>
          </p:cNvPr>
          <p:cNvSpPr txBox="1"/>
          <p:nvPr/>
        </p:nvSpPr>
        <p:spPr>
          <a:xfrm>
            <a:off x="2184203" y="2164608"/>
            <a:ext cx="72914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Nyquist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Theorem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“For lossless digitization, the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4122F-500D-D58C-17A6-75717D653B35}"/>
              </a:ext>
            </a:extLst>
          </p:cNvPr>
          <p:cNvSpPr txBox="1"/>
          <p:nvPr/>
        </p:nvSpPr>
        <p:spPr>
          <a:xfrm>
            <a:off x="2184203" y="2590803"/>
            <a:ext cx="11171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A7DD2-3080-657A-29C2-C8B00FD4138D}"/>
              </a:ext>
            </a:extLst>
          </p:cNvPr>
          <p:cNvSpPr txBox="1"/>
          <p:nvPr/>
        </p:nvSpPr>
        <p:spPr>
          <a:xfrm>
            <a:off x="3582316" y="2590803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E15D9-5B92-A226-1FAD-E706702E36ED}"/>
              </a:ext>
            </a:extLst>
          </p:cNvPr>
          <p:cNvSpPr txBox="1"/>
          <p:nvPr/>
        </p:nvSpPr>
        <p:spPr>
          <a:xfrm>
            <a:off x="4303743" y="2590803"/>
            <a:ext cx="82253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should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40D5A-E4A1-A522-33B7-384DA95DB61E}"/>
              </a:ext>
            </a:extLst>
          </p:cNvPr>
          <p:cNvSpPr txBox="1"/>
          <p:nvPr/>
        </p:nvSpPr>
        <p:spPr>
          <a:xfrm>
            <a:off x="5388986" y="2590803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218FE-BCE2-9495-70BC-C1AE5504B0D3}"/>
              </a:ext>
            </a:extLst>
          </p:cNvPr>
          <p:cNvSpPr txBox="1"/>
          <p:nvPr/>
        </p:nvSpPr>
        <p:spPr>
          <a:xfrm>
            <a:off x="5928506" y="259080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2E25E-1B23-0DF3-A22D-2196F54E5DE6}"/>
              </a:ext>
            </a:extLst>
          </p:cNvPr>
          <p:cNvSpPr txBox="1"/>
          <p:nvPr/>
        </p:nvSpPr>
        <p:spPr>
          <a:xfrm>
            <a:off x="6383766" y="2590803"/>
            <a:ext cx="5896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least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A69C5-DA20-FE94-6E76-7AE9790FEBDA}"/>
              </a:ext>
            </a:extLst>
          </p:cNvPr>
          <p:cNvSpPr txBox="1"/>
          <p:nvPr/>
        </p:nvSpPr>
        <p:spPr>
          <a:xfrm>
            <a:off x="7218191" y="2590803"/>
            <a:ext cx="6360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77995-C129-B078-F707-CA7C8A839545}"/>
              </a:ext>
            </a:extLst>
          </p:cNvPr>
          <p:cNvSpPr txBox="1"/>
          <p:nvPr/>
        </p:nvSpPr>
        <p:spPr>
          <a:xfrm>
            <a:off x="8102912" y="259080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54390-987C-5C69-370D-3C62B858C681}"/>
              </a:ext>
            </a:extLst>
          </p:cNvPr>
          <p:cNvSpPr txBox="1"/>
          <p:nvPr/>
        </p:nvSpPr>
        <p:spPr>
          <a:xfrm>
            <a:off x="8726037" y="2590803"/>
            <a:ext cx="12097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maximum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88819-8B2F-34EF-AD39-D86114429329}"/>
              </a:ext>
            </a:extLst>
          </p:cNvPr>
          <p:cNvSpPr txBox="1"/>
          <p:nvPr/>
        </p:nvSpPr>
        <p:spPr>
          <a:xfrm>
            <a:off x="2184203" y="3016343"/>
            <a:ext cx="27619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frequency responses”.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B661FD-B795-7DDF-CAFE-071085842821}"/>
              </a:ext>
            </a:extLst>
          </p:cNvPr>
          <p:cNvSpPr txBox="1"/>
          <p:nvPr/>
        </p:nvSpPr>
        <p:spPr>
          <a:xfrm>
            <a:off x="2184203" y="3527123"/>
            <a:ext cx="73242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E.g. CD standard sampling rate of 44100Hz means that the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997535-1CD8-C79B-1FE1-DFA8B927E543}"/>
              </a:ext>
            </a:extLst>
          </p:cNvPr>
          <p:cNvSpPr txBox="1"/>
          <p:nvPr/>
        </p:nvSpPr>
        <p:spPr>
          <a:xfrm>
            <a:off x="2184203" y="3952991"/>
            <a:ext cx="71842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waveform is sampled 44100 times per second. A sampling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9DB6DA-559A-E5A9-A8EA-53DEF148F09B}"/>
              </a:ext>
            </a:extLst>
          </p:cNvPr>
          <p:cNvSpPr txBox="1"/>
          <p:nvPr/>
        </p:nvSpPr>
        <p:spPr>
          <a:xfrm>
            <a:off x="2184203" y="4379185"/>
            <a:ext cx="66573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rate of 44100 Hz can only represent frequencies up 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822107-5CDB-1945-99E7-FE0797803DBC}"/>
              </a:ext>
            </a:extLst>
          </p:cNvPr>
          <p:cNvSpPr txBox="1"/>
          <p:nvPr/>
        </p:nvSpPr>
        <p:spPr>
          <a:xfrm>
            <a:off x="2184203" y="4804726"/>
            <a:ext cx="12725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22050 Hz.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3B8F8B-2073-2654-3EC5-034D318C3931}"/>
              </a:ext>
            </a:extLst>
          </p:cNvPr>
          <p:cNvSpPr txBox="1"/>
          <p:nvPr/>
        </p:nvSpPr>
        <p:spPr>
          <a:xfrm>
            <a:off x="2362192" y="531583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1E40B-93BE-B149-4B5D-0642587A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B51B3FB-C3CD-4E38-86A3-8B672C275F43}" type="slidenum">
              <a:rPr/>
              <a:t>67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18D0FACD-99AD-55DB-83FC-BDF5D9DA64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8C258-96CA-A33D-0D4B-D22CDC2F6AF3}"/>
              </a:ext>
            </a:extLst>
          </p:cNvPr>
          <p:cNvSpPr txBox="1"/>
          <p:nvPr/>
        </p:nvSpPr>
        <p:spPr>
          <a:xfrm>
            <a:off x="2021237" y="1516009"/>
            <a:ext cx="226235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Sample Height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5BAE1-9275-DBBE-E6C1-9A5B11A91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10" y="2074145"/>
            <a:ext cx="6247580" cy="4009163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E984F18-7B31-E7A6-030B-F227652B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D65739-026D-420F-8738-0CA8B56A6346}" type="slidenum">
              <a:rPr/>
              <a:t>68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C09C8E9E-AA9D-AB2A-3E67-4E1C348210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F0ED3-DD2B-8FE4-917F-1F0F7ED9DF1D}"/>
              </a:ext>
            </a:extLst>
          </p:cNvPr>
          <p:cNvSpPr txBox="1"/>
          <p:nvPr/>
        </p:nvSpPr>
        <p:spPr>
          <a:xfrm>
            <a:off x="2021237" y="1512743"/>
            <a:ext cx="17835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Quantization: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C946C-9B02-BBEF-900A-60D532BC7A7E}"/>
              </a:ext>
            </a:extLst>
          </p:cNvPr>
          <p:cNvSpPr txBox="1"/>
          <p:nvPr/>
        </p:nvSpPr>
        <p:spPr>
          <a:xfrm>
            <a:off x="2021237" y="209243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B4579-0746-D7FD-0038-5DC3DA68DC37}"/>
              </a:ext>
            </a:extLst>
          </p:cNvPr>
          <p:cNvSpPr txBox="1"/>
          <p:nvPr/>
        </p:nvSpPr>
        <p:spPr>
          <a:xfrm>
            <a:off x="2904651" y="2092433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29CC9-CA8F-4E78-E942-37303F9C9F5A}"/>
              </a:ext>
            </a:extLst>
          </p:cNvPr>
          <p:cNvSpPr txBox="1"/>
          <p:nvPr/>
        </p:nvSpPr>
        <p:spPr>
          <a:xfrm>
            <a:off x="4042148" y="2092433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A0DA7-2FCA-926C-278A-A095AAAB4E4C}"/>
              </a:ext>
            </a:extLst>
          </p:cNvPr>
          <p:cNvSpPr txBox="1"/>
          <p:nvPr/>
        </p:nvSpPr>
        <p:spPr>
          <a:xfrm>
            <a:off x="5378862" y="209243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9345B-2FAA-9BD3-CA34-65824BFF1BCB}"/>
              </a:ext>
            </a:extLst>
          </p:cNvPr>
          <p:cNvSpPr txBox="1"/>
          <p:nvPr/>
        </p:nvSpPr>
        <p:spPr>
          <a:xfrm>
            <a:off x="6256071" y="2092433"/>
            <a:ext cx="8998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1E061-9062-5187-71FE-4F685D3D4CBD}"/>
              </a:ext>
            </a:extLst>
          </p:cNvPr>
          <p:cNvSpPr txBox="1"/>
          <p:nvPr/>
        </p:nvSpPr>
        <p:spPr>
          <a:xfrm>
            <a:off x="7836744" y="2092433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9CA54-CEEB-77EE-1948-F349B984F754}"/>
              </a:ext>
            </a:extLst>
          </p:cNvPr>
          <p:cNvSpPr txBox="1"/>
          <p:nvPr/>
        </p:nvSpPr>
        <p:spPr>
          <a:xfrm>
            <a:off x="8681947" y="2092433"/>
            <a:ext cx="10550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discrete.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A94FA-B76B-56CB-C283-E10741F1F41B}"/>
              </a:ext>
            </a:extLst>
          </p:cNvPr>
          <p:cNvSpPr txBox="1"/>
          <p:nvPr/>
        </p:nvSpPr>
        <p:spPr>
          <a:xfrm>
            <a:off x="2021237" y="2576106"/>
            <a:ext cx="72317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Resolution/Quantization of a sample value depends on 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D2B4D-68FE-2FB1-E14F-BBB498D5C0FD}"/>
              </a:ext>
            </a:extLst>
          </p:cNvPr>
          <p:cNvSpPr txBox="1"/>
          <p:nvPr/>
        </p:nvSpPr>
        <p:spPr>
          <a:xfrm>
            <a:off x="2021236" y="3059126"/>
            <a:ext cx="69363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no. of bits used in measuring the height of a waveform.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00AB98-4351-AB75-7616-DB280C314C53}"/>
              </a:ext>
            </a:extLst>
          </p:cNvPr>
          <p:cNvSpPr txBox="1"/>
          <p:nvPr/>
        </p:nvSpPr>
        <p:spPr>
          <a:xfrm>
            <a:off x="2021237" y="363881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149AC-DC32-A29D-3B33-4D84EBAF9E10}"/>
              </a:ext>
            </a:extLst>
          </p:cNvPr>
          <p:cNvSpPr txBox="1"/>
          <p:nvPr/>
        </p:nvSpPr>
        <p:spPr>
          <a:xfrm>
            <a:off x="2904650" y="3638816"/>
            <a:ext cx="63778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 E.g. An 8-bit quantization yields 256 values. 16-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A5A5FB-B663-8C03-6258-32240A2145B2}"/>
              </a:ext>
            </a:extLst>
          </p:cNvPr>
          <p:cNvSpPr txBox="1"/>
          <p:nvPr/>
        </p:nvSpPr>
        <p:spPr>
          <a:xfrm>
            <a:off x="2021237" y="4121835"/>
            <a:ext cx="6579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bit CD quality quantization results over 65536 values.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12F8A0-83AF-AC1B-4A09-48C323117F29}"/>
              </a:ext>
            </a:extLst>
          </p:cNvPr>
          <p:cNvSpPr txBox="1"/>
          <p:nvPr/>
        </p:nvSpPr>
        <p:spPr>
          <a:xfrm>
            <a:off x="2197920" y="470185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F7BA106-C2A1-EFE7-3509-EDCB15C0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71A85C-F3A5-445B-BD3A-E0622187C29A}" type="slidenum">
              <a:rPr/>
              <a:t>69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C8739627-D723-F7ED-7BCD-549DC10071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CE256-917C-3401-64A9-6C7743DC66D4}"/>
              </a:ext>
            </a:extLst>
          </p:cNvPr>
          <p:cNvSpPr txBox="1"/>
          <p:nvPr/>
        </p:nvSpPr>
        <p:spPr>
          <a:xfrm>
            <a:off x="2152196" y="155356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1F61C-F40E-A0B1-1145-F776AEF7ACFF}"/>
              </a:ext>
            </a:extLst>
          </p:cNvPr>
          <p:cNvSpPr txBox="1"/>
          <p:nvPr/>
        </p:nvSpPr>
        <p:spPr>
          <a:xfrm>
            <a:off x="2332473" y="1512743"/>
            <a:ext cx="17835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Quantization: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A118D-DF06-7818-583B-294BC6FEF58B}"/>
              </a:ext>
            </a:extLst>
          </p:cNvPr>
          <p:cNvSpPr txBox="1"/>
          <p:nvPr/>
        </p:nvSpPr>
        <p:spPr>
          <a:xfrm>
            <a:off x="2332473" y="194481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7D27B-6FE0-400F-14CF-B14D64A81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765" y="2046712"/>
            <a:ext cx="5323996" cy="26241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8B5AA2-8421-AC10-62C1-FEC840E16B87}"/>
              </a:ext>
            </a:extLst>
          </p:cNvPr>
          <p:cNvSpPr txBox="1"/>
          <p:nvPr/>
        </p:nvSpPr>
        <p:spPr>
          <a:xfrm>
            <a:off x="4029085" y="4886699"/>
            <a:ext cx="283949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Figure: </a:t>
            </a:r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Three-bit Quantization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F59C0-1C0A-35A5-DE7A-A4F282DB26F3}"/>
              </a:ext>
            </a:extLst>
          </p:cNvPr>
          <p:cNvSpPr txBox="1"/>
          <p:nvPr/>
        </p:nvSpPr>
        <p:spPr>
          <a:xfrm>
            <a:off x="2227312" y="5338040"/>
            <a:ext cx="57034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97E57-3F54-CB01-7173-85BACA92BB47}"/>
              </a:ext>
            </a:extLst>
          </p:cNvPr>
          <p:cNvSpPr txBox="1"/>
          <p:nvPr/>
        </p:nvSpPr>
        <p:spPr>
          <a:xfrm>
            <a:off x="3021895" y="5338040"/>
            <a:ext cx="29104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92114A-371D-30CA-8914-F2948D123084}"/>
              </a:ext>
            </a:extLst>
          </p:cNvPr>
          <p:cNvSpPr txBox="1"/>
          <p:nvPr/>
        </p:nvSpPr>
        <p:spPr>
          <a:xfrm>
            <a:off x="3517325" y="5338040"/>
            <a:ext cx="118737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quantization;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F2BD7C-84D3-EAC2-EC95-0EF1551BFAC8}"/>
              </a:ext>
            </a:extLst>
          </p:cNvPr>
          <p:cNvSpPr txBox="1"/>
          <p:nvPr/>
        </p:nvSpPr>
        <p:spPr>
          <a:xfrm>
            <a:off x="4975529" y="5338040"/>
            <a:ext cx="50045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lower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DAE76D-1F4B-D003-B25F-F9993EAB786C}"/>
              </a:ext>
            </a:extLst>
          </p:cNvPr>
          <p:cNvSpPr txBox="1"/>
          <p:nvPr/>
        </p:nvSpPr>
        <p:spPr>
          <a:xfrm>
            <a:off x="5695976" y="5338040"/>
            <a:ext cx="29104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A1E5E-AF7C-C1ED-B6B4-3C6885C21756}"/>
              </a:ext>
            </a:extLst>
          </p:cNvPr>
          <p:cNvSpPr txBox="1"/>
          <p:nvPr/>
        </p:nvSpPr>
        <p:spPr>
          <a:xfrm>
            <a:off x="6191733" y="5338040"/>
            <a:ext cx="60529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25405-5852-7ABA-AFEC-30853E2333AD}"/>
              </a:ext>
            </a:extLst>
          </p:cNvPr>
          <p:cNvSpPr txBox="1"/>
          <p:nvPr/>
        </p:nvSpPr>
        <p:spPr>
          <a:xfrm>
            <a:off x="7023546" y="5338040"/>
            <a:ext cx="17460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3C6D3-FA8B-7A2F-48CA-BBD7C6E27115}"/>
              </a:ext>
            </a:extLst>
          </p:cNvPr>
          <p:cNvSpPr txBox="1"/>
          <p:nvPr/>
        </p:nvSpPr>
        <p:spPr>
          <a:xfrm>
            <a:off x="7394547" y="5338040"/>
            <a:ext cx="29104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AD24B-5041-4492-527A-CAE4D1B93EC1}"/>
              </a:ext>
            </a:extLst>
          </p:cNvPr>
          <p:cNvSpPr txBox="1"/>
          <p:nvPr/>
        </p:nvSpPr>
        <p:spPr>
          <a:xfrm>
            <a:off x="7890303" y="5338040"/>
            <a:ext cx="62863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9B53E-1A0A-4B2B-9C23-31028CC6DB0B}"/>
              </a:ext>
            </a:extLst>
          </p:cNvPr>
          <p:cNvSpPr txBox="1"/>
          <p:nvPr/>
        </p:nvSpPr>
        <p:spPr>
          <a:xfrm>
            <a:off x="8746285" y="5338040"/>
            <a:ext cx="31412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067F8D-CF3B-098F-FF5B-DA16240E9594}"/>
              </a:ext>
            </a:extLst>
          </p:cNvPr>
          <p:cNvSpPr txBox="1"/>
          <p:nvPr/>
        </p:nvSpPr>
        <p:spPr>
          <a:xfrm>
            <a:off x="9267515" y="5338040"/>
            <a:ext cx="40735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3-bit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930EE1-FE16-9379-731A-4C16E3AACD59}"/>
              </a:ext>
            </a:extLst>
          </p:cNvPr>
          <p:cNvSpPr txBox="1"/>
          <p:nvPr/>
        </p:nvSpPr>
        <p:spPr>
          <a:xfrm>
            <a:off x="2227312" y="5710347"/>
            <a:ext cx="644804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quantization, values are 8. i.e. 0.75, 0.5, 0.25, 0, -0.25, -0.5, -0.75 &amp;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F130F-E119-39AD-F097-7F7E1496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5800BFC-23D0-48AD-9FC4-4425C677A30D}" type="slidenum">
              <a:rPr/>
              <a:t>70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591EB38-3A7A-DA29-38FE-3A3E715F49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35014"/>
            <a:ext cx="9539562" cy="594971"/>
          </a:xfrm>
        </p:spPr>
        <p:txBody>
          <a:bodyPr vert="horz">
            <a:spAutoFit/>
          </a:bodyPr>
          <a:lstStyle/>
          <a:p>
            <a:pPr lvl="0" rtl="0"/>
            <a:r>
              <a:rPr lang="en-US" sz="3629"/>
              <a:t>2.1 </a:t>
            </a:r>
            <a:r>
              <a:rPr lang="en-US" sz="3629" b="1">
                <a:solidFill>
                  <a:srgbClr val="800000"/>
                </a:solidFill>
              </a:rPr>
              <a:t>Basic Sound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11E8D4-D83B-0CF8-809D-1F49D7524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436" y="164273"/>
            <a:ext cx="6268481" cy="626815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8C0E4-084A-181D-4B7E-2BCB0CED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7F9BBA-3C20-4297-A3A3-ED8CDF5A16D6}" type="slidenum">
              <a:rPr/>
              <a:t>71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4D313F5-2F31-0E79-4010-E820B7F031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6C118-244A-12C1-1796-C13587B4D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756" y="1382763"/>
            <a:ext cx="6833800" cy="4777619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F36167F-ADB3-0156-B5BE-DB017F0E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034C54-DA55-477E-BD23-CD51C7DD87D4}" type="slidenum">
              <a:rPr/>
              <a:t>72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A1D3223-69DA-41D3-720A-489C2C782B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7021D-B0F7-5F77-0FF3-83873E43A9C7}"/>
              </a:ext>
            </a:extLst>
          </p:cNvPr>
          <p:cNvSpPr txBox="1"/>
          <p:nvPr/>
        </p:nvSpPr>
        <p:spPr>
          <a:xfrm>
            <a:off x="2021563" y="155193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4200-2E56-9B81-3048-E025B96CACB7}"/>
              </a:ext>
            </a:extLst>
          </p:cNvPr>
          <p:cNvSpPr txBox="1"/>
          <p:nvPr/>
        </p:nvSpPr>
        <p:spPr>
          <a:xfrm>
            <a:off x="2197593" y="1512743"/>
            <a:ext cx="10393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0BF9B-E4F4-255C-3F95-2CBE24289DCB}"/>
              </a:ext>
            </a:extLst>
          </p:cNvPr>
          <p:cNvSpPr txBox="1"/>
          <p:nvPr/>
        </p:nvSpPr>
        <p:spPr>
          <a:xfrm>
            <a:off x="2021564" y="192946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BA16A-CF46-841E-2975-9227FB80436E}"/>
              </a:ext>
            </a:extLst>
          </p:cNvPr>
          <p:cNvSpPr txBox="1"/>
          <p:nvPr/>
        </p:nvSpPr>
        <p:spPr>
          <a:xfrm>
            <a:off x="2901385" y="1929467"/>
            <a:ext cx="67033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relationship  between  music  and  computer  has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B1E2E-5AE7-AE4F-1502-1A6D818251FC}"/>
              </a:ext>
            </a:extLst>
          </p:cNvPr>
          <p:cNvSpPr txBox="1"/>
          <p:nvPr/>
        </p:nvSpPr>
        <p:spPr>
          <a:xfrm>
            <a:off x="2021563" y="2276954"/>
            <a:ext cx="755636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become  more  and  more  important,  especially  considering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22363-2B3C-0DA9-DBEA-35D91BDECA0A}"/>
              </a:ext>
            </a:extLst>
          </p:cNvPr>
          <p:cNvSpPr txBox="1"/>
          <p:nvPr/>
        </p:nvSpPr>
        <p:spPr>
          <a:xfrm>
            <a:off x="2021563" y="2624115"/>
            <a:ext cx="72606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development of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(Musical Instrument and Digital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2C9A1-369B-0685-7CD0-297A51210A0B}"/>
              </a:ext>
            </a:extLst>
          </p:cNvPr>
          <p:cNvSpPr txBox="1"/>
          <p:nvPr/>
        </p:nvSpPr>
        <p:spPr>
          <a:xfrm>
            <a:off x="2021563" y="2971274"/>
            <a:ext cx="12566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Interface)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5382A-646E-5562-B475-1DADA726037F}"/>
              </a:ext>
            </a:extLst>
          </p:cNvPr>
          <p:cNvSpPr txBox="1"/>
          <p:nvPr/>
        </p:nvSpPr>
        <p:spPr>
          <a:xfrm>
            <a:off x="3556515" y="2971274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87062-7187-43C3-A1AF-3EA250ACE741}"/>
              </a:ext>
            </a:extLst>
          </p:cNvPr>
          <p:cNvSpPr txBox="1"/>
          <p:nvPr/>
        </p:nvSpPr>
        <p:spPr>
          <a:xfrm>
            <a:off x="4258674" y="2971274"/>
            <a:ext cx="2791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761A7-E5AF-C73F-72B2-8554C26A4563}"/>
              </a:ext>
            </a:extLst>
          </p:cNvPr>
          <p:cNvSpPr txBox="1"/>
          <p:nvPr/>
        </p:nvSpPr>
        <p:spPr>
          <a:xfrm>
            <a:off x="4766188" y="2971274"/>
            <a:ext cx="11636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important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67ECF-A858-16FA-90C2-EB20F4CCB64F}"/>
              </a:ext>
            </a:extLst>
          </p:cNvPr>
          <p:cNvSpPr txBox="1"/>
          <p:nvPr/>
        </p:nvSpPr>
        <p:spPr>
          <a:xfrm>
            <a:off x="6200878" y="2971274"/>
            <a:ext cx="14431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D8809A-BE2B-8AC9-A0AD-2BD87F588A67}"/>
              </a:ext>
            </a:extLst>
          </p:cNvPr>
          <p:cNvSpPr txBox="1"/>
          <p:nvPr/>
        </p:nvSpPr>
        <p:spPr>
          <a:xfrm>
            <a:off x="7932108" y="2971274"/>
            <a:ext cx="217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6BBD26-4144-8760-93CB-1C536619484D}"/>
              </a:ext>
            </a:extLst>
          </p:cNvPr>
          <p:cNvSpPr txBox="1"/>
          <p:nvPr/>
        </p:nvSpPr>
        <p:spPr>
          <a:xfrm>
            <a:off x="8373325" y="2971274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6EEC5E-DD03-42C6-A53B-C5AD97CA0CD8}"/>
              </a:ext>
            </a:extLst>
          </p:cNvPr>
          <p:cNvSpPr txBox="1"/>
          <p:nvPr/>
        </p:nvSpPr>
        <p:spPr>
          <a:xfrm>
            <a:off x="8993510" y="2971274"/>
            <a:ext cx="72898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82BB2A-EB4E-CB68-D397-005EC2CBD1A3}"/>
              </a:ext>
            </a:extLst>
          </p:cNvPr>
          <p:cNvSpPr txBox="1"/>
          <p:nvPr/>
        </p:nvSpPr>
        <p:spPr>
          <a:xfrm>
            <a:off x="2021564" y="3318762"/>
            <a:ext cx="118949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industry.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DE1FE-A136-906F-6EAD-F97386D7175F}"/>
              </a:ext>
            </a:extLst>
          </p:cNvPr>
          <p:cNvSpPr txBox="1"/>
          <p:nvPr/>
        </p:nvSpPr>
        <p:spPr>
          <a:xfrm>
            <a:off x="2021564" y="373548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CF89C3-7D02-333C-E846-9604E9702B6A}"/>
              </a:ext>
            </a:extLst>
          </p:cNvPr>
          <p:cNvSpPr txBox="1"/>
          <p:nvPr/>
        </p:nvSpPr>
        <p:spPr>
          <a:xfrm>
            <a:off x="2901385" y="3735484"/>
            <a:ext cx="66243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 interface  between  musical  instrument  and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C1B8BC-FEA6-F61C-1E40-52F071252E01}"/>
              </a:ext>
            </a:extLst>
          </p:cNvPr>
          <p:cNvSpPr txBox="1"/>
          <p:nvPr/>
        </p:nvSpPr>
        <p:spPr>
          <a:xfrm>
            <a:off x="2021563" y="4082645"/>
            <a:ext cx="14893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computer. 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46AA16-B481-0465-01F3-2C202BD1C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648" y="4197603"/>
            <a:ext cx="5276315" cy="191248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E96C527-026B-2C42-1794-3A520294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752C1F-FA5C-483E-89C1-4FECD36DDC26}" type="slidenum">
              <a:rPr/>
              <a:t>73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C9721DF2-CFCA-E980-2959-C2A731F058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30442" y="365125"/>
            <a:ext cx="10423358" cy="846053"/>
          </a:xfrm>
        </p:spPr>
        <p:txBody>
          <a:bodyPr vert="horz"/>
          <a:lstStyle/>
          <a:p>
            <a:pPr lvl="0" rtl="0"/>
            <a:r>
              <a:rPr lang="en-US" sz="3629" b="1" dirty="0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2ADEF-C8F3-29C3-F05E-DF8B9E7B5579}"/>
              </a:ext>
            </a:extLst>
          </p:cNvPr>
          <p:cNvSpPr txBox="1"/>
          <p:nvPr/>
        </p:nvSpPr>
        <p:spPr>
          <a:xfrm>
            <a:off x="2020910" y="155912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51437-EB24-505D-7FA6-89E5011A49C3}"/>
              </a:ext>
            </a:extLst>
          </p:cNvPr>
          <p:cNvSpPr txBox="1"/>
          <p:nvPr/>
        </p:nvSpPr>
        <p:spPr>
          <a:xfrm>
            <a:off x="2202819" y="1513071"/>
            <a:ext cx="285424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Basic Concept: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6F8E9-18BF-B2C7-4409-7A0554B8C47C}"/>
              </a:ext>
            </a:extLst>
          </p:cNvPr>
          <p:cNvSpPr txBox="1"/>
          <p:nvPr/>
        </p:nvSpPr>
        <p:spPr>
          <a:xfrm>
            <a:off x="2020910" y="20016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8FCF3-E98B-77A8-0BD0-3EEF50622956}"/>
              </a:ext>
            </a:extLst>
          </p:cNvPr>
          <p:cNvSpPr txBox="1"/>
          <p:nvPr/>
        </p:nvSpPr>
        <p:spPr>
          <a:xfrm>
            <a:off x="2930777" y="2001643"/>
            <a:ext cx="634622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 the standard that manufacturer of electronic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CFA3B-F410-4BC1-481E-2A376077F868}"/>
              </a:ext>
            </a:extLst>
          </p:cNvPr>
          <p:cNvSpPr txBox="1"/>
          <p:nvPr/>
        </p:nvSpPr>
        <p:spPr>
          <a:xfrm>
            <a:off x="2020911" y="2409221"/>
            <a:ext cx="48879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musical instrument have agreed upon.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50F3C-2E26-4F50-6537-8CF6D53283C2}"/>
              </a:ext>
            </a:extLst>
          </p:cNvPr>
          <p:cNvSpPr txBox="1"/>
          <p:nvPr/>
        </p:nvSpPr>
        <p:spPr>
          <a:xfrm>
            <a:off x="2020910" y="289779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F158E-AA5E-A012-2596-B4BCA2298A39}"/>
              </a:ext>
            </a:extLst>
          </p:cNvPr>
          <p:cNvSpPr txBox="1"/>
          <p:nvPr/>
        </p:nvSpPr>
        <p:spPr>
          <a:xfrm>
            <a:off x="2930778" y="2897793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79AC1C-36B4-ADA1-536C-50957756ACA9}"/>
              </a:ext>
            </a:extLst>
          </p:cNvPr>
          <p:cNvSpPr txBox="1"/>
          <p:nvPr/>
        </p:nvSpPr>
        <p:spPr>
          <a:xfrm>
            <a:off x="3317128" y="2897793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51C2D-D531-D7EF-994C-F65AA77248F9}"/>
              </a:ext>
            </a:extLst>
          </p:cNvPr>
          <p:cNvSpPr txBox="1"/>
          <p:nvPr/>
        </p:nvSpPr>
        <p:spPr>
          <a:xfrm>
            <a:off x="3755405" y="2897793"/>
            <a:ext cx="3724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39C3D-5AC0-0038-B8E2-E937D563A599}"/>
              </a:ext>
            </a:extLst>
          </p:cNvPr>
          <p:cNvSpPr txBox="1"/>
          <p:nvPr/>
        </p:nvSpPr>
        <p:spPr>
          <a:xfrm>
            <a:off x="4376897" y="289779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EF736-056B-4B29-5BF9-4DB8B88E7F2B}"/>
              </a:ext>
            </a:extLst>
          </p:cNvPr>
          <p:cNvSpPr txBox="1"/>
          <p:nvPr/>
        </p:nvSpPr>
        <p:spPr>
          <a:xfrm>
            <a:off x="4850447" y="2897793"/>
            <a:ext cx="16757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specifications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6F674C-0F54-0CEB-FF1F-F6C2F972C60B}"/>
              </a:ext>
            </a:extLst>
          </p:cNvPr>
          <p:cNvSpPr txBox="1"/>
          <p:nvPr/>
        </p:nvSpPr>
        <p:spPr>
          <a:xfrm>
            <a:off x="6888012" y="2897793"/>
            <a:ext cx="605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B7A7A-7D26-849E-E173-9C90E788270E}"/>
              </a:ext>
            </a:extLst>
          </p:cNvPr>
          <p:cNvSpPr txBox="1"/>
          <p:nvPr/>
        </p:nvSpPr>
        <p:spPr>
          <a:xfrm>
            <a:off x="7765876" y="2897793"/>
            <a:ext cx="3257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81CCC-6B9F-059D-5379-35636DB157C0}"/>
              </a:ext>
            </a:extLst>
          </p:cNvPr>
          <p:cNvSpPr txBox="1"/>
          <p:nvPr/>
        </p:nvSpPr>
        <p:spPr>
          <a:xfrm>
            <a:off x="8339032" y="2897793"/>
            <a:ext cx="9621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building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C51819-1A5E-E9D4-0DD0-AAF8ABC08188}"/>
              </a:ext>
            </a:extLst>
          </p:cNvPr>
          <p:cNvSpPr txBox="1"/>
          <p:nvPr/>
        </p:nvSpPr>
        <p:spPr>
          <a:xfrm>
            <a:off x="9603246" y="289779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D35966-6D4F-FDE3-FE8E-E00DD3B7E878}"/>
              </a:ext>
            </a:extLst>
          </p:cNvPr>
          <p:cNvSpPr txBox="1"/>
          <p:nvPr/>
        </p:nvSpPr>
        <p:spPr>
          <a:xfrm>
            <a:off x="2020910" y="3304719"/>
            <a:ext cx="71689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instrument so that the instrument of one manufacturer can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2E3D8F-6DF2-15A3-E06A-DABBA8C7F047}"/>
              </a:ext>
            </a:extLst>
          </p:cNvPr>
          <p:cNvSpPr txBox="1"/>
          <p:nvPr/>
        </p:nvSpPr>
        <p:spPr>
          <a:xfrm>
            <a:off x="2020911" y="3711971"/>
            <a:ext cx="73182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without difficulty communicate musical information between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3BB4C-8EE3-BAEB-ED7F-77CEEDFD4895}"/>
              </a:ext>
            </a:extLst>
          </p:cNvPr>
          <p:cNvSpPr txBox="1"/>
          <p:nvPr/>
        </p:nvSpPr>
        <p:spPr>
          <a:xfrm>
            <a:off x="2020910" y="4119549"/>
            <a:ext cx="17073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one another.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20147-1DF3-F6B0-EC7F-6462ED31028B}"/>
              </a:ext>
            </a:extLst>
          </p:cNvPr>
          <p:cNvSpPr txBox="1"/>
          <p:nvPr/>
        </p:nvSpPr>
        <p:spPr>
          <a:xfrm>
            <a:off x="2020910" y="460812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D169B4-3ED5-D3AC-04D5-E03C86FC66E1}"/>
              </a:ext>
            </a:extLst>
          </p:cNvPr>
          <p:cNvSpPr txBox="1"/>
          <p:nvPr/>
        </p:nvSpPr>
        <p:spPr>
          <a:xfrm>
            <a:off x="2930777" y="4608121"/>
            <a:ext cx="64533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 that </a:t>
            </a:r>
            <a:r>
              <a:rPr lang="en-US" sz="2177" b="1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instrument of different manufacturers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5C4DC2-3DB4-F3A8-74FE-5C3464E69276}"/>
              </a:ext>
            </a:extLst>
          </p:cNvPr>
          <p:cNvSpPr txBox="1"/>
          <p:nvPr/>
        </p:nvSpPr>
        <p:spPr>
          <a:xfrm>
            <a:off x="2020910" y="5015047"/>
            <a:ext cx="75239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  communicate  without  difficulty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MIDI  is  defined  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BF84C9-7D6F-A023-D3E1-FA7E5C480157}"/>
              </a:ext>
            </a:extLst>
          </p:cNvPr>
          <p:cNvSpPr txBox="1"/>
          <p:nvPr/>
        </p:nvSpPr>
        <p:spPr>
          <a:xfrm>
            <a:off x="2020910" y="5422625"/>
            <a:ext cx="8536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1983. 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E94E00A-1985-B8CE-6A6E-41B90EF8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CB2A5A-FE2B-4748-8B5A-EF0B8AD8AB14}" type="slidenum">
              <a:rPr/>
              <a:t>74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24B4F27-A47C-69C7-F8DC-1BAEA907B6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BEBDD-190B-2DE3-B0B7-3F7611244826}"/>
              </a:ext>
            </a:extLst>
          </p:cNvPr>
          <p:cNvSpPr txBox="1"/>
          <p:nvPr/>
        </p:nvSpPr>
        <p:spPr>
          <a:xfrm>
            <a:off x="2021237" y="1512743"/>
            <a:ext cx="38623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Interface Components: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CC570-FA84-BA1C-4682-953195E16F34}"/>
              </a:ext>
            </a:extLst>
          </p:cNvPr>
          <p:cNvSpPr txBox="1"/>
          <p:nvPr/>
        </p:nvSpPr>
        <p:spPr>
          <a:xfrm>
            <a:off x="2021236" y="1966698"/>
            <a:ext cx="56895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interface has two different components: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9FADA-0577-8362-74F3-3512F5EF314E}"/>
              </a:ext>
            </a:extLst>
          </p:cNvPr>
          <p:cNvSpPr txBox="1"/>
          <p:nvPr/>
        </p:nvSpPr>
        <p:spPr>
          <a:xfrm>
            <a:off x="2021237" y="242130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400FC-5273-F092-1401-2B5B5A4474CA}"/>
              </a:ext>
            </a:extLst>
          </p:cNvPr>
          <p:cNvSpPr txBox="1"/>
          <p:nvPr/>
        </p:nvSpPr>
        <p:spPr>
          <a:xfrm>
            <a:off x="2898772" y="2421305"/>
            <a:ext cx="17531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i. Hardware: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04BF4-0D1F-3476-190D-2E7C2A9C4C1A}"/>
              </a:ext>
            </a:extLst>
          </p:cNvPr>
          <p:cNvSpPr txBox="1"/>
          <p:nvPr/>
        </p:nvSpPr>
        <p:spPr>
          <a:xfrm>
            <a:off x="2021237" y="287558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39E9B-C381-AEB3-3CCC-01FF8A707375}"/>
              </a:ext>
            </a:extLst>
          </p:cNvPr>
          <p:cNvSpPr txBox="1"/>
          <p:nvPr/>
        </p:nvSpPr>
        <p:spPr>
          <a:xfrm>
            <a:off x="2898772" y="2875585"/>
            <a:ext cx="23370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ii. A data format: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FC743-65F6-A1D4-8CDF-CA11A405E82A}"/>
              </a:ext>
            </a:extLst>
          </p:cNvPr>
          <p:cNvSpPr txBox="1"/>
          <p:nvPr/>
        </p:nvSpPr>
        <p:spPr>
          <a:xfrm>
            <a:off x="2021237" y="3345868"/>
            <a:ext cx="186442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i. Hardware: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8BAB7E-0B06-9459-E336-C15C28C12B90}"/>
              </a:ext>
            </a:extLst>
          </p:cNvPr>
          <p:cNvSpPr/>
          <p:nvPr/>
        </p:nvSpPr>
        <p:spPr>
          <a:xfrm>
            <a:off x="2021237" y="3716543"/>
            <a:ext cx="1951348" cy="3788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76" h="117">
                <a:moveTo>
                  <a:pt x="0" y="0"/>
                </a:moveTo>
                <a:lnTo>
                  <a:pt x="2988" y="0"/>
                </a:lnTo>
                <a:lnTo>
                  <a:pt x="5976" y="0"/>
                </a:lnTo>
                <a:lnTo>
                  <a:pt x="5976" y="117"/>
                </a:lnTo>
                <a:lnTo>
                  <a:pt x="2988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84AA9-42A9-3BF2-C8BB-ED2313F45007}"/>
              </a:ext>
            </a:extLst>
          </p:cNvPr>
          <p:cNvSpPr txBox="1"/>
          <p:nvPr/>
        </p:nvSpPr>
        <p:spPr>
          <a:xfrm>
            <a:off x="3972912" y="3392570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84C84-258D-147F-3EC5-2C6862FF3E6D}"/>
              </a:ext>
            </a:extLst>
          </p:cNvPr>
          <p:cNvSpPr txBox="1"/>
          <p:nvPr/>
        </p:nvSpPr>
        <p:spPr>
          <a:xfrm>
            <a:off x="2021237" y="385958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3D8B2-1DA6-2DA2-2A93-6E529F5671C3}"/>
              </a:ext>
            </a:extLst>
          </p:cNvPr>
          <p:cNvSpPr txBox="1"/>
          <p:nvPr/>
        </p:nvSpPr>
        <p:spPr>
          <a:xfrm>
            <a:off x="2898772" y="3859587"/>
            <a:ext cx="65469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Hardware  connects  the  equipment.  It  specifies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C0E44B-CC97-856C-7622-0EAC107523AF}"/>
              </a:ext>
            </a:extLst>
          </p:cNvPr>
          <p:cNvSpPr txBox="1"/>
          <p:nvPr/>
        </p:nvSpPr>
        <p:spPr>
          <a:xfrm>
            <a:off x="2021237" y="4238100"/>
            <a:ext cx="74001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physical connection between musical instruments.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4385C8-17D1-2751-4494-DCC1A63F747F}"/>
              </a:ext>
            </a:extLst>
          </p:cNvPr>
          <p:cNvSpPr txBox="1"/>
          <p:nvPr/>
        </p:nvSpPr>
        <p:spPr>
          <a:xfrm>
            <a:off x="2021237" y="469238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14A68D-96E9-BF39-0FC2-340054BA2C6D}"/>
              </a:ext>
            </a:extLst>
          </p:cNvPr>
          <p:cNvSpPr txBox="1"/>
          <p:nvPr/>
        </p:nvSpPr>
        <p:spPr>
          <a:xfrm>
            <a:off x="2898772" y="4692380"/>
            <a:ext cx="1862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042E6-438F-55EE-480A-B66E1BF5E01F}"/>
              </a:ext>
            </a:extLst>
          </p:cNvPr>
          <p:cNvSpPr txBox="1"/>
          <p:nvPr/>
        </p:nvSpPr>
        <p:spPr>
          <a:xfrm>
            <a:off x="3265527" y="4692380"/>
            <a:ext cx="5893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B69EC-B22A-F38B-4D23-C19E35612A19}"/>
              </a:ext>
            </a:extLst>
          </p:cNvPr>
          <p:cNvSpPr txBox="1"/>
          <p:nvPr/>
        </p:nvSpPr>
        <p:spPr>
          <a:xfrm>
            <a:off x="4070887" y="4692380"/>
            <a:ext cx="51200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E5FD0A-8928-092A-38F8-57A0ABB8140D}"/>
              </a:ext>
            </a:extLst>
          </p:cNvPr>
          <p:cNvSpPr txBox="1"/>
          <p:nvPr/>
        </p:nvSpPr>
        <p:spPr>
          <a:xfrm>
            <a:off x="4796560" y="4692380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ADDEC-7F6A-CC25-59C8-0A5A2A51919F}"/>
              </a:ext>
            </a:extLst>
          </p:cNvPr>
          <p:cNvSpPr txBox="1"/>
          <p:nvPr/>
        </p:nvSpPr>
        <p:spPr>
          <a:xfrm>
            <a:off x="5195321" y="4692380"/>
            <a:ext cx="51206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built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00EFD3-B7EE-EC07-6DD5-007D3A960243}"/>
              </a:ext>
            </a:extLst>
          </p:cNvPr>
          <p:cNvSpPr txBox="1"/>
          <p:nvPr/>
        </p:nvSpPr>
        <p:spPr>
          <a:xfrm>
            <a:off x="5920341" y="4692380"/>
            <a:ext cx="217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C1F39B-F561-23B2-8F68-F712FEECC3F6}"/>
              </a:ext>
            </a:extLst>
          </p:cNvPr>
          <p:cNvSpPr txBox="1"/>
          <p:nvPr/>
        </p:nvSpPr>
        <p:spPr>
          <a:xfrm>
            <a:off x="6335430" y="4692380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5223E-19B5-D60E-8DB1-220C51AB7EED}"/>
              </a:ext>
            </a:extLst>
          </p:cNvPr>
          <p:cNvSpPr txBox="1"/>
          <p:nvPr/>
        </p:nvSpPr>
        <p:spPr>
          <a:xfrm>
            <a:off x="6768484" y="4692380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3F2141-6F68-AF00-76A3-365846BF0C8C}"/>
              </a:ext>
            </a:extLst>
          </p:cNvPr>
          <p:cNvSpPr txBox="1"/>
          <p:nvPr/>
        </p:nvSpPr>
        <p:spPr>
          <a:xfrm>
            <a:off x="7363521" y="4692380"/>
            <a:ext cx="13032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instrument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7DE53F-DF7A-E55A-3AE2-994A366F3306}"/>
              </a:ext>
            </a:extLst>
          </p:cNvPr>
          <p:cNvSpPr txBox="1"/>
          <p:nvPr/>
        </p:nvSpPr>
        <p:spPr>
          <a:xfrm>
            <a:off x="8919049" y="4692380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015E60-33F9-61FE-9E76-120696A4E039}"/>
              </a:ext>
            </a:extLst>
          </p:cNvPr>
          <p:cNvSpPr txBox="1"/>
          <p:nvPr/>
        </p:nvSpPr>
        <p:spPr>
          <a:xfrm>
            <a:off x="9594427" y="4692380"/>
            <a:ext cx="1395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517B79-966C-8706-4C44-A2B020DA32BE}"/>
              </a:ext>
            </a:extLst>
          </p:cNvPr>
          <p:cNvSpPr txBox="1"/>
          <p:nvPr/>
        </p:nvSpPr>
        <p:spPr>
          <a:xfrm>
            <a:off x="2021237" y="5070566"/>
            <a:ext cx="71220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specifies MIDI cable and deals with electronic signals that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EDACBF-7120-11AC-7CCF-51199013240A}"/>
              </a:ext>
            </a:extLst>
          </p:cNvPr>
          <p:cNvSpPr txBox="1"/>
          <p:nvPr/>
        </p:nvSpPr>
        <p:spPr>
          <a:xfrm>
            <a:off x="2021236" y="5449405"/>
            <a:ext cx="30725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 sent over the cable. 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F19AD93-DBA0-CA69-6D02-B806DB0D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DC9A99-18EA-43C7-A04C-31B267DE3AA2}" type="slidenum">
              <a:rPr/>
              <a:t>75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C74912D-CFF2-5028-5812-6DA31F24FE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4E3AA35-A69A-7B69-207E-F8F1353B9682}"/>
              </a:ext>
            </a:extLst>
          </p:cNvPr>
          <p:cNvSpPr/>
          <p:nvPr/>
        </p:nvSpPr>
        <p:spPr>
          <a:xfrm>
            <a:off x="2021237" y="1904320"/>
            <a:ext cx="2847171" cy="4017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719" h="124">
                <a:moveTo>
                  <a:pt x="0" y="0"/>
                </a:moveTo>
                <a:lnTo>
                  <a:pt x="4359" y="0"/>
                </a:lnTo>
                <a:lnTo>
                  <a:pt x="8719" y="0"/>
                </a:lnTo>
                <a:lnTo>
                  <a:pt x="8719" y="124"/>
                </a:lnTo>
                <a:lnTo>
                  <a:pt x="4359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46" tIns="40823" rIns="81646" bIns="40823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45675-2BA9-0361-F258-7082636AD02A}"/>
              </a:ext>
            </a:extLst>
          </p:cNvPr>
          <p:cNvSpPr txBox="1"/>
          <p:nvPr/>
        </p:nvSpPr>
        <p:spPr>
          <a:xfrm>
            <a:off x="2021237" y="1516989"/>
            <a:ext cx="2922403" cy="40139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72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ii. A data format: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5DB56-81CB-FC85-1A8C-FF8E10C9C846}"/>
              </a:ext>
            </a:extLst>
          </p:cNvPr>
          <p:cNvSpPr txBox="1"/>
          <p:nvPr/>
        </p:nvSpPr>
        <p:spPr>
          <a:xfrm>
            <a:off x="2021237" y="204801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39CAE-1F4C-010D-94EF-AE30E5F690F8}"/>
              </a:ext>
            </a:extLst>
          </p:cNvPr>
          <p:cNvSpPr txBox="1"/>
          <p:nvPr/>
        </p:nvSpPr>
        <p:spPr>
          <a:xfrm>
            <a:off x="2895833" y="2048018"/>
            <a:ext cx="5896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D2DE6-FD65-F20C-8AA1-FCDAB07A665A}"/>
              </a:ext>
            </a:extLst>
          </p:cNvPr>
          <p:cNvSpPr txBox="1"/>
          <p:nvPr/>
        </p:nvSpPr>
        <p:spPr>
          <a:xfrm>
            <a:off x="3762917" y="2048018"/>
            <a:ext cx="7911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B3CD9-7532-51C4-CC92-06CE0437B185}"/>
              </a:ext>
            </a:extLst>
          </p:cNvPr>
          <p:cNvSpPr txBox="1"/>
          <p:nvPr/>
        </p:nvSpPr>
        <p:spPr>
          <a:xfrm>
            <a:off x="4841302" y="2048018"/>
            <a:ext cx="10553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encodes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42498-B76B-B690-D4DC-AE771512E3EC}"/>
              </a:ext>
            </a:extLst>
          </p:cNvPr>
          <p:cNvSpPr txBox="1"/>
          <p:nvPr/>
        </p:nvSpPr>
        <p:spPr>
          <a:xfrm>
            <a:off x="6193693" y="2048018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818FA-3EDA-ACFB-6B42-EB0F2863C15D}"/>
              </a:ext>
            </a:extLst>
          </p:cNvPr>
          <p:cNvSpPr txBox="1"/>
          <p:nvPr/>
        </p:nvSpPr>
        <p:spPr>
          <a:xfrm>
            <a:off x="6851110" y="2048018"/>
            <a:ext cx="13808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ABB06-284A-4F43-5E93-682FD0C2065D}"/>
              </a:ext>
            </a:extLst>
          </p:cNvPr>
          <p:cNvSpPr txBox="1"/>
          <p:nvPr/>
        </p:nvSpPr>
        <p:spPr>
          <a:xfrm>
            <a:off x="8544782" y="2048018"/>
            <a:ext cx="11171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travelling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04A52-8A7C-8996-35BB-008AEAA93619}"/>
              </a:ext>
            </a:extLst>
          </p:cNvPr>
          <p:cNvSpPr txBox="1"/>
          <p:nvPr/>
        </p:nvSpPr>
        <p:spPr>
          <a:xfrm>
            <a:off x="2021237" y="2417713"/>
            <a:ext cx="9467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7FAA0-9A00-AA83-DFAA-C1E2340DA7EB}"/>
              </a:ext>
            </a:extLst>
          </p:cNvPr>
          <p:cNvSpPr txBox="1"/>
          <p:nvPr/>
        </p:nvSpPr>
        <p:spPr>
          <a:xfrm>
            <a:off x="3207721" y="241771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765684-1796-FB10-509F-E3646A34551D}"/>
              </a:ext>
            </a:extLst>
          </p:cNvPr>
          <p:cNvSpPr txBox="1"/>
          <p:nvPr/>
        </p:nvSpPr>
        <p:spPr>
          <a:xfrm>
            <a:off x="3810925" y="2417713"/>
            <a:ext cx="1241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hardware.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981B1-A926-B1D5-CCC1-D0B8E43A9CF5}"/>
              </a:ext>
            </a:extLst>
          </p:cNvPr>
          <p:cNvSpPr txBox="1"/>
          <p:nvPr/>
        </p:nvSpPr>
        <p:spPr>
          <a:xfrm>
            <a:off x="5304727" y="2417713"/>
            <a:ext cx="5893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C16C9-1EAB-03D4-C664-815A2D22BDAC}"/>
              </a:ext>
            </a:extLst>
          </p:cNvPr>
          <p:cNvSpPr txBox="1"/>
          <p:nvPr/>
        </p:nvSpPr>
        <p:spPr>
          <a:xfrm>
            <a:off x="6116292" y="2417713"/>
            <a:ext cx="8913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doesn't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ED3CB-588F-CC76-6003-DDA18BE63E4F}"/>
              </a:ext>
            </a:extLst>
          </p:cNvPr>
          <p:cNvSpPr txBox="1"/>
          <p:nvPr/>
        </p:nvSpPr>
        <p:spPr>
          <a:xfrm>
            <a:off x="7244645" y="2417713"/>
            <a:ext cx="9927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9A7035-8DBA-3091-14A1-3EBA6A0AAFAD}"/>
              </a:ext>
            </a:extLst>
          </p:cNvPr>
          <p:cNvSpPr txBox="1"/>
          <p:nvPr/>
        </p:nvSpPr>
        <p:spPr>
          <a:xfrm>
            <a:off x="8480771" y="2417713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DFA70-842C-6CE9-3A47-EDFE80D14B39}"/>
              </a:ext>
            </a:extLst>
          </p:cNvPr>
          <p:cNvSpPr txBox="1"/>
          <p:nvPr/>
        </p:nvSpPr>
        <p:spPr>
          <a:xfrm>
            <a:off x="9001021" y="2417713"/>
            <a:ext cx="6829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audio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FC6E7C-0A62-9755-D86D-8A4731D9D309}"/>
              </a:ext>
            </a:extLst>
          </p:cNvPr>
          <p:cNvSpPr txBox="1"/>
          <p:nvPr/>
        </p:nvSpPr>
        <p:spPr>
          <a:xfrm>
            <a:off x="2021236" y="2786754"/>
            <a:ext cx="9620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F275BF-5E64-8ED6-5417-F210B58A045F}"/>
              </a:ext>
            </a:extLst>
          </p:cNvPr>
          <p:cNvSpPr txBox="1"/>
          <p:nvPr/>
        </p:nvSpPr>
        <p:spPr>
          <a:xfrm>
            <a:off x="2021237" y="322993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9A35E-0FCB-EAF5-0BF8-C8C9BC9779E1}"/>
              </a:ext>
            </a:extLst>
          </p:cNvPr>
          <p:cNvSpPr txBox="1"/>
          <p:nvPr/>
        </p:nvSpPr>
        <p:spPr>
          <a:xfrm>
            <a:off x="2895833" y="3229931"/>
            <a:ext cx="64337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 this propose MIDI data format is used. The MIDI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C583E0-7347-4706-6BD0-4E8FB427F2E8}"/>
              </a:ext>
            </a:extLst>
          </p:cNvPr>
          <p:cNvSpPr txBox="1"/>
          <p:nvPr/>
        </p:nvSpPr>
        <p:spPr>
          <a:xfrm>
            <a:off x="2021237" y="3598972"/>
            <a:ext cx="735541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encoding includes, besides the instrument specification, 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4F61D-DF3E-3E78-71FF-FAD04F02F25B}"/>
              </a:ext>
            </a:extLst>
          </p:cNvPr>
          <p:cNvSpPr txBox="1"/>
          <p:nvPr/>
        </p:nvSpPr>
        <p:spPr>
          <a:xfrm>
            <a:off x="2021237" y="3968667"/>
            <a:ext cx="70927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notion of the beginning and ending node, basic frequency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85E068-D814-FD48-247E-154C9A4380E1}"/>
              </a:ext>
            </a:extLst>
          </p:cNvPr>
          <p:cNvSpPr txBox="1"/>
          <p:nvPr/>
        </p:nvSpPr>
        <p:spPr>
          <a:xfrm>
            <a:off x="2021237" y="4338035"/>
            <a:ext cx="251402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sound volume.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DB256-D226-4490-1E0A-A04EFC4A73C2}"/>
              </a:ext>
            </a:extLst>
          </p:cNvPr>
          <p:cNvSpPr txBox="1"/>
          <p:nvPr/>
        </p:nvSpPr>
        <p:spPr>
          <a:xfrm>
            <a:off x="2021237" y="478088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BE14CB-8FAC-6D10-E922-B4488526115C}"/>
              </a:ext>
            </a:extLst>
          </p:cNvPr>
          <p:cNvSpPr txBox="1"/>
          <p:nvPr/>
        </p:nvSpPr>
        <p:spPr>
          <a:xfrm>
            <a:off x="2895832" y="4780885"/>
            <a:ext cx="62372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data format is digital. </a:t>
            </a:r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data are grouped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11EBC-E854-9BCF-0ECF-FD3FB15BAD87}"/>
              </a:ext>
            </a:extLst>
          </p:cNvPr>
          <p:cNvSpPr txBox="1"/>
          <p:nvPr/>
        </p:nvSpPr>
        <p:spPr>
          <a:xfrm>
            <a:off x="2021237" y="5150580"/>
            <a:ext cx="72611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into MIDI message. Each MIDI message can communicate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057F5-FA82-D929-58E0-58BDA2D22A57}"/>
              </a:ext>
            </a:extLst>
          </p:cNvPr>
          <p:cNvSpPr txBox="1"/>
          <p:nvPr/>
        </p:nvSpPr>
        <p:spPr>
          <a:xfrm>
            <a:off x="2021237" y="5519621"/>
            <a:ext cx="51360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one musical event between instruments. 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050D5-0AAF-522F-663B-6A60EAED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412F39-305C-445C-BCFE-D6C03EB42C69}" type="slidenum">
              <a:rPr/>
              <a:t>76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AEE7246-5A4D-D771-E184-FCB6BBADBA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0D196-DD7D-7594-CB60-1E7EC779C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852" y="1263885"/>
            <a:ext cx="6813879" cy="4846202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CA729-B914-181F-A8D2-AD46F294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6F2D85-E1C3-4232-B3DE-73DE80B16F60}" type="slidenum">
              <a:rPr/>
              <a:t>77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09A984C-210C-880E-6658-B4B7378111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3FDDB-73B8-F704-6867-F41FD7A71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283" y="1452000"/>
            <a:ext cx="4562072" cy="4562072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DBFC5C-C557-8281-AFE9-6803EB2E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072978-758A-437D-871B-3ACF4D4E3DB2}" type="slidenum">
              <a:rPr/>
              <a:t>78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466E106-5B93-128A-C232-984849D674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92DFE-D138-DD89-8CAE-8610528A76F4}"/>
              </a:ext>
            </a:extLst>
          </p:cNvPr>
          <p:cNvSpPr txBox="1"/>
          <p:nvPr/>
        </p:nvSpPr>
        <p:spPr>
          <a:xfrm>
            <a:off x="2249847" y="1517643"/>
            <a:ext cx="4107791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Reception Mode: </a:t>
            </a:r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6B673-3EF3-876B-DC8D-72061C20764A}"/>
              </a:ext>
            </a:extLst>
          </p:cNvPr>
          <p:cNvSpPr txBox="1"/>
          <p:nvPr/>
        </p:nvSpPr>
        <p:spPr>
          <a:xfrm>
            <a:off x="2566308" y="2256706"/>
            <a:ext cx="96950" cy="3183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F8CC-522D-B53A-1E36-5A9C5D8F80C8}"/>
              </a:ext>
            </a:extLst>
          </p:cNvPr>
          <p:cNvSpPr txBox="1"/>
          <p:nvPr/>
        </p:nvSpPr>
        <p:spPr>
          <a:xfrm>
            <a:off x="2776955" y="2199227"/>
            <a:ext cx="3548215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 1: Omni on / poly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97E54-BE1E-7D0D-152D-B8563821A4F0}"/>
              </a:ext>
            </a:extLst>
          </p:cNvPr>
          <p:cNvSpPr txBox="1"/>
          <p:nvPr/>
        </p:nvSpPr>
        <p:spPr>
          <a:xfrm>
            <a:off x="2566308" y="2868074"/>
            <a:ext cx="96950" cy="3183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37770-53C5-8205-8347-56D093FD5975}"/>
              </a:ext>
            </a:extLst>
          </p:cNvPr>
          <p:cNvSpPr txBox="1"/>
          <p:nvPr/>
        </p:nvSpPr>
        <p:spPr>
          <a:xfrm>
            <a:off x="2776954" y="2810269"/>
            <a:ext cx="3765454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 2: Omni on / mono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DDA04-EC5B-DBB7-4ADB-7B00C410B4AD}"/>
              </a:ext>
            </a:extLst>
          </p:cNvPr>
          <p:cNvSpPr txBox="1"/>
          <p:nvPr/>
        </p:nvSpPr>
        <p:spPr>
          <a:xfrm>
            <a:off x="2566308" y="3479116"/>
            <a:ext cx="96950" cy="3183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42382-FBDB-1DAA-ABFC-E1E9EFCC6362}"/>
              </a:ext>
            </a:extLst>
          </p:cNvPr>
          <p:cNvSpPr txBox="1"/>
          <p:nvPr/>
        </p:nvSpPr>
        <p:spPr>
          <a:xfrm>
            <a:off x="2776954" y="3421637"/>
            <a:ext cx="3542124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 3: Omni off / poly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0509B-F676-DF40-017D-D61804FD90DD}"/>
              </a:ext>
            </a:extLst>
          </p:cNvPr>
          <p:cNvSpPr txBox="1"/>
          <p:nvPr/>
        </p:nvSpPr>
        <p:spPr>
          <a:xfrm>
            <a:off x="2566308" y="4089831"/>
            <a:ext cx="96950" cy="3183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DC44B-5B45-609C-8015-953B567B02B5}"/>
              </a:ext>
            </a:extLst>
          </p:cNvPr>
          <p:cNvSpPr txBox="1"/>
          <p:nvPr/>
        </p:nvSpPr>
        <p:spPr>
          <a:xfrm>
            <a:off x="2776955" y="4032351"/>
            <a:ext cx="3578416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 4: Omni off / mono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14321A-A828-4F74-68F3-6DC9D9EE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D4B450-9130-4590-89A4-19180E76C661}" type="slidenum">
              <a:rPr/>
              <a:t>79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6024688-39C3-CA44-E2DF-A102967CC0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E65D9-3818-0CB0-4347-077A411E813B}"/>
              </a:ext>
            </a:extLst>
          </p:cNvPr>
          <p:cNvSpPr txBox="1"/>
          <p:nvPr/>
        </p:nvSpPr>
        <p:spPr>
          <a:xfrm>
            <a:off x="2021237" y="1515684"/>
            <a:ext cx="2219518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Omni On/Off: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59C8C-625C-81B3-A102-D589F3692787}"/>
              </a:ext>
            </a:extLst>
          </p:cNvPr>
          <p:cNvSpPr txBox="1"/>
          <p:nvPr/>
        </p:nvSpPr>
        <p:spPr>
          <a:xfrm>
            <a:off x="2291322" y="205422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F56E0-4D83-734B-1593-10DAD51C2615}"/>
              </a:ext>
            </a:extLst>
          </p:cNvPr>
          <p:cNvSpPr txBox="1"/>
          <p:nvPr/>
        </p:nvSpPr>
        <p:spPr>
          <a:xfrm>
            <a:off x="2921633" y="2054223"/>
            <a:ext cx="64391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If Omni if turned on, the MIDI device monitors all the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CF28D-7B7D-8EAF-4A29-3F81291F614F}"/>
              </a:ext>
            </a:extLst>
          </p:cNvPr>
          <p:cNvSpPr txBox="1"/>
          <p:nvPr/>
        </p:nvSpPr>
        <p:spPr>
          <a:xfrm>
            <a:off x="2291322" y="2451024"/>
            <a:ext cx="70758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channels and responds to all channels messages.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9EC82-C3EE-997F-0E60-990A74AD0281}"/>
              </a:ext>
            </a:extLst>
          </p:cNvPr>
          <p:cNvSpPr txBox="1"/>
          <p:nvPr/>
        </p:nvSpPr>
        <p:spPr>
          <a:xfrm>
            <a:off x="2291322" y="2847172"/>
            <a:ext cx="69467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is turned off, the MIDI device responds only to channel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11E77-7B89-B013-E381-24ADA96A56D5}"/>
              </a:ext>
            </a:extLst>
          </p:cNvPr>
          <p:cNvSpPr txBox="1"/>
          <p:nvPr/>
        </p:nvSpPr>
        <p:spPr>
          <a:xfrm>
            <a:off x="2291322" y="3243647"/>
            <a:ext cx="701410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messages  sent  on  the  channels  the  device  is  set  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46147-5372-EBCE-D135-97DE4A9ACC54}"/>
              </a:ext>
            </a:extLst>
          </p:cNvPr>
          <p:cNvSpPr txBox="1"/>
          <p:nvPr/>
        </p:nvSpPr>
        <p:spPr>
          <a:xfrm>
            <a:off x="2291322" y="3640121"/>
            <a:ext cx="11326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59B2C-63B8-3B15-A5BC-A4BDD0E1805E}"/>
              </a:ext>
            </a:extLst>
          </p:cNvPr>
          <p:cNvSpPr txBox="1"/>
          <p:nvPr/>
        </p:nvSpPr>
        <p:spPr>
          <a:xfrm>
            <a:off x="2021237" y="4132613"/>
            <a:ext cx="2858860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Omni Poly/Mono: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AC3BB-84B7-FAF8-FA89-86CE01140046}"/>
              </a:ext>
            </a:extLst>
          </p:cNvPr>
          <p:cNvSpPr txBox="1"/>
          <p:nvPr/>
        </p:nvSpPr>
        <p:spPr>
          <a:xfrm>
            <a:off x="2291322" y="467082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30018-AEC5-5756-D7CB-71509CD8F8D6}"/>
              </a:ext>
            </a:extLst>
          </p:cNvPr>
          <p:cNvSpPr txBox="1"/>
          <p:nvPr/>
        </p:nvSpPr>
        <p:spPr>
          <a:xfrm>
            <a:off x="2921633" y="4670826"/>
            <a:ext cx="647068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Poly is set, the device can play several notes at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5A5A46-6490-DB63-BFFD-E37BDA11FF4D}"/>
              </a:ext>
            </a:extLst>
          </p:cNvPr>
          <p:cNvSpPr txBox="1"/>
          <p:nvPr/>
        </p:nvSpPr>
        <p:spPr>
          <a:xfrm>
            <a:off x="2291322" y="5067300"/>
            <a:ext cx="69980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time.  If  the  mono  is  set,  the  device  plays  notes  like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57BED-FC46-D43F-80EA-37347C7D39A9}"/>
              </a:ext>
            </a:extLst>
          </p:cNvPr>
          <p:cNvSpPr txBox="1"/>
          <p:nvPr/>
        </p:nvSpPr>
        <p:spPr>
          <a:xfrm>
            <a:off x="2291322" y="5463775"/>
            <a:ext cx="55707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monophonic synthesizer-one note at a time. 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0C2D52D-C270-1E0B-936B-7A3EFBD4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FA6FF1-0391-46F0-89E4-E6A956CF760C}" type="slidenum">
              <a:rPr/>
              <a:t>80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B0B707A-A239-5141-D792-096CCFFB6C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890B9-F775-8212-43F2-6482BC14C42F}"/>
              </a:ext>
            </a:extLst>
          </p:cNvPr>
          <p:cNvSpPr txBox="1"/>
          <p:nvPr/>
        </p:nvSpPr>
        <p:spPr>
          <a:xfrm>
            <a:off x="2021564" y="151307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B9164-210C-70CB-0DA3-740004327CBD}"/>
              </a:ext>
            </a:extLst>
          </p:cNvPr>
          <p:cNvSpPr txBox="1"/>
          <p:nvPr/>
        </p:nvSpPr>
        <p:spPr>
          <a:xfrm>
            <a:off x="2907263" y="1513071"/>
            <a:ext cx="628396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first half of the mode name specifies how MIDI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4108B-B57A-D6C2-B335-7165BC06820E}"/>
              </a:ext>
            </a:extLst>
          </p:cNvPr>
          <p:cNvSpPr txBox="1"/>
          <p:nvPr/>
        </p:nvSpPr>
        <p:spPr>
          <a:xfrm>
            <a:off x="2021564" y="1884398"/>
            <a:ext cx="743184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device  monitors  the  incoming  MIDI  channels.  If  Omni 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F79A7-AE1C-D9D3-18B0-9F0F049C4D4D}"/>
              </a:ext>
            </a:extLst>
          </p:cNvPr>
          <p:cNvSpPr txBox="1"/>
          <p:nvPr/>
        </p:nvSpPr>
        <p:spPr>
          <a:xfrm>
            <a:off x="2021564" y="2256053"/>
            <a:ext cx="710649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turned on, the MIDI device monitors all the MIDI channels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9F066-AB5E-B1C1-75A6-1652011D8F77}"/>
              </a:ext>
            </a:extLst>
          </p:cNvPr>
          <p:cNvSpPr txBox="1"/>
          <p:nvPr/>
        </p:nvSpPr>
        <p:spPr>
          <a:xfrm>
            <a:off x="2021564" y="2627380"/>
            <a:ext cx="75103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 responds  to  all  channel  messages,  no  matter  which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54ADC-3747-DDA6-96D3-C7E0E33DC44B}"/>
              </a:ext>
            </a:extLst>
          </p:cNvPr>
          <p:cNvSpPr txBox="1"/>
          <p:nvPr/>
        </p:nvSpPr>
        <p:spPr>
          <a:xfrm>
            <a:off x="2021564" y="2998381"/>
            <a:ext cx="71794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channels they are transmitted on. If the Omni is turned off,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788A8-5AA0-0885-82C7-F03661AB5FBF}"/>
              </a:ext>
            </a:extLst>
          </p:cNvPr>
          <p:cNvSpPr txBox="1"/>
          <p:nvPr/>
        </p:nvSpPr>
        <p:spPr>
          <a:xfrm>
            <a:off x="2021564" y="3369709"/>
            <a:ext cx="73553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MIDI  device  respond  only  to  channel  message, 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7CD11-C06B-04AC-3ABD-E82C00E7A7E1}"/>
              </a:ext>
            </a:extLst>
          </p:cNvPr>
          <p:cNvSpPr txBox="1"/>
          <p:nvPr/>
        </p:nvSpPr>
        <p:spPr>
          <a:xfrm>
            <a:off x="2021564" y="3741363"/>
            <a:ext cx="30566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device is set to receive.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9BCD7-A861-3BF1-FF56-C3EE0D86F488}"/>
              </a:ext>
            </a:extLst>
          </p:cNvPr>
          <p:cNvSpPr txBox="1"/>
          <p:nvPr/>
        </p:nvSpPr>
        <p:spPr>
          <a:xfrm>
            <a:off x="2021564" y="418682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F79E8-4832-0F6E-F3A3-C0EAA27C7527}"/>
              </a:ext>
            </a:extLst>
          </p:cNvPr>
          <p:cNvSpPr txBox="1"/>
          <p:nvPr/>
        </p:nvSpPr>
        <p:spPr>
          <a:xfrm>
            <a:off x="2907264" y="4186826"/>
            <a:ext cx="67189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second  half  of  the  mode  name  tells  the  MIDI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20CC1-B3BA-7256-45BC-2668F80166F5}"/>
              </a:ext>
            </a:extLst>
          </p:cNvPr>
          <p:cNvSpPr txBox="1"/>
          <p:nvPr/>
        </p:nvSpPr>
        <p:spPr>
          <a:xfrm>
            <a:off x="2021564" y="4558154"/>
            <a:ext cx="72153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device how to play nodes coming in over the MIDI cable. If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BB35DC-4F47-EF9E-8C61-27A905533D1F}"/>
              </a:ext>
            </a:extLst>
          </p:cNvPr>
          <p:cNvSpPr txBox="1"/>
          <p:nvPr/>
        </p:nvSpPr>
        <p:spPr>
          <a:xfrm>
            <a:off x="2021564" y="4929481"/>
            <a:ext cx="71693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option Poly is set the device can play several nodes 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96F19-33BB-F3F3-01D4-11ECEDD1B196}"/>
              </a:ext>
            </a:extLst>
          </p:cNvPr>
          <p:cNvSpPr txBox="1"/>
          <p:nvPr/>
        </p:nvSpPr>
        <p:spPr>
          <a:xfrm>
            <a:off x="2021563" y="5300809"/>
            <a:ext cx="71228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time. If the node is set to mono the device play only 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AD2F4-64C8-453D-E284-F9D2B4F38DFE}"/>
              </a:ext>
            </a:extLst>
          </p:cNvPr>
          <p:cNvSpPr txBox="1"/>
          <p:nvPr/>
        </p:nvSpPr>
        <p:spPr>
          <a:xfrm>
            <a:off x="2021563" y="5672463"/>
            <a:ext cx="56484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node at a time like a monophonic synthesizer.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F040B1C-DFFF-A8C0-3EB4-F7E5C651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628854-46ED-4037-ACAD-E461F7D7A086}" type="slidenum">
              <a:rPr/>
              <a:t>81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804BCD3-DBF1-22C8-960F-5DC4886B3F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1F9619-C20D-7C12-0081-E69CDC0F0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971" y="2873299"/>
            <a:ext cx="5133924" cy="3099296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17C264-2698-C144-30E3-7A2E65609702}"/>
              </a:ext>
            </a:extLst>
          </p:cNvPr>
          <p:cNvSpPr txBox="1"/>
          <p:nvPr/>
        </p:nvSpPr>
        <p:spPr>
          <a:xfrm>
            <a:off x="2021237" y="1512743"/>
            <a:ext cx="18774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Devices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2209D-C6AF-F1FC-019A-B6DAFBC50BFA}"/>
              </a:ext>
            </a:extLst>
          </p:cNvPr>
          <p:cNvSpPr txBox="1"/>
          <p:nvPr/>
        </p:nvSpPr>
        <p:spPr>
          <a:xfrm>
            <a:off x="2021237" y="197061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6B025-DB3C-3EB6-4353-263B98AEC197}"/>
              </a:ext>
            </a:extLst>
          </p:cNvPr>
          <p:cNvSpPr txBox="1"/>
          <p:nvPr/>
        </p:nvSpPr>
        <p:spPr>
          <a:xfrm>
            <a:off x="2881790" y="1970617"/>
            <a:ext cx="64385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synthesizer device is the heart of MIDI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7C786-A8A2-36F7-7CE6-6E80CFF58E1C}"/>
              </a:ext>
            </a:extLst>
          </p:cNvPr>
          <p:cNvSpPr txBox="1"/>
          <p:nvPr/>
        </p:nvSpPr>
        <p:spPr>
          <a:xfrm>
            <a:off x="2021237" y="2352395"/>
            <a:ext cx="60515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Most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synthesizers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have following components.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0247E-77B2-C354-A32E-B1B4844157F8}"/>
              </a:ext>
            </a:extLst>
          </p:cNvPr>
          <p:cNvSpPr txBox="1"/>
          <p:nvPr/>
        </p:nvSpPr>
        <p:spPr>
          <a:xfrm>
            <a:off x="2279239" y="2828557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1285A-1E51-7394-223F-13F87AA3FEF7}"/>
              </a:ext>
            </a:extLst>
          </p:cNvPr>
          <p:cNvSpPr txBox="1"/>
          <p:nvPr/>
        </p:nvSpPr>
        <p:spPr>
          <a:xfrm>
            <a:off x="2709678" y="2792306"/>
            <a:ext cx="200041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 generators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59E01-5D1A-60A6-A3DD-44317DC9CF4B}"/>
              </a:ext>
            </a:extLst>
          </p:cNvPr>
          <p:cNvSpPr txBox="1"/>
          <p:nvPr/>
        </p:nvSpPr>
        <p:spPr>
          <a:xfrm>
            <a:off x="2279239" y="3210009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C18D2-DCE7-C95F-CDD0-B558CDE51C93}"/>
              </a:ext>
            </a:extLst>
          </p:cNvPr>
          <p:cNvSpPr txBox="1"/>
          <p:nvPr/>
        </p:nvSpPr>
        <p:spPr>
          <a:xfrm>
            <a:off x="2709678" y="3174085"/>
            <a:ext cx="175400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Microprocessor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7D55F-42F1-839A-515D-127ADCD2AE8F}"/>
              </a:ext>
            </a:extLst>
          </p:cNvPr>
          <p:cNvSpPr txBox="1"/>
          <p:nvPr/>
        </p:nvSpPr>
        <p:spPr>
          <a:xfrm>
            <a:off x="2279239" y="3591786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B4AB5-5957-DA36-8381-A1D152741082}"/>
              </a:ext>
            </a:extLst>
          </p:cNvPr>
          <p:cNvSpPr txBox="1"/>
          <p:nvPr/>
        </p:nvSpPr>
        <p:spPr>
          <a:xfrm>
            <a:off x="2709679" y="3555863"/>
            <a:ext cx="107830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Keyboard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67BE7-1F6A-FE60-A700-BA4D60B0BD0D}"/>
              </a:ext>
            </a:extLst>
          </p:cNvPr>
          <p:cNvSpPr txBox="1"/>
          <p:nvPr/>
        </p:nvSpPr>
        <p:spPr>
          <a:xfrm>
            <a:off x="2279239" y="3973239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D4797-7D54-8898-E9F9-5F8E8D329DED}"/>
              </a:ext>
            </a:extLst>
          </p:cNvPr>
          <p:cNvSpPr txBox="1"/>
          <p:nvPr/>
        </p:nvSpPr>
        <p:spPr>
          <a:xfrm>
            <a:off x="2709678" y="3937315"/>
            <a:ext cx="150656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 panel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01F5A-A104-6118-EC87-0F7EF9C8DAAA}"/>
              </a:ext>
            </a:extLst>
          </p:cNvPr>
          <p:cNvSpPr txBox="1"/>
          <p:nvPr/>
        </p:nvSpPr>
        <p:spPr>
          <a:xfrm>
            <a:off x="2279239" y="4355018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49C118-39CB-B04B-22E1-FEF305F652FE}"/>
              </a:ext>
            </a:extLst>
          </p:cNvPr>
          <p:cNvSpPr txBox="1"/>
          <p:nvPr/>
        </p:nvSpPr>
        <p:spPr>
          <a:xfrm>
            <a:off x="2709678" y="4318766"/>
            <a:ext cx="226074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Auxiliary controllers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2B071-0D83-09F6-5BAE-7F413C0CEE57}"/>
              </a:ext>
            </a:extLst>
          </p:cNvPr>
          <p:cNvSpPr txBox="1"/>
          <p:nvPr/>
        </p:nvSpPr>
        <p:spPr>
          <a:xfrm>
            <a:off x="2279239" y="4736469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FE07C-FA05-61B9-8272-34FB566754B1}"/>
              </a:ext>
            </a:extLst>
          </p:cNvPr>
          <p:cNvSpPr txBox="1"/>
          <p:nvPr/>
        </p:nvSpPr>
        <p:spPr>
          <a:xfrm>
            <a:off x="2709678" y="4700219"/>
            <a:ext cx="89646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B925E-1935-4D10-B6FC-EE67DA9BBE3A}"/>
              </a:ext>
            </a:extLst>
          </p:cNvPr>
          <p:cNvSpPr txBox="1"/>
          <p:nvPr/>
        </p:nvSpPr>
        <p:spPr>
          <a:xfrm>
            <a:off x="2279239" y="5117921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7.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2FD709-9C32-E64D-0EE8-593F91FF5F01}"/>
              </a:ext>
            </a:extLst>
          </p:cNvPr>
          <p:cNvSpPr txBox="1"/>
          <p:nvPr/>
        </p:nvSpPr>
        <p:spPr>
          <a:xfrm>
            <a:off x="2709678" y="5081997"/>
            <a:ext cx="162397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Drum machine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B2F5C8-E8B8-426A-C1D9-BB0913B8C288}"/>
              </a:ext>
            </a:extLst>
          </p:cNvPr>
          <p:cNvSpPr txBox="1"/>
          <p:nvPr/>
        </p:nvSpPr>
        <p:spPr>
          <a:xfrm>
            <a:off x="2279239" y="5499373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8.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19E20F-21C4-47C7-1887-1D1E6E4A5CCE}"/>
              </a:ext>
            </a:extLst>
          </p:cNvPr>
          <p:cNvSpPr txBox="1"/>
          <p:nvPr/>
        </p:nvSpPr>
        <p:spPr>
          <a:xfrm>
            <a:off x="2709678" y="5463449"/>
            <a:ext cx="185813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Master keyboard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E1520A-F3C4-6EED-F3C2-DB71A5BEF465}"/>
              </a:ext>
            </a:extLst>
          </p:cNvPr>
          <p:cNvSpPr txBox="1"/>
          <p:nvPr/>
        </p:nvSpPr>
        <p:spPr>
          <a:xfrm>
            <a:off x="2279239" y="5881152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9.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246F2D-F34E-822A-9053-A38CDD62D53A}"/>
              </a:ext>
            </a:extLst>
          </p:cNvPr>
          <p:cNvSpPr txBox="1"/>
          <p:nvPr/>
        </p:nvSpPr>
        <p:spPr>
          <a:xfrm>
            <a:off x="2709678" y="5845227"/>
            <a:ext cx="206575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Guitar Synthesizer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16FA620-A70C-895B-E414-A75CC3E5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38F777-920F-4A86-B9C7-CDC443156B9A}" type="slidenum">
              <a:rPr/>
              <a:t>82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8C4F458-B8D1-F3E7-D312-ACC8F16197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BE16E-87AF-44CB-8A8E-A4773D3E2131}"/>
              </a:ext>
            </a:extLst>
          </p:cNvPr>
          <p:cNvSpPr txBox="1"/>
          <p:nvPr/>
        </p:nvSpPr>
        <p:spPr>
          <a:xfrm>
            <a:off x="2152197" y="1486617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74ED1-725C-8E20-420F-C191B2264247}"/>
              </a:ext>
            </a:extLst>
          </p:cNvPr>
          <p:cNvSpPr txBox="1"/>
          <p:nvPr/>
        </p:nvSpPr>
        <p:spPr>
          <a:xfrm>
            <a:off x="2325287" y="1450040"/>
            <a:ext cx="240335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 generators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20720-5D12-BF14-AFA9-27CBDCE3A41B}"/>
              </a:ext>
            </a:extLst>
          </p:cNvPr>
          <p:cNvSpPr txBox="1"/>
          <p:nvPr/>
        </p:nvSpPr>
        <p:spPr>
          <a:xfrm>
            <a:off x="2411834" y="1778912"/>
            <a:ext cx="714105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 synthesizes  the  sound.  It  produces  an  audio  signal  that  becomes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79F4E-032E-C0CF-983D-03735BB188A0}"/>
              </a:ext>
            </a:extLst>
          </p:cNvPr>
          <p:cNvSpPr txBox="1"/>
          <p:nvPr/>
        </p:nvSpPr>
        <p:spPr>
          <a:xfrm>
            <a:off x="2411833" y="2008175"/>
            <a:ext cx="683482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sound when fed into a loud speaker. It can change quality of sound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19FC5-C1C5-07FC-26BD-4483C3FE5019}"/>
              </a:ext>
            </a:extLst>
          </p:cNvPr>
          <p:cNvSpPr txBox="1"/>
          <p:nvPr/>
        </p:nvSpPr>
        <p:spPr>
          <a:xfrm>
            <a:off x="2411833" y="2237111"/>
            <a:ext cx="698216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varying the voltage oscillation of the audio. Sound generation is done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077EE-7C08-B105-343F-B6D50AFB6B1C}"/>
              </a:ext>
            </a:extLst>
          </p:cNvPr>
          <p:cNvSpPr txBox="1"/>
          <p:nvPr/>
        </p:nvSpPr>
        <p:spPr>
          <a:xfrm>
            <a:off x="2411833" y="2466374"/>
            <a:ext cx="88460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2-ways: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1EF28-C30D-FD48-1AE8-7624703A3BAE}"/>
              </a:ext>
            </a:extLst>
          </p:cNvPr>
          <p:cNvSpPr txBox="1"/>
          <p:nvPr/>
        </p:nvSpPr>
        <p:spPr>
          <a:xfrm>
            <a:off x="2411833" y="2783489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40A21-A3EC-7B50-7F6B-52166A01B0ED}"/>
              </a:ext>
            </a:extLst>
          </p:cNvPr>
          <p:cNvSpPr txBox="1"/>
          <p:nvPr/>
        </p:nvSpPr>
        <p:spPr>
          <a:xfrm>
            <a:off x="2584924" y="2752137"/>
            <a:ext cx="489146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Storing acoustic signals as MIDI data in advance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FD953-A622-F74F-DCE8-E36A3902C285}"/>
              </a:ext>
            </a:extLst>
          </p:cNvPr>
          <p:cNvSpPr txBox="1"/>
          <p:nvPr/>
        </p:nvSpPr>
        <p:spPr>
          <a:xfrm>
            <a:off x="2411833" y="3069904"/>
            <a:ext cx="65980" cy="21679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70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6296C-DC9E-0131-95E4-267FDFEB1F90}"/>
              </a:ext>
            </a:extLst>
          </p:cNvPr>
          <p:cNvSpPr txBox="1"/>
          <p:nvPr/>
        </p:nvSpPr>
        <p:spPr>
          <a:xfrm>
            <a:off x="2584923" y="3038552"/>
            <a:ext cx="384656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Creating acoustic signals synthetically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F8E8E-4D53-4D78-F552-2FF9BCB12573}"/>
              </a:ext>
            </a:extLst>
          </p:cNvPr>
          <p:cNvSpPr txBox="1"/>
          <p:nvPr/>
        </p:nvSpPr>
        <p:spPr>
          <a:xfrm>
            <a:off x="2152197" y="3363177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00673-B57C-7207-2FB9-CBCFB5BF4426}"/>
              </a:ext>
            </a:extLst>
          </p:cNvPr>
          <p:cNvSpPr txBox="1"/>
          <p:nvPr/>
        </p:nvSpPr>
        <p:spPr>
          <a:xfrm>
            <a:off x="2325288" y="3326600"/>
            <a:ext cx="213359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Microprocessor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D0743-2402-9547-3118-ACE95E3E5410}"/>
              </a:ext>
            </a:extLst>
          </p:cNvPr>
          <p:cNvSpPr txBox="1"/>
          <p:nvPr/>
        </p:nvSpPr>
        <p:spPr>
          <a:xfrm>
            <a:off x="2411833" y="3655472"/>
            <a:ext cx="733636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Microprocessor  communicates  with  the  keyboard  to  know  which  notes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2DF55D-BA00-0732-D75C-B683A1340B3F}"/>
              </a:ext>
            </a:extLst>
          </p:cNvPr>
          <p:cNvSpPr txBox="1"/>
          <p:nvPr/>
        </p:nvSpPr>
        <p:spPr>
          <a:xfrm>
            <a:off x="2411833" y="3884735"/>
            <a:ext cx="689381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musician is playing. Microprocessor communicates with the control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F0659-6552-59EF-ED53-E09958BCCBBA}"/>
              </a:ext>
            </a:extLst>
          </p:cNvPr>
          <p:cNvSpPr txBox="1"/>
          <p:nvPr/>
        </p:nvSpPr>
        <p:spPr>
          <a:xfrm>
            <a:off x="2411833" y="4113672"/>
            <a:ext cx="699294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panel  to  know  what  commands  the  musician  wants  to  sent  to  the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A5202F-2120-383D-CBD9-B3D127299D68}"/>
              </a:ext>
            </a:extLst>
          </p:cNvPr>
          <p:cNvSpPr txBox="1"/>
          <p:nvPr/>
        </p:nvSpPr>
        <p:spPr>
          <a:xfrm>
            <a:off x="2411834" y="4342281"/>
            <a:ext cx="700101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microprocessor.  The  microprocessor  then  specifies  note  and  sound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50962-D8FE-D539-AE76-1AEE88480AED}"/>
              </a:ext>
            </a:extLst>
          </p:cNvPr>
          <p:cNvSpPr txBox="1"/>
          <p:nvPr/>
        </p:nvSpPr>
        <p:spPr>
          <a:xfrm>
            <a:off x="2411833" y="4571544"/>
            <a:ext cx="705423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commands  to  the  sound  generators  (i.e.  microprocessor  sends  and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03DBB6-3C7E-D4E0-ED62-C29B704A3FE0}"/>
              </a:ext>
            </a:extLst>
          </p:cNvPr>
          <p:cNvSpPr txBox="1"/>
          <p:nvPr/>
        </p:nvSpPr>
        <p:spPr>
          <a:xfrm>
            <a:off x="2411833" y="4800153"/>
            <a:ext cx="293670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receives the MIDI message).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193960-C4FF-C5D6-993D-F0239FBB6F49}"/>
              </a:ext>
            </a:extLst>
          </p:cNvPr>
          <p:cNvSpPr txBox="1"/>
          <p:nvPr/>
        </p:nvSpPr>
        <p:spPr>
          <a:xfrm>
            <a:off x="2152196" y="5125433"/>
            <a:ext cx="76624" cy="25160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878B26-BCCE-8064-6BF5-F0F3010411E0}"/>
              </a:ext>
            </a:extLst>
          </p:cNvPr>
          <p:cNvSpPr txBox="1"/>
          <p:nvPr/>
        </p:nvSpPr>
        <p:spPr>
          <a:xfrm>
            <a:off x="2325287" y="5088528"/>
            <a:ext cx="13938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Keyboard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8E333E-589E-68EA-D486-C36BC3C68E46}"/>
              </a:ext>
            </a:extLst>
          </p:cNvPr>
          <p:cNvSpPr txBox="1"/>
          <p:nvPr/>
        </p:nvSpPr>
        <p:spPr>
          <a:xfrm>
            <a:off x="2411833" y="5418054"/>
            <a:ext cx="6951518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affords the musician‟s direct control of the synthesizer. Pressing keys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1BDE5-B966-9D25-2AAA-C270AE2D0735}"/>
              </a:ext>
            </a:extLst>
          </p:cNvPr>
          <p:cNvSpPr txBox="1"/>
          <p:nvPr/>
        </p:nvSpPr>
        <p:spPr>
          <a:xfrm>
            <a:off x="2411833" y="5646664"/>
            <a:ext cx="725121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means  signaling  microprocessor  what  notes  to  play  and  how  long  to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6A84E8-296F-C10E-8555-E502070F8336}"/>
              </a:ext>
            </a:extLst>
          </p:cNvPr>
          <p:cNvSpPr txBox="1"/>
          <p:nvPr/>
        </p:nvSpPr>
        <p:spPr>
          <a:xfrm>
            <a:off x="2411833" y="5875926"/>
            <a:ext cx="637931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play them. Keyboard should have at least 5 octaves and 61 keys.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F3EAC30-BAE2-3811-E860-A5D05007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A1B0AB-2A13-47A9-BD71-34139D06663D}" type="slidenum">
              <a:rPr/>
              <a:t>83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C37CCB9-022E-AC30-AF5A-A72EC43D67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CA781-26F8-D8AF-199F-76DD0D9F977F}"/>
              </a:ext>
            </a:extLst>
          </p:cNvPr>
          <p:cNvSpPr txBox="1"/>
          <p:nvPr/>
        </p:nvSpPr>
        <p:spPr>
          <a:xfrm>
            <a:off x="2021237" y="1489230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7BD79-F388-4D98-1329-1068270C0B0F}"/>
              </a:ext>
            </a:extLst>
          </p:cNvPr>
          <p:cNvSpPr txBox="1"/>
          <p:nvPr/>
        </p:nvSpPr>
        <p:spPr>
          <a:xfrm>
            <a:off x="2196939" y="1450040"/>
            <a:ext cx="186268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panel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7CE4C-F65D-0A58-5E39-29F12368D1D4}"/>
              </a:ext>
            </a:extLst>
          </p:cNvPr>
          <p:cNvSpPr txBox="1"/>
          <p:nvPr/>
        </p:nvSpPr>
        <p:spPr>
          <a:xfrm>
            <a:off x="2284791" y="1801120"/>
            <a:ext cx="739894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Controls  those  function  that  are  not  directly  concerned  with  notes  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FBD9F-1E19-57F4-F173-A695D7DF8F6E}"/>
              </a:ext>
            </a:extLst>
          </p:cNvPr>
          <p:cNvSpPr txBox="1"/>
          <p:nvPr/>
        </p:nvSpPr>
        <p:spPr>
          <a:xfrm>
            <a:off x="2284791" y="2045406"/>
            <a:ext cx="620746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duration. Control panel includes a slider, a button and a menu.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302F7-F5B0-7E6A-2A08-9B6AF6BAACD5}"/>
              </a:ext>
            </a:extLst>
          </p:cNvPr>
          <p:cNvSpPr txBox="1"/>
          <p:nvPr/>
        </p:nvSpPr>
        <p:spPr>
          <a:xfrm>
            <a:off x="2021237" y="2392566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B750E-4141-96A0-91D5-D1D6EBA636D3}"/>
              </a:ext>
            </a:extLst>
          </p:cNvPr>
          <p:cNvSpPr txBox="1"/>
          <p:nvPr/>
        </p:nvSpPr>
        <p:spPr>
          <a:xfrm>
            <a:off x="2196939" y="2353049"/>
            <a:ext cx="26883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Auxiliary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controllers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4BD6D-83A1-3ED8-4D6C-B8BA10645997}"/>
              </a:ext>
            </a:extLst>
          </p:cNvPr>
          <p:cNvSpPr txBox="1"/>
          <p:nvPr/>
        </p:nvSpPr>
        <p:spPr>
          <a:xfrm>
            <a:off x="2284790" y="2704454"/>
            <a:ext cx="6907660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Gives more control over the notes played on keyboard. Pitch bend 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4BB846-D77F-ABEF-03A1-6AD22CC9B8F6}"/>
              </a:ext>
            </a:extLst>
          </p:cNvPr>
          <p:cNvSpPr txBox="1"/>
          <p:nvPr/>
        </p:nvSpPr>
        <p:spPr>
          <a:xfrm>
            <a:off x="2284791" y="2948414"/>
            <a:ext cx="585019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modulation are the 2 common variables on the synthesizer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00745F-5131-5A3C-0F1F-57C7FE4C7CF0}"/>
              </a:ext>
            </a:extLst>
          </p:cNvPr>
          <p:cNvSpPr txBox="1"/>
          <p:nvPr/>
        </p:nvSpPr>
        <p:spPr>
          <a:xfrm>
            <a:off x="2021237" y="3294922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791D4-3987-079D-1A62-AA7713BB50A2}"/>
              </a:ext>
            </a:extLst>
          </p:cNvPr>
          <p:cNvSpPr txBox="1"/>
          <p:nvPr/>
        </p:nvSpPr>
        <p:spPr>
          <a:xfrm>
            <a:off x="2196939" y="3255404"/>
            <a:ext cx="11948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Memory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66F27-8E0B-0DBE-4CB3-042128289F41}"/>
              </a:ext>
            </a:extLst>
          </p:cNvPr>
          <p:cNvSpPr txBox="1"/>
          <p:nvPr/>
        </p:nvSpPr>
        <p:spPr>
          <a:xfrm>
            <a:off x="2284791" y="3606810"/>
            <a:ext cx="7202869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Stores  patches  for  the  sound  generation  and  settings  on  the  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6F1625-F556-05D9-C305-CE79681D9AA0}"/>
              </a:ext>
            </a:extLst>
          </p:cNvPr>
          <p:cNvSpPr txBox="1"/>
          <p:nvPr/>
        </p:nvSpPr>
        <p:spPr>
          <a:xfrm>
            <a:off x="2284791" y="3851097"/>
            <a:ext cx="725327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panel.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C2FFE-5594-9D66-47DC-02248E041F5D}"/>
              </a:ext>
            </a:extLst>
          </p:cNvPr>
          <p:cNvSpPr txBox="1"/>
          <p:nvPr/>
        </p:nvSpPr>
        <p:spPr>
          <a:xfrm>
            <a:off x="2021237" y="4197604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38EA72-AD8B-0635-DA00-071EA83F3EF4}"/>
              </a:ext>
            </a:extLst>
          </p:cNvPr>
          <p:cNvSpPr txBox="1"/>
          <p:nvPr/>
        </p:nvSpPr>
        <p:spPr>
          <a:xfrm>
            <a:off x="2196939" y="4158413"/>
            <a:ext cx="19913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Drum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machine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D9902-7667-3138-355B-AAC44CC867C8}"/>
              </a:ext>
            </a:extLst>
          </p:cNvPr>
          <p:cNvSpPr txBox="1"/>
          <p:nvPr/>
        </p:nvSpPr>
        <p:spPr>
          <a:xfrm>
            <a:off x="2284790" y="4509820"/>
            <a:ext cx="4608826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Specialize in percussion sounds and rhythms.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5BFE96-690E-57CB-314E-0682F4961B62}"/>
              </a:ext>
            </a:extLst>
          </p:cNvPr>
          <p:cNvSpPr txBox="1"/>
          <p:nvPr/>
        </p:nvSpPr>
        <p:spPr>
          <a:xfrm>
            <a:off x="2021237" y="4856327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A5923-DEB2-B87B-4269-BD6643EE0C5E}"/>
              </a:ext>
            </a:extLst>
          </p:cNvPr>
          <p:cNvSpPr txBox="1"/>
          <p:nvPr/>
        </p:nvSpPr>
        <p:spPr>
          <a:xfrm>
            <a:off x="2196939" y="4817136"/>
            <a:ext cx="22475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Master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keyboard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253DE-282A-9270-3EAF-D84EDDDD5A0D}"/>
              </a:ext>
            </a:extLst>
          </p:cNvPr>
          <p:cNvSpPr txBox="1"/>
          <p:nvPr/>
        </p:nvSpPr>
        <p:spPr>
          <a:xfrm>
            <a:off x="2284791" y="5168216"/>
            <a:ext cx="3945183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Increases the quality of the synthesizer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C5C0B-F678-8FEF-915D-23B88649DBBF}"/>
              </a:ext>
            </a:extLst>
          </p:cNvPr>
          <p:cNvSpPr txBox="1"/>
          <p:nvPr/>
        </p:nvSpPr>
        <p:spPr>
          <a:xfrm>
            <a:off x="2021237" y="5515050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9B3142-763F-C9D2-C0AA-74D8A1F3AC00}"/>
              </a:ext>
            </a:extLst>
          </p:cNvPr>
          <p:cNvSpPr txBox="1"/>
          <p:nvPr/>
        </p:nvSpPr>
        <p:spPr>
          <a:xfrm>
            <a:off x="2196939" y="5475859"/>
            <a:ext cx="247490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Guitar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Synthesizer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02EF0A-ACBF-EE97-81E8-4948A2B16F2D}"/>
              </a:ext>
            </a:extLst>
          </p:cNvPr>
          <p:cNvSpPr txBox="1"/>
          <p:nvPr/>
        </p:nvSpPr>
        <p:spPr>
          <a:xfrm>
            <a:off x="2284791" y="5826939"/>
            <a:ext cx="5455981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Drum pad controllers, Guitar controllers </a:t>
            </a:r>
            <a:r>
              <a:rPr lang="en-US" sz="172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many more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A83CA31-CB7C-B73B-C615-13401D02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AA3825E-983B-4FC7-B926-7C6D76F69002}" type="slidenum">
              <a:rPr/>
              <a:t>84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65FA055-60F3-BE50-432B-1F3A7BCE43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BE679-AEC7-3095-16F3-E642562368D1}"/>
              </a:ext>
            </a:extLst>
          </p:cNvPr>
          <p:cNvSpPr txBox="1"/>
          <p:nvPr/>
        </p:nvSpPr>
        <p:spPr>
          <a:xfrm>
            <a:off x="2021237" y="1512743"/>
            <a:ext cx="16755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Sequencer: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A0E8D-277B-5CA8-F217-A270F5E5F406}"/>
              </a:ext>
            </a:extLst>
          </p:cNvPr>
          <p:cNvSpPr txBox="1"/>
          <p:nvPr/>
        </p:nvSpPr>
        <p:spPr>
          <a:xfrm>
            <a:off x="2021237" y="191085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83572-9116-44B6-661F-088C3F02A3BE}"/>
              </a:ext>
            </a:extLst>
          </p:cNvPr>
          <p:cNvSpPr txBox="1"/>
          <p:nvPr/>
        </p:nvSpPr>
        <p:spPr>
          <a:xfrm>
            <a:off x="2851089" y="1910852"/>
            <a:ext cx="662591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 is  an  electronic  device  in  cooperating  with  both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80207-64D8-1CEF-4053-5C7A11DB3329}"/>
              </a:ext>
            </a:extLst>
          </p:cNvPr>
          <p:cNvSpPr txBox="1"/>
          <p:nvPr/>
        </p:nvSpPr>
        <p:spPr>
          <a:xfrm>
            <a:off x="2021237" y="2242989"/>
            <a:ext cx="73081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hardware and software, which is used as storage server for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7DA9E-DF52-7F6F-8876-3B5424646618}"/>
              </a:ext>
            </a:extLst>
          </p:cNvPr>
          <p:cNvSpPr txBox="1"/>
          <p:nvPr/>
        </p:nvSpPr>
        <p:spPr>
          <a:xfrm>
            <a:off x="2021236" y="2574800"/>
            <a:ext cx="12572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generated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83AE5-3010-7736-0C43-7CFF077A150B}"/>
              </a:ext>
            </a:extLst>
          </p:cNvPr>
          <p:cNvSpPr txBox="1"/>
          <p:nvPr/>
        </p:nvSpPr>
        <p:spPr>
          <a:xfrm>
            <a:off x="3462132" y="2574800"/>
            <a:ext cx="5893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D72E2-30FB-6F85-2DDF-BF424CEA7F6C}"/>
              </a:ext>
            </a:extLst>
          </p:cNvPr>
          <p:cNvSpPr txBox="1"/>
          <p:nvPr/>
        </p:nvSpPr>
        <p:spPr>
          <a:xfrm>
            <a:off x="4237772" y="2574800"/>
            <a:ext cx="62087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C01DB-B385-8EF2-93E9-D22E8F731AE1}"/>
              </a:ext>
            </a:extLst>
          </p:cNvPr>
          <p:cNvSpPr txBox="1"/>
          <p:nvPr/>
        </p:nvSpPr>
        <p:spPr>
          <a:xfrm>
            <a:off x="5045418" y="2574800"/>
            <a:ext cx="1862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D46C0-0A3D-36BB-FB87-CD5F340E7653}"/>
              </a:ext>
            </a:extLst>
          </p:cNvPr>
          <p:cNvSpPr txBox="1"/>
          <p:nvPr/>
        </p:nvSpPr>
        <p:spPr>
          <a:xfrm>
            <a:off x="5406295" y="2574800"/>
            <a:ext cx="13035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F3185A-D55F-EDA6-8752-0BA8FB2C7510}"/>
              </a:ext>
            </a:extLst>
          </p:cNvPr>
          <p:cNvSpPr txBox="1"/>
          <p:nvPr/>
        </p:nvSpPr>
        <p:spPr>
          <a:xfrm>
            <a:off x="6889972" y="2574800"/>
            <a:ext cx="527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F2352-9592-DB50-0A6B-7C79C8CF5C19}"/>
              </a:ext>
            </a:extLst>
          </p:cNvPr>
          <p:cNvSpPr txBox="1"/>
          <p:nvPr/>
        </p:nvSpPr>
        <p:spPr>
          <a:xfrm>
            <a:off x="7606175" y="2574800"/>
            <a:ext cx="3104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C26237-5AB1-6929-262C-3ABE07111E88}"/>
              </a:ext>
            </a:extLst>
          </p:cNvPr>
          <p:cNvSpPr txBox="1"/>
          <p:nvPr/>
        </p:nvSpPr>
        <p:spPr>
          <a:xfrm>
            <a:off x="8106830" y="2574800"/>
            <a:ext cx="12258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F0990-18AF-B164-E6E1-7468E3887AAE}"/>
              </a:ext>
            </a:extLst>
          </p:cNvPr>
          <p:cNvSpPr txBox="1"/>
          <p:nvPr/>
        </p:nvSpPr>
        <p:spPr>
          <a:xfrm>
            <a:off x="2021237" y="2906611"/>
            <a:ext cx="64704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Sequencer transforms the note into MIDI message.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22AEB5-2284-8497-B49B-FA23D5673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102" y="3423922"/>
            <a:ext cx="3789045" cy="2777283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4836239-FB39-4CF7-93D6-6D8F8FAA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EA155F-D665-4A46-A051-2CA7D2FC0025}" type="slidenum">
              <a:rPr/>
              <a:t>85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7F2F8F5-0121-F97A-41F6-3C809531BB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C3DB1-8A8D-6803-3AD1-185ACCB32558}"/>
              </a:ext>
            </a:extLst>
          </p:cNvPr>
          <p:cNvSpPr txBox="1"/>
          <p:nvPr/>
        </p:nvSpPr>
        <p:spPr>
          <a:xfrm>
            <a:off x="2119212" y="1512743"/>
            <a:ext cx="20943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Message: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343B8-6F42-A65A-FF84-061A795E737B}"/>
              </a:ext>
            </a:extLst>
          </p:cNvPr>
          <p:cNvSpPr txBox="1"/>
          <p:nvPr/>
        </p:nvSpPr>
        <p:spPr>
          <a:xfrm>
            <a:off x="2119213" y="196179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F6D2F-22DF-CA9D-A27C-5246A699E334}"/>
              </a:ext>
            </a:extLst>
          </p:cNvPr>
          <p:cNvSpPr txBox="1"/>
          <p:nvPr/>
        </p:nvSpPr>
        <p:spPr>
          <a:xfrm>
            <a:off x="2999034" y="1961799"/>
            <a:ext cx="62678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messages transmit information between MIDI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910989-6501-6BC1-8694-6FE09BBC9E78}"/>
              </a:ext>
            </a:extLst>
          </p:cNvPr>
          <p:cNvSpPr txBox="1"/>
          <p:nvPr/>
        </p:nvSpPr>
        <p:spPr>
          <a:xfrm>
            <a:off x="2119212" y="2336066"/>
            <a:ext cx="73550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devices and determine what kinds of musical events can be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DBCC1-BD9D-ADD2-7F0B-4FC6E2F143E2}"/>
              </a:ext>
            </a:extLst>
          </p:cNvPr>
          <p:cNvSpPr txBox="1"/>
          <p:nvPr/>
        </p:nvSpPr>
        <p:spPr>
          <a:xfrm>
            <a:off x="2119213" y="2710333"/>
            <a:ext cx="38481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passed from device to device.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EE4A9-8C25-2B53-6448-EB47AF9C6A51}"/>
              </a:ext>
            </a:extLst>
          </p:cNvPr>
          <p:cNvSpPr txBox="1"/>
          <p:nvPr/>
        </p:nvSpPr>
        <p:spPr>
          <a:xfrm>
            <a:off x="2119213" y="315938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D71F3-DCA7-0A75-4E5F-42A61D159AE4}"/>
              </a:ext>
            </a:extLst>
          </p:cNvPr>
          <p:cNvSpPr txBox="1"/>
          <p:nvPr/>
        </p:nvSpPr>
        <p:spPr>
          <a:xfrm>
            <a:off x="2119213" y="3608770"/>
            <a:ext cx="36923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Formats of MIDI messages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DD750-143D-B5E1-9F5C-AEDC254AC2B3}"/>
              </a:ext>
            </a:extLst>
          </p:cNvPr>
          <p:cNvSpPr txBox="1"/>
          <p:nvPr/>
        </p:nvSpPr>
        <p:spPr>
          <a:xfrm>
            <a:off x="2119212" y="409995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6CC0C-EDFE-D67F-2FBC-D5A7546F80D8}"/>
              </a:ext>
            </a:extLst>
          </p:cNvPr>
          <p:cNvSpPr txBox="1"/>
          <p:nvPr/>
        </p:nvSpPr>
        <p:spPr>
          <a:xfrm>
            <a:off x="2295242" y="4057825"/>
            <a:ext cx="71057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Status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byte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First byte of any MIDI message. It describes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B5E32-63A3-834D-9E57-A055B91A57E3}"/>
              </a:ext>
            </a:extLst>
          </p:cNvPr>
          <p:cNvSpPr txBox="1"/>
          <p:nvPr/>
        </p:nvSpPr>
        <p:spPr>
          <a:xfrm>
            <a:off x="2295242" y="4432092"/>
            <a:ext cx="26535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kind of message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90BD2-DE4E-96F7-9DCC-1D37904F2D8A}"/>
              </a:ext>
            </a:extLst>
          </p:cNvPr>
          <p:cNvSpPr txBox="1"/>
          <p:nvPr/>
        </p:nvSpPr>
        <p:spPr>
          <a:xfrm>
            <a:off x="2119212" y="492327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A7F33A-5758-3684-D34A-49DD7BF0E9F8}"/>
              </a:ext>
            </a:extLst>
          </p:cNvPr>
          <p:cNvSpPr txBox="1"/>
          <p:nvPr/>
        </p:nvSpPr>
        <p:spPr>
          <a:xfrm>
            <a:off x="2295242" y="4881147"/>
            <a:ext cx="40290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byte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The following bytes.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3A7B0-5E63-C174-9548-60A0BE212A4D}"/>
              </a:ext>
            </a:extLst>
          </p:cNvPr>
          <p:cNvSpPr txBox="1"/>
          <p:nvPr/>
        </p:nvSpPr>
        <p:spPr>
          <a:xfrm>
            <a:off x="2119213" y="532987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851A4F42-5AE1-5E6C-AEC6-1578BC93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90EAAB-95D1-4C47-98CC-19D49F1FC39E}" type="slidenum">
              <a:rPr/>
              <a:t>86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15B9C34-C04B-0983-7E6E-69EABA65FA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FBC1E-0939-934E-330F-618930D820E6}"/>
              </a:ext>
            </a:extLst>
          </p:cNvPr>
          <p:cNvSpPr txBox="1"/>
          <p:nvPr/>
        </p:nvSpPr>
        <p:spPr>
          <a:xfrm>
            <a:off x="2184856" y="1512743"/>
            <a:ext cx="529055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There are two types of MIDI messages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F2231-5467-88FC-2745-077B3FE0A2A0}"/>
              </a:ext>
            </a:extLst>
          </p:cNvPr>
          <p:cNvSpPr txBox="1"/>
          <p:nvPr/>
        </p:nvSpPr>
        <p:spPr>
          <a:xfrm>
            <a:off x="2184856" y="210157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3213D-174C-8D1B-B5FF-B8E81522F001}"/>
              </a:ext>
            </a:extLst>
          </p:cNvPr>
          <p:cNvSpPr txBox="1"/>
          <p:nvPr/>
        </p:nvSpPr>
        <p:spPr>
          <a:xfrm>
            <a:off x="2673102" y="2050304"/>
            <a:ext cx="26063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Message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(: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D5FEA-99CA-E30F-29F1-074108BF6618}"/>
              </a:ext>
            </a:extLst>
          </p:cNvPr>
          <p:cNvSpPr txBox="1"/>
          <p:nvPr/>
        </p:nvSpPr>
        <p:spPr>
          <a:xfrm>
            <a:off x="5802770" y="2135543"/>
            <a:ext cx="273517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go only to specified devices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4E2F4-411D-7D3F-3AAC-73FFC5A8E00D}"/>
              </a:ext>
            </a:extLst>
          </p:cNvPr>
          <p:cNvSpPr txBox="1"/>
          <p:nvPr/>
        </p:nvSpPr>
        <p:spPr>
          <a:xfrm>
            <a:off x="8989264" y="2050304"/>
            <a:ext cx="929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43002-7E21-F8DE-5FA3-C67668729F84}"/>
              </a:ext>
            </a:extLst>
          </p:cNvPr>
          <p:cNvSpPr txBox="1"/>
          <p:nvPr/>
        </p:nvSpPr>
        <p:spPr>
          <a:xfrm>
            <a:off x="2477804" y="2610071"/>
            <a:ext cx="99451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C0CF2-19E2-96B1-746A-EF8FDFE5FD42}"/>
              </a:ext>
            </a:extLst>
          </p:cNvPr>
          <p:cNvSpPr txBox="1"/>
          <p:nvPr/>
        </p:nvSpPr>
        <p:spPr>
          <a:xfrm>
            <a:off x="3028426" y="2567942"/>
            <a:ext cx="265136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 Voice Message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05390-1ABE-28BE-1D09-0FE15E39AB40}"/>
              </a:ext>
            </a:extLst>
          </p:cNvPr>
          <p:cNvSpPr txBox="1"/>
          <p:nvPr/>
        </p:nvSpPr>
        <p:spPr>
          <a:xfrm>
            <a:off x="2477803" y="3058473"/>
            <a:ext cx="14362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2C552-D20B-7DC8-8949-C9D51C119636}"/>
              </a:ext>
            </a:extLst>
          </p:cNvPr>
          <p:cNvSpPr txBox="1"/>
          <p:nvPr/>
        </p:nvSpPr>
        <p:spPr>
          <a:xfrm>
            <a:off x="3028426" y="3016017"/>
            <a:ext cx="266425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 mode Message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538BB-F637-9B8F-56B7-C2CBA3C9E95F}"/>
              </a:ext>
            </a:extLst>
          </p:cNvPr>
          <p:cNvSpPr txBox="1"/>
          <p:nvPr/>
        </p:nvSpPr>
        <p:spPr>
          <a:xfrm>
            <a:off x="2184856" y="3535615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F5F58B-A165-7FBA-7CAC-7D037115651B}"/>
              </a:ext>
            </a:extLst>
          </p:cNvPr>
          <p:cNvSpPr txBox="1"/>
          <p:nvPr/>
        </p:nvSpPr>
        <p:spPr>
          <a:xfrm>
            <a:off x="2673101" y="3484994"/>
            <a:ext cx="24981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Message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(: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A746D-62B7-FA0C-0B06-8354773AD94B}"/>
              </a:ext>
            </a:extLst>
          </p:cNvPr>
          <p:cNvSpPr txBox="1"/>
          <p:nvPr/>
        </p:nvSpPr>
        <p:spPr>
          <a:xfrm>
            <a:off x="5678993" y="3569580"/>
            <a:ext cx="11631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5E1C0-2CEC-51A4-F92E-75EA0CC842A9}"/>
              </a:ext>
            </a:extLst>
          </p:cNvPr>
          <p:cNvSpPr txBox="1"/>
          <p:nvPr/>
        </p:nvSpPr>
        <p:spPr>
          <a:xfrm>
            <a:off x="5815834" y="348499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7ACB69-1A4A-109C-EBF6-C797B5DA7EBD}"/>
              </a:ext>
            </a:extLst>
          </p:cNvPr>
          <p:cNvSpPr txBox="1"/>
          <p:nvPr/>
        </p:nvSpPr>
        <p:spPr>
          <a:xfrm>
            <a:off x="5904012" y="3569580"/>
            <a:ext cx="311880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go to all devices in a MIDI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3356CA-1CE9-934B-51AB-24829EDDA16E}"/>
              </a:ext>
            </a:extLst>
          </p:cNvPr>
          <p:cNvSpPr txBox="1"/>
          <p:nvPr/>
        </p:nvSpPr>
        <p:spPr>
          <a:xfrm>
            <a:off x="9539561" y="3484994"/>
            <a:ext cx="929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75613-3E0F-135D-9317-9F8F00EE5053}"/>
              </a:ext>
            </a:extLst>
          </p:cNvPr>
          <p:cNvSpPr txBox="1"/>
          <p:nvPr/>
        </p:nvSpPr>
        <p:spPr>
          <a:xfrm>
            <a:off x="2477804" y="4044761"/>
            <a:ext cx="99451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42460-245D-BFA9-70C3-7EE779989D5A}"/>
              </a:ext>
            </a:extLst>
          </p:cNvPr>
          <p:cNvSpPr txBox="1"/>
          <p:nvPr/>
        </p:nvSpPr>
        <p:spPr>
          <a:xfrm>
            <a:off x="3028425" y="4002306"/>
            <a:ext cx="29882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Real-time message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2B00E1-63E8-75C4-381D-55D4265B16FB}"/>
              </a:ext>
            </a:extLst>
          </p:cNvPr>
          <p:cNvSpPr txBox="1"/>
          <p:nvPr/>
        </p:nvSpPr>
        <p:spPr>
          <a:xfrm>
            <a:off x="2477803" y="4492837"/>
            <a:ext cx="14362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ii.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49474-7F10-5D66-2B1D-58789AE9A40B}"/>
              </a:ext>
            </a:extLst>
          </p:cNvPr>
          <p:cNvSpPr txBox="1"/>
          <p:nvPr/>
        </p:nvSpPr>
        <p:spPr>
          <a:xfrm>
            <a:off x="3028426" y="4450381"/>
            <a:ext cx="293631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Common Message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596B0A-0215-9909-0DFB-1DC1C6B14F45}"/>
              </a:ext>
            </a:extLst>
          </p:cNvPr>
          <p:cNvSpPr txBox="1"/>
          <p:nvPr/>
        </p:nvSpPr>
        <p:spPr>
          <a:xfrm>
            <a:off x="2477803" y="4940912"/>
            <a:ext cx="187808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iii.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10AB8-A740-27DF-FB2A-8F32CD34E72A}"/>
              </a:ext>
            </a:extLst>
          </p:cNvPr>
          <p:cNvSpPr txBox="1"/>
          <p:nvPr/>
        </p:nvSpPr>
        <p:spPr>
          <a:xfrm>
            <a:off x="3028426" y="4898783"/>
            <a:ext cx="294946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exclusive Message 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F6C41ECF-53C2-4143-8089-F0DFF39D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3C3CA2-0FBC-4895-B049-F4A37FEDCF6B}" type="slidenum">
              <a:rPr/>
              <a:t>87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DCF21B7-E8AD-BD16-36A4-74C9DA3E05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306F9-FB7C-0483-FBCD-6619CAE8BDDE}"/>
              </a:ext>
            </a:extLst>
          </p:cNvPr>
          <p:cNvSpPr txBox="1"/>
          <p:nvPr/>
        </p:nvSpPr>
        <p:spPr>
          <a:xfrm>
            <a:off x="2119539" y="1512743"/>
            <a:ext cx="73651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Channel Message: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go only to specified devices. There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197F5-10D9-4CB4-ED4E-2F210BA50962}"/>
              </a:ext>
            </a:extLst>
          </p:cNvPr>
          <p:cNvSpPr txBox="1"/>
          <p:nvPr/>
        </p:nvSpPr>
        <p:spPr>
          <a:xfrm>
            <a:off x="2119539" y="1908239"/>
            <a:ext cx="44690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 two types of channel message.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F6848-E393-CD03-D34A-26934D2C5C11}"/>
              </a:ext>
            </a:extLst>
          </p:cNvPr>
          <p:cNvSpPr txBox="1"/>
          <p:nvPr/>
        </p:nvSpPr>
        <p:spPr>
          <a:xfrm>
            <a:off x="2389298" y="2402363"/>
            <a:ext cx="110543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D3D65-4C08-E628-CB47-D207C37B5C36}"/>
              </a:ext>
            </a:extLst>
          </p:cNvPr>
          <p:cNvSpPr txBox="1"/>
          <p:nvPr/>
        </p:nvSpPr>
        <p:spPr>
          <a:xfrm>
            <a:off x="2895833" y="2365133"/>
            <a:ext cx="285398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 Voice Message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(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CD3CC-A88E-EF77-C933-A4C68FA5399C}"/>
              </a:ext>
            </a:extLst>
          </p:cNvPr>
          <p:cNvSpPr txBox="1"/>
          <p:nvPr/>
        </p:nvSpPr>
        <p:spPr>
          <a:xfrm>
            <a:off x="5943202" y="2415426"/>
            <a:ext cx="3488199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send actual performance between devices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AAA73-C821-FCBF-45E2-00CC465F9E2E}"/>
              </a:ext>
            </a:extLst>
          </p:cNvPr>
          <p:cNvSpPr txBox="1"/>
          <p:nvPr/>
        </p:nvSpPr>
        <p:spPr>
          <a:xfrm>
            <a:off x="9685871" y="2365133"/>
            <a:ext cx="7784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34889-1A63-F8F5-4738-5D77393248C6}"/>
              </a:ext>
            </a:extLst>
          </p:cNvPr>
          <p:cNvSpPr txBox="1"/>
          <p:nvPr/>
        </p:nvSpPr>
        <p:spPr>
          <a:xfrm>
            <a:off x="2659059" y="2753116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0696D-ABC6-2884-9387-4C5CEC1498C7}"/>
              </a:ext>
            </a:extLst>
          </p:cNvPr>
          <p:cNvSpPr txBox="1"/>
          <p:nvPr/>
        </p:nvSpPr>
        <p:spPr>
          <a:xfrm>
            <a:off x="3018629" y="2753116"/>
            <a:ext cx="671818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  Voice  message  send  actual  performance  data  between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AE6C8-86D3-700B-B19D-7F6388AB6759}"/>
              </a:ext>
            </a:extLst>
          </p:cNvPr>
          <p:cNvSpPr txBox="1"/>
          <p:nvPr/>
        </p:nvSpPr>
        <p:spPr>
          <a:xfrm>
            <a:off x="2659058" y="3049655"/>
            <a:ext cx="697146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 devices</a:t>
            </a:r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describing  keyboard  action,  controller  action  and 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73479-05F5-3801-D3B7-56FA10FA7669}"/>
              </a:ext>
            </a:extLst>
          </p:cNvPr>
          <p:cNvSpPr txBox="1"/>
          <p:nvPr/>
        </p:nvSpPr>
        <p:spPr>
          <a:xfrm>
            <a:off x="2659058" y="3346521"/>
            <a:ext cx="666579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panel changes. E.g. note on, Note off, channel pressure, control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AB294-C2B2-3E09-BDE4-C33F40A4CE32}"/>
              </a:ext>
            </a:extLst>
          </p:cNvPr>
          <p:cNvSpPr txBox="1"/>
          <p:nvPr/>
        </p:nvSpPr>
        <p:spPr>
          <a:xfrm>
            <a:off x="2659059" y="3643062"/>
            <a:ext cx="45377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etc.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3B21C-088D-8CA3-2B41-20ACD57E09CF}"/>
              </a:ext>
            </a:extLst>
          </p:cNvPr>
          <p:cNvSpPr txBox="1"/>
          <p:nvPr/>
        </p:nvSpPr>
        <p:spPr>
          <a:xfrm>
            <a:off x="2389298" y="4044108"/>
            <a:ext cx="165815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ii.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BAD76-EDAF-84D2-430D-A00BDA8FD948}"/>
              </a:ext>
            </a:extLst>
          </p:cNvPr>
          <p:cNvSpPr txBox="1"/>
          <p:nvPr/>
        </p:nvSpPr>
        <p:spPr>
          <a:xfrm>
            <a:off x="2895833" y="4006878"/>
            <a:ext cx="285796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 Mode Message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(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D54E22-7748-A369-9199-E7946FA4298A}"/>
              </a:ext>
            </a:extLst>
          </p:cNvPr>
          <p:cNvSpPr txBox="1"/>
          <p:nvPr/>
        </p:nvSpPr>
        <p:spPr>
          <a:xfrm>
            <a:off x="5947774" y="4057498"/>
            <a:ext cx="827984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determine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9909C-1CFC-B090-011B-5E247AE35CAA}"/>
              </a:ext>
            </a:extLst>
          </p:cNvPr>
          <p:cNvSpPr txBox="1"/>
          <p:nvPr/>
        </p:nvSpPr>
        <p:spPr>
          <a:xfrm>
            <a:off x="6833474" y="4006878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79606A-510F-4BF7-68D1-1B2D9D454692}"/>
              </a:ext>
            </a:extLst>
          </p:cNvPr>
          <p:cNvSpPr txBox="1"/>
          <p:nvPr/>
        </p:nvSpPr>
        <p:spPr>
          <a:xfrm>
            <a:off x="6904015" y="4057498"/>
            <a:ext cx="1449179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how to play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8260A-9523-7B86-4C2C-2656171BFFF4}"/>
              </a:ext>
            </a:extLst>
          </p:cNvPr>
          <p:cNvSpPr txBox="1"/>
          <p:nvPr/>
        </p:nvSpPr>
        <p:spPr>
          <a:xfrm>
            <a:off x="8456930" y="4006878"/>
            <a:ext cx="14279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9CCCF4-D6B0-25F8-BAC5-80D3C1A0E449}"/>
              </a:ext>
            </a:extLst>
          </p:cNvPr>
          <p:cNvSpPr txBox="1"/>
          <p:nvPr/>
        </p:nvSpPr>
        <p:spPr>
          <a:xfrm>
            <a:off x="2659059" y="4394862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099714-292B-4564-F53B-3DC59459D9DE}"/>
              </a:ext>
            </a:extLst>
          </p:cNvPr>
          <p:cNvSpPr txBox="1"/>
          <p:nvPr/>
        </p:nvSpPr>
        <p:spPr>
          <a:xfrm>
            <a:off x="3018629" y="4394862"/>
            <a:ext cx="636501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Channel Mode message determine the way that a receiving MIDI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64F3C-C14A-FD77-E348-AE376D306D21}"/>
              </a:ext>
            </a:extLst>
          </p:cNvPr>
          <p:cNvSpPr txBox="1"/>
          <p:nvPr/>
        </p:nvSpPr>
        <p:spPr>
          <a:xfrm>
            <a:off x="2659058" y="4691728"/>
            <a:ext cx="716837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device  respond  to  channel  voice  message</a:t>
            </a:r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It  deals  with  how  to  play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3ECFD-359F-20BA-00C2-61BF83334C23}"/>
              </a:ext>
            </a:extLst>
          </p:cNvPr>
          <p:cNvSpPr txBox="1"/>
          <p:nvPr/>
        </p:nvSpPr>
        <p:spPr>
          <a:xfrm>
            <a:off x="2659058" y="4988267"/>
            <a:ext cx="686675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notes coming in over MIDI cables. Channel mode message includes Omni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234073-60A9-E68D-95FE-AC79AE997D3E}"/>
              </a:ext>
            </a:extLst>
          </p:cNvPr>
          <p:cNvSpPr txBox="1"/>
          <p:nvPr/>
        </p:nvSpPr>
        <p:spPr>
          <a:xfrm>
            <a:off x="2659058" y="5284806"/>
            <a:ext cx="662206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On, Omni Off, note off, note on, etc. E.g. local control, All note off, Omni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9EC9B6-C00B-9D8F-666D-34AA64DA7733}"/>
              </a:ext>
            </a:extLst>
          </p:cNvPr>
          <p:cNvSpPr txBox="1"/>
          <p:nvPr/>
        </p:nvSpPr>
        <p:spPr>
          <a:xfrm>
            <a:off x="2659059" y="5582000"/>
            <a:ext cx="132286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 off etc.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34B45F-9CBA-C885-E2D0-D1C52BA3C1D5}"/>
              </a:ext>
            </a:extLst>
          </p:cNvPr>
          <p:cNvSpPr txBox="1"/>
          <p:nvPr/>
        </p:nvSpPr>
        <p:spPr>
          <a:xfrm>
            <a:off x="2895833" y="5945488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85D07-7C33-87BD-EFDB-116FA19265D0}"/>
              </a:ext>
            </a:extLst>
          </p:cNvPr>
          <p:cNvSpPr txBox="1"/>
          <p:nvPr/>
        </p:nvSpPr>
        <p:spPr>
          <a:xfrm>
            <a:off x="2299160" y="635927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97BC683F-089D-6109-AC67-ED3028CA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1113A28-9594-43F9-A396-622E1E1D33F7}" type="slidenum">
              <a:rPr/>
              <a:t>88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CB2122D-A16F-1485-D077-5D5B4E33A9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31065-B292-1D15-5FC5-C80C20849F0D}"/>
              </a:ext>
            </a:extLst>
          </p:cNvPr>
          <p:cNvSpPr txBox="1"/>
          <p:nvPr/>
        </p:nvSpPr>
        <p:spPr>
          <a:xfrm>
            <a:off x="2151871" y="1479759"/>
            <a:ext cx="726179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System message: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System message go to all devices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57D5F-1CD5-2285-C476-B449599B5565}"/>
              </a:ext>
            </a:extLst>
          </p:cNvPr>
          <p:cNvSpPr txBox="1"/>
          <p:nvPr/>
        </p:nvSpPr>
        <p:spPr>
          <a:xfrm>
            <a:off x="2151871" y="1825940"/>
            <a:ext cx="71222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MIDI system because no channel number are specified.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11FD6-85A8-1D7D-AF34-C8C126549164}"/>
              </a:ext>
            </a:extLst>
          </p:cNvPr>
          <p:cNvSpPr txBox="1"/>
          <p:nvPr/>
        </p:nvSpPr>
        <p:spPr>
          <a:xfrm>
            <a:off x="2151871" y="2172120"/>
            <a:ext cx="538410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There are three types of system message.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BF8D5-1122-9C63-2715-14D942BF8110}"/>
              </a:ext>
            </a:extLst>
          </p:cNvPr>
          <p:cNvSpPr txBox="1"/>
          <p:nvPr/>
        </p:nvSpPr>
        <p:spPr>
          <a:xfrm>
            <a:off x="2412160" y="2619869"/>
            <a:ext cx="110543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5612A-9834-BF74-C07E-C0F63748B027}"/>
              </a:ext>
            </a:extLst>
          </p:cNvPr>
          <p:cNvSpPr txBox="1"/>
          <p:nvPr/>
        </p:nvSpPr>
        <p:spPr>
          <a:xfrm>
            <a:off x="2901058" y="2583618"/>
            <a:ext cx="322242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Real-time Message: (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05A46-5A0C-2AE2-4902-F96625DC6E4F}"/>
              </a:ext>
            </a:extLst>
          </p:cNvPr>
          <p:cNvSpPr txBox="1"/>
          <p:nvPr/>
        </p:nvSpPr>
        <p:spPr>
          <a:xfrm>
            <a:off x="6218514" y="2632932"/>
            <a:ext cx="1345497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avoid delay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F58EB-D464-101B-378B-092F6BFE0D3D}"/>
              </a:ext>
            </a:extLst>
          </p:cNvPr>
          <p:cNvSpPr txBox="1"/>
          <p:nvPr/>
        </p:nvSpPr>
        <p:spPr>
          <a:xfrm>
            <a:off x="7606501" y="2583618"/>
            <a:ext cx="7784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166A8-29A8-B1C9-EDEE-EC7348DAF970}"/>
              </a:ext>
            </a:extLst>
          </p:cNvPr>
          <p:cNvSpPr txBox="1"/>
          <p:nvPr/>
        </p:nvSpPr>
        <p:spPr>
          <a:xfrm>
            <a:off x="2672449" y="2931759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BFECC1-80CF-138A-9F13-5A2DCBA6284F}"/>
              </a:ext>
            </a:extLst>
          </p:cNvPr>
          <p:cNvSpPr txBox="1"/>
          <p:nvPr/>
        </p:nvSpPr>
        <p:spPr>
          <a:xfrm>
            <a:off x="3019609" y="2931759"/>
            <a:ext cx="679269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These  are  very  short  and  simple,  consisting  of  only  one  byte.  They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E3657-EEF5-0782-052A-95A6B42BF7BB}"/>
              </a:ext>
            </a:extLst>
          </p:cNvPr>
          <p:cNvSpPr txBox="1"/>
          <p:nvPr/>
        </p:nvSpPr>
        <p:spPr>
          <a:xfrm>
            <a:off x="2672448" y="3191394"/>
            <a:ext cx="706328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carry  extra  data  with  them. </a:t>
            </a:r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These  messages  synchronize  the  timing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88E74F-FF90-1687-0EC6-068F8000D6EF}"/>
              </a:ext>
            </a:extLst>
          </p:cNvPr>
          <p:cNvSpPr txBox="1"/>
          <p:nvPr/>
        </p:nvSpPr>
        <p:spPr>
          <a:xfrm>
            <a:off x="2672448" y="3450703"/>
            <a:ext cx="682327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devices in performance. To avoid delay these message are sent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51BC8-8136-00D2-6BDE-E5C67AD283A8}"/>
              </a:ext>
            </a:extLst>
          </p:cNvPr>
          <p:cNvSpPr txBox="1"/>
          <p:nvPr/>
        </p:nvSpPr>
        <p:spPr>
          <a:xfrm>
            <a:off x="2672448" y="3710012"/>
            <a:ext cx="685392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the middle of other message if necessary</a:t>
            </a:r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E.g. System reset, Timing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1C23E-3867-87F4-AF64-75B9E0736AB4}"/>
              </a:ext>
            </a:extLst>
          </p:cNvPr>
          <p:cNvSpPr txBox="1"/>
          <p:nvPr/>
        </p:nvSpPr>
        <p:spPr>
          <a:xfrm>
            <a:off x="2672449" y="3969974"/>
            <a:ext cx="236199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clock i.e. MIDI clock etc.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C96B81-C018-D7C8-39A9-E83D0DD7300E}"/>
              </a:ext>
            </a:extLst>
          </p:cNvPr>
          <p:cNvSpPr txBox="1"/>
          <p:nvPr/>
        </p:nvSpPr>
        <p:spPr>
          <a:xfrm>
            <a:off x="2412160" y="4327584"/>
            <a:ext cx="165815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ii.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FB324-9FB5-D1BE-AC17-BABA083E00EF}"/>
              </a:ext>
            </a:extLst>
          </p:cNvPr>
          <p:cNvSpPr txBox="1"/>
          <p:nvPr/>
        </p:nvSpPr>
        <p:spPr>
          <a:xfrm>
            <a:off x="2901058" y="4291334"/>
            <a:ext cx="318298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Common Message: (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8B9DBB-6CA6-6867-2EA2-73D4AAF19E13}"/>
              </a:ext>
            </a:extLst>
          </p:cNvPr>
          <p:cNvSpPr txBox="1"/>
          <p:nvPr/>
        </p:nvSpPr>
        <p:spPr>
          <a:xfrm>
            <a:off x="6180956" y="4340321"/>
            <a:ext cx="1501052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prepare sequence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86DB18-0EF1-B57E-3E3C-C8469F64142A}"/>
              </a:ext>
            </a:extLst>
          </p:cNvPr>
          <p:cNvSpPr txBox="1"/>
          <p:nvPr/>
        </p:nvSpPr>
        <p:spPr>
          <a:xfrm>
            <a:off x="7733216" y="4291334"/>
            <a:ext cx="7784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7B909C-E5CD-D347-DC55-4DC073E81CE4}"/>
              </a:ext>
            </a:extLst>
          </p:cNvPr>
          <p:cNvSpPr txBox="1"/>
          <p:nvPr/>
        </p:nvSpPr>
        <p:spPr>
          <a:xfrm>
            <a:off x="2672449" y="4639148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18BA4-8C0E-313B-AA0B-B7743305FAF5}"/>
              </a:ext>
            </a:extLst>
          </p:cNvPr>
          <p:cNvSpPr txBox="1"/>
          <p:nvPr/>
        </p:nvSpPr>
        <p:spPr>
          <a:xfrm>
            <a:off x="3019608" y="4639148"/>
            <a:ext cx="648235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common message are commands that </a:t>
            </a:r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prepares sequencers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55D259-1632-FC10-55D3-AF1E4177B846}"/>
              </a:ext>
            </a:extLst>
          </p:cNvPr>
          <p:cNvSpPr txBox="1"/>
          <p:nvPr/>
        </p:nvSpPr>
        <p:spPr>
          <a:xfrm>
            <a:off x="2672448" y="4898783"/>
            <a:ext cx="699364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 synthesizer  to  play  song</a:t>
            </a:r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E.g.  Song  selected,  find  the  common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7711BD-7A1E-D1B2-E72E-82BA8E5F914C}"/>
              </a:ext>
            </a:extLst>
          </p:cNvPr>
          <p:cNvSpPr txBox="1"/>
          <p:nvPr/>
        </p:nvSpPr>
        <p:spPr>
          <a:xfrm>
            <a:off x="2672448" y="5158418"/>
            <a:ext cx="250241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starting place in the song.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4AAB85-1252-8F8A-6CA2-69EB1E313292}"/>
              </a:ext>
            </a:extLst>
          </p:cNvPr>
          <p:cNvSpPr txBox="1"/>
          <p:nvPr/>
        </p:nvSpPr>
        <p:spPr>
          <a:xfrm>
            <a:off x="2412160" y="5516029"/>
            <a:ext cx="221086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iii.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98811-043A-58E3-9D89-3E8642D69936}"/>
              </a:ext>
            </a:extLst>
          </p:cNvPr>
          <p:cNvSpPr txBox="1"/>
          <p:nvPr/>
        </p:nvSpPr>
        <p:spPr>
          <a:xfrm>
            <a:off x="2901058" y="5479451"/>
            <a:ext cx="326198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 Exclusive message: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F09D8-342A-2EBE-2C87-BB883C53A32A}"/>
              </a:ext>
            </a:extLst>
          </p:cNvPr>
          <p:cNvSpPr txBox="1"/>
          <p:nvPr/>
        </p:nvSpPr>
        <p:spPr>
          <a:xfrm>
            <a:off x="6260316" y="5529092"/>
            <a:ext cx="2214709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create customize message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6069E7-EF8C-04C4-734F-D08032E14899}"/>
              </a:ext>
            </a:extLst>
          </p:cNvPr>
          <p:cNvSpPr txBox="1"/>
          <p:nvPr/>
        </p:nvSpPr>
        <p:spPr>
          <a:xfrm>
            <a:off x="8551640" y="5479451"/>
            <a:ext cx="7784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807D8C-C533-9E75-9D13-18E43004F6A6}"/>
              </a:ext>
            </a:extLst>
          </p:cNvPr>
          <p:cNvSpPr txBox="1"/>
          <p:nvPr/>
        </p:nvSpPr>
        <p:spPr>
          <a:xfrm>
            <a:off x="2672449" y="5827919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7B97C2-1BB2-1957-5601-0CE767713AA7}"/>
              </a:ext>
            </a:extLst>
          </p:cNvPr>
          <p:cNvSpPr txBox="1"/>
          <p:nvPr/>
        </p:nvSpPr>
        <p:spPr>
          <a:xfrm>
            <a:off x="3019608" y="5827919"/>
            <a:ext cx="69814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7A6EC5-AE9E-3F22-BEDD-433CD76B9F13}"/>
              </a:ext>
            </a:extLst>
          </p:cNvPr>
          <p:cNvSpPr txBox="1"/>
          <p:nvPr/>
        </p:nvSpPr>
        <p:spPr>
          <a:xfrm>
            <a:off x="3899757" y="5827919"/>
            <a:ext cx="861261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exclusive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8BFF94-0C2E-02B2-52B6-10BF49CA6596}"/>
              </a:ext>
            </a:extLst>
          </p:cNvPr>
          <p:cNvSpPr txBox="1"/>
          <p:nvPr/>
        </p:nvSpPr>
        <p:spPr>
          <a:xfrm>
            <a:off x="4950708" y="5827919"/>
            <a:ext cx="84965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message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3D5230-4FD9-96F2-2A33-82B7DD5F49C0}"/>
              </a:ext>
            </a:extLst>
          </p:cNvPr>
          <p:cNvSpPr txBox="1"/>
          <p:nvPr/>
        </p:nvSpPr>
        <p:spPr>
          <a:xfrm>
            <a:off x="5989904" y="5827919"/>
            <a:ext cx="47724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allow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FBC74-E999-7F08-3F39-7E2D73A1A794}"/>
              </a:ext>
            </a:extLst>
          </p:cNvPr>
          <p:cNvSpPr txBox="1"/>
          <p:nvPr/>
        </p:nvSpPr>
        <p:spPr>
          <a:xfrm>
            <a:off x="6642095" y="5827919"/>
            <a:ext cx="44204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E7FBE-0BE5-5835-8FB5-70F70B6BADC8}"/>
              </a:ext>
            </a:extLst>
          </p:cNvPr>
          <p:cNvSpPr txBox="1"/>
          <p:nvPr/>
        </p:nvSpPr>
        <p:spPr>
          <a:xfrm>
            <a:off x="7260647" y="5827919"/>
            <a:ext cx="133838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manufacturers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76F170-2F6C-0B01-77E8-DAEC13DD3E6D}"/>
              </a:ext>
            </a:extLst>
          </p:cNvPr>
          <p:cNvSpPr txBox="1"/>
          <p:nvPr/>
        </p:nvSpPr>
        <p:spPr>
          <a:xfrm>
            <a:off x="8804742" y="5827919"/>
            <a:ext cx="17460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F8607D-703C-D74D-D5E6-03D626EF5831}"/>
              </a:ext>
            </a:extLst>
          </p:cNvPr>
          <p:cNvSpPr txBox="1"/>
          <p:nvPr/>
        </p:nvSpPr>
        <p:spPr>
          <a:xfrm>
            <a:off x="9144392" y="5827919"/>
            <a:ext cx="61702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create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440E9A-989A-0834-8ABD-A07C6679F4EE}"/>
              </a:ext>
            </a:extLst>
          </p:cNvPr>
          <p:cNvSpPr txBox="1"/>
          <p:nvPr/>
        </p:nvSpPr>
        <p:spPr>
          <a:xfrm>
            <a:off x="2672449" y="6087554"/>
            <a:ext cx="617867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customized MIDI message to send between the MIDI devices. 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E266637-7836-0D9D-D9A1-AEE65AA3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390372-B5CD-4186-BBEA-C3BDE2639AD9}" type="slidenum">
              <a:rPr/>
              <a:t>89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1CD0982-5ECB-D009-A90E-B04D8C9A9E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0BD76-09F4-A4DD-9B92-8AFBEF3DC859}"/>
              </a:ext>
            </a:extLst>
          </p:cNvPr>
          <p:cNvSpPr txBox="1"/>
          <p:nvPr/>
        </p:nvSpPr>
        <p:spPr>
          <a:xfrm>
            <a:off x="2021237" y="1512743"/>
            <a:ext cx="200106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Software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1603D-D90A-0168-AB77-D51774A16BAE}"/>
              </a:ext>
            </a:extLst>
          </p:cNvPr>
          <p:cNvSpPr txBox="1"/>
          <p:nvPr/>
        </p:nvSpPr>
        <p:spPr>
          <a:xfrm>
            <a:off x="2021237" y="2048018"/>
            <a:ext cx="66720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software application generally falls into four major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5D0B3-A54D-03EF-7E03-BCE10274264B}"/>
              </a:ext>
            </a:extLst>
          </p:cNvPr>
          <p:cNvSpPr txBox="1"/>
          <p:nvPr/>
        </p:nvSpPr>
        <p:spPr>
          <a:xfrm>
            <a:off x="2021237" y="2494460"/>
            <a:ext cx="15206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categories.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5F8AD-5FF2-E331-5FFA-999EF19A0B76}"/>
              </a:ext>
            </a:extLst>
          </p:cNvPr>
          <p:cNvSpPr txBox="1"/>
          <p:nvPr/>
        </p:nvSpPr>
        <p:spPr>
          <a:xfrm>
            <a:off x="2302753" y="3080027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E44C6-9F3B-8E89-12C2-ECBF4B853C48}"/>
              </a:ext>
            </a:extLst>
          </p:cNvPr>
          <p:cNvSpPr txBox="1"/>
          <p:nvPr/>
        </p:nvSpPr>
        <p:spPr>
          <a:xfrm>
            <a:off x="2772057" y="3029407"/>
            <a:ext cx="572560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 recording and performance application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AD2B3-5769-4105-DD7C-0C4D986CA689}"/>
              </a:ext>
            </a:extLst>
          </p:cNvPr>
          <p:cNvSpPr txBox="1"/>
          <p:nvPr/>
        </p:nvSpPr>
        <p:spPr>
          <a:xfrm>
            <a:off x="2302753" y="3615302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7A0EB-41D0-DEBF-08E5-EC0495E5126C}"/>
              </a:ext>
            </a:extLst>
          </p:cNvPr>
          <p:cNvSpPr txBox="1"/>
          <p:nvPr/>
        </p:nvSpPr>
        <p:spPr>
          <a:xfrm>
            <a:off x="2772057" y="3565007"/>
            <a:ext cx="51208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Musical notation and printing application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ADD8F-A54C-A9FB-CA6F-71E83ECDF291}"/>
              </a:ext>
            </a:extLst>
          </p:cNvPr>
          <p:cNvSpPr txBox="1"/>
          <p:nvPr/>
        </p:nvSpPr>
        <p:spPr>
          <a:xfrm>
            <a:off x="2302753" y="4150575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6911F-546F-A363-76C3-72B3C8EEA65F}"/>
              </a:ext>
            </a:extLst>
          </p:cNvPr>
          <p:cNvSpPr txBox="1"/>
          <p:nvPr/>
        </p:nvSpPr>
        <p:spPr>
          <a:xfrm>
            <a:off x="2772057" y="4099954"/>
            <a:ext cx="53222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Synthesizer Patch editor and library patch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50EB4-1EB8-FD9A-9C59-72998459385C}"/>
              </a:ext>
            </a:extLst>
          </p:cNvPr>
          <p:cNvSpPr txBox="1"/>
          <p:nvPr/>
        </p:nvSpPr>
        <p:spPr>
          <a:xfrm>
            <a:off x="2302753" y="4686176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A0BA9-092C-596D-E7E7-63F4EDD36BA1}"/>
              </a:ext>
            </a:extLst>
          </p:cNvPr>
          <p:cNvSpPr txBox="1"/>
          <p:nvPr/>
        </p:nvSpPr>
        <p:spPr>
          <a:xfrm>
            <a:off x="2772057" y="4635554"/>
            <a:ext cx="3584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 education application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607C51-41E3-46CF-CA3A-1F96BFFB109F}"/>
              </a:ext>
            </a:extLst>
          </p:cNvPr>
          <p:cNvSpPr txBox="1"/>
          <p:nvPr/>
        </p:nvSpPr>
        <p:spPr>
          <a:xfrm>
            <a:off x="2021237" y="517082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945A621D-47F5-E9EE-81D9-BCE4E9420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7D03EA-4898-45EB-981F-7934FFF0AC25}" type="slidenum">
              <a:rPr/>
              <a:t>90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CEC93B01-19AB-5C2D-4580-207B34DFEB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87F4D-33C5-D6A1-CC17-255D618E9723}"/>
              </a:ext>
            </a:extLst>
          </p:cNvPr>
          <p:cNvSpPr txBox="1"/>
          <p:nvPr/>
        </p:nvSpPr>
        <p:spPr>
          <a:xfrm>
            <a:off x="2150237" y="1482046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13A85-7B3F-5A6C-0B24-16BFCA473AF1}"/>
              </a:ext>
            </a:extLst>
          </p:cNvPr>
          <p:cNvSpPr txBox="1"/>
          <p:nvPr/>
        </p:nvSpPr>
        <p:spPr>
          <a:xfrm>
            <a:off x="2584270" y="1445468"/>
            <a:ext cx="6841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 recording and performance applications: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Provides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6FE61-E5DA-905F-0ED2-FC7BF5B11E08}"/>
              </a:ext>
            </a:extLst>
          </p:cNvPr>
          <p:cNvSpPr txBox="1"/>
          <p:nvPr/>
        </p:nvSpPr>
        <p:spPr>
          <a:xfrm>
            <a:off x="2584270" y="1773686"/>
            <a:ext cx="68148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function as recording of MIDI messages. Editing and playing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C247D-0D0F-C722-97E0-6709BC19B150}"/>
              </a:ext>
            </a:extLst>
          </p:cNvPr>
          <p:cNvSpPr txBox="1"/>
          <p:nvPr/>
        </p:nvSpPr>
        <p:spPr>
          <a:xfrm>
            <a:off x="2584270" y="2102557"/>
            <a:ext cx="358502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messages in performance.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D8794-7A5F-2E07-DD2F-7B3EB9ACA8D3}"/>
              </a:ext>
            </a:extLst>
          </p:cNvPr>
          <p:cNvSpPr txBox="1"/>
          <p:nvPr/>
        </p:nvSpPr>
        <p:spPr>
          <a:xfrm>
            <a:off x="2150237" y="2533324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B2497-DE77-4CE9-2402-C988985D495E}"/>
              </a:ext>
            </a:extLst>
          </p:cNvPr>
          <p:cNvSpPr txBox="1"/>
          <p:nvPr/>
        </p:nvSpPr>
        <p:spPr>
          <a:xfrm>
            <a:off x="2584270" y="2496419"/>
            <a:ext cx="93878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31C6C-6AC5-5257-D260-171C5173917A}"/>
              </a:ext>
            </a:extLst>
          </p:cNvPr>
          <p:cNvSpPr txBox="1"/>
          <p:nvPr/>
        </p:nvSpPr>
        <p:spPr>
          <a:xfrm>
            <a:off x="3791656" y="2496419"/>
            <a:ext cx="115153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8E97E7-B100-57E0-F342-3EA90E7051D0}"/>
              </a:ext>
            </a:extLst>
          </p:cNvPr>
          <p:cNvSpPr txBox="1"/>
          <p:nvPr/>
        </p:nvSpPr>
        <p:spPr>
          <a:xfrm>
            <a:off x="5222101" y="2496419"/>
            <a:ext cx="45499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7F646-11BA-7AD6-1950-0D19C2CA0F88}"/>
              </a:ext>
            </a:extLst>
          </p:cNvPr>
          <p:cNvSpPr txBox="1"/>
          <p:nvPr/>
        </p:nvSpPr>
        <p:spPr>
          <a:xfrm>
            <a:off x="5928506" y="2496419"/>
            <a:ext cx="9523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printing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137B70-4780-90DA-C612-09D724BA31CA}"/>
              </a:ext>
            </a:extLst>
          </p:cNvPr>
          <p:cNvSpPr txBox="1"/>
          <p:nvPr/>
        </p:nvSpPr>
        <p:spPr>
          <a:xfrm>
            <a:off x="7149934" y="2496419"/>
            <a:ext cx="157844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97CC6-97E2-9D5F-E344-E489C3894435}"/>
              </a:ext>
            </a:extLst>
          </p:cNvPr>
          <p:cNvSpPr txBox="1"/>
          <p:nvPr/>
        </p:nvSpPr>
        <p:spPr>
          <a:xfrm>
            <a:off x="9024861" y="2496419"/>
            <a:ext cx="73969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Allows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06BCF-4077-0742-0153-506E7BD247F9}"/>
              </a:ext>
            </a:extLst>
          </p:cNvPr>
          <p:cNvSpPr txBox="1"/>
          <p:nvPr/>
        </p:nvSpPr>
        <p:spPr>
          <a:xfrm>
            <a:off x="2584270" y="2825291"/>
            <a:ext cx="6927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writing  music  using  traditional  musical  notation.  User  can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4E88F-15D0-7FBE-C099-2167C838E1E0}"/>
              </a:ext>
            </a:extLst>
          </p:cNvPr>
          <p:cNvSpPr txBox="1"/>
          <p:nvPr/>
        </p:nvSpPr>
        <p:spPr>
          <a:xfrm>
            <a:off x="2584270" y="3153510"/>
            <a:ext cx="46955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play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CB61AA-397C-46F0-E67E-FD43CE5C9569}"/>
              </a:ext>
            </a:extLst>
          </p:cNvPr>
          <p:cNvSpPr txBox="1"/>
          <p:nvPr/>
        </p:nvSpPr>
        <p:spPr>
          <a:xfrm>
            <a:off x="3254750" y="3153510"/>
            <a:ext cx="427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26881D-37E6-2B7F-E313-734999C4922E}"/>
              </a:ext>
            </a:extLst>
          </p:cNvPr>
          <p:cNvSpPr txBox="1"/>
          <p:nvPr/>
        </p:nvSpPr>
        <p:spPr>
          <a:xfrm>
            <a:off x="3881468" y="3153510"/>
            <a:ext cx="4978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CD0466-A5BE-FAB5-66AD-B3819DF37C3F}"/>
              </a:ext>
            </a:extLst>
          </p:cNvPr>
          <p:cNvSpPr txBox="1"/>
          <p:nvPr/>
        </p:nvSpPr>
        <p:spPr>
          <a:xfrm>
            <a:off x="4583300" y="3153510"/>
            <a:ext cx="6683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2538F-CF85-6C93-3F5D-57525CF3E835}"/>
              </a:ext>
            </a:extLst>
          </p:cNvPr>
          <p:cNvSpPr txBox="1"/>
          <p:nvPr/>
        </p:nvSpPr>
        <p:spPr>
          <a:xfrm>
            <a:off x="5460835" y="3153510"/>
            <a:ext cx="2846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E87C3-4F48-C9BF-1759-18CBD5FF2532}"/>
              </a:ext>
            </a:extLst>
          </p:cNvPr>
          <p:cNvSpPr txBox="1"/>
          <p:nvPr/>
        </p:nvSpPr>
        <p:spPr>
          <a:xfrm>
            <a:off x="5939936" y="3153510"/>
            <a:ext cx="6546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paper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763C6-4B6B-005E-C829-215266ED67A7}"/>
              </a:ext>
            </a:extLst>
          </p:cNvPr>
          <p:cNvSpPr txBox="1"/>
          <p:nvPr/>
        </p:nvSpPr>
        <p:spPr>
          <a:xfrm>
            <a:off x="6802448" y="3153510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23F5A7-F422-FEAF-6F02-32B620114AC4}"/>
              </a:ext>
            </a:extLst>
          </p:cNvPr>
          <p:cNvSpPr txBox="1"/>
          <p:nvPr/>
        </p:nvSpPr>
        <p:spPr>
          <a:xfrm>
            <a:off x="7297552" y="3153510"/>
            <a:ext cx="38408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4C3F2-E95A-2C23-DD89-0211B6287F99}"/>
              </a:ext>
            </a:extLst>
          </p:cNvPr>
          <p:cNvSpPr txBox="1"/>
          <p:nvPr/>
        </p:nvSpPr>
        <p:spPr>
          <a:xfrm>
            <a:off x="7879526" y="3153510"/>
            <a:ext cx="143680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performance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BD8BA7-E01A-37CB-E928-EA0679DEC922}"/>
              </a:ext>
            </a:extLst>
          </p:cNvPr>
          <p:cNvSpPr txBox="1"/>
          <p:nvPr/>
        </p:nvSpPr>
        <p:spPr>
          <a:xfrm>
            <a:off x="9555890" y="3153510"/>
            <a:ext cx="22756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D5F46A-BA07-0007-2CD5-DEB8E1C88D26}"/>
              </a:ext>
            </a:extLst>
          </p:cNvPr>
          <p:cNvSpPr txBox="1"/>
          <p:nvPr/>
        </p:nvSpPr>
        <p:spPr>
          <a:xfrm>
            <a:off x="2584270" y="3481728"/>
            <a:ext cx="143712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publication.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75C92B-F4F2-E83C-26AD-21A39E8A7F7F}"/>
              </a:ext>
            </a:extLst>
          </p:cNvPr>
          <p:cNvSpPr txBox="1"/>
          <p:nvPr/>
        </p:nvSpPr>
        <p:spPr>
          <a:xfrm>
            <a:off x="2150237" y="3912495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3BFE2D-05CB-81D3-6C8F-AFA8B8D68F96}"/>
              </a:ext>
            </a:extLst>
          </p:cNvPr>
          <p:cNvSpPr txBox="1"/>
          <p:nvPr/>
        </p:nvSpPr>
        <p:spPr>
          <a:xfrm>
            <a:off x="2584271" y="3876243"/>
            <a:ext cx="681289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Synthesizer path editor and librarians: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Allows information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18AD0A-0ABB-4229-87C0-26186BCEB273}"/>
              </a:ext>
            </a:extLst>
          </p:cNvPr>
          <p:cNvSpPr txBox="1"/>
          <p:nvPr/>
        </p:nvSpPr>
        <p:spPr>
          <a:xfrm>
            <a:off x="2584270" y="4204462"/>
            <a:ext cx="69726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 of  different  synthesizer  patches  in  the  computer's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3FA1B-53D1-4FF8-B569-A5D5D7F79090}"/>
              </a:ext>
            </a:extLst>
          </p:cNvPr>
          <p:cNvSpPr txBox="1"/>
          <p:nvPr/>
        </p:nvSpPr>
        <p:spPr>
          <a:xfrm>
            <a:off x="2584270" y="4532680"/>
            <a:ext cx="648716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memory and disk drives. Editing of patches in computer.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7ED8E2-E40D-A307-9A13-09FAB0C72797}"/>
              </a:ext>
            </a:extLst>
          </p:cNvPr>
          <p:cNvSpPr txBox="1"/>
          <p:nvPr/>
        </p:nvSpPr>
        <p:spPr>
          <a:xfrm>
            <a:off x="2150237" y="4964100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 b="1" i="1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1CA4D2-D7E0-EFD9-D515-38D07B00BDC0}"/>
              </a:ext>
            </a:extLst>
          </p:cNvPr>
          <p:cNvSpPr txBox="1"/>
          <p:nvPr/>
        </p:nvSpPr>
        <p:spPr>
          <a:xfrm>
            <a:off x="2584271" y="4927195"/>
            <a:ext cx="690817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 education applications: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Teaches different aspects of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CEEA86-FEED-113B-F400-9C1CFD257D83}"/>
              </a:ext>
            </a:extLst>
          </p:cNvPr>
          <p:cNvSpPr txBox="1"/>
          <p:nvPr/>
        </p:nvSpPr>
        <p:spPr>
          <a:xfrm>
            <a:off x="2584270" y="5255740"/>
            <a:ext cx="6683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music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02AFA-6C87-3C83-8412-2196D064ADF4}"/>
              </a:ext>
            </a:extLst>
          </p:cNvPr>
          <p:cNvSpPr txBox="1"/>
          <p:nvPr/>
        </p:nvSpPr>
        <p:spPr>
          <a:xfrm>
            <a:off x="3466051" y="5255740"/>
            <a:ext cx="61189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D7928-1A80-AE72-9DB2-68EF56DFE650}"/>
              </a:ext>
            </a:extLst>
          </p:cNvPr>
          <p:cNvSpPr txBox="1"/>
          <p:nvPr/>
        </p:nvSpPr>
        <p:spPr>
          <a:xfrm>
            <a:off x="4288067" y="5255740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9941B1-E9E2-DB85-A167-51DBC50D6D85}"/>
              </a:ext>
            </a:extLst>
          </p:cNvPr>
          <p:cNvSpPr txBox="1"/>
          <p:nvPr/>
        </p:nvSpPr>
        <p:spPr>
          <a:xfrm>
            <a:off x="4845548" y="5255740"/>
            <a:ext cx="106689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36189C-5F7D-C7D2-8B02-C6FFC40D8AFA}"/>
              </a:ext>
            </a:extLst>
          </p:cNvPr>
          <p:cNvSpPr txBox="1"/>
          <p:nvPr/>
        </p:nvSpPr>
        <p:spPr>
          <a:xfrm>
            <a:off x="6139806" y="5255740"/>
            <a:ext cx="91044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monitor,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D05618-C8E8-8A67-9D90-F11FE3E3B5A9}"/>
              </a:ext>
            </a:extLst>
          </p:cNvPr>
          <p:cNvSpPr txBox="1"/>
          <p:nvPr/>
        </p:nvSpPr>
        <p:spPr>
          <a:xfrm>
            <a:off x="7273058" y="5255740"/>
            <a:ext cx="105291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keyboard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640F58-A1D7-69EC-4207-2B690F6DD0B5}"/>
              </a:ext>
            </a:extLst>
          </p:cNvPr>
          <p:cNvSpPr txBox="1"/>
          <p:nvPr/>
        </p:nvSpPr>
        <p:spPr>
          <a:xfrm>
            <a:off x="8552946" y="5255740"/>
            <a:ext cx="427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CE17AD-9693-7C26-36AF-1DEAC17CE524}"/>
              </a:ext>
            </a:extLst>
          </p:cNvPr>
          <p:cNvSpPr txBox="1"/>
          <p:nvPr/>
        </p:nvSpPr>
        <p:spPr>
          <a:xfrm>
            <a:off x="9182603" y="5255740"/>
            <a:ext cx="5833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other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E244F2-EFB1-E932-33D3-69A799B2ED1C}"/>
              </a:ext>
            </a:extLst>
          </p:cNvPr>
          <p:cNvSpPr txBox="1"/>
          <p:nvPr/>
        </p:nvSpPr>
        <p:spPr>
          <a:xfrm>
            <a:off x="2584270" y="5584285"/>
            <a:ext cx="47369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controllers of attached MIDI instruments. 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FBA4036-6CD9-6855-B990-192F8C85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107213-B0C6-4116-8DF7-5FDC3285081A}" type="slidenum">
              <a:rPr/>
              <a:t>91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210E1AE-48FC-FBDC-7966-C39A2A9B27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2C940-C0F1-B33C-E836-D26420B673C8}"/>
              </a:ext>
            </a:extLst>
          </p:cNvPr>
          <p:cNvSpPr txBox="1"/>
          <p:nvPr/>
        </p:nvSpPr>
        <p:spPr>
          <a:xfrm>
            <a:off x="2148277" y="1480412"/>
            <a:ext cx="42471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and SMPTE Timing Standard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F3A0B-BC19-1F66-6840-3F7A447F5429}"/>
              </a:ext>
            </a:extLst>
          </p:cNvPr>
          <p:cNvSpPr txBox="1"/>
          <p:nvPr/>
        </p:nvSpPr>
        <p:spPr>
          <a:xfrm>
            <a:off x="2148277" y="183083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3CBFF-B3F5-419C-D94E-930E0D809193}"/>
              </a:ext>
            </a:extLst>
          </p:cNvPr>
          <p:cNvSpPr txBox="1"/>
          <p:nvPr/>
        </p:nvSpPr>
        <p:spPr>
          <a:xfrm>
            <a:off x="3036916" y="1830838"/>
            <a:ext cx="643028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reproduces traditional note length using MIDI clock,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D8349-01AD-4FE8-3002-1928F24B84E7}"/>
              </a:ext>
            </a:extLst>
          </p:cNvPr>
          <p:cNvSpPr txBox="1"/>
          <p:nvPr/>
        </p:nvSpPr>
        <p:spPr>
          <a:xfrm>
            <a:off x="2148278" y="2118560"/>
            <a:ext cx="728385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  are  represented  through  timing  clock  message.  Using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0DB20-7E78-E633-3106-B7E6999D6BEB}"/>
              </a:ext>
            </a:extLst>
          </p:cNvPr>
          <p:cNvSpPr txBox="1"/>
          <p:nvPr/>
        </p:nvSpPr>
        <p:spPr>
          <a:xfrm>
            <a:off x="2148278" y="2405301"/>
            <a:ext cx="756752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 clock  a  receiver  can  synchronize  with  the  clock  cycle  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E11E4-3993-1B36-43EF-8D1654D062D5}"/>
              </a:ext>
            </a:extLst>
          </p:cNvPr>
          <p:cNvSpPr txBox="1"/>
          <p:nvPr/>
        </p:nvSpPr>
        <p:spPr>
          <a:xfrm>
            <a:off x="2148278" y="2692043"/>
            <a:ext cx="83958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sender.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89F59-6797-3179-6D08-5BF6F3BDC56F}"/>
              </a:ext>
            </a:extLst>
          </p:cNvPr>
          <p:cNvSpPr txBox="1"/>
          <p:nvPr/>
        </p:nvSpPr>
        <p:spPr>
          <a:xfrm>
            <a:off x="3263241" y="2692043"/>
            <a:ext cx="2703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D6D4AA-5120-98C5-6806-B224677E894B}"/>
              </a:ext>
            </a:extLst>
          </p:cNvPr>
          <p:cNvSpPr txBox="1"/>
          <p:nvPr/>
        </p:nvSpPr>
        <p:spPr>
          <a:xfrm>
            <a:off x="3774021" y="2692043"/>
            <a:ext cx="55502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B10AD-937D-40DB-ACC4-9E65D4B670F0}"/>
              </a:ext>
            </a:extLst>
          </p:cNvPr>
          <p:cNvSpPr txBox="1"/>
          <p:nvPr/>
        </p:nvSpPr>
        <p:spPr>
          <a:xfrm>
            <a:off x="4586566" y="2692043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6F930-27C3-2A77-CD83-9701BCA3814F}"/>
              </a:ext>
            </a:extLst>
          </p:cNvPr>
          <p:cNvSpPr txBox="1"/>
          <p:nvPr/>
        </p:nvSpPr>
        <p:spPr>
          <a:xfrm>
            <a:off x="5188135" y="2692043"/>
            <a:ext cx="99604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standard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D9BFD-404D-178B-FE23-19E831F35E82}"/>
              </a:ext>
            </a:extLst>
          </p:cNvPr>
          <p:cNvSpPr txBox="1"/>
          <p:nvPr/>
        </p:nvSpPr>
        <p:spPr>
          <a:xfrm>
            <a:off x="6468678" y="2692043"/>
            <a:ext cx="68275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2B3FF2-42DB-ABC9-2DAA-6AC8DFC9D907}"/>
              </a:ext>
            </a:extLst>
          </p:cNvPr>
          <p:cNvSpPr txBox="1"/>
          <p:nvPr/>
        </p:nvSpPr>
        <p:spPr>
          <a:xfrm>
            <a:off x="7416428" y="2692043"/>
            <a:ext cx="108125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2CEBD-454D-F31F-4096-6786FAE7AC15}"/>
              </a:ext>
            </a:extLst>
          </p:cNvPr>
          <p:cNvSpPr txBox="1"/>
          <p:nvPr/>
        </p:nvSpPr>
        <p:spPr>
          <a:xfrm>
            <a:off x="8789068" y="2692043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2416A-3E37-B43E-DA31-7C2F318E173F}"/>
              </a:ext>
            </a:extLst>
          </p:cNvPr>
          <p:cNvSpPr txBox="1"/>
          <p:nvPr/>
        </p:nvSpPr>
        <p:spPr>
          <a:xfrm>
            <a:off x="9389984" y="2692043"/>
            <a:ext cx="54027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A63EF1-B6A7-55DD-8F4A-818956EEEF52}"/>
              </a:ext>
            </a:extLst>
          </p:cNvPr>
          <p:cNvSpPr txBox="1"/>
          <p:nvPr/>
        </p:nvSpPr>
        <p:spPr>
          <a:xfrm>
            <a:off x="2148278" y="2979113"/>
            <a:ext cx="593893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specification state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24 MIDI clock = 1 quarter note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57C62D-17E4-C261-95F1-E391139C2E46}"/>
              </a:ext>
            </a:extLst>
          </p:cNvPr>
          <p:cNvSpPr txBox="1"/>
          <p:nvPr/>
        </p:nvSpPr>
        <p:spPr>
          <a:xfrm>
            <a:off x="2148277" y="332986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E50691-D311-2C82-E197-49ED5E077E3F}"/>
              </a:ext>
            </a:extLst>
          </p:cNvPr>
          <p:cNvSpPr txBox="1"/>
          <p:nvPr/>
        </p:nvSpPr>
        <p:spPr>
          <a:xfrm>
            <a:off x="3036917" y="3329866"/>
            <a:ext cx="667189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  an  alternative  the  SMPTE  timing  standard  (</a:t>
            </a:r>
            <a:r>
              <a:rPr lang="en-US" sz="1996" b="1" i="1">
                <a:solidFill>
                  <a:srgbClr val="FF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ociety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C5AE0-4109-E012-880B-F9894A3819A2}"/>
              </a:ext>
            </a:extLst>
          </p:cNvPr>
          <p:cNvSpPr txBox="1"/>
          <p:nvPr/>
        </p:nvSpPr>
        <p:spPr>
          <a:xfrm>
            <a:off x="2148278" y="3616934"/>
            <a:ext cx="726801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</a:t>
            </a:r>
            <a:r>
              <a:rPr lang="en-US" sz="1996" b="1" i="1">
                <a:solidFill>
                  <a:srgbClr val="FF0000"/>
                </a:solidFill>
                <a:latin typeface="Arial" pitchFamily="18"/>
                <a:ea typeface="Noto Sans CJK SC Regular" pitchFamily="2"/>
                <a:cs typeface="Arial" pitchFamily="2"/>
              </a:rPr>
              <a:t>M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otion </a:t>
            </a:r>
            <a:r>
              <a:rPr lang="en-US" sz="1996" b="1" i="1">
                <a:solidFill>
                  <a:srgbClr val="FF0000"/>
                </a:solidFill>
                <a:latin typeface="Arial" pitchFamily="18"/>
                <a:ea typeface="Noto Sans CJK SC Regular" pitchFamily="2"/>
                <a:cs typeface="Arial" pitchFamily="2"/>
              </a:rPr>
              <a:t>P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icture and </a:t>
            </a:r>
            <a:r>
              <a:rPr lang="en-US" sz="1996" b="1" i="1">
                <a:solidFill>
                  <a:srgbClr val="FF0000"/>
                </a:solidFill>
                <a:latin typeface="Arial" pitchFamily="18"/>
                <a:ea typeface="Noto Sans CJK SC Regular" pitchFamily="2"/>
                <a:cs typeface="Arial" pitchFamily="2"/>
              </a:rPr>
              <a:t>T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elevision </a:t>
            </a:r>
            <a:r>
              <a:rPr lang="en-US" sz="1996" b="1" i="1">
                <a:solidFill>
                  <a:srgbClr val="FF0000"/>
                </a:solidFill>
                <a:latin typeface="Arial" pitchFamily="18"/>
                <a:ea typeface="Noto Sans CJK SC Regular" pitchFamily="2"/>
                <a:cs typeface="Arial" pitchFamily="2"/>
              </a:rPr>
              <a:t>E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ngineer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 can be used. The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99DF2-A851-C0C1-81C9-F4EBBCF5636A}"/>
              </a:ext>
            </a:extLst>
          </p:cNvPr>
          <p:cNvSpPr txBox="1"/>
          <p:nvPr/>
        </p:nvSpPr>
        <p:spPr>
          <a:xfrm>
            <a:off x="2148277" y="3903676"/>
            <a:ext cx="721312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SMPTE timing standard was originally developed by NASA as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2D5F6-56CA-65F2-D8D5-87D32AFDEA47}"/>
              </a:ext>
            </a:extLst>
          </p:cNvPr>
          <p:cNvSpPr txBox="1"/>
          <p:nvPr/>
        </p:nvSpPr>
        <p:spPr>
          <a:xfrm>
            <a:off x="2148278" y="4190745"/>
            <a:ext cx="757765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way  to  make  incoming  data  from  different  tracking  stations  so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24446-79F7-3B0E-DF38-D77AAB193141}"/>
              </a:ext>
            </a:extLst>
          </p:cNvPr>
          <p:cNvSpPr txBox="1"/>
          <p:nvPr/>
        </p:nvSpPr>
        <p:spPr>
          <a:xfrm>
            <a:off x="2148277" y="4477487"/>
            <a:ext cx="755431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  the  receiving  computer  could  fill  what  time  each  piece  of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33231-862C-513E-EECB-B7697547CD75}"/>
              </a:ext>
            </a:extLst>
          </p:cNvPr>
          <p:cNvSpPr txBox="1"/>
          <p:nvPr/>
        </p:nvSpPr>
        <p:spPr>
          <a:xfrm>
            <a:off x="2148278" y="4764229"/>
            <a:ext cx="731174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 was  created.  SMPTE  format  consists  of  hour:  minutes: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FFC38A-83A1-FC70-FF8B-3B95D0E4A99B}"/>
              </a:ext>
            </a:extLst>
          </p:cNvPr>
          <p:cNvSpPr txBox="1"/>
          <p:nvPr/>
        </p:nvSpPr>
        <p:spPr>
          <a:xfrm>
            <a:off x="2148278" y="5051951"/>
            <a:ext cx="243252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second: frames: bits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E1E7DB-3814-0F77-6862-C55EB49B0A9B}"/>
              </a:ext>
            </a:extLst>
          </p:cNvPr>
          <p:cNvSpPr txBox="1"/>
          <p:nvPr/>
        </p:nvSpPr>
        <p:spPr>
          <a:xfrm>
            <a:off x="2148277" y="540237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DD1368-10E9-92EC-A409-E8FD80F2607D}"/>
              </a:ext>
            </a:extLst>
          </p:cNvPr>
          <p:cNvSpPr txBox="1"/>
          <p:nvPr/>
        </p:nvSpPr>
        <p:spPr>
          <a:xfrm>
            <a:off x="3036917" y="5402376"/>
            <a:ext cx="664335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-30  frames  per  second,  SMPTE  uses  a  24  hour  clock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40C41F-B439-1141-D2A4-9AF5EAF43084}"/>
              </a:ext>
            </a:extLst>
          </p:cNvPr>
          <p:cNvSpPr txBox="1"/>
          <p:nvPr/>
        </p:nvSpPr>
        <p:spPr>
          <a:xfrm>
            <a:off x="2148278" y="5689118"/>
            <a:ext cx="345690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from 0 to 23 before recycling.  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CDA4CDC-6FFF-3613-A801-A0EF2294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F75C33-E4FB-4A6C-99C7-DE9401CECB72}" type="slidenum">
              <a:rPr/>
              <a:t>92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C43D91ED-69E5-C3E8-C97E-6104426B72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 Basic Music(MIDI)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354F9-8B82-6E66-42B3-3C2DF187FB0D}"/>
              </a:ext>
            </a:extLst>
          </p:cNvPr>
          <p:cNvSpPr txBox="1"/>
          <p:nvPr/>
        </p:nvSpPr>
        <p:spPr>
          <a:xfrm>
            <a:off x="2184530" y="1484985"/>
            <a:ext cx="5984202" cy="25423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24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Processing chain of interactive computer music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C2767-982B-CAA1-F8B9-8AAEAAF229AD}"/>
              </a:ext>
            </a:extLst>
          </p:cNvPr>
          <p:cNvSpPr txBox="1"/>
          <p:nvPr/>
        </p:nvSpPr>
        <p:spPr>
          <a:xfrm>
            <a:off x="8780576" y="1449713"/>
            <a:ext cx="21332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F16D1-2828-496E-E420-5F0D26E7636D}"/>
              </a:ext>
            </a:extLst>
          </p:cNvPr>
          <p:cNvSpPr txBox="1"/>
          <p:nvPr/>
        </p:nvSpPr>
        <p:spPr>
          <a:xfrm>
            <a:off x="2184530" y="1830839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293CE-438E-F293-2B8C-4C49DEBEB4E4}"/>
              </a:ext>
            </a:extLst>
          </p:cNvPr>
          <p:cNvSpPr txBox="1"/>
          <p:nvPr/>
        </p:nvSpPr>
        <p:spPr>
          <a:xfrm>
            <a:off x="2369051" y="1792628"/>
            <a:ext cx="695607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Sensing stage: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Data is collected from controllers reading 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C12F0-50D2-C4B3-2BBF-F4F9B235E70F}"/>
              </a:ext>
            </a:extLst>
          </p:cNvPr>
          <p:cNvSpPr txBox="1"/>
          <p:nvPr/>
        </p:nvSpPr>
        <p:spPr>
          <a:xfrm>
            <a:off x="2369051" y="2067286"/>
            <a:ext cx="60601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gesture information from human performers on stage.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FA8F0-E487-CF38-1F31-8AD41FA9B57F}"/>
              </a:ext>
            </a:extLst>
          </p:cNvPr>
          <p:cNvSpPr txBox="1"/>
          <p:nvPr/>
        </p:nvSpPr>
        <p:spPr>
          <a:xfrm>
            <a:off x="2184530" y="2448739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C4755-492B-E532-55DE-7232480213CF}"/>
              </a:ext>
            </a:extLst>
          </p:cNvPr>
          <p:cNvSpPr txBox="1"/>
          <p:nvPr/>
        </p:nvSpPr>
        <p:spPr>
          <a:xfrm>
            <a:off x="2369051" y="2410854"/>
            <a:ext cx="707026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Processing stage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: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reads and interprets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3A384-B602-4D71-9773-C50364B90A8A}"/>
              </a:ext>
            </a:extLst>
          </p:cNvPr>
          <p:cNvSpPr txBox="1"/>
          <p:nvPr/>
        </p:nvSpPr>
        <p:spPr>
          <a:xfrm>
            <a:off x="2369050" y="2685186"/>
            <a:ext cx="687168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coming from the sensors and prepares data for the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8E1B8-C7EF-6F83-95FD-0A6BB800C3D9}"/>
              </a:ext>
            </a:extLst>
          </p:cNvPr>
          <p:cNvSpPr txBox="1"/>
          <p:nvPr/>
        </p:nvSpPr>
        <p:spPr>
          <a:xfrm>
            <a:off x="2369050" y="2959518"/>
            <a:ext cx="69724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stage.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2A388-0437-1AF4-C79B-9BDF9BD15853}"/>
              </a:ext>
            </a:extLst>
          </p:cNvPr>
          <p:cNvSpPr txBox="1"/>
          <p:nvPr/>
        </p:nvSpPr>
        <p:spPr>
          <a:xfrm>
            <a:off x="2184530" y="3340643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06179-9686-EDED-E799-B1C5388F5348}"/>
              </a:ext>
            </a:extLst>
          </p:cNvPr>
          <p:cNvSpPr txBox="1"/>
          <p:nvPr/>
        </p:nvSpPr>
        <p:spPr>
          <a:xfrm>
            <a:off x="2369050" y="3302432"/>
            <a:ext cx="648703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Response stage: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ad some collection of sound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23967E-83E9-C9AE-32A1-E066D07D7C03}"/>
              </a:ext>
            </a:extLst>
          </p:cNvPr>
          <p:cNvSpPr txBox="1"/>
          <p:nvPr/>
        </p:nvSpPr>
        <p:spPr>
          <a:xfrm>
            <a:off x="2369050" y="3576764"/>
            <a:ext cx="614623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producing devices share in realizing a musical output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ED723-88CB-7AD9-7AB3-C63F835AF782}"/>
              </a:ext>
            </a:extLst>
          </p:cNvPr>
          <p:cNvSpPr txBox="1"/>
          <p:nvPr/>
        </p:nvSpPr>
        <p:spPr>
          <a:xfrm>
            <a:off x="2184529" y="392000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003BA9-4AC7-BFFC-6FD1-5903D579669A}"/>
              </a:ext>
            </a:extLst>
          </p:cNvPr>
          <p:cNvSpPr txBox="1"/>
          <p:nvPr/>
        </p:nvSpPr>
        <p:spPr>
          <a:xfrm>
            <a:off x="2184530" y="4263574"/>
            <a:ext cx="49501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Some of the interactive music systems: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E4ABE1-948B-4685-0A3A-3DA2A9BF6C76}"/>
              </a:ext>
            </a:extLst>
          </p:cNvPr>
          <p:cNvSpPr txBox="1"/>
          <p:nvPr/>
        </p:nvSpPr>
        <p:spPr>
          <a:xfrm>
            <a:off x="2184530" y="4638821"/>
            <a:ext cx="170881" cy="241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9E8CD6-760B-1DFD-084D-C8E52188906B}"/>
              </a:ext>
            </a:extLst>
          </p:cNvPr>
          <p:cNvSpPr txBox="1"/>
          <p:nvPr/>
        </p:nvSpPr>
        <p:spPr>
          <a:xfrm>
            <a:off x="2373623" y="4606488"/>
            <a:ext cx="255602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Max (OOP language)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33B500-1AEB-17B7-2196-310685E27E5A}"/>
              </a:ext>
            </a:extLst>
          </p:cNvPr>
          <p:cNvSpPr txBox="1"/>
          <p:nvPr/>
        </p:nvSpPr>
        <p:spPr>
          <a:xfrm>
            <a:off x="2184530" y="4981736"/>
            <a:ext cx="170881" cy="241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A1D3F-0F48-9727-7BCA-1820EEBF3CEC}"/>
              </a:ext>
            </a:extLst>
          </p:cNvPr>
          <p:cNvSpPr txBox="1"/>
          <p:nvPr/>
        </p:nvSpPr>
        <p:spPr>
          <a:xfrm>
            <a:off x="2373623" y="4949403"/>
            <a:ext cx="442435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Cypher (It has a listener and a player)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249268-D3AC-6B62-05F9-2BD3B34617BC}"/>
              </a:ext>
            </a:extLst>
          </p:cNvPr>
          <p:cNvSpPr txBox="1"/>
          <p:nvPr/>
        </p:nvSpPr>
        <p:spPr>
          <a:xfrm>
            <a:off x="2184530" y="5324977"/>
            <a:ext cx="171907" cy="24282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C66951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E09D2-FA6A-C92C-89BF-B3841524D910}"/>
              </a:ext>
            </a:extLst>
          </p:cNvPr>
          <p:cNvSpPr txBox="1"/>
          <p:nvPr/>
        </p:nvSpPr>
        <p:spPr>
          <a:xfrm>
            <a:off x="2373623" y="5292644"/>
            <a:ext cx="413433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NeXT Computer (It has a music kit)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59F713-97E1-CB24-5DB9-FF99A3406F26}"/>
              </a:ext>
            </a:extLst>
          </p:cNvPr>
          <p:cNvSpPr txBox="1"/>
          <p:nvPr/>
        </p:nvSpPr>
        <p:spPr>
          <a:xfrm>
            <a:off x="2184530" y="5668219"/>
            <a:ext cx="170881" cy="241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C66951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B6A5B-EDF4-6D63-67F3-3C1DDFFEF853}"/>
              </a:ext>
            </a:extLst>
          </p:cNvPr>
          <p:cNvSpPr txBox="1"/>
          <p:nvPr/>
        </p:nvSpPr>
        <p:spPr>
          <a:xfrm>
            <a:off x="2373622" y="5635886"/>
            <a:ext cx="55191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 &amp; Jam Factory (It has graphics control panel) 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3A1D40E2-911F-EBE5-D4CF-BC0DED95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2187EC-45EB-44D3-AE98-0F794A16BE49}" type="slidenum">
              <a:rPr/>
              <a:t>93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5C243A0-2A44-CD1D-FD05-9D3BEA4D06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b="1"/>
              <a:t>Assignment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C5CD8-73F4-7C1A-3AC4-888B7C92E172}"/>
              </a:ext>
            </a:extLst>
          </p:cNvPr>
          <p:cNvSpPr txBox="1"/>
          <p:nvPr/>
        </p:nvSpPr>
        <p:spPr>
          <a:xfrm>
            <a:off x="2476171" y="705947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3B604-5F8B-074F-A2B1-CE2C0E05DBC3}"/>
              </a:ext>
            </a:extLst>
          </p:cNvPr>
          <p:cNvSpPr txBox="1"/>
          <p:nvPr/>
        </p:nvSpPr>
        <p:spPr>
          <a:xfrm>
            <a:off x="2021237" y="1566958"/>
            <a:ext cx="264881" cy="36529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477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732F7-D15E-5FFC-3A6E-1BF19CC10FA8}"/>
              </a:ext>
            </a:extLst>
          </p:cNvPr>
          <p:cNvSpPr txBox="1"/>
          <p:nvPr/>
        </p:nvSpPr>
        <p:spPr>
          <a:xfrm>
            <a:off x="2488906" y="1517317"/>
            <a:ext cx="1224822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Explain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6039F-1443-5715-B4BA-7213857844A4}"/>
              </a:ext>
            </a:extLst>
          </p:cNvPr>
          <p:cNvSpPr txBox="1"/>
          <p:nvPr/>
        </p:nvSpPr>
        <p:spPr>
          <a:xfrm>
            <a:off x="4150246" y="1517317"/>
            <a:ext cx="519116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49D73-5C2B-BFF2-3E8C-73C93D81405A}"/>
              </a:ext>
            </a:extLst>
          </p:cNvPr>
          <p:cNvSpPr txBox="1"/>
          <p:nvPr/>
        </p:nvSpPr>
        <p:spPr>
          <a:xfrm>
            <a:off x="5026802" y="1517317"/>
            <a:ext cx="1342547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different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6134C-4E57-383F-965A-6949F5BEEC7C}"/>
              </a:ext>
            </a:extLst>
          </p:cNvPr>
          <p:cNvSpPr txBox="1"/>
          <p:nvPr/>
        </p:nvSpPr>
        <p:spPr>
          <a:xfrm>
            <a:off x="6815838" y="1517317"/>
            <a:ext cx="2034339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components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C99B1-26AB-7A22-CA05-47650562B8FC}"/>
              </a:ext>
            </a:extLst>
          </p:cNvPr>
          <p:cNvSpPr txBox="1"/>
          <p:nvPr/>
        </p:nvSpPr>
        <p:spPr>
          <a:xfrm>
            <a:off x="9376921" y="1517317"/>
            <a:ext cx="311432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28ABC6-5D48-0AF3-CA8A-79C024505057}"/>
              </a:ext>
            </a:extLst>
          </p:cNvPr>
          <p:cNvSpPr txBox="1"/>
          <p:nvPr/>
        </p:nvSpPr>
        <p:spPr>
          <a:xfrm>
            <a:off x="10020295" y="1517317"/>
            <a:ext cx="207686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7E741-83AC-12AF-4B13-397A654E61C6}"/>
              </a:ext>
            </a:extLst>
          </p:cNvPr>
          <p:cNvSpPr txBox="1"/>
          <p:nvPr/>
        </p:nvSpPr>
        <p:spPr>
          <a:xfrm>
            <a:off x="2488907" y="1956248"/>
            <a:ext cx="2075183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 device.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FCD6A-A141-311D-DF81-3832BDA8B875}"/>
              </a:ext>
            </a:extLst>
          </p:cNvPr>
          <p:cNvSpPr txBox="1"/>
          <p:nvPr/>
        </p:nvSpPr>
        <p:spPr>
          <a:xfrm>
            <a:off x="2021237" y="2532998"/>
            <a:ext cx="264881" cy="36529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477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146E7-E121-D054-C69B-EC47DA8C77D6}"/>
              </a:ext>
            </a:extLst>
          </p:cNvPr>
          <p:cNvSpPr txBox="1"/>
          <p:nvPr/>
        </p:nvSpPr>
        <p:spPr>
          <a:xfrm>
            <a:off x="2488906" y="2483356"/>
            <a:ext cx="6724598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Illustrate the importance of MIDI. Explain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7431F0-B163-8DBC-81B4-935625891383}"/>
              </a:ext>
            </a:extLst>
          </p:cNvPr>
          <p:cNvSpPr txBox="1"/>
          <p:nvPr/>
        </p:nvSpPr>
        <p:spPr>
          <a:xfrm>
            <a:off x="2488906" y="2921960"/>
            <a:ext cx="599818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significance of MIDI messages.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4E599C-AE28-BD3E-16AD-4E3AD01C439E}"/>
              </a:ext>
            </a:extLst>
          </p:cNvPr>
          <p:cNvSpPr txBox="1"/>
          <p:nvPr/>
        </p:nvSpPr>
        <p:spPr>
          <a:xfrm>
            <a:off x="2021237" y="3498385"/>
            <a:ext cx="264881" cy="36529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477">
                <a:solidFill>
                  <a:srgbClr val="C66951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B665E2-80D3-B4B8-39AA-9823D7EB85E1}"/>
              </a:ext>
            </a:extLst>
          </p:cNvPr>
          <p:cNvSpPr txBox="1"/>
          <p:nvPr/>
        </p:nvSpPr>
        <p:spPr>
          <a:xfrm>
            <a:off x="2488907" y="3448743"/>
            <a:ext cx="871585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9D1C3-134F-6CE3-309D-65F5D50CFB70}"/>
              </a:ext>
            </a:extLst>
          </p:cNvPr>
          <p:cNvSpPr txBox="1"/>
          <p:nvPr/>
        </p:nvSpPr>
        <p:spPr>
          <a:xfrm>
            <a:off x="3740383" y="3448743"/>
            <a:ext cx="269689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6DBFC8-A9E5-6028-7367-5B5EFF982826}"/>
              </a:ext>
            </a:extLst>
          </p:cNvPr>
          <p:cNvSpPr txBox="1"/>
          <p:nvPr/>
        </p:nvSpPr>
        <p:spPr>
          <a:xfrm>
            <a:off x="4323338" y="3448743"/>
            <a:ext cx="995914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D68501-7C75-031D-70DB-B403A7221E0A}"/>
              </a:ext>
            </a:extLst>
          </p:cNvPr>
          <p:cNvSpPr txBox="1"/>
          <p:nvPr/>
        </p:nvSpPr>
        <p:spPr>
          <a:xfrm>
            <a:off x="5712306" y="3448743"/>
            <a:ext cx="871585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C76CD1-A936-28CB-E1D3-97F7DEC3018D}"/>
              </a:ext>
            </a:extLst>
          </p:cNvPr>
          <p:cNvSpPr txBox="1"/>
          <p:nvPr/>
        </p:nvSpPr>
        <p:spPr>
          <a:xfrm>
            <a:off x="6963781" y="3448743"/>
            <a:ext cx="134928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F68BD1-A89E-96F5-8B3D-D1347AC28CEE}"/>
              </a:ext>
            </a:extLst>
          </p:cNvPr>
          <p:cNvSpPr txBox="1"/>
          <p:nvPr/>
        </p:nvSpPr>
        <p:spPr>
          <a:xfrm>
            <a:off x="8743672" y="3448743"/>
            <a:ext cx="311432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A5E394-346D-B192-951A-57C4237691D8}"/>
              </a:ext>
            </a:extLst>
          </p:cNvPr>
          <p:cNvSpPr txBox="1"/>
          <p:nvPr/>
        </p:nvSpPr>
        <p:spPr>
          <a:xfrm>
            <a:off x="9372023" y="3448743"/>
            <a:ext cx="788229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MIDI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9D983-C38B-63D5-7525-CC1AC3766218}"/>
              </a:ext>
            </a:extLst>
          </p:cNvPr>
          <p:cNvSpPr txBox="1"/>
          <p:nvPr/>
        </p:nvSpPr>
        <p:spPr>
          <a:xfrm>
            <a:off x="2488906" y="3888001"/>
            <a:ext cx="913135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make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E4C35F-D39F-A143-BA27-12BE4A0365CA}"/>
              </a:ext>
            </a:extLst>
          </p:cNvPr>
          <p:cNvSpPr txBox="1"/>
          <p:nvPr/>
        </p:nvSpPr>
        <p:spPr>
          <a:xfrm>
            <a:off x="4158412" y="3888001"/>
            <a:ext cx="186718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09071-0190-1A26-114A-54B22ADF52D5}"/>
              </a:ext>
            </a:extLst>
          </p:cNvPr>
          <p:cNvSpPr txBox="1"/>
          <p:nvPr/>
        </p:nvSpPr>
        <p:spPr>
          <a:xfrm>
            <a:off x="5020271" y="3888001"/>
            <a:ext cx="1287147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suitable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3D2DD-0F1D-F15E-0F20-49E1B379EC6D}"/>
              </a:ext>
            </a:extLst>
          </p:cNvPr>
          <p:cNvSpPr txBox="1"/>
          <p:nvPr/>
        </p:nvSpPr>
        <p:spPr>
          <a:xfrm>
            <a:off x="7105846" y="3888001"/>
            <a:ext cx="43576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08F8A7-EA26-5937-6636-49AF9C3E4FA9}"/>
              </a:ext>
            </a:extLst>
          </p:cNvPr>
          <p:cNvSpPr txBox="1"/>
          <p:nvPr/>
        </p:nvSpPr>
        <p:spPr>
          <a:xfrm>
            <a:off x="8243343" y="3888001"/>
            <a:ext cx="1805494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A19DE1-3D82-C53B-E6F8-0B8E9732BB4A}"/>
              </a:ext>
            </a:extLst>
          </p:cNvPr>
          <p:cNvSpPr txBox="1"/>
          <p:nvPr/>
        </p:nvSpPr>
        <p:spPr>
          <a:xfrm>
            <a:off x="2488907" y="4326932"/>
            <a:ext cx="2387385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applications?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AD8719-253A-9D99-617E-2A28F2D61B13}"/>
              </a:ext>
            </a:extLst>
          </p:cNvPr>
          <p:cNvSpPr txBox="1"/>
          <p:nvPr/>
        </p:nvSpPr>
        <p:spPr>
          <a:xfrm>
            <a:off x="2488906" y="5292645"/>
            <a:ext cx="103746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27237-E16F-A9A6-490F-FAF0C3B1E71B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6.3 Video:</a:t>
            </a:r>
          </a:p>
          <a:p>
            <a:r>
              <a:rPr lang="en-US" dirty="0"/>
              <a:t>6.3.1 Digital video formats (AVI and MOV)</a:t>
            </a:r>
          </a:p>
          <a:p>
            <a:r>
              <a:rPr lang="en-US" dirty="0"/>
              <a:t>6.3.2 Video codecs, frame rate, resolution and color</a:t>
            </a:r>
          </a:p>
          <a:p>
            <a:r>
              <a:rPr lang="en-US" dirty="0"/>
              <a:t>depth</a:t>
            </a:r>
          </a:p>
          <a:p>
            <a:r>
              <a:rPr lang="en-US" dirty="0"/>
              <a:t>6.4 Animation:</a:t>
            </a:r>
          </a:p>
          <a:p>
            <a:r>
              <a:rPr lang="en-US" dirty="0"/>
              <a:t>6.4.1 Hand drawn, stop motion and computer</a:t>
            </a:r>
          </a:p>
          <a:p>
            <a:r>
              <a:rPr lang="en-US" dirty="0"/>
              <a:t>animation</a:t>
            </a:r>
          </a:p>
          <a:p>
            <a:r>
              <a:rPr lang="en-US" dirty="0"/>
              <a:t>6.4.2 Morphing</a:t>
            </a:r>
          </a:p>
        </p:txBody>
      </p:sp>
    </p:spTree>
    <p:extLst>
      <p:ext uri="{BB962C8B-B14F-4D97-AF65-F5344CB8AC3E}">
        <p14:creationId xmlns:p14="http://schemas.microsoft.com/office/powerpoint/2010/main" val="9855710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2B94-3360-7F72-D4F2-E4BE4B5E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6BBF2B-B1F0-499A-AD13-04CAE4DF7DA8}" type="slidenum">
              <a:rPr/>
              <a:t>95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18230A72-152B-A316-B3BE-71669684DC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85315"/>
            <a:ext cx="9539562" cy="494366"/>
          </a:xfrm>
        </p:spPr>
        <p:txBody>
          <a:bodyPr vert="horz">
            <a:spAutoFit/>
          </a:bodyPr>
          <a:lstStyle/>
          <a:p>
            <a:pPr lvl="0" rtl="0"/>
            <a:r>
              <a:rPr lang="en-US" sz="2903" b="1"/>
              <a:t>3. Video and Animation Technology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782633F7-81CD-5DCA-9EAA-5B27991EE8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76105" y="1548015"/>
            <a:ext cx="7873976" cy="3924578"/>
          </a:xfrm>
        </p:spPr>
        <p:txBody>
          <a:bodyPr vert="horz">
            <a:normAutofit lnSpcReduction="10000"/>
          </a:bodyPr>
          <a:lstStyle/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3.1. Basic Video Concept: Representation and Format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3.2 Television: High Definition Television(HDTV)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 Animation: Types of Animation</a:t>
            </a:r>
          </a:p>
          <a:p>
            <a:pPr marL="518628"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3.3.1 Computer Based Animation</a:t>
            </a:r>
          </a:p>
          <a:p>
            <a:pPr marL="518628"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3.3.2 Handwritten Animation</a:t>
            </a:r>
          </a:p>
          <a:p>
            <a:pPr marL="518628"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3.3.3 Stop Motion Animation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3.4 Design Principles of Animation,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      Methods of ControllingAnimations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6D76C9B-D502-1572-483A-2F149291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A21243-527E-4C49-B110-37D502A1E395}" type="slidenum">
              <a:rPr/>
              <a:t>96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B14AF00-F644-11C9-9771-A37BA71BE4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6"/>
            <a:ext cx="10198768" cy="797928"/>
          </a:xfrm>
        </p:spPr>
        <p:txBody>
          <a:bodyPr vert="horz"/>
          <a:lstStyle/>
          <a:p>
            <a:pPr lvl="0" rtl="0"/>
            <a:r>
              <a:rPr lang="en-US" sz="3629" b="1" dirty="0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C9DF5-E4D5-29B1-81DD-F6CC255AAAE1}"/>
              </a:ext>
            </a:extLst>
          </p:cNvPr>
          <p:cNvSpPr txBox="1"/>
          <p:nvPr/>
        </p:nvSpPr>
        <p:spPr>
          <a:xfrm>
            <a:off x="2478783" y="1512743"/>
            <a:ext cx="37801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 Signal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B0D96-848E-9DD5-E9AF-1CFA3DBA91C3}"/>
              </a:ext>
            </a:extLst>
          </p:cNvPr>
          <p:cNvSpPr txBox="1"/>
          <p:nvPr/>
        </p:nvSpPr>
        <p:spPr>
          <a:xfrm>
            <a:off x="2478783" y="191085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AF1B6-EEA5-7B74-B32D-2E550819390B}"/>
              </a:ext>
            </a:extLst>
          </p:cNvPr>
          <p:cNvSpPr txBox="1"/>
          <p:nvPr/>
        </p:nvSpPr>
        <p:spPr>
          <a:xfrm>
            <a:off x="3308637" y="1910852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2ECF9-7716-7A07-6CDC-D5C040AAA8FA}"/>
              </a:ext>
            </a:extLst>
          </p:cNvPr>
          <p:cNvSpPr txBox="1"/>
          <p:nvPr/>
        </p:nvSpPr>
        <p:spPr>
          <a:xfrm>
            <a:off x="3793943" y="1910852"/>
            <a:ext cx="15674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dirty="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conventional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0596C-37D7-B6E1-B923-0FA69E889994}"/>
              </a:ext>
            </a:extLst>
          </p:cNvPr>
          <p:cNvSpPr txBox="1"/>
          <p:nvPr/>
        </p:nvSpPr>
        <p:spPr>
          <a:xfrm>
            <a:off x="5601266" y="1910852"/>
            <a:ext cx="35676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38DF7-B698-BCCC-BDAC-F91BA67A4F0C}"/>
              </a:ext>
            </a:extLst>
          </p:cNvPr>
          <p:cNvSpPr txBox="1"/>
          <p:nvPr/>
        </p:nvSpPr>
        <p:spPr>
          <a:xfrm>
            <a:off x="6209369" y="1910852"/>
            <a:ext cx="589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sets,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E8011-D981-60F4-8BB1-A8AE5B41DD31}"/>
              </a:ext>
            </a:extLst>
          </p:cNvPr>
          <p:cNvSpPr txBox="1"/>
          <p:nvPr/>
        </p:nvSpPr>
        <p:spPr>
          <a:xfrm>
            <a:off x="7046081" y="1910852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C9F73-6580-F54F-2B2E-EA8E5F8AAB4C}"/>
              </a:ext>
            </a:extLst>
          </p:cNvPr>
          <p:cNvSpPr txBox="1"/>
          <p:nvPr/>
        </p:nvSpPr>
        <p:spPr>
          <a:xfrm>
            <a:off x="7684882" y="1910852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809B3-4A72-478C-70C7-551256DE7EDA}"/>
              </a:ext>
            </a:extLst>
          </p:cNvPr>
          <p:cNvSpPr txBox="1"/>
          <p:nvPr/>
        </p:nvSpPr>
        <p:spPr>
          <a:xfrm>
            <a:off x="8601934" y="1910852"/>
            <a:ext cx="729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D92E1-444D-56F2-514C-F4AAF0931129}"/>
              </a:ext>
            </a:extLst>
          </p:cNvPr>
          <p:cNvSpPr txBox="1"/>
          <p:nvPr/>
        </p:nvSpPr>
        <p:spPr>
          <a:xfrm>
            <a:off x="9579404" y="1910852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53EE7F-3479-3BC8-3640-87B79D3C7842}"/>
              </a:ext>
            </a:extLst>
          </p:cNvPr>
          <p:cNvSpPr txBox="1"/>
          <p:nvPr/>
        </p:nvSpPr>
        <p:spPr>
          <a:xfrm>
            <a:off x="2478783" y="2242989"/>
            <a:ext cx="72626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displayed  using  a  cathode  ray  tube.  An  electron  beam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0E5A3F-6CD3-69BB-948A-6456F1443B98}"/>
              </a:ext>
            </a:extLst>
          </p:cNvPr>
          <p:cNvSpPr txBox="1"/>
          <p:nvPr/>
        </p:nvSpPr>
        <p:spPr>
          <a:xfrm>
            <a:off x="2478783" y="2574800"/>
            <a:ext cx="72306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carries corresponding pattern information such as intensity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8B5879-42EE-334E-02B6-8355E168E7F1}"/>
              </a:ext>
            </a:extLst>
          </p:cNvPr>
          <p:cNvSpPr txBox="1"/>
          <p:nvPr/>
        </p:nvSpPr>
        <p:spPr>
          <a:xfrm>
            <a:off x="2478783" y="2906611"/>
            <a:ext cx="22965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a viewed scene.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BED5F-5057-B1F7-A05C-A53CB4A0F734}"/>
              </a:ext>
            </a:extLst>
          </p:cNvPr>
          <p:cNvSpPr txBox="1"/>
          <p:nvPr/>
        </p:nvSpPr>
        <p:spPr>
          <a:xfrm>
            <a:off x="2478783" y="330471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B9A1E-D364-F9A1-1BA2-829832B42A7F}"/>
              </a:ext>
            </a:extLst>
          </p:cNvPr>
          <p:cNvSpPr txBox="1"/>
          <p:nvPr/>
        </p:nvSpPr>
        <p:spPr>
          <a:xfrm>
            <a:off x="2478783" y="3703153"/>
            <a:ext cx="63107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 signal representation includes three aspects: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50DDE2-EB1D-CC6A-2C5C-C08C8E3FACD9}"/>
              </a:ext>
            </a:extLst>
          </p:cNvPr>
          <p:cNvSpPr txBox="1"/>
          <p:nvPr/>
        </p:nvSpPr>
        <p:spPr>
          <a:xfrm>
            <a:off x="2727641" y="413881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A0F188-52D4-F9EA-AF94-13DA4DDC379E}"/>
              </a:ext>
            </a:extLst>
          </p:cNvPr>
          <p:cNvSpPr txBox="1"/>
          <p:nvPr/>
        </p:nvSpPr>
        <p:spPr>
          <a:xfrm>
            <a:off x="3142731" y="4101587"/>
            <a:ext cx="30414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visual representation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46A147-2744-0DD9-C796-37FC1F11CD06}"/>
              </a:ext>
            </a:extLst>
          </p:cNvPr>
          <p:cNvSpPr txBox="1"/>
          <p:nvPr/>
        </p:nvSpPr>
        <p:spPr>
          <a:xfrm>
            <a:off x="2727641" y="453725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E1F817-9CBC-0BA1-120B-272D1B62F576}"/>
              </a:ext>
            </a:extLst>
          </p:cNvPr>
          <p:cNvSpPr txBox="1"/>
          <p:nvPr/>
        </p:nvSpPr>
        <p:spPr>
          <a:xfrm>
            <a:off x="3142732" y="4499694"/>
            <a:ext cx="15668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14C26C-40C4-9B48-F9D4-0A4A200A4238}"/>
              </a:ext>
            </a:extLst>
          </p:cNvPr>
          <p:cNvSpPr txBox="1"/>
          <p:nvPr/>
        </p:nvSpPr>
        <p:spPr>
          <a:xfrm>
            <a:off x="2727641" y="4935360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33C2D8-3266-6C6A-F502-6C3CF7A9E867}"/>
              </a:ext>
            </a:extLst>
          </p:cNvPr>
          <p:cNvSpPr txBox="1"/>
          <p:nvPr/>
        </p:nvSpPr>
        <p:spPr>
          <a:xfrm>
            <a:off x="3142732" y="4897803"/>
            <a:ext cx="131895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digitization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9905620-0E86-C1C7-F014-E2FE955A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FA965D2-99CA-43C7-9B20-CDCEA219D14A}" type="slidenum">
              <a:rPr/>
              <a:t>97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EE889A7-260A-2D1D-F34C-3357D1C8FE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B0BB9-C5E9-1FD6-AEA3-FEBD1BE1AC36}"/>
              </a:ext>
            </a:extLst>
          </p:cNvPr>
          <p:cNvSpPr txBox="1"/>
          <p:nvPr/>
        </p:nvSpPr>
        <p:spPr>
          <a:xfrm>
            <a:off x="2282506" y="1452979"/>
            <a:ext cx="284109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Visual Representation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AB207-DFF1-135B-3A54-C9387009DC27}"/>
              </a:ext>
            </a:extLst>
          </p:cNvPr>
          <p:cNvSpPr txBox="1"/>
          <p:nvPr/>
        </p:nvSpPr>
        <p:spPr>
          <a:xfrm>
            <a:off x="2282505" y="1729597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A0D54-514C-04C4-47FB-806B4FDBEF11}"/>
              </a:ext>
            </a:extLst>
          </p:cNvPr>
          <p:cNvSpPr txBox="1"/>
          <p:nvPr/>
        </p:nvSpPr>
        <p:spPr>
          <a:xfrm>
            <a:off x="3112358" y="1729597"/>
            <a:ext cx="635077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objective is to offer the viewer a sense of presence in the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7064C-F63A-5FC5-C20C-0BA69AE4A18B}"/>
              </a:ext>
            </a:extLst>
          </p:cNvPr>
          <p:cNvSpPr txBox="1"/>
          <p:nvPr/>
        </p:nvSpPr>
        <p:spPr>
          <a:xfrm>
            <a:off x="2282505" y="1951022"/>
            <a:ext cx="62388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scene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599B4-FEAC-2529-D40F-BF193AEA0E40}"/>
              </a:ext>
            </a:extLst>
          </p:cNvPr>
          <p:cNvSpPr txBox="1"/>
          <p:nvPr/>
        </p:nvSpPr>
        <p:spPr>
          <a:xfrm>
            <a:off x="3056839" y="1951022"/>
            <a:ext cx="39010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0D994-C009-9A85-CA2A-30E0227F9F11}"/>
              </a:ext>
            </a:extLst>
          </p:cNvPr>
          <p:cNvSpPr txBox="1"/>
          <p:nvPr/>
        </p:nvSpPr>
        <p:spPr>
          <a:xfrm>
            <a:off x="3597665" y="1951022"/>
            <a:ext cx="1949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8A972-3618-0CF0-6EDA-F202559AFDE4}"/>
              </a:ext>
            </a:extLst>
          </p:cNvPr>
          <p:cNvSpPr txBox="1"/>
          <p:nvPr/>
        </p:nvSpPr>
        <p:spPr>
          <a:xfrm>
            <a:off x="3947438" y="1951022"/>
            <a:ext cx="126066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participation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64658F-7E32-5869-3A72-89902B7FE088}"/>
              </a:ext>
            </a:extLst>
          </p:cNvPr>
          <p:cNvSpPr txBox="1"/>
          <p:nvPr/>
        </p:nvSpPr>
        <p:spPr>
          <a:xfrm>
            <a:off x="5348162" y="1951022"/>
            <a:ext cx="18197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FD73F-47F2-F316-C717-045E4E6FF915}"/>
              </a:ext>
            </a:extLst>
          </p:cNvPr>
          <p:cNvSpPr txBox="1"/>
          <p:nvPr/>
        </p:nvSpPr>
        <p:spPr>
          <a:xfrm>
            <a:off x="5685525" y="1951022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C5B04-A65A-80E3-11B4-8B34AB551791}"/>
              </a:ext>
            </a:extLst>
          </p:cNvPr>
          <p:cNvSpPr txBox="1"/>
          <p:nvPr/>
        </p:nvSpPr>
        <p:spPr>
          <a:xfrm>
            <a:off x="6163974" y="1951022"/>
            <a:ext cx="68884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events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A03C03-DAF2-7330-46E3-0D3A1F9605B9}"/>
              </a:ext>
            </a:extLst>
          </p:cNvPr>
          <p:cNvSpPr txBox="1"/>
          <p:nvPr/>
        </p:nvSpPr>
        <p:spPr>
          <a:xfrm>
            <a:off x="7000685" y="1951022"/>
            <a:ext cx="105266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portrayed.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93680-5C66-E8FF-0FBC-45490A7BB353}"/>
              </a:ext>
            </a:extLst>
          </p:cNvPr>
          <p:cNvSpPr txBox="1"/>
          <p:nvPr/>
        </p:nvSpPr>
        <p:spPr>
          <a:xfrm>
            <a:off x="8192395" y="1951022"/>
            <a:ext cx="24692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71EDF-D7F9-A7C2-8547-E696F81C0311}"/>
              </a:ext>
            </a:extLst>
          </p:cNvPr>
          <p:cNvSpPr txBox="1"/>
          <p:nvPr/>
        </p:nvSpPr>
        <p:spPr>
          <a:xfrm>
            <a:off x="8593443" y="1951022"/>
            <a:ext cx="51975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5D0B32-ED3A-6802-2FE3-B053388469FD}"/>
              </a:ext>
            </a:extLst>
          </p:cNvPr>
          <p:cNvSpPr txBox="1"/>
          <p:nvPr/>
        </p:nvSpPr>
        <p:spPr>
          <a:xfrm>
            <a:off x="9262617" y="1951022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9E0DBF-61DE-35DE-F44A-CA46085B45E1}"/>
              </a:ext>
            </a:extLst>
          </p:cNvPr>
          <p:cNvSpPr txBox="1"/>
          <p:nvPr/>
        </p:nvSpPr>
        <p:spPr>
          <a:xfrm>
            <a:off x="2282505" y="2172446"/>
            <a:ext cx="743370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objective,  the  televised  images  should  convey  spatial  and  temporal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D097AE-05AC-6E6E-CF83-A0CAA7676D3F}"/>
              </a:ext>
            </a:extLst>
          </p:cNvPr>
          <p:cNvSpPr txBox="1"/>
          <p:nvPr/>
        </p:nvSpPr>
        <p:spPr>
          <a:xfrm>
            <a:off x="2282505" y="2393545"/>
            <a:ext cx="230056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content of the scene.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939AC6-69CC-A6AE-2E4C-27A0A8590171}"/>
              </a:ext>
            </a:extLst>
          </p:cNvPr>
          <p:cNvSpPr txBox="1"/>
          <p:nvPr/>
        </p:nvSpPr>
        <p:spPr>
          <a:xfrm>
            <a:off x="2282505" y="2670163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85E0AC-2633-A2CC-F3C5-20E48714D0CC}"/>
              </a:ext>
            </a:extLst>
          </p:cNvPr>
          <p:cNvSpPr txBox="1"/>
          <p:nvPr/>
        </p:nvSpPr>
        <p:spPr>
          <a:xfrm>
            <a:off x="2282505" y="2946455"/>
            <a:ext cx="528933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Important measures taken for the purpose include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AF57CA-E7BF-9F25-1AF3-CC36FA193A39}"/>
              </a:ext>
            </a:extLst>
          </p:cNvPr>
          <p:cNvSpPr txBox="1"/>
          <p:nvPr/>
        </p:nvSpPr>
        <p:spPr>
          <a:xfrm>
            <a:off x="2485642" y="3254425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FE61A7-2DD5-6F91-ECF3-75D75DA135AD}"/>
              </a:ext>
            </a:extLst>
          </p:cNvPr>
          <p:cNvSpPr txBox="1"/>
          <p:nvPr/>
        </p:nvSpPr>
        <p:spPr>
          <a:xfrm>
            <a:off x="2806675" y="3223073"/>
            <a:ext cx="454297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Vertical Detail and the Viewing Distance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CA3F92-0E86-2417-00A4-23ADCE64D1F2}"/>
              </a:ext>
            </a:extLst>
          </p:cNvPr>
          <p:cNvSpPr txBox="1"/>
          <p:nvPr/>
        </p:nvSpPr>
        <p:spPr>
          <a:xfrm>
            <a:off x="2485642" y="3531043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4330EA-3257-87E0-1BF1-E4D310C9F03D}"/>
              </a:ext>
            </a:extLst>
          </p:cNvPr>
          <p:cNvSpPr txBox="1"/>
          <p:nvPr/>
        </p:nvSpPr>
        <p:spPr>
          <a:xfrm>
            <a:off x="2806675" y="3499690"/>
            <a:ext cx="402443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Horizontal Detail and Picture Width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2D787A-E379-99D2-0D55-F1748D90BDC4}"/>
              </a:ext>
            </a:extLst>
          </p:cNvPr>
          <p:cNvSpPr txBox="1"/>
          <p:nvPr/>
        </p:nvSpPr>
        <p:spPr>
          <a:xfrm>
            <a:off x="2485642" y="3807660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9E3662-A642-5934-16F5-D54E3858F57D}"/>
              </a:ext>
            </a:extLst>
          </p:cNvPr>
          <p:cNvSpPr txBox="1"/>
          <p:nvPr/>
        </p:nvSpPr>
        <p:spPr>
          <a:xfrm>
            <a:off x="2806675" y="3776308"/>
            <a:ext cx="377103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Total Detail Content of the Image </a:t>
            </a:r>
            <a:r>
              <a:rPr lang="en-US" sz="182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E0EB69-0195-48A8-81E5-C93A1D833289}"/>
              </a:ext>
            </a:extLst>
          </p:cNvPr>
          <p:cNvSpPr txBox="1"/>
          <p:nvPr/>
        </p:nvSpPr>
        <p:spPr>
          <a:xfrm>
            <a:off x="2485642" y="4084278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5DF09A-63EC-463F-FD62-CC37A72EB2CA}"/>
              </a:ext>
            </a:extLst>
          </p:cNvPr>
          <p:cNvSpPr txBox="1"/>
          <p:nvPr/>
        </p:nvSpPr>
        <p:spPr>
          <a:xfrm>
            <a:off x="2806675" y="4052926"/>
            <a:ext cx="235096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Perception of Depth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460A8-C3EC-6A35-ABB7-0F71EF9826F0}"/>
              </a:ext>
            </a:extLst>
          </p:cNvPr>
          <p:cNvSpPr txBox="1"/>
          <p:nvPr/>
        </p:nvSpPr>
        <p:spPr>
          <a:xfrm>
            <a:off x="2485642" y="4360570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1661C-7327-1973-2231-8BD50D34484A}"/>
              </a:ext>
            </a:extLst>
          </p:cNvPr>
          <p:cNvSpPr txBox="1"/>
          <p:nvPr/>
        </p:nvSpPr>
        <p:spPr>
          <a:xfrm>
            <a:off x="2806675" y="4329218"/>
            <a:ext cx="340349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 and Chrominance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3B8725-0E7A-B08A-2A41-1D72C1CF6762}"/>
              </a:ext>
            </a:extLst>
          </p:cNvPr>
          <p:cNvSpPr txBox="1"/>
          <p:nvPr/>
        </p:nvSpPr>
        <p:spPr>
          <a:xfrm>
            <a:off x="2485642" y="4637187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6.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04AE96-EFAD-3779-06B7-A46B33EA504C}"/>
              </a:ext>
            </a:extLst>
          </p:cNvPr>
          <p:cNvSpPr txBox="1"/>
          <p:nvPr/>
        </p:nvSpPr>
        <p:spPr>
          <a:xfrm>
            <a:off x="2806675" y="4605835"/>
            <a:ext cx="380168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Temporal Aspects of Illumination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DBAE28-18D7-96FA-B700-248BFC833E48}"/>
              </a:ext>
            </a:extLst>
          </p:cNvPr>
          <p:cNvSpPr txBox="1"/>
          <p:nvPr/>
        </p:nvSpPr>
        <p:spPr>
          <a:xfrm>
            <a:off x="2485642" y="4913805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7.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4AC38F-60A6-3907-21C1-B396F544E0CE}"/>
              </a:ext>
            </a:extLst>
          </p:cNvPr>
          <p:cNvSpPr txBox="1"/>
          <p:nvPr/>
        </p:nvSpPr>
        <p:spPr>
          <a:xfrm>
            <a:off x="2806675" y="4882453"/>
            <a:ext cx="240200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Continuity of Motion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442825-75D7-42FB-7E0B-106E154E52D1}"/>
              </a:ext>
            </a:extLst>
          </p:cNvPr>
          <p:cNvSpPr txBox="1"/>
          <p:nvPr/>
        </p:nvSpPr>
        <p:spPr>
          <a:xfrm>
            <a:off x="2485642" y="5190423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8.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09435E-3E34-7679-0357-797B0E26D4A2}"/>
              </a:ext>
            </a:extLst>
          </p:cNvPr>
          <p:cNvSpPr txBox="1"/>
          <p:nvPr/>
        </p:nvSpPr>
        <p:spPr>
          <a:xfrm>
            <a:off x="2806675" y="5159071"/>
            <a:ext cx="88370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Flicker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BC3801-EB00-D1C8-C1A3-6D18E21C9535}"/>
              </a:ext>
            </a:extLst>
          </p:cNvPr>
          <p:cNvSpPr txBox="1"/>
          <p:nvPr/>
        </p:nvSpPr>
        <p:spPr>
          <a:xfrm>
            <a:off x="2485642" y="5467040"/>
            <a:ext cx="165879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9.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D49485-ABAD-CFFA-066F-BE6B9F4E3BB2}"/>
              </a:ext>
            </a:extLst>
          </p:cNvPr>
          <p:cNvSpPr txBox="1"/>
          <p:nvPr/>
        </p:nvSpPr>
        <p:spPr>
          <a:xfrm>
            <a:off x="2806675" y="5435689"/>
            <a:ext cx="424744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Temporal Aspect of Video Bandwidth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F5B4A7-A13F-C0C9-36B0-F819B6C9E0D2}"/>
              </a:ext>
            </a:extLst>
          </p:cNvPr>
          <p:cNvSpPr txBox="1"/>
          <p:nvPr/>
        </p:nvSpPr>
        <p:spPr>
          <a:xfrm>
            <a:off x="2806675" y="5712307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9022FB74-047E-1191-1223-07958492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100373-55EA-422F-835E-992B7DEC2E59}" type="slidenum">
              <a:rPr/>
              <a:t>98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A7668B3-3187-5B74-047D-D4B6F69DD6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F094B-60DF-3D7A-C8AA-34971C1173B5}"/>
              </a:ext>
            </a:extLst>
          </p:cNvPr>
          <p:cNvSpPr txBox="1"/>
          <p:nvPr/>
        </p:nvSpPr>
        <p:spPr>
          <a:xfrm>
            <a:off x="2217188" y="1449713"/>
            <a:ext cx="29111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F3865-5E65-87F0-88A7-B6127BE43010}"/>
              </a:ext>
            </a:extLst>
          </p:cNvPr>
          <p:cNvSpPr txBox="1"/>
          <p:nvPr/>
        </p:nvSpPr>
        <p:spPr>
          <a:xfrm>
            <a:off x="2217189" y="1774666"/>
            <a:ext cx="495122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Vertical Detail and the Viewing Distance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23F20-837B-F935-1E68-CB7E14B4ABFC}"/>
              </a:ext>
            </a:extLst>
          </p:cNvPr>
          <p:cNvSpPr txBox="1"/>
          <p:nvPr/>
        </p:nvSpPr>
        <p:spPr>
          <a:xfrm>
            <a:off x="2217188" y="2100271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F5229-E684-713E-DC40-FAAE8D3E665A}"/>
              </a:ext>
            </a:extLst>
          </p:cNvPr>
          <p:cNvSpPr txBox="1"/>
          <p:nvPr/>
        </p:nvSpPr>
        <p:spPr>
          <a:xfrm>
            <a:off x="3047041" y="2100271"/>
            <a:ext cx="640220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Geometry of the field occupied by the television image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67EE9-A048-9E02-A81A-2366E293A0DC}"/>
              </a:ext>
            </a:extLst>
          </p:cNvPr>
          <p:cNvSpPr txBox="1"/>
          <p:nvPr/>
        </p:nvSpPr>
        <p:spPr>
          <a:xfrm>
            <a:off x="2217188" y="2360560"/>
            <a:ext cx="70859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based on the ratio of picture width and height, called as aspect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C7769-8E36-32BE-C4D0-2A2BF7D39F26}"/>
              </a:ext>
            </a:extLst>
          </p:cNvPr>
          <p:cNvSpPr txBox="1"/>
          <p:nvPr/>
        </p:nvSpPr>
        <p:spPr>
          <a:xfrm>
            <a:off x="2217188" y="2620849"/>
            <a:ext cx="248959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ratio (W/L=4/3=1.33)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4C764-81CA-4298-D20A-9CB473B719E0}"/>
              </a:ext>
            </a:extLst>
          </p:cNvPr>
          <p:cNvSpPr txBox="1"/>
          <p:nvPr/>
        </p:nvSpPr>
        <p:spPr>
          <a:xfrm>
            <a:off x="2217188" y="301797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38F53-2ED3-ECBA-7ABA-4A372A350372}"/>
              </a:ext>
            </a:extLst>
          </p:cNvPr>
          <p:cNvSpPr txBox="1"/>
          <p:nvPr/>
        </p:nvSpPr>
        <p:spPr>
          <a:xfrm>
            <a:off x="3047041" y="3017976"/>
            <a:ext cx="89178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Viewing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9A337-67DF-2DF7-E503-A6CAEF084ECD}"/>
              </a:ext>
            </a:extLst>
          </p:cNvPr>
          <p:cNvSpPr txBox="1"/>
          <p:nvPr/>
        </p:nvSpPr>
        <p:spPr>
          <a:xfrm>
            <a:off x="4220790" y="3017976"/>
            <a:ext cx="9533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E859D-A606-8608-DB27-DC942818624D}"/>
              </a:ext>
            </a:extLst>
          </p:cNvPr>
          <p:cNvSpPr txBox="1"/>
          <p:nvPr/>
        </p:nvSpPr>
        <p:spPr>
          <a:xfrm>
            <a:off x="5455610" y="2951353"/>
            <a:ext cx="23525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0768A-81DD-D44C-CEB3-FDEC3F13D5AB}"/>
              </a:ext>
            </a:extLst>
          </p:cNvPr>
          <p:cNvSpPr txBox="1"/>
          <p:nvPr/>
        </p:nvSpPr>
        <p:spPr>
          <a:xfrm>
            <a:off x="6012763" y="3017976"/>
            <a:ext cx="13656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determines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BE820-B8F3-D54F-10E5-68C2E938C6E1}"/>
              </a:ext>
            </a:extLst>
          </p:cNvPr>
          <p:cNvSpPr txBox="1"/>
          <p:nvPr/>
        </p:nvSpPr>
        <p:spPr>
          <a:xfrm>
            <a:off x="7656795" y="3017976"/>
            <a:ext cx="3838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24492-8967-2FBE-1434-35F9272DED75}"/>
              </a:ext>
            </a:extLst>
          </p:cNvPr>
          <p:cNvSpPr txBox="1"/>
          <p:nvPr/>
        </p:nvSpPr>
        <p:spPr>
          <a:xfrm>
            <a:off x="8327929" y="3017976"/>
            <a:ext cx="66845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angle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AEB7D-606B-A1BF-961C-31BA689969C6}"/>
              </a:ext>
            </a:extLst>
          </p:cNvPr>
          <p:cNvSpPr txBox="1"/>
          <p:nvPr/>
        </p:nvSpPr>
        <p:spPr>
          <a:xfrm>
            <a:off x="9283192" y="2951353"/>
            <a:ext cx="23525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603E0C-3A48-6AF1-BB42-4620458576C2}"/>
              </a:ext>
            </a:extLst>
          </p:cNvPr>
          <p:cNvSpPr txBox="1"/>
          <p:nvPr/>
        </p:nvSpPr>
        <p:spPr>
          <a:xfrm>
            <a:off x="9516700" y="301797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8F69AD-D4A2-233E-E9F3-1B804C446CF1}"/>
              </a:ext>
            </a:extLst>
          </p:cNvPr>
          <p:cNvSpPr txBox="1"/>
          <p:nvPr/>
        </p:nvSpPr>
        <p:spPr>
          <a:xfrm>
            <a:off x="2217188" y="3294594"/>
            <a:ext cx="129388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subtended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75EC8-8F9B-A53F-929E-706B8DABDBF6}"/>
              </a:ext>
            </a:extLst>
          </p:cNvPr>
          <p:cNvSpPr txBox="1"/>
          <p:nvPr/>
        </p:nvSpPr>
        <p:spPr>
          <a:xfrm>
            <a:off x="3706417" y="3294594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54176C-58E6-BFFC-A303-85189293E8DB}"/>
              </a:ext>
            </a:extLst>
          </p:cNvPr>
          <p:cNvSpPr txBox="1"/>
          <p:nvPr/>
        </p:nvSpPr>
        <p:spPr>
          <a:xfrm>
            <a:off x="4205440" y="3294594"/>
            <a:ext cx="3838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02014A-ACA7-6C84-4C36-214F9638A071}"/>
              </a:ext>
            </a:extLst>
          </p:cNvPr>
          <p:cNvSpPr txBox="1"/>
          <p:nvPr/>
        </p:nvSpPr>
        <p:spPr>
          <a:xfrm>
            <a:off x="4790682" y="3294594"/>
            <a:ext cx="85331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picture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1F74CB-4426-C0F0-8B9C-DF531446B711}"/>
              </a:ext>
            </a:extLst>
          </p:cNvPr>
          <p:cNvSpPr txBox="1"/>
          <p:nvPr/>
        </p:nvSpPr>
        <p:spPr>
          <a:xfrm>
            <a:off x="5840001" y="3294594"/>
            <a:ext cx="8387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height.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D22632-E32B-5B0C-7F86-E59278E5A660}"/>
              </a:ext>
            </a:extLst>
          </p:cNvPr>
          <p:cNvSpPr txBox="1"/>
          <p:nvPr/>
        </p:nvSpPr>
        <p:spPr>
          <a:xfrm>
            <a:off x="6877236" y="3294594"/>
            <a:ext cx="4410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4D584D-68ED-2A9B-7751-36381167AD2F}"/>
              </a:ext>
            </a:extLst>
          </p:cNvPr>
          <p:cNvSpPr txBox="1"/>
          <p:nvPr/>
        </p:nvSpPr>
        <p:spPr>
          <a:xfrm>
            <a:off x="7518650" y="3294594"/>
            <a:ext cx="62626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angle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E15C0-A1B6-0152-B59D-0358E80EC546}"/>
              </a:ext>
            </a:extLst>
          </p:cNvPr>
          <p:cNvSpPr txBox="1"/>
          <p:nvPr/>
        </p:nvSpPr>
        <p:spPr>
          <a:xfrm>
            <a:off x="8342952" y="3294594"/>
            <a:ext cx="184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24B906-8F42-1506-32AE-BD47544EB2F6}"/>
              </a:ext>
            </a:extLst>
          </p:cNvPr>
          <p:cNvSpPr txBox="1"/>
          <p:nvPr/>
        </p:nvSpPr>
        <p:spPr>
          <a:xfrm>
            <a:off x="8730283" y="3294594"/>
            <a:ext cx="79675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usually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0EFC0D-37B1-8951-42A9-5F95CA466FA0}"/>
              </a:ext>
            </a:extLst>
          </p:cNvPr>
          <p:cNvSpPr txBox="1"/>
          <p:nvPr/>
        </p:nvSpPr>
        <p:spPr>
          <a:xfrm>
            <a:off x="2217188" y="3554883"/>
            <a:ext cx="754039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measured  by  the  ration  of  the  viewing  distance  to  the  picture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B7F404-0698-331E-9961-CFB0F00CCE61}"/>
              </a:ext>
            </a:extLst>
          </p:cNvPr>
          <p:cNvSpPr txBox="1"/>
          <p:nvPr/>
        </p:nvSpPr>
        <p:spPr>
          <a:xfrm>
            <a:off x="2217188" y="3815172"/>
            <a:ext cx="705199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height (D/H). The smallest detail that can be reproduced in the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D54258-0B31-6AF2-EC4E-8E1AA4440EAF}"/>
              </a:ext>
            </a:extLst>
          </p:cNvPr>
          <p:cNvSpPr txBox="1"/>
          <p:nvPr/>
        </p:nvSpPr>
        <p:spPr>
          <a:xfrm>
            <a:off x="2217188" y="4075460"/>
            <a:ext cx="169283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is pixel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898F36-83E2-A768-BE29-23CABA38CA09}"/>
              </a:ext>
            </a:extLst>
          </p:cNvPr>
          <p:cNvSpPr txBox="1"/>
          <p:nvPr/>
        </p:nvSpPr>
        <p:spPr>
          <a:xfrm>
            <a:off x="2217188" y="4400413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65E5F5-43B9-3E39-6683-7611D6A0AE77}"/>
              </a:ext>
            </a:extLst>
          </p:cNvPr>
          <p:cNvSpPr txBox="1"/>
          <p:nvPr/>
        </p:nvSpPr>
        <p:spPr>
          <a:xfrm>
            <a:off x="3047041" y="4400413"/>
            <a:ext cx="64168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Both  the  number  of  pixels  per  scanned  line  and  the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0CC574-B6F9-5E50-9B16-A42DA79C125E}"/>
              </a:ext>
            </a:extLst>
          </p:cNvPr>
          <p:cNvSpPr txBox="1"/>
          <p:nvPr/>
        </p:nvSpPr>
        <p:spPr>
          <a:xfrm>
            <a:off x="2217188" y="4660701"/>
            <a:ext cx="711342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number of lines per frame vary; the actual numbers used being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6A8AA9-E1AC-67DE-D58B-5601BB417183}"/>
              </a:ext>
            </a:extLst>
          </p:cNvPr>
          <p:cNvSpPr txBox="1"/>
          <p:nvPr/>
        </p:nvSpPr>
        <p:spPr>
          <a:xfrm>
            <a:off x="2217188" y="4920990"/>
            <a:ext cx="764908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determined  by  the 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aspect  ratio.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This  is  the  ratio  of  the  screen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61E980-C437-E931-878F-3AAFBEEDF68F}"/>
              </a:ext>
            </a:extLst>
          </p:cNvPr>
          <p:cNvSpPr txBox="1"/>
          <p:nvPr/>
        </p:nvSpPr>
        <p:spPr>
          <a:xfrm>
            <a:off x="2217188" y="5181279"/>
            <a:ext cx="71801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width to the screen height. The aspect ratio of current television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E17217-E843-F05A-B97C-34FA03066EAE}"/>
              </a:ext>
            </a:extLst>
          </p:cNvPr>
          <p:cNvSpPr txBox="1"/>
          <p:nvPr/>
        </p:nvSpPr>
        <p:spPr>
          <a:xfrm>
            <a:off x="2217188" y="5441567"/>
            <a:ext cx="71563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tubes is 4/3 with older tubes – on which PC monitors are based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1B3BD3-B47A-3F9B-AEB3-EE22C484F1BF}"/>
              </a:ext>
            </a:extLst>
          </p:cNvPr>
          <p:cNvSpPr txBox="1"/>
          <p:nvPr/>
        </p:nvSpPr>
        <p:spPr>
          <a:xfrm>
            <a:off x="2217188" y="5701856"/>
            <a:ext cx="522168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– and 16/9 with widescreen television tubes.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35CCAC-7BB4-F28D-2AA5-DB37C4EEA2F7}"/>
              </a:ext>
            </a:extLst>
          </p:cNvPr>
          <p:cNvSpPr txBox="1"/>
          <p:nvPr/>
        </p:nvSpPr>
        <p:spPr>
          <a:xfrm>
            <a:off x="2383092" y="602680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634AE-7281-191C-6899-B4B9C0DA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068EE8-6105-448B-98BA-0E565FF30621}" type="slidenum">
              <a:rPr/>
              <a:t>99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C661B57-8964-465C-25BB-A641762F6C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F6028-BF88-571A-84C5-F5CA6BAD6199}"/>
              </a:ext>
            </a:extLst>
          </p:cNvPr>
          <p:cNvSpPr txBox="1"/>
          <p:nvPr/>
        </p:nvSpPr>
        <p:spPr>
          <a:xfrm>
            <a:off x="2413140" y="1512743"/>
            <a:ext cx="317529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6E532-94DB-5829-D2F2-63EE59E65B40}"/>
              </a:ext>
            </a:extLst>
          </p:cNvPr>
          <p:cNvSpPr txBox="1"/>
          <p:nvPr/>
        </p:nvSpPr>
        <p:spPr>
          <a:xfrm>
            <a:off x="2413139" y="1910852"/>
            <a:ext cx="61910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Vertical Detail and the Viewing Distance (cont..)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ECC33-771B-B0D0-B69E-2B6AFBE14A56}"/>
              </a:ext>
            </a:extLst>
          </p:cNvPr>
          <p:cNvSpPr txBox="1"/>
          <p:nvPr/>
        </p:nvSpPr>
        <p:spPr>
          <a:xfrm>
            <a:off x="2413140" y="230928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63D9F-980A-A8AE-348D-B138CAF12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805" y="2481397"/>
            <a:ext cx="7925903" cy="3455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E2A7067-5522-22EC-4993-7B8439AB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245A6C-545B-4719-82C7-2DF051888581}" type="slidenum">
              <a:rPr/>
              <a:t>100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91A1693-3B6E-40DB-E17F-8AD441C9D8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6A3F3-738B-21D0-A7E6-82B3B9C61BD1}"/>
              </a:ext>
            </a:extLst>
          </p:cNvPr>
          <p:cNvSpPr txBox="1"/>
          <p:nvPr/>
        </p:nvSpPr>
        <p:spPr>
          <a:xfrm>
            <a:off x="2184856" y="1513071"/>
            <a:ext cx="41057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34FFF-FD9D-7CEF-C345-9D735E68A68B}"/>
              </a:ext>
            </a:extLst>
          </p:cNvPr>
          <p:cNvSpPr txBox="1"/>
          <p:nvPr/>
        </p:nvSpPr>
        <p:spPr>
          <a:xfrm>
            <a:off x="2184857" y="1982048"/>
            <a:ext cx="47143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Horizontal Detail and Picture Width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22DC1-1286-CAE2-7EF8-3DABF601AC01}"/>
              </a:ext>
            </a:extLst>
          </p:cNvPr>
          <p:cNvSpPr txBox="1"/>
          <p:nvPr/>
        </p:nvSpPr>
        <p:spPr>
          <a:xfrm>
            <a:off x="2184856" y="245102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A934F-8C72-F644-6083-F66D30EEC3F4}"/>
              </a:ext>
            </a:extLst>
          </p:cNvPr>
          <p:cNvSpPr txBox="1"/>
          <p:nvPr/>
        </p:nvSpPr>
        <p:spPr>
          <a:xfrm>
            <a:off x="3014710" y="2451024"/>
            <a:ext cx="63310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Picture width chosen for the conventional television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B5544-9B56-BFEB-3FBC-6C30F93459BD}"/>
              </a:ext>
            </a:extLst>
          </p:cNvPr>
          <p:cNvSpPr txBox="1"/>
          <p:nvPr/>
        </p:nvSpPr>
        <p:spPr>
          <a:xfrm>
            <a:off x="2184856" y="2946127"/>
            <a:ext cx="13805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services 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53AC3-49D1-9CC7-48D8-324802F4EF47}"/>
              </a:ext>
            </a:extLst>
          </p:cNvPr>
          <p:cNvSpPr txBox="1"/>
          <p:nvPr/>
        </p:nvSpPr>
        <p:spPr>
          <a:xfrm>
            <a:off x="3645019" y="2847825"/>
            <a:ext cx="365209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4/3  *  picture  height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0A77F-7F14-99C3-27A3-2A191E8C0B44}"/>
              </a:ext>
            </a:extLst>
          </p:cNvPr>
          <p:cNvSpPr txBox="1"/>
          <p:nvPr/>
        </p:nvSpPr>
        <p:spPr>
          <a:xfrm>
            <a:off x="7135238" y="2946127"/>
            <a:ext cx="24672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Using  the  aspect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612FC-11BC-8BC8-E9F4-40989C543509}"/>
              </a:ext>
            </a:extLst>
          </p:cNvPr>
          <p:cNvSpPr txBox="1"/>
          <p:nvPr/>
        </p:nvSpPr>
        <p:spPr>
          <a:xfrm>
            <a:off x="2184856" y="3363177"/>
            <a:ext cx="729276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ratio, we can determine the horizontal field of view from 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8FB359-3FC8-F3AA-7063-91A2CAB5E47A}"/>
              </a:ext>
            </a:extLst>
          </p:cNvPr>
          <p:cNvSpPr txBox="1"/>
          <p:nvPr/>
        </p:nvSpPr>
        <p:spPr>
          <a:xfrm>
            <a:off x="2184857" y="3753774"/>
            <a:ext cx="22036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horizontal angle.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0C408-99ED-4BFD-09DE-DED9BB790DBC}"/>
              </a:ext>
            </a:extLst>
          </p:cNvPr>
          <p:cNvSpPr txBox="1"/>
          <p:nvPr/>
        </p:nvSpPr>
        <p:spPr>
          <a:xfrm>
            <a:off x="2184856" y="422307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8067E-DE7D-EEA7-7B12-A70C472BA864}"/>
              </a:ext>
            </a:extLst>
          </p:cNvPr>
          <p:cNvSpPr txBox="1"/>
          <p:nvPr/>
        </p:nvSpPr>
        <p:spPr>
          <a:xfrm>
            <a:off x="3014710" y="4223077"/>
            <a:ext cx="66103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horizontal  detail  or  the  picture  width  is  again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546504-201F-B8F3-D214-C4A4F3A51BCA}"/>
              </a:ext>
            </a:extLst>
          </p:cNvPr>
          <p:cNvSpPr txBox="1"/>
          <p:nvPr/>
        </p:nvSpPr>
        <p:spPr>
          <a:xfrm>
            <a:off x="2184856" y="4613999"/>
            <a:ext cx="76043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dependent  upon  the  aspect  ratio  and  is  given  by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aspect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754276-1D7D-0054-8BFE-BCB353A594F7}"/>
              </a:ext>
            </a:extLst>
          </p:cNvPr>
          <p:cNvSpPr txBox="1"/>
          <p:nvPr/>
        </p:nvSpPr>
        <p:spPr>
          <a:xfrm>
            <a:off x="2184856" y="5004596"/>
            <a:ext cx="3133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ratio*height of picture.  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789F011E-0E00-78B5-A59D-060720D3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910E2F-8F01-4A0C-B3BD-771EE0CCB39A}" type="slidenum">
              <a:rPr/>
              <a:t>101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B37A8EC-5390-8EA7-4983-BC1C837365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5D812-EA40-7022-0C39-C4C4DD60976E}"/>
              </a:ext>
            </a:extLst>
          </p:cNvPr>
          <p:cNvSpPr txBox="1"/>
          <p:nvPr/>
        </p:nvSpPr>
        <p:spPr>
          <a:xfrm>
            <a:off x="2184857" y="1379823"/>
            <a:ext cx="37639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191F6-E17D-7BED-4E12-7029188CB4F7}"/>
              </a:ext>
            </a:extLst>
          </p:cNvPr>
          <p:cNvSpPr txBox="1"/>
          <p:nvPr/>
        </p:nvSpPr>
        <p:spPr>
          <a:xfrm>
            <a:off x="2184856" y="1764215"/>
            <a:ext cx="415934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 Total Detail Content of the Image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0652F-6E5A-B3FE-BDE2-0D388D7AE5A4}"/>
              </a:ext>
            </a:extLst>
          </p:cNvPr>
          <p:cNvSpPr txBox="1"/>
          <p:nvPr/>
        </p:nvSpPr>
        <p:spPr>
          <a:xfrm>
            <a:off x="2184856" y="214860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B7C7A-643C-E013-DB5E-02B7157E2659}"/>
              </a:ext>
            </a:extLst>
          </p:cNvPr>
          <p:cNvSpPr txBox="1"/>
          <p:nvPr/>
        </p:nvSpPr>
        <p:spPr>
          <a:xfrm>
            <a:off x="3014710" y="2148606"/>
            <a:ext cx="64443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vertical resolution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 equal to the number of picture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B9C33-ED37-5373-0E29-429B1DDA3228}"/>
              </a:ext>
            </a:extLst>
          </p:cNvPr>
          <p:cNvSpPr txBox="1"/>
          <p:nvPr/>
        </p:nvSpPr>
        <p:spPr>
          <a:xfrm>
            <a:off x="2184856" y="2468986"/>
            <a:ext cx="711290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elements separately presented in the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picture height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while 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87E28-FB85-3C66-F793-F7B6BEF358DE}"/>
              </a:ext>
            </a:extLst>
          </p:cNvPr>
          <p:cNvSpPr txBox="1"/>
          <p:nvPr/>
        </p:nvSpPr>
        <p:spPr>
          <a:xfrm>
            <a:off x="2184856" y="2789039"/>
            <a:ext cx="86780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15EBD-B5C3-1573-21A8-53B3661209C7}"/>
              </a:ext>
            </a:extLst>
          </p:cNvPr>
          <p:cNvSpPr txBox="1"/>
          <p:nvPr/>
        </p:nvSpPr>
        <p:spPr>
          <a:xfrm>
            <a:off x="3222092" y="2789039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927A8-F01F-E7AF-FF84-94C204CE88DC}"/>
              </a:ext>
            </a:extLst>
          </p:cNvPr>
          <p:cNvSpPr txBox="1"/>
          <p:nvPr/>
        </p:nvSpPr>
        <p:spPr>
          <a:xfrm>
            <a:off x="3612035" y="2789039"/>
            <a:ext cx="10385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elements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106EA8-D709-BB20-5912-6986DFA5999C}"/>
              </a:ext>
            </a:extLst>
          </p:cNvPr>
          <p:cNvSpPr txBox="1"/>
          <p:nvPr/>
        </p:nvSpPr>
        <p:spPr>
          <a:xfrm>
            <a:off x="4817788" y="2789039"/>
            <a:ext cx="19922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56A2B-A2C4-BF39-C641-61EB4474D583}"/>
              </a:ext>
            </a:extLst>
          </p:cNvPr>
          <p:cNvSpPr txBox="1"/>
          <p:nvPr/>
        </p:nvSpPr>
        <p:spPr>
          <a:xfrm>
            <a:off x="5192381" y="2789039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DF657-201E-DD79-0BD4-45611FED7D80}"/>
              </a:ext>
            </a:extLst>
          </p:cNvPr>
          <p:cNvSpPr txBox="1"/>
          <p:nvPr/>
        </p:nvSpPr>
        <p:spPr>
          <a:xfrm>
            <a:off x="5722104" y="2789039"/>
            <a:ext cx="85331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B9900-5D4E-7869-FEFD-75A75DC5D064}"/>
              </a:ext>
            </a:extLst>
          </p:cNvPr>
          <p:cNvSpPr txBox="1"/>
          <p:nvPr/>
        </p:nvSpPr>
        <p:spPr>
          <a:xfrm>
            <a:off x="6745296" y="2789039"/>
            <a:ext cx="66806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width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B7903-BD5D-3C46-0450-B54448F45BF5}"/>
              </a:ext>
            </a:extLst>
          </p:cNvPr>
          <p:cNvSpPr txBox="1"/>
          <p:nvPr/>
        </p:nvSpPr>
        <p:spPr>
          <a:xfrm>
            <a:off x="7585927" y="2789039"/>
            <a:ext cx="184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DDBB17-215F-FE64-8472-01816A8FE8C5}"/>
              </a:ext>
            </a:extLst>
          </p:cNvPr>
          <p:cNvSpPr txBox="1"/>
          <p:nvPr/>
        </p:nvSpPr>
        <p:spPr>
          <a:xfrm>
            <a:off x="7946803" y="2789039"/>
            <a:ext cx="62626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equal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BD045-2AC7-2F35-8FC4-4E2D5E25ED4E}"/>
              </a:ext>
            </a:extLst>
          </p:cNvPr>
          <p:cNvSpPr txBox="1"/>
          <p:nvPr/>
        </p:nvSpPr>
        <p:spPr>
          <a:xfrm>
            <a:off x="8744652" y="2789039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9B06DB-27FD-37A9-CDE9-94956BFA2F3E}"/>
              </a:ext>
            </a:extLst>
          </p:cNvPr>
          <p:cNvSpPr txBox="1"/>
          <p:nvPr/>
        </p:nvSpPr>
        <p:spPr>
          <a:xfrm>
            <a:off x="9131983" y="2789039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CD8AB-A110-CA5A-D513-4EEBDA090015}"/>
              </a:ext>
            </a:extLst>
          </p:cNvPr>
          <p:cNvSpPr txBox="1"/>
          <p:nvPr/>
        </p:nvSpPr>
        <p:spPr>
          <a:xfrm>
            <a:off x="2184856" y="3109094"/>
            <a:ext cx="524797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horizontal resolution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times the aspect ratio.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D2C6DB-5B39-BC65-AF00-95789A305E3A}"/>
              </a:ext>
            </a:extLst>
          </p:cNvPr>
          <p:cNvSpPr txBox="1"/>
          <p:nvPr/>
        </p:nvSpPr>
        <p:spPr>
          <a:xfrm>
            <a:off x="2184856" y="3493484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380E8-02D1-57E4-3AF3-9CC8CFE31ACD}"/>
              </a:ext>
            </a:extLst>
          </p:cNvPr>
          <p:cNvSpPr txBox="1"/>
          <p:nvPr/>
        </p:nvSpPr>
        <p:spPr>
          <a:xfrm>
            <a:off x="3014710" y="3493484"/>
            <a:ext cx="641650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product of horizontal and vertical elements gives the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E04A61-A0D3-DD47-C164-FF4BF16659A2}"/>
              </a:ext>
            </a:extLst>
          </p:cNvPr>
          <p:cNvSpPr txBox="1"/>
          <p:nvPr/>
        </p:nvSpPr>
        <p:spPr>
          <a:xfrm>
            <a:off x="2184856" y="3813865"/>
            <a:ext cx="442313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total picture elements in the image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A14BF-CFE3-951A-B910-0745F2975B4E}"/>
              </a:ext>
            </a:extLst>
          </p:cNvPr>
          <p:cNvSpPr txBox="1"/>
          <p:nvPr/>
        </p:nvSpPr>
        <p:spPr>
          <a:xfrm>
            <a:off x="2184856" y="419825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BAF37-EF27-986D-C371-F905C76479CC}"/>
              </a:ext>
            </a:extLst>
          </p:cNvPr>
          <p:cNvSpPr txBox="1"/>
          <p:nvPr/>
        </p:nvSpPr>
        <p:spPr>
          <a:xfrm>
            <a:off x="3014710" y="4198256"/>
            <a:ext cx="64877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total  detail  content  of  the  image  is  given  by  the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BE0AE1-053B-58BA-6176-BE1A4592DE08}"/>
              </a:ext>
            </a:extLst>
          </p:cNvPr>
          <p:cNvSpPr txBox="1"/>
          <p:nvPr/>
        </p:nvSpPr>
        <p:spPr>
          <a:xfrm>
            <a:off x="2184856" y="4518637"/>
            <a:ext cx="734156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number of pixels used to represent the image and is given by the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2C0002-0F19-3EAB-14F4-A418A9BF1412}"/>
              </a:ext>
            </a:extLst>
          </p:cNvPr>
          <p:cNvSpPr txBox="1"/>
          <p:nvPr/>
        </p:nvSpPr>
        <p:spPr>
          <a:xfrm>
            <a:off x="2184856" y="4839017"/>
            <a:ext cx="132311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resolution.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80888D-779A-6E88-8DE0-AEDC5EFEA0F1}"/>
              </a:ext>
            </a:extLst>
          </p:cNvPr>
          <p:cNvSpPr txBox="1"/>
          <p:nvPr/>
        </p:nvSpPr>
        <p:spPr>
          <a:xfrm>
            <a:off x="2184856" y="522340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790A79-7A92-E91E-AFB5-B8B3E4CEE711}"/>
              </a:ext>
            </a:extLst>
          </p:cNvPr>
          <p:cNvSpPr txBox="1"/>
          <p:nvPr/>
        </p:nvSpPr>
        <p:spPr>
          <a:xfrm>
            <a:off x="3014710" y="5223408"/>
            <a:ext cx="680064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Thus  total  detail  content  of  the  image  is  the  product  of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86DC50-AA84-835D-6EBF-EE0EC286A49C}"/>
              </a:ext>
            </a:extLst>
          </p:cNvPr>
          <p:cNvSpPr txBox="1"/>
          <p:nvPr/>
        </p:nvSpPr>
        <p:spPr>
          <a:xfrm>
            <a:off x="2184856" y="5545747"/>
            <a:ext cx="45302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Vertical Detail * Horizontal Detail.  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093C58-8CD3-49C7-75FB-EBD4DFAE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E85E1C-DDE4-4676-BD9E-F2421AD04C22}" type="slidenum">
              <a:rPr/>
              <a:t>102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916DDDD-7EC5-02D5-CAF6-07CAA97E8F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9320D-8EBB-F1E9-625A-DA3A89F2BB8C}"/>
              </a:ext>
            </a:extLst>
          </p:cNvPr>
          <p:cNvSpPr txBox="1"/>
          <p:nvPr/>
        </p:nvSpPr>
        <p:spPr>
          <a:xfrm>
            <a:off x="2347823" y="1445468"/>
            <a:ext cx="37639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F8149-A05D-6C10-2DB4-2085CC39EF16}"/>
              </a:ext>
            </a:extLst>
          </p:cNvPr>
          <p:cNvSpPr txBox="1"/>
          <p:nvPr/>
        </p:nvSpPr>
        <p:spPr>
          <a:xfrm>
            <a:off x="2347822" y="1862191"/>
            <a:ext cx="247580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4.Perception of Depth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DC204-E56F-56B6-3FD3-94E77219D546}"/>
              </a:ext>
            </a:extLst>
          </p:cNvPr>
          <p:cNvSpPr txBox="1"/>
          <p:nvPr/>
        </p:nvSpPr>
        <p:spPr>
          <a:xfrm>
            <a:off x="2347822" y="2278914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79FE3-3270-E96E-B484-DCFB72F7D238}"/>
              </a:ext>
            </a:extLst>
          </p:cNvPr>
          <p:cNvSpPr txBox="1"/>
          <p:nvPr/>
        </p:nvSpPr>
        <p:spPr>
          <a:xfrm>
            <a:off x="3177675" y="2278914"/>
            <a:ext cx="66862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 natural  vision,  perception  of  the  third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spatial(3D/4D)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570E2-BC07-5B22-F5A3-136C2042BC17}"/>
              </a:ext>
            </a:extLst>
          </p:cNvPr>
          <p:cNvSpPr txBox="1"/>
          <p:nvPr/>
        </p:nvSpPr>
        <p:spPr>
          <a:xfrm>
            <a:off x="2347823" y="2626401"/>
            <a:ext cx="725493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dimension, depth,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depends primarily on the angular separation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37FC8-92FF-C1BA-7578-EE5A6C577A3C}"/>
              </a:ext>
            </a:extLst>
          </p:cNvPr>
          <p:cNvSpPr txBox="1"/>
          <p:nvPr/>
        </p:nvSpPr>
        <p:spPr>
          <a:xfrm>
            <a:off x="2347822" y="2973561"/>
            <a:ext cx="624536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the images received by the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two eyes if the viewer.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5EDFE-E944-69C9-BB2A-C66C6206798F}"/>
              </a:ext>
            </a:extLst>
          </p:cNvPr>
          <p:cNvSpPr txBox="1"/>
          <p:nvPr/>
        </p:nvSpPr>
        <p:spPr>
          <a:xfrm>
            <a:off x="2347822" y="3390284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B37C3-35EF-63A2-67EE-07E66EEA8E25}"/>
              </a:ext>
            </a:extLst>
          </p:cNvPr>
          <p:cNvSpPr txBox="1"/>
          <p:nvPr/>
        </p:nvSpPr>
        <p:spPr>
          <a:xfrm>
            <a:off x="3177675" y="3390284"/>
            <a:ext cx="648786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 the  flat  image  television,  a  considerable  degree  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7BB38-C2D4-7350-5A75-3860EB92301C}"/>
              </a:ext>
            </a:extLst>
          </p:cNvPr>
          <p:cNvSpPr txBox="1"/>
          <p:nvPr/>
        </p:nvSpPr>
        <p:spPr>
          <a:xfrm>
            <a:off x="2347823" y="3737771"/>
            <a:ext cx="71992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depth perception is inferred from the perspective appearance of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591103-2064-84AE-6649-E0B52BC8F6C1}"/>
              </a:ext>
            </a:extLst>
          </p:cNvPr>
          <p:cNvSpPr txBox="1"/>
          <p:nvPr/>
        </p:nvSpPr>
        <p:spPr>
          <a:xfrm>
            <a:off x="2347822" y="4084605"/>
            <a:ext cx="223356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subject matter.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A7E4C-2727-4B86-66DC-4E32607802B3}"/>
              </a:ext>
            </a:extLst>
          </p:cNvPr>
          <p:cNvSpPr txBox="1"/>
          <p:nvPr/>
        </p:nvSpPr>
        <p:spPr>
          <a:xfrm>
            <a:off x="2347822" y="450132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BD1FF-70B5-7323-8545-55D0F68E8247}"/>
              </a:ext>
            </a:extLst>
          </p:cNvPr>
          <p:cNvSpPr txBox="1"/>
          <p:nvPr/>
        </p:nvSpPr>
        <p:spPr>
          <a:xfrm>
            <a:off x="3177675" y="4501328"/>
            <a:ext cx="677153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  the  screen  is  two  dimensional  a  special  measure  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DF26E7-BA0E-FB2B-4DB3-1C5E251AA9EE}"/>
              </a:ext>
            </a:extLst>
          </p:cNvPr>
          <p:cNvSpPr txBox="1"/>
          <p:nvPr/>
        </p:nvSpPr>
        <p:spPr>
          <a:xfrm>
            <a:off x="2347823" y="4848488"/>
            <a:ext cx="70524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taken to give the sense of depth. This involves the perspective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00740-3960-7886-45D3-A162906FDF3A}"/>
              </a:ext>
            </a:extLst>
          </p:cNvPr>
          <p:cNvSpPr txBox="1"/>
          <p:nvPr/>
        </p:nvSpPr>
        <p:spPr>
          <a:xfrm>
            <a:off x="2347823" y="5195975"/>
            <a:ext cx="70809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representation of the image content. This is again governed by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D20C3-88AD-56D0-EC02-7B32D4BA5C94}"/>
              </a:ext>
            </a:extLst>
          </p:cNvPr>
          <p:cNvSpPr txBox="1"/>
          <p:nvPr/>
        </p:nvSpPr>
        <p:spPr>
          <a:xfrm>
            <a:off x="2347822" y="5543135"/>
            <a:ext cx="701519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focal length of the lenses and changes in depth of focus 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2A7AF-DC5E-FAA3-2AEF-74DD8529AAB7}"/>
              </a:ext>
            </a:extLst>
          </p:cNvPr>
          <p:cNvSpPr txBox="1"/>
          <p:nvPr/>
        </p:nvSpPr>
        <p:spPr>
          <a:xfrm>
            <a:off x="2347822" y="5890296"/>
            <a:ext cx="106676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camera. 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805176C6-23AB-7D80-132F-2C679355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FEEFDB-6F5E-4B7D-A4EA-7C1168ABCC7F}" type="slidenum">
              <a:rPr/>
              <a:t>103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5FB000B-E039-3ECE-7B25-539BFCCB0B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6A220-20D6-51C6-A5E6-AE61EE87529B}"/>
              </a:ext>
            </a:extLst>
          </p:cNvPr>
          <p:cNvSpPr txBox="1"/>
          <p:nvPr/>
        </p:nvSpPr>
        <p:spPr>
          <a:xfrm>
            <a:off x="2376561" y="1450040"/>
            <a:ext cx="37639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5D4E7-8092-A43E-A28A-E9A3E5F17995}"/>
              </a:ext>
            </a:extLst>
          </p:cNvPr>
          <p:cNvSpPr txBox="1"/>
          <p:nvPr/>
        </p:nvSpPr>
        <p:spPr>
          <a:xfrm>
            <a:off x="2376560" y="1784462"/>
            <a:ext cx="369928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5.Luminance and Chrominance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F2919-EA76-617E-6E51-01672AF7EA90}"/>
              </a:ext>
            </a:extLst>
          </p:cNvPr>
          <p:cNvSpPr txBox="1"/>
          <p:nvPr/>
        </p:nvSpPr>
        <p:spPr>
          <a:xfrm>
            <a:off x="2376561" y="2119213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53FB3-8800-71A3-2395-CF3D46D7E2B1}"/>
              </a:ext>
            </a:extLst>
          </p:cNvPr>
          <p:cNvSpPr txBox="1"/>
          <p:nvPr/>
        </p:nvSpPr>
        <p:spPr>
          <a:xfrm>
            <a:off x="3206414" y="2119213"/>
            <a:ext cx="61164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13494-2BEE-42DE-5395-980D4EE0EC53}"/>
              </a:ext>
            </a:extLst>
          </p:cNvPr>
          <p:cNvSpPr txBox="1"/>
          <p:nvPr/>
        </p:nvSpPr>
        <p:spPr>
          <a:xfrm>
            <a:off x="4097994" y="2119213"/>
            <a:ext cx="6544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0BB5D-9ABD-1D3A-EAF2-0DDAEA746524}"/>
              </a:ext>
            </a:extLst>
          </p:cNvPr>
          <p:cNvSpPr txBox="1"/>
          <p:nvPr/>
        </p:nvSpPr>
        <p:spPr>
          <a:xfrm>
            <a:off x="5033007" y="2119213"/>
            <a:ext cx="184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001C2-7E87-DA48-AA9B-64E2EDAE190F}"/>
              </a:ext>
            </a:extLst>
          </p:cNvPr>
          <p:cNvSpPr txBox="1"/>
          <p:nvPr/>
        </p:nvSpPr>
        <p:spPr>
          <a:xfrm>
            <a:off x="5502964" y="2119213"/>
            <a:ext cx="102457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achieved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FC69F-30CD-E621-798C-11E1675C66EF}"/>
              </a:ext>
            </a:extLst>
          </p:cNvPr>
          <p:cNvSpPr txBox="1"/>
          <p:nvPr/>
        </p:nvSpPr>
        <p:spPr>
          <a:xfrm>
            <a:off x="6802775" y="2119213"/>
            <a:ext cx="86805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C6ECE-53A6-9033-8474-F5B256152738}"/>
              </a:ext>
            </a:extLst>
          </p:cNvPr>
          <p:cNvSpPr txBox="1"/>
          <p:nvPr/>
        </p:nvSpPr>
        <p:spPr>
          <a:xfrm>
            <a:off x="7951703" y="2119213"/>
            <a:ext cx="5833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24564-047D-7AAB-249C-85611E29F557}"/>
              </a:ext>
            </a:extLst>
          </p:cNvPr>
          <p:cNvSpPr txBox="1"/>
          <p:nvPr/>
        </p:nvSpPr>
        <p:spPr>
          <a:xfrm>
            <a:off x="8817480" y="2119213"/>
            <a:ext cx="86786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signals,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88C51-A531-2677-6525-29B7EF2152AF}"/>
              </a:ext>
            </a:extLst>
          </p:cNvPr>
          <p:cNvSpPr txBox="1"/>
          <p:nvPr/>
        </p:nvSpPr>
        <p:spPr>
          <a:xfrm>
            <a:off x="2376561" y="2387013"/>
            <a:ext cx="71261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proportional to the relative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intensities of Red, green and blue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D8C4E7-F778-8D96-661F-8E0E9E61F79B}"/>
              </a:ext>
            </a:extLst>
          </p:cNvPr>
          <p:cNvSpPr txBox="1"/>
          <p:nvPr/>
        </p:nvSpPr>
        <p:spPr>
          <a:xfrm>
            <a:off x="2376561" y="2654814"/>
            <a:ext cx="507709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lights (RGB) in each portion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of the scene.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41812-54A0-56AC-734A-DF0583E3916B}"/>
              </a:ext>
            </a:extLst>
          </p:cNvPr>
          <p:cNvSpPr txBox="1"/>
          <p:nvPr/>
        </p:nvSpPr>
        <p:spPr>
          <a:xfrm>
            <a:off x="2376561" y="2988910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8BFFE-E89E-9667-144B-473CC40261C7}"/>
              </a:ext>
            </a:extLst>
          </p:cNvPr>
          <p:cNvSpPr txBox="1"/>
          <p:nvPr/>
        </p:nvSpPr>
        <p:spPr>
          <a:xfrm>
            <a:off x="3206415" y="2988910"/>
            <a:ext cx="648696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During the transmission of the signals from the camera 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12D12-7772-FCED-A7FE-DAED1984033C}"/>
              </a:ext>
            </a:extLst>
          </p:cNvPr>
          <p:cNvSpPr txBox="1"/>
          <p:nvPr/>
        </p:nvSpPr>
        <p:spPr>
          <a:xfrm>
            <a:off x="2376561" y="3256711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EED7F7-74BA-742F-C5E9-9AE052C63609}"/>
              </a:ext>
            </a:extLst>
          </p:cNvPr>
          <p:cNvSpPr txBox="1"/>
          <p:nvPr/>
        </p:nvSpPr>
        <p:spPr>
          <a:xfrm>
            <a:off x="2949066" y="3256711"/>
            <a:ext cx="10670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television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70321-DA62-D38D-0FCF-288DBFA25CAD}"/>
              </a:ext>
            </a:extLst>
          </p:cNvPr>
          <p:cNvSpPr txBox="1"/>
          <p:nvPr/>
        </p:nvSpPr>
        <p:spPr>
          <a:xfrm>
            <a:off x="4226667" y="3256711"/>
            <a:ext cx="103829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(display),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18BEF1-1A0D-A697-9645-4F2557EE1270}"/>
              </a:ext>
            </a:extLst>
          </p:cNvPr>
          <p:cNvSpPr txBox="1"/>
          <p:nvPr/>
        </p:nvSpPr>
        <p:spPr>
          <a:xfrm>
            <a:off x="5476838" y="3256711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B25D62-6785-1EED-C2CF-8C14C9630626}"/>
              </a:ext>
            </a:extLst>
          </p:cNvPr>
          <p:cNvSpPr txBox="1"/>
          <p:nvPr/>
        </p:nvSpPr>
        <p:spPr>
          <a:xfrm>
            <a:off x="5837714" y="3256711"/>
            <a:ext cx="92018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different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705958-057C-7329-4EF5-B802F0FFDDAC}"/>
              </a:ext>
            </a:extLst>
          </p:cNvPr>
          <p:cNvSpPr txBox="1"/>
          <p:nvPr/>
        </p:nvSpPr>
        <p:spPr>
          <a:xfrm>
            <a:off x="6971619" y="3256711"/>
            <a:ext cx="85363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division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89EDCE-DDD8-2629-CB73-7EC453F38410}"/>
              </a:ext>
            </a:extLst>
          </p:cNvPr>
          <p:cNvSpPr txBox="1"/>
          <p:nvPr/>
        </p:nvSpPr>
        <p:spPr>
          <a:xfrm>
            <a:off x="8037593" y="3256711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4303ED-9548-8A16-609D-A5BE95409049}"/>
              </a:ext>
            </a:extLst>
          </p:cNvPr>
          <p:cNvSpPr txBox="1"/>
          <p:nvPr/>
        </p:nvSpPr>
        <p:spPr>
          <a:xfrm>
            <a:off x="8469340" y="3256711"/>
            <a:ext cx="79675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19E5D2-0165-5000-AD49-A8070F19C9FB}"/>
              </a:ext>
            </a:extLst>
          </p:cNvPr>
          <p:cNvSpPr txBox="1"/>
          <p:nvPr/>
        </p:nvSpPr>
        <p:spPr>
          <a:xfrm>
            <a:off x="9479795" y="3256711"/>
            <a:ext cx="19922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85AE3-9D8C-6402-A445-32D70D091446}"/>
              </a:ext>
            </a:extLst>
          </p:cNvPr>
          <p:cNvSpPr txBox="1"/>
          <p:nvPr/>
        </p:nvSpPr>
        <p:spPr>
          <a:xfrm>
            <a:off x="2376561" y="3524183"/>
            <a:ext cx="532081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comparison to the RGB division is often used.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DB8464-5FA5-AF3F-3689-34175C906A94}"/>
              </a:ext>
            </a:extLst>
          </p:cNvPr>
          <p:cNvSpPr txBox="1"/>
          <p:nvPr/>
        </p:nvSpPr>
        <p:spPr>
          <a:xfrm>
            <a:off x="2376561" y="3858934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E35B19-3F3D-ECEA-9172-72B1669FD947}"/>
              </a:ext>
            </a:extLst>
          </p:cNvPr>
          <p:cNvSpPr txBox="1"/>
          <p:nvPr/>
        </p:nvSpPr>
        <p:spPr>
          <a:xfrm>
            <a:off x="3206414" y="3858934"/>
            <a:ext cx="52610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DB35AC-2994-5323-6DE5-BDC56FC350AB}"/>
              </a:ext>
            </a:extLst>
          </p:cNvPr>
          <p:cNvSpPr txBox="1"/>
          <p:nvPr/>
        </p:nvSpPr>
        <p:spPr>
          <a:xfrm>
            <a:off x="3976504" y="3858934"/>
            <a:ext cx="62574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02CCEA-8916-242A-DD09-18E4ED5302B6}"/>
              </a:ext>
            </a:extLst>
          </p:cNvPr>
          <p:cNvSpPr txBox="1"/>
          <p:nvPr/>
        </p:nvSpPr>
        <p:spPr>
          <a:xfrm>
            <a:off x="4847834" y="3858934"/>
            <a:ext cx="113742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encoding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D6F3BB-C7B6-9886-D144-99F0E1D5E4D1}"/>
              </a:ext>
            </a:extLst>
          </p:cNvPr>
          <p:cNvSpPr txBox="1"/>
          <p:nvPr/>
        </p:nvSpPr>
        <p:spPr>
          <a:xfrm>
            <a:off x="6227657" y="3858934"/>
            <a:ext cx="79605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during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E10C7E-1CE2-92F6-49AB-E580305341B8}"/>
              </a:ext>
            </a:extLst>
          </p:cNvPr>
          <p:cNvSpPr txBox="1"/>
          <p:nvPr/>
        </p:nvSpPr>
        <p:spPr>
          <a:xfrm>
            <a:off x="7267505" y="3858934"/>
            <a:ext cx="15930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447D21-43E9-C51B-0DC4-C9C41E8B2435}"/>
              </a:ext>
            </a:extLst>
          </p:cNvPr>
          <p:cNvSpPr txBox="1"/>
          <p:nvPr/>
        </p:nvSpPr>
        <p:spPr>
          <a:xfrm>
            <a:off x="9097038" y="3858934"/>
            <a:ext cx="5833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CE7E75-4DBA-69E8-2C6D-1291B5311013}"/>
              </a:ext>
            </a:extLst>
          </p:cNvPr>
          <p:cNvSpPr txBox="1"/>
          <p:nvPr/>
        </p:nvSpPr>
        <p:spPr>
          <a:xfrm>
            <a:off x="2376561" y="4126408"/>
            <a:ext cx="366946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 and chrominance.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7F9EA5-D5B9-DE44-0087-561A929166F1}"/>
              </a:ext>
            </a:extLst>
          </p:cNvPr>
          <p:cNvSpPr txBox="1"/>
          <p:nvPr/>
        </p:nvSpPr>
        <p:spPr>
          <a:xfrm>
            <a:off x="2376561" y="446115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8BB956-33C7-CBBA-371B-980FB602D929}"/>
              </a:ext>
            </a:extLst>
          </p:cNvPr>
          <p:cNvSpPr txBox="1"/>
          <p:nvPr/>
        </p:nvSpPr>
        <p:spPr>
          <a:xfrm>
            <a:off x="3206414" y="4461158"/>
            <a:ext cx="650043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term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 used to refer to the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brightness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of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AC4234-9B44-863E-05F1-611F3D60B456}"/>
              </a:ext>
            </a:extLst>
          </p:cNvPr>
          <p:cNvSpPr txBox="1"/>
          <p:nvPr/>
        </p:nvSpPr>
        <p:spPr>
          <a:xfrm>
            <a:off x="2376561" y="4728631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2301C2-1147-FEB4-0614-2394376FF1D8}"/>
              </a:ext>
            </a:extLst>
          </p:cNvPr>
          <p:cNvSpPr txBox="1"/>
          <p:nvPr/>
        </p:nvSpPr>
        <p:spPr>
          <a:xfrm>
            <a:off x="2722089" y="4728631"/>
            <a:ext cx="83933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source,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8A05F2-02A4-95E5-03D4-E36819DFAB6C}"/>
              </a:ext>
            </a:extLst>
          </p:cNvPr>
          <p:cNvSpPr txBox="1"/>
          <p:nvPr/>
        </p:nvSpPr>
        <p:spPr>
          <a:xfrm>
            <a:off x="3759324" y="4728631"/>
            <a:ext cx="427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849067-3CD4-A8E8-95E6-91C5E9E122F7}"/>
              </a:ext>
            </a:extLst>
          </p:cNvPr>
          <p:cNvSpPr txBox="1"/>
          <p:nvPr/>
        </p:nvSpPr>
        <p:spPr>
          <a:xfrm>
            <a:off x="4387021" y="4728631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E1152B-0135-015E-97F0-CA87A3D21516}"/>
              </a:ext>
            </a:extLst>
          </p:cNvPr>
          <p:cNvSpPr txBox="1"/>
          <p:nvPr/>
        </p:nvSpPr>
        <p:spPr>
          <a:xfrm>
            <a:off x="4944504" y="4728631"/>
            <a:ext cx="62574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49A329-C019-CE30-B12B-F928F26B3ADC}"/>
              </a:ext>
            </a:extLst>
          </p:cNvPr>
          <p:cNvSpPr txBox="1"/>
          <p:nvPr/>
        </p:nvSpPr>
        <p:spPr>
          <a:xfrm>
            <a:off x="5768479" y="4728631"/>
            <a:ext cx="14075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631B9D-0DD3-DBC7-7552-163ABB4F4EA9}"/>
              </a:ext>
            </a:extLst>
          </p:cNvPr>
          <p:cNvSpPr txBox="1"/>
          <p:nvPr/>
        </p:nvSpPr>
        <p:spPr>
          <a:xfrm>
            <a:off x="7369727" y="4728631"/>
            <a:ext cx="184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3B1EB3-32DD-246A-8058-893BF2F41175}"/>
              </a:ext>
            </a:extLst>
          </p:cNvPr>
          <p:cNvSpPr txBox="1"/>
          <p:nvPr/>
        </p:nvSpPr>
        <p:spPr>
          <a:xfrm>
            <a:off x="7758364" y="4728631"/>
            <a:ext cx="89614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referred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740541-B929-3D9E-B127-8F80282837AB}"/>
              </a:ext>
            </a:extLst>
          </p:cNvPr>
          <p:cNvSpPr txBox="1"/>
          <p:nvPr/>
        </p:nvSpPr>
        <p:spPr>
          <a:xfrm>
            <a:off x="8852098" y="4728631"/>
            <a:ext cx="2703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FCBFCA-8EE7-5371-CCBA-725295AE45FF}"/>
              </a:ext>
            </a:extLst>
          </p:cNvPr>
          <p:cNvSpPr txBox="1"/>
          <p:nvPr/>
        </p:nvSpPr>
        <p:spPr>
          <a:xfrm>
            <a:off x="9323688" y="4728631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9AE088-6C10-8A07-D5FC-EAEE4BFB31DF}"/>
              </a:ext>
            </a:extLst>
          </p:cNvPr>
          <p:cNvSpPr txBox="1"/>
          <p:nvPr/>
        </p:nvSpPr>
        <p:spPr>
          <a:xfrm>
            <a:off x="2376561" y="4996431"/>
            <a:ext cx="180639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chrominance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6DC986-02BD-5EA7-F92E-0B88BAF19A92}"/>
              </a:ext>
            </a:extLst>
          </p:cNvPr>
          <p:cNvSpPr txBox="1"/>
          <p:nvPr/>
        </p:nvSpPr>
        <p:spPr>
          <a:xfrm>
            <a:off x="2376561" y="5331181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2F4D0A-936F-5760-5BBA-BFCD419A2162}"/>
              </a:ext>
            </a:extLst>
          </p:cNvPr>
          <p:cNvSpPr txBox="1"/>
          <p:nvPr/>
        </p:nvSpPr>
        <p:spPr>
          <a:xfrm>
            <a:off x="3206414" y="5331181"/>
            <a:ext cx="641618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Human eye however is more sensitive to luminance than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642DD8-06A1-D16F-536F-A8D40EFD4382}"/>
              </a:ext>
            </a:extLst>
          </p:cNvPr>
          <p:cNvSpPr txBox="1"/>
          <p:nvPr/>
        </p:nvSpPr>
        <p:spPr>
          <a:xfrm>
            <a:off x="2376561" y="5598655"/>
            <a:ext cx="74642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  chrominance.  The  color  encoding  during  transmission  uses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2F432E-ABB6-BB3D-4AD3-3AD1DEF8765D}"/>
              </a:ext>
            </a:extLst>
          </p:cNvPr>
          <p:cNvSpPr txBox="1"/>
          <p:nvPr/>
        </p:nvSpPr>
        <p:spPr>
          <a:xfrm>
            <a:off x="2376561" y="5866128"/>
            <a:ext cx="748352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 and two chrominance signals (for hue and saturation). 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42BD38FD-B731-EB37-1705-7C495D18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4D5016-5A06-42B5-AA15-F70526C5EC74}" type="slidenum">
              <a:rPr/>
              <a:t>104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8C01467-0A7D-14E5-B54D-D26B374C52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0A00C-AF8C-F4C7-97B6-77EC2A494BC1}"/>
              </a:ext>
            </a:extLst>
          </p:cNvPr>
          <p:cNvSpPr txBox="1"/>
          <p:nvPr/>
        </p:nvSpPr>
        <p:spPr>
          <a:xfrm>
            <a:off x="2278259" y="1512743"/>
            <a:ext cx="41057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8118A-EED0-8DB2-804D-B2580C8EA40F}"/>
              </a:ext>
            </a:extLst>
          </p:cNvPr>
          <p:cNvSpPr txBox="1"/>
          <p:nvPr/>
        </p:nvSpPr>
        <p:spPr>
          <a:xfrm>
            <a:off x="2278259" y="1910852"/>
            <a:ext cx="47481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5.Luminance and Chrominance(cont..)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AB334-1B20-5C42-1CC7-844DAF676417}"/>
              </a:ext>
            </a:extLst>
          </p:cNvPr>
          <p:cNvSpPr txBox="1"/>
          <p:nvPr/>
        </p:nvSpPr>
        <p:spPr>
          <a:xfrm>
            <a:off x="2278259" y="230928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82B2C-58C6-C6C0-A06D-B5CA1B97385F}"/>
              </a:ext>
            </a:extLst>
          </p:cNvPr>
          <p:cNvSpPr txBox="1"/>
          <p:nvPr/>
        </p:nvSpPr>
        <p:spPr>
          <a:xfrm>
            <a:off x="3108113" y="2309286"/>
            <a:ext cx="6206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37806-4E5A-886D-28F5-D70743A8696D}"/>
              </a:ext>
            </a:extLst>
          </p:cNvPr>
          <p:cNvSpPr txBox="1"/>
          <p:nvPr/>
        </p:nvSpPr>
        <p:spPr>
          <a:xfrm>
            <a:off x="3918045" y="2309286"/>
            <a:ext cx="12723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2C41D-DC48-D0B0-1191-86E4E1A1C8E1}"/>
              </a:ext>
            </a:extLst>
          </p:cNvPr>
          <p:cNvSpPr txBox="1"/>
          <p:nvPr/>
        </p:nvSpPr>
        <p:spPr>
          <a:xfrm>
            <a:off x="5180952" y="2461148"/>
            <a:ext cx="51745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59124-4912-395A-4CB0-B7B31B2B2441}"/>
              </a:ext>
            </a:extLst>
          </p:cNvPr>
          <p:cNvSpPr txBox="1"/>
          <p:nvPr/>
        </p:nvSpPr>
        <p:spPr>
          <a:xfrm>
            <a:off x="5330201" y="2309286"/>
            <a:ext cx="2791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728FB-83B0-9FB3-8A0A-643021589631}"/>
              </a:ext>
            </a:extLst>
          </p:cNvPr>
          <p:cNvSpPr txBox="1"/>
          <p:nvPr/>
        </p:nvSpPr>
        <p:spPr>
          <a:xfrm>
            <a:off x="5606492" y="2461148"/>
            <a:ext cx="93102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8B3E3-FA4D-7C37-9F08-5DCA578759DA}"/>
              </a:ext>
            </a:extLst>
          </p:cNvPr>
          <p:cNvSpPr txBox="1"/>
          <p:nvPr/>
        </p:nvSpPr>
        <p:spPr>
          <a:xfrm>
            <a:off x="5699242" y="2309286"/>
            <a:ext cx="929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2DB4A-408D-951E-D504-AE30A3DCA59E}"/>
              </a:ext>
            </a:extLst>
          </p:cNvPr>
          <p:cNvSpPr txBox="1"/>
          <p:nvPr/>
        </p:nvSpPr>
        <p:spPr>
          <a:xfrm>
            <a:off x="5988271" y="2309286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F75357-027C-CDDF-9D32-AA72F54ECB4B}"/>
              </a:ext>
            </a:extLst>
          </p:cNvPr>
          <p:cNvSpPr txBox="1"/>
          <p:nvPr/>
        </p:nvSpPr>
        <p:spPr>
          <a:xfrm>
            <a:off x="6645034" y="2309286"/>
            <a:ext cx="4344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7F440-020B-E7CB-78F4-C7C936F38EB6}"/>
              </a:ext>
            </a:extLst>
          </p:cNvPr>
          <p:cNvSpPr txBox="1"/>
          <p:nvPr/>
        </p:nvSpPr>
        <p:spPr>
          <a:xfrm>
            <a:off x="7272731" y="2309286"/>
            <a:ext cx="159813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chrominance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85E3A-DC3B-5239-0233-8470898F00F1}"/>
              </a:ext>
            </a:extLst>
          </p:cNvPr>
          <p:cNvSpPr txBox="1"/>
          <p:nvPr/>
        </p:nvSpPr>
        <p:spPr>
          <a:xfrm>
            <a:off x="9052622" y="2309286"/>
            <a:ext cx="5277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DC73FE-6EBD-415E-4E56-6B0AC18F90CE}"/>
              </a:ext>
            </a:extLst>
          </p:cNvPr>
          <p:cNvSpPr txBox="1"/>
          <p:nvPr/>
        </p:nvSpPr>
        <p:spPr>
          <a:xfrm>
            <a:off x="2278259" y="2641097"/>
            <a:ext cx="18926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chrominance(C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CD3D6-830A-0DBB-7167-A8086262F568}"/>
              </a:ext>
            </a:extLst>
          </p:cNvPr>
          <p:cNvSpPr txBox="1"/>
          <p:nvPr/>
        </p:nvSpPr>
        <p:spPr>
          <a:xfrm>
            <a:off x="4154493" y="2792959"/>
            <a:ext cx="103554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4BC8FF-EB2A-8FE8-D76E-FE6CC227FE14}"/>
              </a:ext>
            </a:extLst>
          </p:cNvPr>
          <p:cNvSpPr txBox="1"/>
          <p:nvPr/>
        </p:nvSpPr>
        <p:spPr>
          <a:xfrm>
            <a:off x="4257041" y="2641097"/>
            <a:ext cx="39411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),  and  the  red  chrominance(C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4A9E54-CFCD-890A-41D5-23A80BEB0063}"/>
              </a:ext>
            </a:extLst>
          </p:cNvPr>
          <p:cNvSpPr txBox="1"/>
          <p:nvPr/>
        </p:nvSpPr>
        <p:spPr>
          <a:xfrm>
            <a:off x="8172801" y="2792959"/>
            <a:ext cx="62005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F5B7A5-9F67-45E6-7B59-4C78269D6384}"/>
              </a:ext>
            </a:extLst>
          </p:cNvPr>
          <p:cNvSpPr txBox="1"/>
          <p:nvPr/>
        </p:nvSpPr>
        <p:spPr>
          <a:xfrm>
            <a:off x="8233545" y="2641097"/>
            <a:ext cx="13500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  are  then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38E94F-8321-C27F-8491-2EFE72D303CE}"/>
              </a:ext>
            </a:extLst>
          </p:cNvPr>
          <p:cNvSpPr txBox="1"/>
          <p:nvPr/>
        </p:nvSpPr>
        <p:spPr>
          <a:xfrm>
            <a:off x="2278259" y="2972908"/>
            <a:ext cx="53694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 to represent the video content where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87720-0836-5523-D557-512B6EA53010}"/>
              </a:ext>
            </a:extLst>
          </p:cNvPr>
          <p:cNvSpPr txBox="1"/>
          <p:nvPr/>
        </p:nvSpPr>
        <p:spPr>
          <a:xfrm>
            <a:off x="2278259" y="337134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25D675-EE4F-BCAB-CB1C-9F02B774C70C}"/>
              </a:ext>
            </a:extLst>
          </p:cNvPr>
          <p:cNvSpPr txBox="1"/>
          <p:nvPr/>
        </p:nvSpPr>
        <p:spPr>
          <a:xfrm>
            <a:off x="3854688" y="3783493"/>
            <a:ext cx="217239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B4C7E1-2BCA-4480-594D-641372D03922}"/>
              </a:ext>
            </a:extLst>
          </p:cNvPr>
          <p:cNvSpPr txBox="1"/>
          <p:nvPr/>
        </p:nvSpPr>
        <p:spPr>
          <a:xfrm>
            <a:off x="4068928" y="3958870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1929C4-7768-31C6-C7D3-DE71BDA79F41}"/>
              </a:ext>
            </a:extLst>
          </p:cNvPr>
          <p:cNvSpPr txBox="1"/>
          <p:nvPr/>
        </p:nvSpPr>
        <p:spPr>
          <a:xfrm>
            <a:off x="4176700" y="3783493"/>
            <a:ext cx="1421479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=0.299 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EF020-7989-B243-78A1-A4CD5A9AFDD3}"/>
              </a:ext>
            </a:extLst>
          </p:cNvPr>
          <p:cNvSpPr txBox="1"/>
          <p:nvPr/>
        </p:nvSpPr>
        <p:spPr>
          <a:xfrm>
            <a:off x="5585917" y="3958870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69F520-222F-0947-9546-62F39A67246F}"/>
              </a:ext>
            </a:extLst>
          </p:cNvPr>
          <p:cNvSpPr txBox="1"/>
          <p:nvPr/>
        </p:nvSpPr>
        <p:spPr>
          <a:xfrm>
            <a:off x="5693690" y="3783493"/>
            <a:ext cx="1530034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+ 0.587 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3C1659-681C-AEA5-AB00-8B3451E8C12D}"/>
              </a:ext>
            </a:extLst>
          </p:cNvPr>
          <p:cNvSpPr txBox="1"/>
          <p:nvPr/>
        </p:nvSpPr>
        <p:spPr>
          <a:xfrm>
            <a:off x="7211986" y="3958870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5CFCF2-DB9E-E42D-8A0E-B30AA711720F}"/>
              </a:ext>
            </a:extLst>
          </p:cNvPr>
          <p:cNvSpPr txBox="1"/>
          <p:nvPr/>
        </p:nvSpPr>
        <p:spPr>
          <a:xfrm>
            <a:off x="7319759" y="3783493"/>
            <a:ext cx="1493935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+ 0.144 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02453A-E804-F794-4577-C7F6796E2B68}"/>
              </a:ext>
            </a:extLst>
          </p:cNvPr>
          <p:cNvSpPr txBox="1"/>
          <p:nvPr/>
        </p:nvSpPr>
        <p:spPr>
          <a:xfrm>
            <a:off x="8800824" y="3958870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7E67BB-97B1-4AE3-DB56-66901171CAA9}"/>
              </a:ext>
            </a:extLst>
          </p:cNvPr>
          <p:cNvSpPr txBox="1"/>
          <p:nvPr/>
        </p:nvSpPr>
        <p:spPr>
          <a:xfrm>
            <a:off x="8908598" y="3783493"/>
            <a:ext cx="18094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E3B733-B955-3557-3FD2-ED5EA070705A}"/>
              </a:ext>
            </a:extLst>
          </p:cNvPr>
          <p:cNvSpPr txBox="1"/>
          <p:nvPr/>
        </p:nvSpPr>
        <p:spPr>
          <a:xfrm>
            <a:off x="3854688" y="4248224"/>
            <a:ext cx="23525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A1D9C2-9842-FA8B-B6C9-55BC9F76DC9D}"/>
              </a:ext>
            </a:extLst>
          </p:cNvPr>
          <p:cNvSpPr txBox="1"/>
          <p:nvPr/>
        </p:nvSpPr>
        <p:spPr>
          <a:xfrm>
            <a:off x="4086890" y="4423275"/>
            <a:ext cx="120931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6A7F78-3552-91B9-4CF8-015330D7B169}"/>
              </a:ext>
            </a:extLst>
          </p:cNvPr>
          <p:cNvSpPr txBox="1"/>
          <p:nvPr/>
        </p:nvSpPr>
        <p:spPr>
          <a:xfrm>
            <a:off x="4207073" y="4248224"/>
            <a:ext cx="58843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= 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76C1E7-F2DE-AF3A-8010-8E9A1DF4A3E6}"/>
              </a:ext>
            </a:extLst>
          </p:cNvPr>
          <p:cNvSpPr txBox="1"/>
          <p:nvPr/>
        </p:nvSpPr>
        <p:spPr>
          <a:xfrm>
            <a:off x="4789375" y="4423275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EDE77A-8613-EBF4-52EE-EDB695F89825}"/>
              </a:ext>
            </a:extLst>
          </p:cNvPr>
          <p:cNvSpPr txBox="1"/>
          <p:nvPr/>
        </p:nvSpPr>
        <p:spPr>
          <a:xfrm>
            <a:off x="4897475" y="4248224"/>
            <a:ext cx="416204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-Y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F3B5AC-256A-7769-999A-AF13882B6BC9}"/>
              </a:ext>
            </a:extLst>
          </p:cNvPr>
          <p:cNvSpPr txBox="1"/>
          <p:nvPr/>
        </p:nvSpPr>
        <p:spPr>
          <a:xfrm>
            <a:off x="5309299" y="4423275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71B75B-5FB9-0BCC-4161-3A09CB7D2696}"/>
              </a:ext>
            </a:extLst>
          </p:cNvPr>
          <p:cNvSpPr txBox="1"/>
          <p:nvPr/>
        </p:nvSpPr>
        <p:spPr>
          <a:xfrm>
            <a:off x="5417072" y="4248224"/>
            <a:ext cx="905312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and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718C20-F016-9BEA-991D-E225643A4810}"/>
              </a:ext>
            </a:extLst>
          </p:cNvPr>
          <p:cNvSpPr txBox="1"/>
          <p:nvPr/>
        </p:nvSpPr>
        <p:spPr>
          <a:xfrm>
            <a:off x="3854688" y="4712955"/>
            <a:ext cx="23525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93494E-0F96-AB2C-DD98-CB0351FAC430}"/>
              </a:ext>
            </a:extLst>
          </p:cNvPr>
          <p:cNvSpPr txBox="1"/>
          <p:nvPr/>
        </p:nvSpPr>
        <p:spPr>
          <a:xfrm>
            <a:off x="4086890" y="4888006"/>
            <a:ext cx="72456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3DD3ED-AC60-0F4C-9E1A-1B2E99D9D38B}"/>
              </a:ext>
            </a:extLst>
          </p:cNvPr>
          <p:cNvSpPr txBox="1"/>
          <p:nvPr/>
        </p:nvSpPr>
        <p:spPr>
          <a:xfrm>
            <a:off x="4158739" y="4712955"/>
            <a:ext cx="515975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=R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A56C8-006A-159C-3D8B-FCA2A4974502}"/>
              </a:ext>
            </a:extLst>
          </p:cNvPr>
          <p:cNvSpPr txBox="1"/>
          <p:nvPr/>
        </p:nvSpPr>
        <p:spPr>
          <a:xfrm>
            <a:off x="4669192" y="4888006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8FEC0A-B138-A45B-6D75-6C7C86A1B58B}"/>
              </a:ext>
            </a:extLst>
          </p:cNvPr>
          <p:cNvSpPr txBox="1"/>
          <p:nvPr/>
        </p:nvSpPr>
        <p:spPr>
          <a:xfrm>
            <a:off x="4776965" y="4712955"/>
            <a:ext cx="50667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-Y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1DB129-21FF-6879-0013-605080839567}"/>
              </a:ext>
            </a:extLst>
          </p:cNvPr>
          <p:cNvSpPr txBox="1"/>
          <p:nvPr/>
        </p:nvSpPr>
        <p:spPr>
          <a:xfrm>
            <a:off x="5280233" y="4888006"/>
            <a:ext cx="108748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0BBA44-F86D-96B9-AB63-D44ADD72F442}"/>
              </a:ext>
            </a:extLst>
          </p:cNvPr>
          <p:cNvSpPr txBox="1"/>
          <p:nvPr/>
        </p:nvSpPr>
        <p:spPr>
          <a:xfrm>
            <a:off x="5388333" y="4712955"/>
            <a:ext cx="452368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 </a:t>
            </a:r>
            <a:r>
              <a:rPr lang="en-US" sz="2540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C07B4C-CADC-C1B1-6C30-A387F844EC19}"/>
              </a:ext>
            </a:extLst>
          </p:cNvPr>
          <p:cNvSpPr txBox="1"/>
          <p:nvPr/>
        </p:nvSpPr>
        <p:spPr>
          <a:xfrm>
            <a:off x="2278259" y="51636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8A62911-BE63-FB26-82F6-3D183EC3F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4D4156-2DCB-452A-96AE-4EA01A81658B}" type="slidenum">
              <a:rPr/>
              <a:t>105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79EBEF6-DA9D-73CE-E883-D760EF1E57B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427C4-61A1-29E7-6FDD-321CC9E09888}"/>
              </a:ext>
            </a:extLst>
          </p:cNvPr>
          <p:cNvSpPr txBox="1"/>
          <p:nvPr/>
        </p:nvSpPr>
        <p:spPr>
          <a:xfrm>
            <a:off x="2151872" y="1286747"/>
            <a:ext cx="37639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1AF98-FF06-2F3B-C243-1E200D6D92B5}"/>
              </a:ext>
            </a:extLst>
          </p:cNvPr>
          <p:cNvSpPr txBox="1"/>
          <p:nvPr/>
        </p:nvSpPr>
        <p:spPr>
          <a:xfrm>
            <a:off x="2151871" y="1613332"/>
            <a:ext cx="38934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6.Temporal Aspects of Illumination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42E14-D5D1-495E-0815-7341936FB9DF}"/>
              </a:ext>
            </a:extLst>
          </p:cNvPr>
          <p:cNvSpPr txBox="1"/>
          <p:nvPr/>
        </p:nvSpPr>
        <p:spPr>
          <a:xfrm>
            <a:off x="2151871" y="1939918"/>
            <a:ext cx="1422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6A2EF-62C6-C9B8-12D4-2365284BF21B}"/>
              </a:ext>
            </a:extLst>
          </p:cNvPr>
          <p:cNvSpPr txBox="1"/>
          <p:nvPr/>
        </p:nvSpPr>
        <p:spPr>
          <a:xfrm>
            <a:off x="3021895" y="1939918"/>
            <a:ext cx="63026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contrast to continuous pressure waves of an acoustic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028B0-BB0E-3C95-6D28-335CD1B353EE}"/>
              </a:ext>
            </a:extLst>
          </p:cNvPr>
          <p:cNvSpPr txBox="1"/>
          <p:nvPr/>
        </p:nvSpPr>
        <p:spPr>
          <a:xfrm>
            <a:off x="2151872" y="2201513"/>
            <a:ext cx="73988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62B3C-83BE-33F8-1B83-AC7E845CA666}"/>
              </a:ext>
            </a:extLst>
          </p:cNvPr>
          <p:cNvSpPr txBox="1"/>
          <p:nvPr/>
        </p:nvSpPr>
        <p:spPr>
          <a:xfrm>
            <a:off x="3129015" y="2201513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63DD5-2C62-681B-47C3-5E8EBEF23252}"/>
              </a:ext>
            </a:extLst>
          </p:cNvPr>
          <p:cNvSpPr txBox="1"/>
          <p:nvPr/>
        </p:nvSpPr>
        <p:spPr>
          <a:xfrm>
            <a:off x="3484013" y="2201513"/>
            <a:ext cx="8962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discrete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92176B-14A2-5D95-FAAE-8DA15767FE81}"/>
              </a:ext>
            </a:extLst>
          </p:cNvPr>
          <p:cNvSpPr txBox="1"/>
          <p:nvPr/>
        </p:nvSpPr>
        <p:spPr>
          <a:xfrm>
            <a:off x="4623470" y="2201513"/>
            <a:ext cx="11100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D0A9D-1EB1-E1DC-0024-20CE3EE21821}"/>
              </a:ext>
            </a:extLst>
          </p:cNvPr>
          <p:cNvSpPr txBox="1"/>
          <p:nvPr/>
        </p:nvSpPr>
        <p:spPr>
          <a:xfrm>
            <a:off x="5984352" y="2201513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40F26-FE36-22D3-A5F9-BDDFA20CBC1D}"/>
              </a:ext>
            </a:extLst>
          </p:cNvPr>
          <p:cNvSpPr txBox="1"/>
          <p:nvPr/>
        </p:nvSpPr>
        <p:spPr>
          <a:xfrm>
            <a:off x="6413485" y="2201513"/>
            <a:ext cx="106721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C6D8F-4771-1199-CD31-4D56ED0AAAD8}"/>
              </a:ext>
            </a:extLst>
          </p:cNvPr>
          <p:cNvSpPr txBox="1"/>
          <p:nvPr/>
        </p:nvSpPr>
        <p:spPr>
          <a:xfrm>
            <a:off x="7731257" y="2201513"/>
            <a:ext cx="8962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pictures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03FF35-A50F-3879-05EA-8D33F193DFF5}"/>
              </a:ext>
            </a:extLst>
          </p:cNvPr>
          <p:cNvSpPr txBox="1"/>
          <p:nvPr/>
        </p:nvSpPr>
        <p:spPr>
          <a:xfrm>
            <a:off x="8870387" y="2201513"/>
            <a:ext cx="4126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73AC8-B654-6A79-BD79-8A3889451D3C}"/>
              </a:ext>
            </a:extLst>
          </p:cNvPr>
          <p:cNvSpPr txBox="1"/>
          <p:nvPr/>
        </p:nvSpPr>
        <p:spPr>
          <a:xfrm>
            <a:off x="9506576" y="2201513"/>
            <a:ext cx="2846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FD4063-C98C-4799-1635-EC6597945AC2}"/>
              </a:ext>
            </a:extLst>
          </p:cNvPr>
          <p:cNvSpPr txBox="1"/>
          <p:nvPr/>
        </p:nvSpPr>
        <p:spPr>
          <a:xfrm>
            <a:off x="2151871" y="2462781"/>
            <a:ext cx="436831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perceived as a continuous sequence.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5BB05-2066-78AF-2598-F68561720CD6}"/>
              </a:ext>
            </a:extLst>
          </p:cNvPr>
          <p:cNvSpPr txBox="1"/>
          <p:nvPr/>
        </p:nvSpPr>
        <p:spPr>
          <a:xfrm>
            <a:off x="2151871" y="278936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0A029-C338-A6F7-DA38-260F875C30B6}"/>
              </a:ext>
            </a:extLst>
          </p:cNvPr>
          <p:cNvSpPr txBox="1"/>
          <p:nvPr/>
        </p:nvSpPr>
        <p:spPr>
          <a:xfrm>
            <a:off x="3021895" y="2789366"/>
            <a:ext cx="634423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property is used in television and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 pictures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B6E0B-B820-500B-A2B3-7E4F54825BE3}"/>
              </a:ext>
            </a:extLst>
          </p:cNvPr>
          <p:cNvSpPr txBox="1"/>
          <p:nvPr/>
        </p:nvSpPr>
        <p:spPr>
          <a:xfrm>
            <a:off x="2151871" y="3050634"/>
            <a:ext cx="749795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rate  of  repetition  of  the  images  must  be  high  enough  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9CFB8A-3CC7-1CCA-B842-4FDABB26349D}"/>
              </a:ext>
            </a:extLst>
          </p:cNvPr>
          <p:cNvSpPr txBox="1"/>
          <p:nvPr/>
        </p:nvSpPr>
        <p:spPr>
          <a:xfrm>
            <a:off x="2151871" y="3311903"/>
            <a:ext cx="122322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guarantee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39E4B3-DB5F-3D87-2305-CB42220F752F}"/>
              </a:ext>
            </a:extLst>
          </p:cNvPr>
          <p:cNvSpPr txBox="1"/>
          <p:nvPr/>
        </p:nvSpPr>
        <p:spPr>
          <a:xfrm>
            <a:off x="3610075" y="3311903"/>
            <a:ext cx="92416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smooth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E3A7D5-4BCC-08F9-80D6-0EF432BAF2E6}"/>
              </a:ext>
            </a:extLst>
          </p:cNvPr>
          <p:cNvSpPr txBox="1"/>
          <p:nvPr/>
        </p:nvSpPr>
        <p:spPr>
          <a:xfrm>
            <a:off x="4756717" y="3311903"/>
            <a:ext cx="85292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38CC17-109A-863B-0497-2857A817CE94}"/>
              </a:ext>
            </a:extLst>
          </p:cNvPr>
          <p:cNvSpPr txBox="1"/>
          <p:nvPr/>
        </p:nvSpPr>
        <p:spPr>
          <a:xfrm>
            <a:off x="5829224" y="3311903"/>
            <a:ext cx="51187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46449-3E4C-E514-ECE4-8A79229122DB}"/>
              </a:ext>
            </a:extLst>
          </p:cNvPr>
          <p:cNvSpPr txBox="1"/>
          <p:nvPr/>
        </p:nvSpPr>
        <p:spPr>
          <a:xfrm>
            <a:off x="6549671" y="3311903"/>
            <a:ext cx="6971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frame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93A3B4-93B0-6500-9C55-3788E997F6D6}"/>
              </a:ext>
            </a:extLst>
          </p:cNvPr>
          <p:cNvSpPr txBox="1"/>
          <p:nvPr/>
        </p:nvSpPr>
        <p:spPr>
          <a:xfrm>
            <a:off x="7458558" y="3311903"/>
            <a:ext cx="2415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FE0870-8D90-C7EB-020E-0591B1BA3858}"/>
              </a:ext>
            </a:extLst>
          </p:cNvPr>
          <p:cNvSpPr txBox="1"/>
          <p:nvPr/>
        </p:nvSpPr>
        <p:spPr>
          <a:xfrm>
            <a:off x="7896183" y="3311903"/>
            <a:ext cx="6971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frame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E27EE1-CE69-DA53-6B21-1514380D53CF}"/>
              </a:ext>
            </a:extLst>
          </p:cNvPr>
          <p:cNvSpPr txBox="1"/>
          <p:nvPr/>
        </p:nvSpPr>
        <p:spPr>
          <a:xfrm>
            <a:off x="8805397" y="3311903"/>
            <a:ext cx="427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A7FF25-5FA9-4E68-3DC8-371F7BB7FF99}"/>
              </a:ext>
            </a:extLst>
          </p:cNvPr>
          <p:cNvSpPr txBox="1"/>
          <p:nvPr/>
        </p:nvSpPr>
        <p:spPr>
          <a:xfrm>
            <a:off x="9434401" y="3311903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8167B-627B-A22C-A7EC-34F66FB97241}"/>
              </a:ext>
            </a:extLst>
          </p:cNvPr>
          <p:cNvSpPr txBox="1"/>
          <p:nvPr/>
        </p:nvSpPr>
        <p:spPr>
          <a:xfrm>
            <a:off x="2151871" y="3573498"/>
            <a:ext cx="731289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persistence of vision extends over the interval between flashes.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308601-2CE5-7A32-5D46-A30E8C24B778}"/>
              </a:ext>
            </a:extLst>
          </p:cNvPr>
          <p:cNvSpPr txBox="1"/>
          <p:nvPr/>
        </p:nvSpPr>
        <p:spPr>
          <a:xfrm>
            <a:off x="2151871" y="389975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8C1164-2313-4B97-ECF7-18B6CD60BCE8}"/>
              </a:ext>
            </a:extLst>
          </p:cNvPr>
          <p:cNvSpPr txBox="1"/>
          <p:nvPr/>
        </p:nvSpPr>
        <p:spPr>
          <a:xfrm>
            <a:off x="3021895" y="3899757"/>
            <a:ext cx="618829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One of the major characteristics of human eye is that if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DE3A1C-E4D0-59C4-5F6C-374E69687B15}"/>
              </a:ext>
            </a:extLst>
          </p:cNvPr>
          <p:cNvSpPr txBox="1"/>
          <p:nvPr/>
        </p:nvSpPr>
        <p:spPr>
          <a:xfrm>
            <a:off x="2151871" y="4161025"/>
            <a:ext cx="731200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still  images  are  shown  in  rapid  succession,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human  eye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A54559-C550-8DD6-A6E5-001916D2AE97}"/>
              </a:ext>
            </a:extLst>
          </p:cNvPr>
          <p:cNvSpPr txBox="1"/>
          <p:nvPr/>
        </p:nvSpPr>
        <p:spPr>
          <a:xfrm>
            <a:off x="2151871" y="4422293"/>
            <a:ext cx="737875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perceive the motion  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i.e. it does not notice the brief cut off of the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354C22-8524-B298-1303-87472B688592}"/>
              </a:ext>
            </a:extLst>
          </p:cNvPr>
          <p:cNvSpPr txBox="1"/>
          <p:nvPr/>
        </p:nvSpPr>
        <p:spPr>
          <a:xfrm>
            <a:off x="2151872" y="4683562"/>
            <a:ext cx="6828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light.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8258C6-AE7C-7171-8DFB-E6845BBC945F}"/>
              </a:ext>
            </a:extLst>
          </p:cNvPr>
          <p:cNvSpPr txBox="1"/>
          <p:nvPr/>
        </p:nvSpPr>
        <p:spPr>
          <a:xfrm>
            <a:off x="2151871" y="5010801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98AB1B-E0A2-51AC-085A-03C15FAC18A7}"/>
              </a:ext>
            </a:extLst>
          </p:cNvPr>
          <p:cNvSpPr txBox="1"/>
          <p:nvPr/>
        </p:nvSpPr>
        <p:spPr>
          <a:xfrm>
            <a:off x="3021895" y="5010801"/>
            <a:ext cx="648222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Thus  if  the  rate  of  succession  is  sufficiently  high  still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A0C406-85FF-17F7-C50B-3F8365543C0C}"/>
              </a:ext>
            </a:extLst>
          </p:cNvPr>
          <p:cNvSpPr txBox="1"/>
          <p:nvPr/>
        </p:nvSpPr>
        <p:spPr>
          <a:xfrm>
            <a:off x="2151872" y="5272069"/>
            <a:ext cx="77110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images  can  be  used  to  represent  motion  as  the  persistence  of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C94FFB-143A-706F-8B2F-78BEB19C9C8E}"/>
              </a:ext>
            </a:extLst>
          </p:cNvPr>
          <p:cNvSpPr txBox="1"/>
          <p:nvPr/>
        </p:nvSpPr>
        <p:spPr>
          <a:xfrm>
            <a:off x="2151872" y="5533337"/>
            <a:ext cx="56483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vision extends over the interval between flashes.  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DF0DC934-66AB-67FF-56ED-0A98E10F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AE8627-07CD-4912-ACAF-973A5ED6A8E2}" type="slidenum">
              <a:rPr/>
              <a:t>106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95D092E-E5B0-CE53-1F19-E9B425DD9E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0659B-C0AA-07EC-DFF8-DE487E678821}"/>
              </a:ext>
            </a:extLst>
          </p:cNvPr>
          <p:cNvSpPr txBox="1"/>
          <p:nvPr/>
        </p:nvSpPr>
        <p:spPr>
          <a:xfrm>
            <a:off x="2119540" y="1314833"/>
            <a:ext cx="37639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18A5C-C7BC-9090-C80E-1B6A1285CD62}"/>
              </a:ext>
            </a:extLst>
          </p:cNvPr>
          <p:cNvSpPr txBox="1"/>
          <p:nvPr/>
        </p:nvSpPr>
        <p:spPr>
          <a:xfrm>
            <a:off x="2119539" y="1736129"/>
            <a:ext cx="261776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7.Continuity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98119-BC15-0020-309A-AA500496EC4D}"/>
              </a:ext>
            </a:extLst>
          </p:cNvPr>
          <p:cNvSpPr txBox="1"/>
          <p:nvPr/>
        </p:nvSpPr>
        <p:spPr>
          <a:xfrm>
            <a:off x="2119539" y="215709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9C069-60A3-3F9D-2A15-4BEB21299349}"/>
              </a:ext>
            </a:extLst>
          </p:cNvPr>
          <p:cNvSpPr txBox="1"/>
          <p:nvPr/>
        </p:nvSpPr>
        <p:spPr>
          <a:xfrm>
            <a:off x="2949392" y="2157097"/>
            <a:ext cx="69679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NTSC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610FE-8649-B953-31FE-80E0C27D1359}"/>
              </a:ext>
            </a:extLst>
          </p:cNvPr>
          <p:cNvSpPr txBox="1"/>
          <p:nvPr/>
        </p:nvSpPr>
        <p:spPr>
          <a:xfrm>
            <a:off x="3972259" y="2157097"/>
            <a:ext cx="102431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ational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E04FC-4804-C5D0-23FA-0BBA6DE71EAF}"/>
              </a:ext>
            </a:extLst>
          </p:cNvPr>
          <p:cNvSpPr txBox="1"/>
          <p:nvPr/>
        </p:nvSpPr>
        <p:spPr>
          <a:xfrm>
            <a:off x="5324975" y="2157097"/>
            <a:ext cx="11523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elevision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49668-19C1-18F5-C412-0A7C5F42287F}"/>
              </a:ext>
            </a:extLst>
          </p:cNvPr>
          <p:cNvSpPr txBox="1"/>
          <p:nvPr/>
        </p:nvSpPr>
        <p:spPr>
          <a:xfrm>
            <a:off x="6801795" y="2157097"/>
            <a:ext cx="9813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D944B-3CC1-F93D-A5BF-07F9C0758476}"/>
              </a:ext>
            </a:extLst>
          </p:cNvPr>
          <p:cNvSpPr txBox="1"/>
          <p:nvPr/>
        </p:nvSpPr>
        <p:spPr>
          <a:xfrm>
            <a:off x="8106830" y="2157097"/>
            <a:ext cx="132260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ommittee)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A87D2-9B0B-1486-308F-68A30544B81F}"/>
              </a:ext>
            </a:extLst>
          </p:cNvPr>
          <p:cNvSpPr txBox="1"/>
          <p:nvPr/>
        </p:nvSpPr>
        <p:spPr>
          <a:xfrm>
            <a:off x="2119539" y="2508177"/>
            <a:ext cx="759643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specified  the  frame  rate  for  maintaining  the  visual-aural  carrier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AECAB-925E-BBAC-A536-3FB91385A332}"/>
              </a:ext>
            </a:extLst>
          </p:cNvPr>
          <p:cNvSpPr txBox="1"/>
          <p:nvPr/>
        </p:nvSpPr>
        <p:spPr>
          <a:xfrm>
            <a:off x="2119539" y="2858929"/>
            <a:ext cx="119526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separation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D0967-61E0-E645-FD55-5A5C55795E9E}"/>
              </a:ext>
            </a:extLst>
          </p:cNvPr>
          <p:cNvSpPr txBox="1"/>
          <p:nvPr/>
        </p:nvSpPr>
        <p:spPr>
          <a:xfrm>
            <a:off x="3484340" y="2858929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C5C4E-7CB5-3A6A-55BF-253C805F1E75}"/>
              </a:ext>
            </a:extLst>
          </p:cNvPr>
          <p:cNvSpPr txBox="1"/>
          <p:nvPr/>
        </p:nvSpPr>
        <p:spPr>
          <a:xfrm>
            <a:off x="3875589" y="2858929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ACCF7F-C749-33FF-DBC6-179D410A1A2C}"/>
              </a:ext>
            </a:extLst>
          </p:cNvPr>
          <p:cNvSpPr txBox="1"/>
          <p:nvPr/>
        </p:nvSpPr>
        <p:spPr>
          <a:xfrm>
            <a:off x="4407924" y="2858929"/>
            <a:ext cx="5260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MHz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7ECE21-0315-87F5-78A2-076F5C4BAF0B}"/>
              </a:ext>
            </a:extLst>
          </p:cNvPr>
          <p:cNvSpPr txBox="1"/>
          <p:nvPr/>
        </p:nvSpPr>
        <p:spPr>
          <a:xfrm>
            <a:off x="5107796" y="2858929"/>
            <a:ext cx="4837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E06F92-6BFE-62DD-2A76-1770525FC515}"/>
              </a:ext>
            </a:extLst>
          </p:cNvPr>
          <p:cNvSpPr txBox="1"/>
          <p:nvPr/>
        </p:nvSpPr>
        <p:spPr>
          <a:xfrm>
            <a:off x="5768806" y="2858929"/>
            <a:ext cx="2846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BC093-4573-76C3-34A7-4D9DF03BCAFA}"/>
              </a:ext>
            </a:extLst>
          </p:cNvPr>
          <p:cNvSpPr txBox="1"/>
          <p:nvPr/>
        </p:nvSpPr>
        <p:spPr>
          <a:xfrm>
            <a:off x="6228964" y="2858929"/>
            <a:ext cx="133767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frames/sec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D412F8-4D26-E2A9-5BDB-1C4F50949715}"/>
              </a:ext>
            </a:extLst>
          </p:cNvPr>
          <p:cNvSpPr txBox="1"/>
          <p:nvPr/>
        </p:nvSpPr>
        <p:spPr>
          <a:xfrm>
            <a:off x="7733544" y="2858929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4CFEFE-1EAA-4CA4-38B4-B6501059419F}"/>
              </a:ext>
            </a:extLst>
          </p:cNvPr>
          <p:cNvSpPr txBox="1"/>
          <p:nvPr/>
        </p:nvSpPr>
        <p:spPr>
          <a:xfrm>
            <a:off x="8266204" y="2858929"/>
            <a:ext cx="4126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C1431-F83F-FB0A-19F4-BE992D0D573B}"/>
              </a:ext>
            </a:extLst>
          </p:cNvPr>
          <p:cNvSpPr txBox="1"/>
          <p:nvPr/>
        </p:nvSpPr>
        <p:spPr>
          <a:xfrm>
            <a:off x="8855037" y="2858929"/>
            <a:ext cx="5693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1A8E08-2BBE-901E-5B80-22ABA103BBF1}"/>
              </a:ext>
            </a:extLst>
          </p:cNvPr>
          <p:cNvSpPr txBox="1"/>
          <p:nvPr/>
        </p:nvSpPr>
        <p:spPr>
          <a:xfrm>
            <a:off x="2119539" y="3209682"/>
            <a:ext cx="26038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changed to 29.97 HZ.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ADDC4C-E11D-095A-7B30-C0F0620FB48E}"/>
              </a:ext>
            </a:extLst>
          </p:cNvPr>
          <p:cNvSpPr txBox="1"/>
          <p:nvPr/>
        </p:nvSpPr>
        <p:spPr>
          <a:xfrm>
            <a:off x="2119539" y="363097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8EA3CF-B84D-9A2D-2981-D52CF112F301}"/>
              </a:ext>
            </a:extLst>
          </p:cNvPr>
          <p:cNvSpPr txBox="1"/>
          <p:nvPr/>
        </p:nvSpPr>
        <p:spPr>
          <a:xfrm>
            <a:off x="2949392" y="3630977"/>
            <a:ext cx="46487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2633F3-445E-CDFB-ACD6-A4E6D3757AE6}"/>
              </a:ext>
            </a:extLst>
          </p:cNvPr>
          <p:cNvSpPr txBox="1"/>
          <p:nvPr/>
        </p:nvSpPr>
        <p:spPr>
          <a:xfrm>
            <a:off x="3647633" y="3630977"/>
            <a:ext cx="81099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1EF899-3BBA-51E9-EE8C-8E374F2C6F0B}"/>
              </a:ext>
            </a:extLst>
          </p:cNvPr>
          <p:cNvSpPr txBox="1"/>
          <p:nvPr/>
        </p:nvSpPr>
        <p:spPr>
          <a:xfrm>
            <a:off x="4699890" y="3630977"/>
            <a:ext cx="123777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lternating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927A0-A5FF-DDA6-B2AE-BD22DE2A8DC3}"/>
              </a:ext>
            </a:extLst>
          </p:cNvPr>
          <p:cNvSpPr txBox="1"/>
          <p:nvPr/>
        </p:nvSpPr>
        <p:spPr>
          <a:xfrm>
            <a:off x="6175076" y="3630977"/>
            <a:ext cx="58310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1331E9-DD43-B9A9-5F48-F0AF53C039DE}"/>
              </a:ext>
            </a:extLst>
          </p:cNvPr>
          <p:cNvSpPr txBox="1"/>
          <p:nvPr/>
        </p:nvSpPr>
        <p:spPr>
          <a:xfrm>
            <a:off x="7001991" y="3630977"/>
            <a:ext cx="92519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adopted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753CB0-E216-6387-3A0D-6C14C396E56E}"/>
              </a:ext>
            </a:extLst>
          </p:cNvPr>
          <p:cNvSpPr txBox="1"/>
          <p:nvPr/>
        </p:nvSpPr>
        <p:spPr>
          <a:xfrm>
            <a:off x="8167576" y="3630977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F16807-6526-F8F7-2DB7-551D25881DBE}"/>
              </a:ext>
            </a:extLst>
          </p:cNvPr>
          <p:cNvSpPr txBox="1"/>
          <p:nvPr/>
        </p:nvSpPr>
        <p:spPr>
          <a:xfrm>
            <a:off x="8769472" y="3630977"/>
            <a:ext cx="65421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frame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2C1916-620D-1C75-B9B9-76BC7EB85588}"/>
              </a:ext>
            </a:extLst>
          </p:cNvPr>
          <p:cNvSpPr txBox="1"/>
          <p:nvPr/>
        </p:nvSpPr>
        <p:spPr>
          <a:xfrm>
            <a:off x="2119539" y="3982057"/>
            <a:ext cx="755463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repetition  rate  of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25  Hz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 and  the  frame  rate  is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25frames/sec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8306C8-000A-1132-2381-65344469CB4D}"/>
              </a:ext>
            </a:extLst>
          </p:cNvPr>
          <p:cNvSpPr txBox="1"/>
          <p:nvPr/>
        </p:nvSpPr>
        <p:spPr>
          <a:xfrm>
            <a:off x="2119539" y="4332810"/>
            <a:ext cx="650165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 motion picture uses frame rate of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50 frames/sec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191A0A-3B24-79CE-6015-95513F000CE4}"/>
              </a:ext>
            </a:extLst>
          </p:cNvPr>
          <p:cNvSpPr txBox="1"/>
          <p:nvPr/>
        </p:nvSpPr>
        <p:spPr>
          <a:xfrm>
            <a:off x="2119539" y="475377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80D73D-07A3-7242-ACF1-170D81746323}"/>
              </a:ext>
            </a:extLst>
          </p:cNvPr>
          <p:cNvSpPr txBox="1"/>
          <p:nvPr/>
        </p:nvSpPr>
        <p:spPr>
          <a:xfrm>
            <a:off x="2949392" y="4753778"/>
            <a:ext cx="637430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 stated above, motion can be represented by showing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BC4801-9345-B34D-0394-66845E70D5D3}"/>
              </a:ext>
            </a:extLst>
          </p:cNvPr>
          <p:cNvSpPr txBox="1"/>
          <p:nvPr/>
        </p:nvSpPr>
        <p:spPr>
          <a:xfrm>
            <a:off x="2119539" y="5105184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C1B458-849F-9BBF-65BE-DE83D26C6D5B}"/>
              </a:ext>
            </a:extLst>
          </p:cNvPr>
          <p:cNvSpPr txBox="1"/>
          <p:nvPr/>
        </p:nvSpPr>
        <p:spPr>
          <a:xfrm>
            <a:off x="2639790" y="5105184"/>
            <a:ext cx="36971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still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141145-D88B-3631-8A51-1CCC02E27A7F}"/>
              </a:ext>
            </a:extLst>
          </p:cNvPr>
          <p:cNvSpPr txBox="1"/>
          <p:nvPr/>
        </p:nvSpPr>
        <p:spPr>
          <a:xfrm>
            <a:off x="3173429" y="5105184"/>
            <a:ext cx="82509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00D9B0-2FDA-6E0C-3D2E-A0F44A2F29B7}"/>
              </a:ext>
            </a:extLst>
          </p:cNvPr>
          <p:cNvSpPr txBox="1"/>
          <p:nvPr/>
        </p:nvSpPr>
        <p:spPr>
          <a:xfrm>
            <a:off x="4157759" y="5105184"/>
            <a:ext cx="19922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AC136C-7A9C-A8D4-13C2-7F6474D7DE2B}"/>
              </a:ext>
            </a:extLst>
          </p:cNvPr>
          <p:cNvSpPr txBox="1"/>
          <p:nvPr/>
        </p:nvSpPr>
        <p:spPr>
          <a:xfrm>
            <a:off x="4522881" y="5105184"/>
            <a:ext cx="5691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rapid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10AA50-23AA-3380-4F79-847330C3D105}"/>
              </a:ext>
            </a:extLst>
          </p:cNvPr>
          <p:cNvSpPr txBox="1"/>
          <p:nvPr/>
        </p:nvSpPr>
        <p:spPr>
          <a:xfrm>
            <a:off x="5254433" y="5105184"/>
            <a:ext cx="133728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succession.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A86D4B-449F-6195-97C3-39BCC4842ECF}"/>
              </a:ext>
            </a:extLst>
          </p:cNvPr>
          <p:cNvSpPr txBox="1"/>
          <p:nvPr/>
        </p:nvSpPr>
        <p:spPr>
          <a:xfrm>
            <a:off x="6747581" y="5105184"/>
            <a:ext cx="4835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A74EC8-B5F3-75BF-54D5-498CCD6F9A44}"/>
              </a:ext>
            </a:extLst>
          </p:cNvPr>
          <p:cNvSpPr txBox="1"/>
          <p:nvPr/>
        </p:nvSpPr>
        <p:spPr>
          <a:xfrm>
            <a:off x="7393242" y="5105184"/>
            <a:ext cx="4126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358378-E07D-EC40-F22D-3633D071F9BA}"/>
              </a:ext>
            </a:extLst>
          </p:cNvPr>
          <p:cNvSpPr txBox="1"/>
          <p:nvPr/>
        </p:nvSpPr>
        <p:spPr>
          <a:xfrm>
            <a:off x="7969992" y="5105184"/>
            <a:ext cx="28469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FE8E50-0E42-155F-CBB5-D1CC57FD7D0A}"/>
              </a:ext>
            </a:extLst>
          </p:cNvPr>
          <p:cNvSpPr txBox="1"/>
          <p:nvPr/>
        </p:nvSpPr>
        <p:spPr>
          <a:xfrm>
            <a:off x="8419699" y="5105184"/>
            <a:ext cx="5693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done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88076C-E982-4E2C-8B9D-1BCA936CE75E}"/>
              </a:ext>
            </a:extLst>
          </p:cNvPr>
          <p:cNvSpPr txBox="1"/>
          <p:nvPr/>
        </p:nvSpPr>
        <p:spPr>
          <a:xfrm>
            <a:off x="9150924" y="5105184"/>
            <a:ext cx="27033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CC0ECF-FC3E-E01F-9EF1-813DD3BB28B4}"/>
              </a:ext>
            </a:extLst>
          </p:cNvPr>
          <p:cNvSpPr txBox="1"/>
          <p:nvPr/>
        </p:nvSpPr>
        <p:spPr>
          <a:xfrm>
            <a:off x="2119539" y="5456264"/>
            <a:ext cx="752122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showing  the  still  images  15  frames  per  second.  Video  motion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2A88AC-4C56-ABE1-137F-6D2174E019CB}"/>
              </a:ext>
            </a:extLst>
          </p:cNvPr>
          <p:cNvSpPr txBox="1"/>
          <p:nvPr/>
        </p:nvSpPr>
        <p:spPr>
          <a:xfrm>
            <a:off x="2119539" y="5807016"/>
            <a:ext cx="709925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seems smooth and is achieved at only 30 frames per second. 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1EDF2A8-848C-B09B-E5B6-0E5FE351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C516BA-3D47-4173-A457-2D84626DC4E3}" type="slidenum">
              <a:rPr/>
              <a:t>107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39D3B5B-3C73-9607-4A5A-ADEEC69D02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F6F0D-875F-6463-4181-E49D0CE76303}"/>
              </a:ext>
            </a:extLst>
          </p:cNvPr>
          <p:cNvSpPr txBox="1"/>
          <p:nvPr/>
        </p:nvSpPr>
        <p:spPr>
          <a:xfrm>
            <a:off x="2217189" y="1347491"/>
            <a:ext cx="37639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38AD9-2595-EA61-74BF-BBA5D7FB579E}"/>
              </a:ext>
            </a:extLst>
          </p:cNvPr>
          <p:cNvSpPr txBox="1"/>
          <p:nvPr/>
        </p:nvSpPr>
        <p:spPr>
          <a:xfrm>
            <a:off x="2217188" y="1742006"/>
            <a:ext cx="110927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8.Flicker</a:t>
            </a:r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510B5-3737-A83C-98FF-85972422A91B}"/>
              </a:ext>
            </a:extLst>
          </p:cNvPr>
          <p:cNvSpPr txBox="1"/>
          <p:nvPr/>
        </p:nvSpPr>
        <p:spPr>
          <a:xfrm>
            <a:off x="2217188" y="2136849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C3842-F9AE-5444-B2C7-CED417081FF2}"/>
              </a:ext>
            </a:extLst>
          </p:cNvPr>
          <p:cNvSpPr txBox="1"/>
          <p:nvPr/>
        </p:nvSpPr>
        <p:spPr>
          <a:xfrm>
            <a:off x="3047041" y="2136849"/>
            <a:ext cx="95327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Through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C7CEF-2D35-A954-F259-840E1F49C3E3}"/>
              </a:ext>
            </a:extLst>
          </p:cNvPr>
          <p:cNvSpPr txBox="1"/>
          <p:nvPr/>
        </p:nvSpPr>
        <p:spPr>
          <a:xfrm>
            <a:off x="4226342" y="2136849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D2ED4-0CB2-65BE-95C4-B5123535BD20}"/>
              </a:ext>
            </a:extLst>
          </p:cNvPr>
          <p:cNvSpPr txBox="1"/>
          <p:nvPr/>
        </p:nvSpPr>
        <p:spPr>
          <a:xfrm>
            <a:off x="4603875" y="2136849"/>
            <a:ext cx="51206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B531E-4AC1-D309-4ADF-EAC5D49FB09C}"/>
              </a:ext>
            </a:extLst>
          </p:cNvPr>
          <p:cNvSpPr txBox="1"/>
          <p:nvPr/>
        </p:nvSpPr>
        <p:spPr>
          <a:xfrm>
            <a:off x="5346530" y="2136849"/>
            <a:ext cx="83933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3AAF5-7FC6-8E45-D82C-085AD2CA644F}"/>
              </a:ext>
            </a:extLst>
          </p:cNvPr>
          <p:cNvSpPr txBox="1"/>
          <p:nvPr/>
        </p:nvSpPr>
        <p:spPr>
          <a:xfrm>
            <a:off x="6413811" y="2136849"/>
            <a:ext cx="1423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E182C2-0010-BCE3-607E-7B54A47967F6}"/>
              </a:ext>
            </a:extLst>
          </p:cNvPr>
          <p:cNvSpPr txBox="1"/>
          <p:nvPr/>
        </p:nvSpPr>
        <p:spPr>
          <a:xfrm>
            <a:off x="6790038" y="2136849"/>
            <a:ext cx="89633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periodic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EE3B4-6B03-A971-38AE-C8D6400AB5E3}"/>
              </a:ext>
            </a:extLst>
          </p:cNvPr>
          <p:cNvSpPr txBox="1"/>
          <p:nvPr/>
        </p:nvSpPr>
        <p:spPr>
          <a:xfrm>
            <a:off x="7914144" y="2136849"/>
            <a:ext cx="116679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fluctuation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42090-CD2A-7F45-A10D-6CED95B6D8F5}"/>
              </a:ext>
            </a:extLst>
          </p:cNvPr>
          <p:cNvSpPr txBox="1"/>
          <p:nvPr/>
        </p:nvSpPr>
        <p:spPr>
          <a:xfrm>
            <a:off x="9305399" y="2136849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9BF5E-AE88-EF32-617C-1B7EE8C75E72}"/>
              </a:ext>
            </a:extLst>
          </p:cNvPr>
          <p:cNvSpPr txBox="1"/>
          <p:nvPr/>
        </p:nvSpPr>
        <p:spPr>
          <a:xfrm>
            <a:off x="2217188" y="2465721"/>
            <a:ext cx="723198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brightness perception, a flicker effect arises. The marginal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53498-9EBB-0414-5E81-C9C6A38721B7}"/>
              </a:ext>
            </a:extLst>
          </p:cNvPr>
          <p:cNvSpPr txBox="1"/>
          <p:nvPr/>
        </p:nvSpPr>
        <p:spPr>
          <a:xfrm>
            <a:off x="2217188" y="2794266"/>
            <a:ext cx="63448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 avoid flicker is at least 50 refresh cycles per second.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7A9E98-5BFA-61FD-2F4C-AEAC1664465F}"/>
              </a:ext>
            </a:extLst>
          </p:cNvPr>
          <p:cNvSpPr txBox="1"/>
          <p:nvPr/>
        </p:nvSpPr>
        <p:spPr>
          <a:xfrm>
            <a:off x="2217188" y="3189107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6AAE7-4C54-B6FF-8D78-2D3BB306C0DF}"/>
              </a:ext>
            </a:extLst>
          </p:cNvPr>
          <p:cNvSpPr txBox="1"/>
          <p:nvPr/>
        </p:nvSpPr>
        <p:spPr>
          <a:xfrm>
            <a:off x="3047041" y="3189107"/>
            <a:ext cx="66463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  achieve  continuous  flicker-free  motion,  we  need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D0C6ED-1E15-9CD4-5E34-C1083CA0A43A}"/>
              </a:ext>
            </a:extLst>
          </p:cNvPr>
          <p:cNvSpPr txBox="1"/>
          <p:nvPr/>
        </p:nvSpPr>
        <p:spPr>
          <a:xfrm>
            <a:off x="2217188" y="3517979"/>
            <a:ext cx="41582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relatively high refresh frequency.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4ACF4-AC08-BAA3-A950-55E0A386A0C1}"/>
              </a:ext>
            </a:extLst>
          </p:cNvPr>
          <p:cNvSpPr txBox="1"/>
          <p:nvPr/>
        </p:nvSpPr>
        <p:spPr>
          <a:xfrm>
            <a:off x="2217188" y="3912168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A5BDFB-0106-8595-9D4D-2AC3672812CF}"/>
              </a:ext>
            </a:extLst>
          </p:cNvPr>
          <p:cNvSpPr txBox="1"/>
          <p:nvPr/>
        </p:nvSpPr>
        <p:spPr>
          <a:xfrm>
            <a:off x="3047041" y="3912168"/>
            <a:ext cx="638783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Movies and television apply some technical measures to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EB9F87-3FB9-8917-276D-857C057769D3}"/>
              </a:ext>
            </a:extLst>
          </p:cNvPr>
          <p:cNvSpPr txBox="1"/>
          <p:nvPr/>
        </p:nvSpPr>
        <p:spPr>
          <a:xfrm>
            <a:off x="2217188" y="4241366"/>
            <a:ext cx="76531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work  with  lower  motion  frequencies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 When  the </a:t>
            </a:r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refresh  rate  of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82DCE-4493-AF8B-C678-368E092B8296}"/>
              </a:ext>
            </a:extLst>
          </p:cNvPr>
          <p:cNvSpPr txBox="1"/>
          <p:nvPr/>
        </p:nvSpPr>
        <p:spPr>
          <a:xfrm>
            <a:off x="2217188" y="4569911"/>
            <a:ext cx="712509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frames is smaller than the eye will notice the cutoff of light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A69443-A47A-4CC9-BFBA-BB74010809E1}"/>
              </a:ext>
            </a:extLst>
          </p:cNvPr>
          <p:cNvSpPr txBox="1"/>
          <p:nvPr/>
        </p:nvSpPr>
        <p:spPr>
          <a:xfrm>
            <a:off x="2217189" y="4898782"/>
            <a:ext cx="720722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between the frames and there arises the flickering rate</a:t>
            </a:r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. 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E6B014-234F-0863-6EFA-2D012D0CA0C2}"/>
              </a:ext>
            </a:extLst>
          </p:cNvPr>
          <p:cNvSpPr txBox="1"/>
          <p:nvPr/>
        </p:nvSpPr>
        <p:spPr>
          <a:xfrm>
            <a:off x="2217188" y="5227980"/>
            <a:ext cx="704180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marginal value to avoid flicker is at least 50  refresh cycles per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A161F2-61D9-7DCA-AD45-A9110C74C686}"/>
              </a:ext>
            </a:extLst>
          </p:cNvPr>
          <p:cNvSpPr txBox="1"/>
          <p:nvPr/>
        </p:nvSpPr>
        <p:spPr>
          <a:xfrm>
            <a:off x="2217188" y="5556525"/>
            <a:ext cx="103868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second.  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E8C644D-F421-53B0-66AD-98BE66F5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99342D-FB41-48AE-8425-DCC7A56361C7}" type="slidenum">
              <a:rPr/>
              <a:t>108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BD5F5116-9E85-8BF0-5212-8D9A227F80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AD812-6121-28E8-66AD-615BFCFF554B}"/>
              </a:ext>
            </a:extLst>
          </p:cNvPr>
          <p:cNvSpPr txBox="1"/>
          <p:nvPr/>
        </p:nvSpPr>
        <p:spPr>
          <a:xfrm>
            <a:off x="2478130" y="1348798"/>
            <a:ext cx="41057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1)Visual Representation(cont..)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AA88C-6170-2BF4-FC7C-19C4147BC5A0}"/>
              </a:ext>
            </a:extLst>
          </p:cNvPr>
          <p:cNvSpPr txBox="1"/>
          <p:nvPr/>
        </p:nvSpPr>
        <p:spPr>
          <a:xfrm>
            <a:off x="2478130" y="1736129"/>
            <a:ext cx="413735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9.Temporal Aspect of Video Bandwidth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5B6B7-7CC4-2CF6-1D32-552AABAD56BC}"/>
              </a:ext>
            </a:extLst>
          </p:cNvPr>
          <p:cNvSpPr txBox="1"/>
          <p:nvPr/>
        </p:nvSpPr>
        <p:spPr>
          <a:xfrm>
            <a:off x="2478130" y="2067613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411EB-D7C7-11C8-BF56-9300F9D062C5}"/>
              </a:ext>
            </a:extLst>
          </p:cNvPr>
          <p:cNvSpPr txBox="1"/>
          <p:nvPr/>
        </p:nvSpPr>
        <p:spPr>
          <a:xfrm>
            <a:off x="3307983" y="2067613"/>
            <a:ext cx="647164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most important factor to determine at which bandwidth 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930D3-0460-136D-3684-A7087314E046}"/>
              </a:ext>
            </a:extLst>
          </p:cNvPr>
          <p:cNvSpPr txBox="1"/>
          <p:nvPr/>
        </p:nvSpPr>
        <p:spPr>
          <a:xfrm>
            <a:off x="2478130" y="2339005"/>
            <a:ext cx="55893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C32D5-772B-A8E6-2BD6-5C0CE28FF137}"/>
              </a:ext>
            </a:extLst>
          </p:cNvPr>
          <p:cNvSpPr txBox="1"/>
          <p:nvPr/>
        </p:nvSpPr>
        <p:spPr>
          <a:xfrm>
            <a:off x="3205435" y="2339005"/>
            <a:ext cx="37696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5B1EC-6DFD-07AE-958D-9B31D4D5A896}"/>
              </a:ext>
            </a:extLst>
          </p:cNvPr>
          <p:cNvSpPr txBox="1"/>
          <p:nvPr/>
        </p:nvSpPr>
        <p:spPr>
          <a:xfrm>
            <a:off x="3754426" y="2339005"/>
            <a:ext cx="26007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C38534-E1EB-DEA3-9636-F8FAC1F4E1C8}"/>
              </a:ext>
            </a:extLst>
          </p:cNvPr>
          <p:cNvSpPr txBox="1"/>
          <p:nvPr/>
        </p:nvSpPr>
        <p:spPr>
          <a:xfrm>
            <a:off x="4185846" y="2339005"/>
            <a:ext cx="115640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046354-8BA8-0AC2-7525-219A84EFAC67}"/>
              </a:ext>
            </a:extLst>
          </p:cNvPr>
          <p:cNvSpPr txBox="1"/>
          <p:nvPr/>
        </p:nvSpPr>
        <p:spPr>
          <a:xfrm>
            <a:off x="5499699" y="2339005"/>
            <a:ext cx="16882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CE8486-9BB5-4554-B214-EAFB8351624D}"/>
              </a:ext>
            </a:extLst>
          </p:cNvPr>
          <p:cNvSpPr txBox="1"/>
          <p:nvPr/>
        </p:nvSpPr>
        <p:spPr>
          <a:xfrm>
            <a:off x="5842286" y="2339005"/>
            <a:ext cx="23378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DD747-E5FE-D073-CE37-0BCF11C9FC19}"/>
              </a:ext>
            </a:extLst>
          </p:cNvPr>
          <p:cNvSpPr txBox="1"/>
          <p:nvPr/>
        </p:nvSpPr>
        <p:spPr>
          <a:xfrm>
            <a:off x="6248885" y="2339005"/>
            <a:ext cx="90960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temporal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C8921-C10C-92A5-A3A0-25C5AD94584B}"/>
              </a:ext>
            </a:extLst>
          </p:cNvPr>
          <p:cNvSpPr txBox="1"/>
          <p:nvPr/>
        </p:nvSpPr>
        <p:spPr>
          <a:xfrm>
            <a:off x="7322045" y="2339005"/>
            <a:ext cx="135152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specification.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5BB34-6405-974C-4B67-1CC37E61AC9F}"/>
              </a:ext>
            </a:extLst>
          </p:cNvPr>
          <p:cNvSpPr txBox="1"/>
          <p:nvPr/>
        </p:nvSpPr>
        <p:spPr>
          <a:xfrm>
            <a:off x="8830544" y="2339005"/>
            <a:ext cx="96154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Temporal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D16D7-0840-58CA-9AA0-0EF5EAA61DC8}"/>
              </a:ext>
            </a:extLst>
          </p:cNvPr>
          <p:cNvSpPr txBox="1"/>
          <p:nvPr/>
        </p:nvSpPr>
        <p:spPr>
          <a:xfrm>
            <a:off x="2478130" y="2610072"/>
            <a:ext cx="740766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specification depends on the rate of the visual system to scan pixels, 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286E46-1D0B-036D-46E5-F8A1235B2EB2}"/>
              </a:ext>
            </a:extLst>
          </p:cNvPr>
          <p:cNvSpPr txBox="1"/>
          <p:nvPr/>
        </p:nvSpPr>
        <p:spPr>
          <a:xfrm>
            <a:off x="2478130" y="2881138"/>
            <a:ext cx="526342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well as on the human eye‟s scanning capabilities.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ECD3F-1668-43B2-AE9F-EA136A3F18D9}"/>
              </a:ext>
            </a:extLst>
          </p:cNvPr>
          <p:cNvSpPr txBox="1"/>
          <p:nvPr/>
        </p:nvSpPr>
        <p:spPr>
          <a:xfrm>
            <a:off x="2478130" y="3212622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A920DA-8FE9-0E87-6D09-C652503A1452}"/>
              </a:ext>
            </a:extLst>
          </p:cNvPr>
          <p:cNvSpPr txBox="1"/>
          <p:nvPr/>
        </p:nvSpPr>
        <p:spPr>
          <a:xfrm>
            <a:off x="3307983" y="3212622"/>
            <a:ext cx="645426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a HDTV (High Definition TV) device, a pixel can be scanned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C40731-ACE0-7ABB-1E10-F212AB9BFB92}"/>
              </a:ext>
            </a:extLst>
          </p:cNvPr>
          <p:cNvSpPr txBox="1"/>
          <p:nvPr/>
        </p:nvSpPr>
        <p:spPr>
          <a:xfrm>
            <a:off x="2478130" y="3483688"/>
            <a:ext cx="712169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 less than a tenth of a millionth of a second. From the human visual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0B9917-15A6-9D10-7EFE-03C413C562C0}"/>
              </a:ext>
            </a:extLst>
          </p:cNvPr>
          <p:cNvSpPr txBox="1"/>
          <p:nvPr/>
        </p:nvSpPr>
        <p:spPr>
          <a:xfrm>
            <a:off x="2478130" y="3755407"/>
            <a:ext cx="710893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perspective, the eye requires that a video frame to be scanned every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CA0503-4E59-6FA9-8671-1B8D1E8B288F}"/>
              </a:ext>
            </a:extLst>
          </p:cNvPr>
          <p:cNvSpPr txBox="1"/>
          <p:nvPr/>
        </p:nvSpPr>
        <p:spPr>
          <a:xfrm>
            <a:off x="2478130" y="4026473"/>
            <a:ext cx="739478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1/25 second, this time is equivalent to the time during which human eye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C5DCD6-345C-EEF6-2C6C-CBC2FF7E2249}"/>
              </a:ext>
            </a:extLst>
          </p:cNvPr>
          <p:cNvSpPr txBox="1"/>
          <p:nvPr/>
        </p:nvSpPr>
        <p:spPr>
          <a:xfrm>
            <a:off x="2478130" y="4297865"/>
            <a:ext cx="323171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does not see the flicker effect.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5FE163-13FE-4E5A-9643-E131AEEAC527}"/>
              </a:ext>
            </a:extLst>
          </p:cNvPr>
          <p:cNvSpPr txBox="1"/>
          <p:nvPr/>
        </p:nvSpPr>
        <p:spPr>
          <a:xfrm>
            <a:off x="2478130" y="4629350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7A06E4-978A-80F4-89A4-F1F448F2F2AA}"/>
              </a:ext>
            </a:extLst>
          </p:cNvPr>
          <p:cNvSpPr txBox="1"/>
          <p:nvPr/>
        </p:nvSpPr>
        <p:spPr>
          <a:xfrm>
            <a:off x="3307983" y="4629350"/>
            <a:ext cx="678365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choice  of  bandwidth  for  transmission  of  the  video  signal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E0FCFB-39E8-9646-CBB8-E5F37A3B7D1C}"/>
              </a:ext>
            </a:extLst>
          </p:cNvPr>
          <p:cNvSpPr txBox="1"/>
          <p:nvPr/>
        </p:nvSpPr>
        <p:spPr>
          <a:xfrm>
            <a:off x="2478130" y="4900742"/>
            <a:ext cx="716074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depends on the rate of the visual system to scan pixels, as well as 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11B7D-2896-3998-DCF0-6F9F30C94F80}"/>
              </a:ext>
            </a:extLst>
          </p:cNvPr>
          <p:cNvSpPr txBox="1"/>
          <p:nvPr/>
        </p:nvSpPr>
        <p:spPr>
          <a:xfrm>
            <a:off x="2478130" y="5171808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B4573F-7166-8B20-11F3-49C2F33A9DDA}"/>
              </a:ext>
            </a:extLst>
          </p:cNvPr>
          <p:cNvSpPr txBox="1"/>
          <p:nvPr/>
        </p:nvSpPr>
        <p:spPr>
          <a:xfrm>
            <a:off x="2977479" y="5171808"/>
            <a:ext cx="71487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human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67DD9-D280-5F2C-3DBB-759B1F6AEB59}"/>
              </a:ext>
            </a:extLst>
          </p:cNvPr>
          <p:cNvSpPr txBox="1"/>
          <p:nvPr/>
        </p:nvSpPr>
        <p:spPr>
          <a:xfrm>
            <a:off x="3860892" y="5171808"/>
            <a:ext cx="57169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eye‟s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F99793-6331-CC75-D67A-0465BA92C4E4}"/>
              </a:ext>
            </a:extLst>
          </p:cNvPr>
          <p:cNvSpPr txBox="1"/>
          <p:nvPr/>
        </p:nvSpPr>
        <p:spPr>
          <a:xfrm>
            <a:off x="4603222" y="5171808"/>
            <a:ext cx="93589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scanning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0288E8-B9C3-F241-DD3A-A14091FBB4EB}"/>
              </a:ext>
            </a:extLst>
          </p:cNvPr>
          <p:cNvSpPr txBox="1"/>
          <p:nvPr/>
        </p:nvSpPr>
        <p:spPr>
          <a:xfrm>
            <a:off x="5705447" y="5171808"/>
            <a:ext cx="122161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capabilities.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783203-E758-E4FD-0BAF-662569179993}"/>
              </a:ext>
            </a:extLst>
          </p:cNvPr>
          <p:cNvSpPr txBox="1"/>
          <p:nvPr/>
        </p:nvSpPr>
        <p:spPr>
          <a:xfrm>
            <a:off x="7091149" y="5171808"/>
            <a:ext cx="54540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From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CF9E9-9687-8120-52B1-441C31A0C9EF}"/>
              </a:ext>
            </a:extLst>
          </p:cNvPr>
          <p:cNvSpPr txBox="1"/>
          <p:nvPr/>
        </p:nvSpPr>
        <p:spPr>
          <a:xfrm>
            <a:off x="7807352" y="5171808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F2DC5F-4166-0DA4-0EE2-9B57221F2333}"/>
              </a:ext>
            </a:extLst>
          </p:cNvPr>
          <p:cNvSpPr txBox="1"/>
          <p:nvPr/>
        </p:nvSpPr>
        <p:spPr>
          <a:xfrm>
            <a:off x="8306373" y="5171808"/>
            <a:ext cx="71487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human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43780F-E41B-92E5-7AD2-5C1FAEE9B302}"/>
              </a:ext>
            </a:extLst>
          </p:cNvPr>
          <p:cNvSpPr txBox="1"/>
          <p:nvPr/>
        </p:nvSpPr>
        <p:spPr>
          <a:xfrm>
            <a:off x="9190114" y="5171808"/>
            <a:ext cx="59772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visual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593830-CB44-4870-6FD7-684CF97E9B5B}"/>
              </a:ext>
            </a:extLst>
          </p:cNvPr>
          <p:cNvSpPr txBox="1"/>
          <p:nvPr/>
        </p:nvSpPr>
        <p:spPr>
          <a:xfrm>
            <a:off x="2478130" y="5442874"/>
            <a:ext cx="736900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perspective, the eye requires that a video frame be scanned every 1/25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DD6138-CF05-E633-C406-E24AA6012D97}"/>
              </a:ext>
            </a:extLst>
          </p:cNvPr>
          <p:cNvSpPr txBox="1"/>
          <p:nvPr/>
        </p:nvSpPr>
        <p:spPr>
          <a:xfrm>
            <a:off x="2478130" y="5714267"/>
            <a:ext cx="94878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second.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C77C2B-25D1-AC4A-D51D-28923A37F65C}"/>
              </a:ext>
            </a:extLst>
          </p:cNvPr>
          <p:cNvSpPr txBox="1"/>
          <p:nvPr/>
        </p:nvSpPr>
        <p:spPr>
          <a:xfrm>
            <a:off x="2478130" y="6045751"/>
            <a:ext cx="6495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F614CCD-01E9-3B8F-CFF0-AC5B4A0C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568766-0F03-49E7-A55A-397283C48523}" type="slidenum">
              <a:rPr/>
              <a:t>109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BD76634-B709-F9BE-A8DA-E5967BE741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C47C5-F0C3-EBB5-1C42-3C0F1C00F9C5}"/>
              </a:ext>
            </a:extLst>
          </p:cNvPr>
          <p:cNvSpPr txBox="1"/>
          <p:nvPr/>
        </p:nvSpPr>
        <p:spPr>
          <a:xfrm>
            <a:off x="2245601" y="1476819"/>
            <a:ext cx="266085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2) Transmission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FB7BA-F4D3-ED43-9831-7F8849A0895B}"/>
              </a:ext>
            </a:extLst>
          </p:cNvPr>
          <p:cNvSpPr txBox="1"/>
          <p:nvPr/>
        </p:nvSpPr>
        <p:spPr>
          <a:xfrm>
            <a:off x="2245601" y="189452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1C1D5-7CF2-A484-F45E-EE65EC332397}"/>
              </a:ext>
            </a:extLst>
          </p:cNvPr>
          <p:cNvSpPr txBox="1"/>
          <p:nvPr/>
        </p:nvSpPr>
        <p:spPr>
          <a:xfrm>
            <a:off x="3075455" y="1894523"/>
            <a:ext cx="12725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AA756-68E4-8F7E-7CD9-ADD7E85539C4}"/>
              </a:ext>
            </a:extLst>
          </p:cNvPr>
          <p:cNvSpPr txBox="1"/>
          <p:nvPr/>
        </p:nvSpPr>
        <p:spPr>
          <a:xfrm>
            <a:off x="4538231" y="1894523"/>
            <a:ext cx="3257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2B604-3ED4-AB82-91D2-DCE2B203D72D}"/>
              </a:ext>
            </a:extLst>
          </p:cNvPr>
          <p:cNvSpPr txBox="1"/>
          <p:nvPr/>
        </p:nvSpPr>
        <p:spPr>
          <a:xfrm>
            <a:off x="5062401" y="1894523"/>
            <a:ext cx="15668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3B1E5-1ECC-3FB3-7B2B-EE56EB47BBB1}"/>
              </a:ext>
            </a:extLst>
          </p:cNvPr>
          <p:cNvSpPr txBox="1"/>
          <p:nvPr/>
        </p:nvSpPr>
        <p:spPr>
          <a:xfrm>
            <a:off x="6815837" y="189452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FF203-0B63-B0A3-7216-23C6B798CF46}"/>
              </a:ext>
            </a:extLst>
          </p:cNvPr>
          <p:cNvSpPr txBox="1"/>
          <p:nvPr/>
        </p:nvSpPr>
        <p:spPr>
          <a:xfrm>
            <a:off x="7248564" y="1894523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F874D-9C92-CDFC-8E4F-17FE86991F55}"/>
              </a:ext>
            </a:extLst>
          </p:cNvPr>
          <p:cNvSpPr txBox="1"/>
          <p:nvPr/>
        </p:nvSpPr>
        <p:spPr>
          <a:xfrm>
            <a:off x="8111076" y="1894523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1FB11-105F-1DBA-3ECB-9C5BE07A36F8}"/>
              </a:ext>
            </a:extLst>
          </p:cNvPr>
          <p:cNvSpPr txBox="1"/>
          <p:nvPr/>
        </p:nvSpPr>
        <p:spPr>
          <a:xfrm>
            <a:off x="8791680" y="1894523"/>
            <a:ext cx="7599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NTSC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0E471-73D8-A7BE-B6D8-BD1DCBED4F21}"/>
              </a:ext>
            </a:extLst>
          </p:cNvPr>
          <p:cNvSpPr txBox="1"/>
          <p:nvPr/>
        </p:nvSpPr>
        <p:spPr>
          <a:xfrm>
            <a:off x="2245601" y="2193348"/>
            <a:ext cx="752488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ational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elevision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S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ystem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C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ommittee)  and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PAL 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(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DBC34-57C8-CFC3-1EBD-B74D2EEEA86C}"/>
              </a:ext>
            </a:extLst>
          </p:cNvPr>
          <p:cNvSpPr txBox="1"/>
          <p:nvPr/>
        </p:nvSpPr>
        <p:spPr>
          <a:xfrm>
            <a:off x="2245601" y="2491847"/>
            <a:ext cx="72308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lternating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ine).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Approaches of color encoding are: RGB,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0C4FA-BE3C-F4D4-5FF6-A0004D742763}"/>
              </a:ext>
            </a:extLst>
          </p:cNvPr>
          <p:cNvSpPr txBox="1"/>
          <p:nvPr/>
        </p:nvSpPr>
        <p:spPr>
          <a:xfrm>
            <a:off x="2245601" y="2790673"/>
            <a:ext cx="75773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YUV  (luminance  Y,  two  chrominance  channels  U  and  V),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5B4C09-4D4E-B73D-5625-516504C015D3}"/>
              </a:ext>
            </a:extLst>
          </p:cNvPr>
          <p:cNvSpPr txBox="1"/>
          <p:nvPr/>
        </p:nvSpPr>
        <p:spPr>
          <a:xfrm>
            <a:off x="2245601" y="3089172"/>
            <a:ext cx="27307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YIQ, Composite, etc.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D4489-A696-CB16-3621-D8511780CDE7}"/>
              </a:ext>
            </a:extLst>
          </p:cNvPr>
          <p:cNvSpPr txBox="1"/>
          <p:nvPr/>
        </p:nvSpPr>
        <p:spPr>
          <a:xfrm>
            <a:off x="2245601" y="3454295"/>
            <a:ext cx="72882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Different color encoding techniques can be employed while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B6CFBD-7281-BA5D-4DF8-4AE68F7EA75E}"/>
              </a:ext>
            </a:extLst>
          </p:cNvPr>
          <p:cNvSpPr txBox="1"/>
          <p:nvPr/>
        </p:nvSpPr>
        <p:spPr>
          <a:xfrm>
            <a:off x="2245601" y="3753121"/>
            <a:ext cx="53225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transmitting the video signal and they are: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245BBA-615C-A08B-AEBB-754D0DB86322}"/>
              </a:ext>
            </a:extLst>
          </p:cNvPr>
          <p:cNvSpPr txBox="1"/>
          <p:nvPr/>
        </p:nvSpPr>
        <p:spPr>
          <a:xfrm>
            <a:off x="2701841" y="4155473"/>
            <a:ext cx="131959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0B0FF-EBD0-F29C-9F85-22BFFDFF1829}"/>
              </a:ext>
            </a:extLst>
          </p:cNvPr>
          <p:cNvSpPr txBox="1"/>
          <p:nvPr/>
        </p:nvSpPr>
        <p:spPr>
          <a:xfrm>
            <a:off x="2966049" y="4117916"/>
            <a:ext cx="16598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RGB signal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CF11C6-8EB9-B373-65C8-1EA56F51DB3D}"/>
              </a:ext>
            </a:extLst>
          </p:cNvPr>
          <p:cNvSpPr txBox="1"/>
          <p:nvPr/>
        </p:nvSpPr>
        <p:spPr>
          <a:xfrm>
            <a:off x="2701841" y="4520597"/>
            <a:ext cx="197939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ii.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A48E07-93E0-9DC6-AA1F-904BBD8FB27D}"/>
              </a:ext>
            </a:extLst>
          </p:cNvPr>
          <p:cNvSpPr txBox="1"/>
          <p:nvPr/>
        </p:nvSpPr>
        <p:spPr>
          <a:xfrm>
            <a:off x="2966049" y="4483038"/>
            <a:ext cx="16135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YUV signal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AC8F7E-95B6-2B73-38D1-B114D9ABD931}"/>
              </a:ext>
            </a:extLst>
          </p:cNvPr>
          <p:cNvSpPr txBox="1"/>
          <p:nvPr/>
        </p:nvSpPr>
        <p:spPr>
          <a:xfrm>
            <a:off x="2701841" y="4885719"/>
            <a:ext cx="263918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iii.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B2B717-7A71-4B6A-4E87-285E7DFF7764}"/>
              </a:ext>
            </a:extLst>
          </p:cNvPr>
          <p:cNvSpPr txBox="1"/>
          <p:nvPr/>
        </p:nvSpPr>
        <p:spPr>
          <a:xfrm>
            <a:off x="2966049" y="4848162"/>
            <a:ext cx="15204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YIQ signal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3A3D6-0439-674E-530E-46B73262B1A3}"/>
              </a:ext>
            </a:extLst>
          </p:cNvPr>
          <p:cNvSpPr txBox="1"/>
          <p:nvPr/>
        </p:nvSpPr>
        <p:spPr>
          <a:xfrm>
            <a:off x="2701841" y="5250842"/>
            <a:ext cx="2509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 i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iv.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8DC41-0CE9-6F19-6F6E-04DA5938E1FB}"/>
              </a:ext>
            </a:extLst>
          </p:cNvPr>
          <p:cNvSpPr txBox="1"/>
          <p:nvPr/>
        </p:nvSpPr>
        <p:spPr>
          <a:xfrm>
            <a:off x="2966048" y="5213284"/>
            <a:ext cx="248202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Composite signal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B7B2004C-F45D-42B7-EA3E-00208969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28289E-3953-46FD-980E-24C026A61605}" type="slidenum">
              <a:rPr/>
              <a:t>110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F36D7C3-E9AB-03D7-C596-6447FEF83A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C136B-D7EB-A79B-6B68-DFB313D7E32D}"/>
              </a:ext>
            </a:extLst>
          </p:cNvPr>
          <p:cNvSpPr txBox="1"/>
          <p:nvPr/>
        </p:nvSpPr>
        <p:spPr>
          <a:xfrm>
            <a:off x="2180610" y="1291319"/>
            <a:ext cx="173502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i. RGB signal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B5101-46DA-6490-24CB-69EDCB7D0ABB}"/>
              </a:ext>
            </a:extLst>
          </p:cNvPr>
          <p:cNvSpPr txBox="1"/>
          <p:nvPr/>
        </p:nvSpPr>
        <p:spPr>
          <a:xfrm>
            <a:off x="2180609" y="1626069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5FEC7-2DBB-3778-DE7B-22DA20B194F2}"/>
              </a:ext>
            </a:extLst>
          </p:cNvPr>
          <p:cNvSpPr txBox="1"/>
          <p:nvPr/>
        </p:nvSpPr>
        <p:spPr>
          <a:xfrm>
            <a:off x="3010464" y="1626069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77D8D-66BA-1B65-3C07-56E9BF438B6B}"/>
              </a:ext>
            </a:extLst>
          </p:cNvPr>
          <p:cNvSpPr txBox="1"/>
          <p:nvPr/>
        </p:nvSpPr>
        <p:spPr>
          <a:xfrm>
            <a:off x="3391916" y="1626069"/>
            <a:ext cx="3983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B9597-AF43-084A-B444-6427C87804F7}"/>
              </a:ext>
            </a:extLst>
          </p:cNvPr>
          <p:cNvSpPr txBox="1"/>
          <p:nvPr/>
        </p:nvSpPr>
        <p:spPr>
          <a:xfrm>
            <a:off x="3957562" y="1626069"/>
            <a:ext cx="54066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31845-7704-64CE-2358-3C7672C142FC}"/>
              </a:ext>
            </a:extLst>
          </p:cNvPr>
          <p:cNvSpPr txBox="1"/>
          <p:nvPr/>
        </p:nvSpPr>
        <p:spPr>
          <a:xfrm>
            <a:off x="4662987" y="1626069"/>
            <a:ext cx="99604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separate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AFE58-F3D2-17B3-C14E-08AD6FC06047}"/>
              </a:ext>
            </a:extLst>
          </p:cNvPr>
          <p:cNvSpPr txBox="1"/>
          <p:nvPr/>
        </p:nvSpPr>
        <p:spPr>
          <a:xfrm>
            <a:off x="5821385" y="1626069"/>
            <a:ext cx="66877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signal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38093-2655-4B0E-88D0-E202BC0CE666}"/>
              </a:ext>
            </a:extLst>
          </p:cNvPr>
          <p:cNvSpPr txBox="1"/>
          <p:nvPr/>
        </p:nvSpPr>
        <p:spPr>
          <a:xfrm>
            <a:off x="6655484" y="1626069"/>
            <a:ext cx="75424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A33F1-A675-81AC-7969-F57DDE512B8B}"/>
              </a:ext>
            </a:extLst>
          </p:cNvPr>
          <p:cNvSpPr txBox="1"/>
          <p:nvPr/>
        </p:nvSpPr>
        <p:spPr>
          <a:xfrm>
            <a:off x="7571884" y="1626069"/>
            <a:ext cx="1848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A1F526-3111-56F5-A988-1AE2BFFED17E}"/>
              </a:ext>
            </a:extLst>
          </p:cNvPr>
          <p:cNvSpPr txBox="1"/>
          <p:nvPr/>
        </p:nvSpPr>
        <p:spPr>
          <a:xfrm>
            <a:off x="7925902" y="1626069"/>
            <a:ext cx="56938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89F255-FB10-FA97-549C-7E75570710A2}"/>
              </a:ext>
            </a:extLst>
          </p:cNvPr>
          <p:cNvSpPr txBox="1"/>
          <p:nvPr/>
        </p:nvSpPr>
        <p:spPr>
          <a:xfrm>
            <a:off x="8660393" y="1626069"/>
            <a:ext cx="2986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10FBB4-1838-645E-1099-E8579BAC2D7F}"/>
              </a:ext>
            </a:extLst>
          </p:cNvPr>
          <p:cNvSpPr txBox="1"/>
          <p:nvPr/>
        </p:nvSpPr>
        <p:spPr>
          <a:xfrm>
            <a:off x="9126430" y="1626069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0EC989-15B2-686F-6B90-EAE8F663342B}"/>
              </a:ext>
            </a:extLst>
          </p:cNvPr>
          <p:cNvSpPr txBox="1"/>
          <p:nvPr/>
        </p:nvSpPr>
        <p:spPr>
          <a:xfrm>
            <a:off x="2180610" y="1893216"/>
            <a:ext cx="72561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  R,  G  and  B  components  of  the  image  and  these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B1DCE-3EEF-B4F9-D666-2C4506943353}"/>
              </a:ext>
            </a:extLst>
          </p:cNvPr>
          <p:cNvSpPr txBox="1"/>
          <p:nvPr/>
        </p:nvSpPr>
        <p:spPr>
          <a:xfrm>
            <a:off x="2180610" y="2160362"/>
            <a:ext cx="44766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components are transmitted separately.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9FAC6-2BF7-AB82-E084-128C563E024C}"/>
              </a:ext>
            </a:extLst>
          </p:cNvPr>
          <p:cNvSpPr txBox="1"/>
          <p:nvPr/>
        </p:nvSpPr>
        <p:spPr>
          <a:xfrm>
            <a:off x="2180610" y="2494460"/>
            <a:ext cx="169257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ii.YUV signal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92285-2399-2841-A9BB-E490FB29C984}"/>
              </a:ext>
            </a:extLst>
          </p:cNvPr>
          <p:cNvSpPr txBox="1"/>
          <p:nvPr/>
        </p:nvSpPr>
        <p:spPr>
          <a:xfrm>
            <a:off x="2180609" y="2828884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1E0FA0-ECA0-7E10-6476-BA4F27F5AD24}"/>
              </a:ext>
            </a:extLst>
          </p:cNvPr>
          <p:cNvSpPr txBox="1"/>
          <p:nvPr/>
        </p:nvSpPr>
        <p:spPr>
          <a:xfrm>
            <a:off x="3010464" y="2828884"/>
            <a:ext cx="627389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model exploits the fact that the human eye is more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639975-72DE-3E9C-08F8-D5FEECB38ADA}"/>
              </a:ext>
            </a:extLst>
          </p:cNvPr>
          <p:cNvSpPr txBox="1"/>
          <p:nvPr/>
        </p:nvSpPr>
        <p:spPr>
          <a:xfrm>
            <a:off x="2180610" y="3096030"/>
            <a:ext cx="756854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sensitive  to  brightness  i.e.  luminance  than  to  color  information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A3C5AC-F690-DEAC-350F-7CB17F24ED1B}"/>
              </a:ext>
            </a:extLst>
          </p:cNvPr>
          <p:cNvSpPr txBox="1"/>
          <p:nvPr/>
        </p:nvSpPr>
        <p:spPr>
          <a:xfrm>
            <a:off x="2180610" y="3363176"/>
            <a:ext cx="3414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i.e.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5BD41-1765-A7D8-B0D0-6572FD81E179}"/>
              </a:ext>
            </a:extLst>
          </p:cNvPr>
          <p:cNvSpPr txBox="1"/>
          <p:nvPr/>
        </p:nvSpPr>
        <p:spPr>
          <a:xfrm>
            <a:off x="2769770" y="3363176"/>
            <a:ext cx="153644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chrominance.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937112-AB01-622A-052D-9677778F5C7E}"/>
              </a:ext>
            </a:extLst>
          </p:cNvPr>
          <p:cNvSpPr txBox="1"/>
          <p:nvPr/>
        </p:nvSpPr>
        <p:spPr>
          <a:xfrm>
            <a:off x="4544109" y="3363176"/>
            <a:ext cx="56900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D10409-4DD6-6B15-A556-8D41738EA72C}"/>
              </a:ext>
            </a:extLst>
          </p:cNvPr>
          <p:cNvSpPr txBox="1"/>
          <p:nvPr/>
        </p:nvSpPr>
        <p:spPr>
          <a:xfrm>
            <a:off x="5359592" y="3363176"/>
            <a:ext cx="8253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instead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21AE8-39FA-EEE9-53AA-7BA596261DA2}"/>
              </a:ext>
            </a:extLst>
          </p:cNvPr>
          <p:cNvSpPr txBox="1"/>
          <p:nvPr/>
        </p:nvSpPr>
        <p:spPr>
          <a:xfrm>
            <a:off x="6428508" y="3363176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270A67-2920-062E-6777-31C431730E5C}"/>
              </a:ext>
            </a:extLst>
          </p:cNvPr>
          <p:cNvSpPr txBox="1"/>
          <p:nvPr/>
        </p:nvSpPr>
        <p:spPr>
          <a:xfrm>
            <a:off x="6890299" y="3363176"/>
            <a:ext cx="119526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separating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B9782-F130-A583-CA51-7B5E36BD1E2E}"/>
              </a:ext>
            </a:extLst>
          </p:cNvPr>
          <p:cNvSpPr txBox="1"/>
          <p:nvPr/>
        </p:nvSpPr>
        <p:spPr>
          <a:xfrm>
            <a:off x="8327276" y="3363176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BF2C2A-12A5-FCAE-F289-9E225D2BE43A}"/>
              </a:ext>
            </a:extLst>
          </p:cNvPr>
          <p:cNvSpPr txBox="1"/>
          <p:nvPr/>
        </p:nvSpPr>
        <p:spPr>
          <a:xfrm>
            <a:off x="8931459" y="3363176"/>
            <a:ext cx="55476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48A7B4-AD97-CC6F-ED09-A2A27B540673}"/>
              </a:ext>
            </a:extLst>
          </p:cNvPr>
          <p:cNvSpPr txBox="1"/>
          <p:nvPr/>
        </p:nvSpPr>
        <p:spPr>
          <a:xfrm>
            <a:off x="2180610" y="3630324"/>
            <a:ext cx="742690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component  the  brightness  and  the  coloration  of  the  image  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13C424-4B60-A98E-3112-2ACB428D5DD2}"/>
              </a:ext>
            </a:extLst>
          </p:cNvPr>
          <p:cNvSpPr txBox="1"/>
          <p:nvPr/>
        </p:nvSpPr>
        <p:spPr>
          <a:xfrm>
            <a:off x="2180610" y="3898124"/>
            <a:ext cx="135171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separated.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6ACC10-0F92-29E0-11D0-7D2040EA5EB7}"/>
              </a:ext>
            </a:extLst>
          </p:cNvPr>
          <p:cNvSpPr txBox="1"/>
          <p:nvPr/>
        </p:nvSpPr>
        <p:spPr>
          <a:xfrm>
            <a:off x="2180609" y="4231895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98D3C0-61B4-E88F-67FA-A4C0F7BB3603}"/>
              </a:ext>
            </a:extLst>
          </p:cNvPr>
          <p:cNvSpPr txBox="1"/>
          <p:nvPr/>
        </p:nvSpPr>
        <p:spPr>
          <a:xfrm>
            <a:off x="3010464" y="4231895"/>
            <a:ext cx="56900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5C2D44-3A71-489C-45C7-74707A4E6DD4}"/>
              </a:ext>
            </a:extLst>
          </p:cNvPr>
          <p:cNvSpPr txBox="1"/>
          <p:nvPr/>
        </p:nvSpPr>
        <p:spPr>
          <a:xfrm>
            <a:off x="3889632" y="4231895"/>
            <a:ext cx="142263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luminance(Y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4E4C66-1ED6-4650-4752-F34D6C7BBE71}"/>
              </a:ext>
            </a:extLst>
          </p:cNvPr>
          <p:cNvSpPr txBox="1"/>
          <p:nvPr/>
        </p:nvSpPr>
        <p:spPr>
          <a:xfrm>
            <a:off x="5298848" y="4384084"/>
            <a:ext cx="85536" cy="1966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3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D16CDB-166B-189D-6B1F-432DE2036439}"/>
              </a:ext>
            </a:extLst>
          </p:cNvPr>
          <p:cNvSpPr txBox="1"/>
          <p:nvPr/>
        </p:nvSpPr>
        <p:spPr>
          <a:xfrm>
            <a:off x="5383108" y="4231895"/>
            <a:ext cx="8521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93CD63-0A94-3B6F-77C6-D6813A093858}"/>
              </a:ext>
            </a:extLst>
          </p:cNvPr>
          <p:cNvSpPr txBox="1"/>
          <p:nvPr/>
        </p:nvSpPr>
        <p:spPr>
          <a:xfrm>
            <a:off x="5784154" y="4231895"/>
            <a:ext cx="427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EFD8F7-E390-E429-3C07-30ED2C163845}"/>
              </a:ext>
            </a:extLst>
          </p:cNvPr>
          <p:cNvSpPr txBox="1"/>
          <p:nvPr/>
        </p:nvSpPr>
        <p:spPr>
          <a:xfrm>
            <a:off x="6522564" y="4231895"/>
            <a:ext cx="39831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9BACBA-B14B-8C7C-00D3-C98566D2411D}"/>
              </a:ext>
            </a:extLst>
          </p:cNvPr>
          <p:cNvSpPr txBox="1"/>
          <p:nvPr/>
        </p:nvSpPr>
        <p:spPr>
          <a:xfrm>
            <a:off x="7231908" y="4231895"/>
            <a:ext cx="14653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chrominance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C10620-5605-AC6C-C1B5-764BD0FE85BC}"/>
              </a:ext>
            </a:extLst>
          </p:cNvPr>
          <p:cNvSpPr txBox="1"/>
          <p:nvPr/>
        </p:nvSpPr>
        <p:spPr>
          <a:xfrm>
            <a:off x="9000369" y="4231895"/>
            <a:ext cx="48391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E2A7C1-E4C0-2AFD-E097-FBD1B37EAD3B}"/>
              </a:ext>
            </a:extLst>
          </p:cNvPr>
          <p:cNvSpPr txBox="1"/>
          <p:nvPr/>
        </p:nvSpPr>
        <p:spPr>
          <a:xfrm>
            <a:off x="2180609" y="4499368"/>
            <a:ext cx="14653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chrominance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88E29-88DD-3D8D-3AAF-5D6989A618ED}"/>
              </a:ext>
            </a:extLst>
          </p:cNvPr>
          <p:cNvSpPr txBox="1"/>
          <p:nvPr/>
        </p:nvSpPr>
        <p:spPr>
          <a:xfrm>
            <a:off x="3632609" y="4651883"/>
            <a:ext cx="47514" cy="1966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3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096487-9277-FA75-4089-88C89E6A51EE}"/>
              </a:ext>
            </a:extLst>
          </p:cNvPr>
          <p:cNvSpPr txBox="1"/>
          <p:nvPr/>
        </p:nvSpPr>
        <p:spPr>
          <a:xfrm>
            <a:off x="3680944" y="4499368"/>
            <a:ext cx="27007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15357C-59F9-4D37-4D94-39CF2CD3E687}"/>
              </a:ext>
            </a:extLst>
          </p:cNvPr>
          <p:cNvSpPr txBox="1"/>
          <p:nvPr/>
        </p:nvSpPr>
        <p:spPr>
          <a:xfrm>
            <a:off x="3947764" y="4651883"/>
            <a:ext cx="95154" cy="1966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3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618850-751D-2D60-34B2-A6F9DABA565A}"/>
              </a:ext>
            </a:extLst>
          </p:cNvPr>
          <p:cNvSpPr txBox="1"/>
          <p:nvPr/>
        </p:nvSpPr>
        <p:spPr>
          <a:xfrm>
            <a:off x="4041821" y="4499368"/>
            <a:ext cx="312995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), and the red chrominance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BAF89C-60C9-94F5-EC50-B66EA47E79EC}"/>
              </a:ext>
            </a:extLst>
          </p:cNvPr>
          <p:cNvSpPr txBox="1"/>
          <p:nvPr/>
        </p:nvSpPr>
        <p:spPr>
          <a:xfrm>
            <a:off x="7147649" y="4651883"/>
            <a:ext cx="47514" cy="1966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3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50286F-F9FA-FFEC-BB39-382EBE9B7184}"/>
              </a:ext>
            </a:extLst>
          </p:cNvPr>
          <p:cNvSpPr txBox="1"/>
          <p:nvPr/>
        </p:nvSpPr>
        <p:spPr>
          <a:xfrm>
            <a:off x="7195984" y="4499368"/>
            <a:ext cx="27007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D07FFB-926E-B9C6-D916-E1252B029386}"/>
              </a:ext>
            </a:extLst>
          </p:cNvPr>
          <p:cNvSpPr txBox="1"/>
          <p:nvPr/>
        </p:nvSpPr>
        <p:spPr>
          <a:xfrm>
            <a:off x="7462804" y="4651883"/>
            <a:ext cx="56939" cy="1966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334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38AA46-EE57-8249-15E7-147CAF9FDB18}"/>
              </a:ext>
            </a:extLst>
          </p:cNvPr>
          <p:cNvSpPr txBox="1"/>
          <p:nvPr/>
        </p:nvSpPr>
        <p:spPr>
          <a:xfrm>
            <a:off x="7567965" y="4499368"/>
            <a:ext cx="22743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)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867F94-F5C8-817D-1A20-48CCE8A2A7F1}"/>
              </a:ext>
            </a:extLst>
          </p:cNvPr>
          <p:cNvSpPr txBox="1"/>
          <p:nvPr/>
        </p:nvSpPr>
        <p:spPr>
          <a:xfrm>
            <a:off x="2180610" y="4833465"/>
            <a:ext cx="593329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 then used to represent the video content where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BEBB12-A94C-C49F-5EF7-03602C2FC6E7}"/>
              </a:ext>
            </a:extLst>
          </p:cNvPr>
          <p:cNvSpPr txBox="1"/>
          <p:nvPr/>
        </p:nvSpPr>
        <p:spPr>
          <a:xfrm>
            <a:off x="2429468" y="5165276"/>
            <a:ext cx="15594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6A9535-47E9-FD78-896D-E844E731F272}"/>
              </a:ext>
            </a:extLst>
          </p:cNvPr>
          <p:cNvSpPr txBox="1"/>
          <p:nvPr/>
        </p:nvSpPr>
        <p:spPr>
          <a:xfrm>
            <a:off x="2582964" y="5304728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26A2FF-BADA-A56F-155C-EACCA885876F}"/>
              </a:ext>
            </a:extLst>
          </p:cNvPr>
          <p:cNvSpPr txBox="1"/>
          <p:nvPr/>
        </p:nvSpPr>
        <p:spPr>
          <a:xfrm>
            <a:off x="2660691" y="5165276"/>
            <a:ext cx="89030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=0.30 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DB27B4-81B6-BDB7-FFDD-722CB9F7696E}"/>
              </a:ext>
            </a:extLst>
          </p:cNvPr>
          <p:cNvSpPr txBox="1"/>
          <p:nvPr/>
        </p:nvSpPr>
        <p:spPr>
          <a:xfrm>
            <a:off x="3535614" y="5304728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313DFE-8354-7208-29ED-56C8419E2287}"/>
              </a:ext>
            </a:extLst>
          </p:cNvPr>
          <p:cNvSpPr txBox="1"/>
          <p:nvPr/>
        </p:nvSpPr>
        <p:spPr>
          <a:xfrm>
            <a:off x="3613014" y="5165276"/>
            <a:ext cx="96827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+ 0.59 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6C6C9F-A506-4A71-B1D2-6215D22C9119}"/>
              </a:ext>
            </a:extLst>
          </p:cNvPr>
          <p:cNvSpPr txBox="1"/>
          <p:nvPr/>
        </p:nvSpPr>
        <p:spPr>
          <a:xfrm>
            <a:off x="4564685" y="5304728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4E79B9-5A57-1E45-9980-0C61477AF65A}"/>
              </a:ext>
            </a:extLst>
          </p:cNvPr>
          <p:cNvSpPr txBox="1"/>
          <p:nvPr/>
        </p:nvSpPr>
        <p:spPr>
          <a:xfrm>
            <a:off x="4642086" y="5165276"/>
            <a:ext cx="92499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+ 0.11 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BF20E2-B5CA-3BBF-4D41-CE6E38557840}"/>
              </a:ext>
            </a:extLst>
          </p:cNvPr>
          <p:cNvSpPr txBox="1"/>
          <p:nvPr/>
        </p:nvSpPr>
        <p:spPr>
          <a:xfrm>
            <a:off x="5547707" y="5304728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76C88A-564C-70AF-F386-B0210C1D4450}"/>
              </a:ext>
            </a:extLst>
          </p:cNvPr>
          <p:cNvSpPr txBox="1"/>
          <p:nvPr/>
        </p:nvSpPr>
        <p:spPr>
          <a:xfrm>
            <a:off x="5625108" y="5165276"/>
            <a:ext cx="12990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DCD40-FF5A-B8AA-2AD3-3C8CB5F5B0CB}"/>
              </a:ext>
            </a:extLst>
          </p:cNvPr>
          <p:cNvSpPr txBox="1"/>
          <p:nvPr/>
        </p:nvSpPr>
        <p:spPr>
          <a:xfrm>
            <a:off x="2429469" y="5469327"/>
            <a:ext cx="66902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 = (B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E5B49C-0C61-920B-381E-F673AE2CA08E}"/>
              </a:ext>
            </a:extLst>
          </p:cNvPr>
          <p:cNvSpPr txBox="1"/>
          <p:nvPr/>
        </p:nvSpPr>
        <p:spPr>
          <a:xfrm>
            <a:off x="3087865" y="5608453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CD34EE-F4C3-7731-BCBF-ED0E9FA145DD}"/>
              </a:ext>
            </a:extLst>
          </p:cNvPr>
          <p:cNvSpPr txBox="1"/>
          <p:nvPr/>
        </p:nvSpPr>
        <p:spPr>
          <a:xfrm>
            <a:off x="3165265" y="5469327"/>
            <a:ext cx="29873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-Y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3392C5-9514-5078-7EC0-8BD71A8E39B9}"/>
              </a:ext>
            </a:extLst>
          </p:cNvPr>
          <p:cNvSpPr txBox="1"/>
          <p:nvPr/>
        </p:nvSpPr>
        <p:spPr>
          <a:xfrm>
            <a:off x="3458213" y="5608453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B78852-404D-44C7-CD80-EE5C796D1614}"/>
              </a:ext>
            </a:extLst>
          </p:cNvPr>
          <p:cNvSpPr txBox="1"/>
          <p:nvPr/>
        </p:nvSpPr>
        <p:spPr>
          <a:xfrm>
            <a:off x="3535614" y="5469327"/>
            <a:ext cx="110459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) x 0.493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E14C5F-641A-AFE3-2DB5-CA52AC09E29C}"/>
              </a:ext>
            </a:extLst>
          </p:cNvPr>
          <p:cNvSpPr txBox="1"/>
          <p:nvPr/>
        </p:nvSpPr>
        <p:spPr>
          <a:xfrm>
            <a:off x="2429468" y="5772725"/>
            <a:ext cx="53912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V=(R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D40904-991A-B446-4AE8-AFC36C2CE1A9}"/>
              </a:ext>
            </a:extLst>
          </p:cNvPr>
          <p:cNvSpPr txBox="1"/>
          <p:nvPr/>
        </p:nvSpPr>
        <p:spPr>
          <a:xfrm>
            <a:off x="2963436" y="5912177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13A1D8-0CB1-0C11-D9DF-86D9A925436B}"/>
              </a:ext>
            </a:extLst>
          </p:cNvPr>
          <p:cNvSpPr txBox="1"/>
          <p:nvPr/>
        </p:nvSpPr>
        <p:spPr>
          <a:xfrm>
            <a:off x="3040837" y="5772725"/>
            <a:ext cx="36368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-Y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C4A7E2-8A48-4AC1-6525-5E69D74834DE}"/>
              </a:ext>
            </a:extLst>
          </p:cNvPr>
          <p:cNvSpPr txBox="1"/>
          <p:nvPr/>
        </p:nvSpPr>
        <p:spPr>
          <a:xfrm>
            <a:off x="3394855" y="5912177"/>
            <a:ext cx="77393" cy="17799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20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1BD1D8-3CCB-F333-5AED-FBEB990BA426}"/>
              </a:ext>
            </a:extLst>
          </p:cNvPr>
          <p:cNvSpPr txBox="1"/>
          <p:nvPr/>
        </p:nvSpPr>
        <p:spPr>
          <a:xfrm>
            <a:off x="3472256" y="5772725"/>
            <a:ext cx="9746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) x 0.877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16AFAEF8-977D-DF76-7838-A35E7F8A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C72BDD-5FC7-4A50-996A-78FB22142550}" type="slidenum">
              <a:rPr/>
              <a:t>111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F2FD6492-2B4F-122D-2BBE-856FB88FD0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2D450-350C-2569-8281-EC3813CE0705}"/>
              </a:ext>
            </a:extLst>
          </p:cNvPr>
          <p:cNvSpPr txBox="1"/>
          <p:nvPr/>
        </p:nvSpPr>
        <p:spPr>
          <a:xfrm>
            <a:off x="2245601" y="1450367"/>
            <a:ext cx="3655873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2) Transmission 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1AAD9-F46B-6969-572F-99C615F3F06A}"/>
              </a:ext>
            </a:extLst>
          </p:cNvPr>
          <p:cNvSpPr txBox="1"/>
          <p:nvPr/>
        </p:nvSpPr>
        <p:spPr>
          <a:xfrm>
            <a:off x="2245601" y="1901054"/>
            <a:ext cx="16756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iii.YIQ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4127F-3ACD-5DFA-13B0-D947E3CD0FF6}"/>
              </a:ext>
            </a:extLst>
          </p:cNvPr>
          <p:cNvSpPr txBox="1"/>
          <p:nvPr/>
        </p:nvSpPr>
        <p:spPr>
          <a:xfrm>
            <a:off x="2245601" y="2299489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A0138-32F8-0C1B-C24D-9B1F7E909BA6}"/>
              </a:ext>
            </a:extLst>
          </p:cNvPr>
          <p:cNvSpPr txBox="1"/>
          <p:nvPr/>
        </p:nvSpPr>
        <p:spPr>
          <a:xfrm>
            <a:off x="3075455" y="2299489"/>
            <a:ext cx="6510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model is very much similar to YUV model and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9ABED-C5A3-D9E4-7163-A0BCB953C58D}"/>
              </a:ext>
            </a:extLst>
          </p:cNvPr>
          <p:cNvSpPr txBox="1"/>
          <p:nvPr/>
        </p:nvSpPr>
        <p:spPr>
          <a:xfrm>
            <a:off x="2245601" y="2631299"/>
            <a:ext cx="74578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  in  NTSC  system.  The  image  information  is  broken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ADD69-241E-9E26-D157-DBF473EA5E64}"/>
              </a:ext>
            </a:extLst>
          </p:cNvPr>
          <p:cNvSpPr txBox="1"/>
          <p:nvPr/>
        </p:nvSpPr>
        <p:spPr>
          <a:xfrm>
            <a:off x="2245601" y="2963110"/>
            <a:ext cx="76349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down  into  three  components  a  luminance  component 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72B18-FB72-36A6-2834-B6EBE5557FC6}"/>
              </a:ext>
            </a:extLst>
          </p:cNvPr>
          <p:cNvSpPr txBox="1"/>
          <p:nvPr/>
        </p:nvSpPr>
        <p:spPr>
          <a:xfrm>
            <a:off x="2245602" y="3294921"/>
            <a:ext cx="69205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two chrominance component given by following relation.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20ED3-1E18-A680-B957-A34F6C302DD4}"/>
              </a:ext>
            </a:extLst>
          </p:cNvPr>
          <p:cNvSpPr txBox="1"/>
          <p:nvPr/>
        </p:nvSpPr>
        <p:spPr>
          <a:xfrm>
            <a:off x="3078067" y="3720136"/>
            <a:ext cx="166443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 =0.30 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14634-2A78-14F7-B876-058F277D2F3E}"/>
              </a:ext>
            </a:extLst>
          </p:cNvPr>
          <p:cNvSpPr txBox="1"/>
          <p:nvPr/>
        </p:nvSpPr>
        <p:spPr>
          <a:xfrm>
            <a:off x="4720791" y="3922619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AAAB6-B6FA-9EAB-34AD-1E705BB93E1C}"/>
              </a:ext>
            </a:extLst>
          </p:cNvPr>
          <p:cNvSpPr txBox="1"/>
          <p:nvPr/>
        </p:nvSpPr>
        <p:spPr>
          <a:xfrm>
            <a:off x="4843915" y="3720136"/>
            <a:ext cx="1546577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+ 0.59 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7299F-1CEA-C835-D930-3A3A02073EE1}"/>
              </a:ext>
            </a:extLst>
          </p:cNvPr>
          <p:cNvSpPr txBox="1"/>
          <p:nvPr/>
        </p:nvSpPr>
        <p:spPr>
          <a:xfrm>
            <a:off x="6369069" y="3922619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F0FE72-9AC2-F460-AB2D-19C42B9C21BB}"/>
              </a:ext>
            </a:extLst>
          </p:cNvPr>
          <p:cNvSpPr txBox="1"/>
          <p:nvPr/>
        </p:nvSpPr>
        <p:spPr>
          <a:xfrm>
            <a:off x="6492191" y="3720136"/>
            <a:ext cx="147752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+ 0.11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C6EA9-AA08-6C38-C0CA-3DC9F9458FDD}"/>
              </a:ext>
            </a:extLst>
          </p:cNvPr>
          <p:cNvSpPr txBox="1"/>
          <p:nvPr/>
        </p:nvSpPr>
        <p:spPr>
          <a:xfrm>
            <a:off x="7948110" y="3922619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6BC51-8715-6E49-2F6E-F637FDBD4826}"/>
              </a:ext>
            </a:extLst>
          </p:cNvPr>
          <p:cNvSpPr txBox="1"/>
          <p:nvPr/>
        </p:nvSpPr>
        <p:spPr>
          <a:xfrm>
            <a:off x="8071233" y="3720136"/>
            <a:ext cx="207493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3819E-E576-52FF-3134-F20D6D9C62FB}"/>
              </a:ext>
            </a:extLst>
          </p:cNvPr>
          <p:cNvSpPr txBox="1"/>
          <p:nvPr/>
        </p:nvSpPr>
        <p:spPr>
          <a:xfrm>
            <a:off x="3078067" y="4250837"/>
            <a:ext cx="1525802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 =0.60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267B5-F1E8-544F-B791-7F8C1F62F9F1}"/>
              </a:ext>
            </a:extLst>
          </p:cNvPr>
          <p:cNvSpPr txBox="1"/>
          <p:nvPr/>
        </p:nvSpPr>
        <p:spPr>
          <a:xfrm>
            <a:off x="4583953" y="4453646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DEC703-53D9-2D21-274A-42AFD23F98E2}"/>
              </a:ext>
            </a:extLst>
          </p:cNvPr>
          <p:cNvSpPr txBox="1"/>
          <p:nvPr/>
        </p:nvSpPr>
        <p:spPr>
          <a:xfrm>
            <a:off x="4707074" y="4250837"/>
            <a:ext cx="1452834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- 0.28 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D783A-6B4E-7082-A932-035D47D02EA6}"/>
              </a:ext>
            </a:extLst>
          </p:cNvPr>
          <p:cNvSpPr txBox="1"/>
          <p:nvPr/>
        </p:nvSpPr>
        <p:spPr>
          <a:xfrm>
            <a:off x="6138173" y="4453646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225FF2-0019-A811-FA18-435D51006283}"/>
              </a:ext>
            </a:extLst>
          </p:cNvPr>
          <p:cNvSpPr txBox="1"/>
          <p:nvPr/>
        </p:nvSpPr>
        <p:spPr>
          <a:xfrm>
            <a:off x="6260969" y="4250837"/>
            <a:ext cx="150522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+ 0.32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9776BD-AC93-214F-D734-14C72EBAFBF0}"/>
              </a:ext>
            </a:extLst>
          </p:cNvPr>
          <p:cNvSpPr txBox="1"/>
          <p:nvPr/>
        </p:nvSpPr>
        <p:spPr>
          <a:xfrm>
            <a:off x="7744647" y="4453646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E8D4DF-27DC-44AA-183D-7A52A57EB9FE}"/>
              </a:ext>
            </a:extLst>
          </p:cNvPr>
          <p:cNvSpPr txBox="1"/>
          <p:nvPr/>
        </p:nvSpPr>
        <p:spPr>
          <a:xfrm>
            <a:off x="7867769" y="4250837"/>
            <a:ext cx="207493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4DD38F-4540-2D1C-12B0-38FD063793F3}"/>
              </a:ext>
            </a:extLst>
          </p:cNvPr>
          <p:cNvSpPr txBox="1"/>
          <p:nvPr/>
        </p:nvSpPr>
        <p:spPr>
          <a:xfrm>
            <a:off x="3078067" y="4781865"/>
            <a:ext cx="171252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 =0.21 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2506E2-00EA-A6EE-5A32-0496920E75F4}"/>
              </a:ext>
            </a:extLst>
          </p:cNvPr>
          <p:cNvSpPr txBox="1"/>
          <p:nvPr/>
        </p:nvSpPr>
        <p:spPr>
          <a:xfrm>
            <a:off x="4767820" y="4984348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3103F6-C3D8-1DE4-7615-69C870EFD899}"/>
              </a:ext>
            </a:extLst>
          </p:cNvPr>
          <p:cNvSpPr txBox="1"/>
          <p:nvPr/>
        </p:nvSpPr>
        <p:spPr>
          <a:xfrm>
            <a:off x="4890943" y="4781865"/>
            <a:ext cx="1546577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+ 0.52 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D4DCA1-2C9B-F021-4764-B68290605A27}"/>
              </a:ext>
            </a:extLst>
          </p:cNvPr>
          <p:cNvSpPr txBox="1"/>
          <p:nvPr/>
        </p:nvSpPr>
        <p:spPr>
          <a:xfrm>
            <a:off x="6415771" y="4984348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485108-FD72-A3FD-D9F0-5778C23E1063}"/>
              </a:ext>
            </a:extLst>
          </p:cNvPr>
          <p:cNvSpPr txBox="1"/>
          <p:nvPr/>
        </p:nvSpPr>
        <p:spPr>
          <a:xfrm>
            <a:off x="6539220" y="4781865"/>
            <a:ext cx="1505220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+ 0.31 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F20E09-ECD3-B131-1C46-C4ACAD90EC3F}"/>
              </a:ext>
            </a:extLst>
          </p:cNvPr>
          <p:cNvSpPr txBox="1"/>
          <p:nvPr/>
        </p:nvSpPr>
        <p:spPr>
          <a:xfrm>
            <a:off x="8022570" y="4984348"/>
            <a:ext cx="124458" cy="2862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4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F71CD9-1DBE-8AFB-2954-C69E9421B127}"/>
              </a:ext>
            </a:extLst>
          </p:cNvPr>
          <p:cNvSpPr txBox="1"/>
          <p:nvPr/>
        </p:nvSpPr>
        <p:spPr>
          <a:xfrm>
            <a:off x="8145694" y="4781865"/>
            <a:ext cx="207493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13E18-343C-8ABB-6540-77EC7BEB5C5D}"/>
              </a:ext>
            </a:extLst>
          </p:cNvPr>
          <p:cNvSpPr txBox="1"/>
          <p:nvPr/>
        </p:nvSpPr>
        <p:spPr>
          <a:xfrm>
            <a:off x="2245601" y="5286113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AAA19A-5E99-A377-7ACE-C54130475D20}"/>
              </a:ext>
            </a:extLst>
          </p:cNvPr>
          <p:cNvSpPr txBox="1"/>
          <p:nvPr/>
        </p:nvSpPr>
        <p:spPr>
          <a:xfrm>
            <a:off x="2411507" y="5684547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F80F7ED-738A-3566-9FC8-8B573BE8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544694-5095-4C80-8CB1-2A847BACDC50}" type="slidenum">
              <a:rPr/>
              <a:t>112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AB1C3AB-3BB3-ACC3-56A1-7693598E21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C4EEC-86B1-6F4E-893B-2E3E1158736B}"/>
              </a:ext>
            </a:extLst>
          </p:cNvPr>
          <p:cNvSpPr txBox="1"/>
          <p:nvPr/>
        </p:nvSpPr>
        <p:spPr>
          <a:xfrm>
            <a:off x="2217188" y="1483025"/>
            <a:ext cx="3565400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2) Transmission(cont..)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199CA-103A-F19B-5931-8A1080433F36}"/>
              </a:ext>
            </a:extLst>
          </p:cNvPr>
          <p:cNvSpPr txBox="1"/>
          <p:nvPr/>
        </p:nvSpPr>
        <p:spPr>
          <a:xfrm>
            <a:off x="5948754" y="1528747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058D5-FA3F-9E2F-4454-2D9F84412875}"/>
              </a:ext>
            </a:extLst>
          </p:cNvPr>
          <p:cNvSpPr txBox="1"/>
          <p:nvPr/>
        </p:nvSpPr>
        <p:spPr>
          <a:xfrm>
            <a:off x="2217188" y="1984334"/>
            <a:ext cx="28546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iv. Composite signal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93AC4-118F-8532-758C-A10050BE21A0}"/>
              </a:ext>
            </a:extLst>
          </p:cNvPr>
          <p:cNvSpPr txBox="1"/>
          <p:nvPr/>
        </p:nvSpPr>
        <p:spPr>
          <a:xfrm>
            <a:off x="2217188" y="2427510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3A083-E483-D1C8-D33F-BE59BCD9AE7E}"/>
              </a:ext>
            </a:extLst>
          </p:cNvPr>
          <p:cNvSpPr txBox="1"/>
          <p:nvPr/>
        </p:nvSpPr>
        <p:spPr>
          <a:xfrm>
            <a:off x="3094070" y="2427510"/>
            <a:ext cx="66879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alternative  to  component  coding  composes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D89EC-83D5-E712-9C38-B7658E2FC55B}"/>
              </a:ext>
            </a:extLst>
          </p:cNvPr>
          <p:cNvSpPr txBox="1"/>
          <p:nvPr/>
        </p:nvSpPr>
        <p:spPr>
          <a:xfrm>
            <a:off x="2217188" y="2796552"/>
            <a:ext cx="728827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 into  one  signal;  consequently,  the  individual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0B525-1B52-9FF6-D0BB-E7D83BE0A679}"/>
              </a:ext>
            </a:extLst>
          </p:cNvPr>
          <p:cNvSpPr txBox="1"/>
          <p:nvPr/>
        </p:nvSpPr>
        <p:spPr>
          <a:xfrm>
            <a:off x="2217188" y="3165593"/>
            <a:ext cx="7148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components (RGB, YUV, and YIQ) must be combined into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E9A51-71A8-87D0-0E1C-C25FF6E529F5}"/>
              </a:ext>
            </a:extLst>
          </p:cNvPr>
          <p:cNvSpPr txBox="1"/>
          <p:nvPr/>
        </p:nvSpPr>
        <p:spPr>
          <a:xfrm>
            <a:off x="2217188" y="3534635"/>
            <a:ext cx="15053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one signal.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24BAD-78C7-EDD6-2AEF-B0CCDE34AC6E}"/>
              </a:ext>
            </a:extLst>
          </p:cNvPr>
          <p:cNvSpPr txBox="1"/>
          <p:nvPr/>
        </p:nvSpPr>
        <p:spPr>
          <a:xfrm>
            <a:off x="2217188" y="397781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549DC-1708-48E9-5CD1-593F68CB677D}"/>
              </a:ext>
            </a:extLst>
          </p:cNvPr>
          <p:cNvSpPr txBox="1"/>
          <p:nvPr/>
        </p:nvSpPr>
        <p:spPr>
          <a:xfrm>
            <a:off x="3094070" y="3977811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0DD351-B8A1-4DC4-AE1A-E9D8C007B940}"/>
              </a:ext>
            </a:extLst>
          </p:cNvPr>
          <p:cNvSpPr txBox="1"/>
          <p:nvPr/>
        </p:nvSpPr>
        <p:spPr>
          <a:xfrm>
            <a:off x="3910534" y="3977811"/>
            <a:ext cx="6516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basic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101C8-211F-B374-D01D-47329AD1D369}"/>
              </a:ext>
            </a:extLst>
          </p:cNvPr>
          <p:cNvSpPr txBox="1"/>
          <p:nvPr/>
        </p:nvSpPr>
        <p:spPr>
          <a:xfrm>
            <a:off x="4908906" y="3977811"/>
            <a:ext cx="13808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77A0C0-02BC-9CFF-7E9C-44BE79BEDD31}"/>
              </a:ext>
            </a:extLst>
          </p:cNvPr>
          <p:cNvSpPr txBox="1"/>
          <p:nvPr/>
        </p:nvSpPr>
        <p:spPr>
          <a:xfrm>
            <a:off x="6667568" y="3977811"/>
            <a:ext cx="10084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consists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96AD0-4D15-85B2-4E8F-5B9107FCD71E}"/>
              </a:ext>
            </a:extLst>
          </p:cNvPr>
          <p:cNvSpPr txBox="1"/>
          <p:nvPr/>
        </p:nvSpPr>
        <p:spPr>
          <a:xfrm>
            <a:off x="8039228" y="3977811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0EA3B-4012-8971-5487-873ABE089174}"/>
              </a:ext>
            </a:extLst>
          </p:cNvPr>
          <p:cNvSpPr txBox="1"/>
          <p:nvPr/>
        </p:nvSpPr>
        <p:spPr>
          <a:xfrm>
            <a:off x="8596055" y="3977811"/>
            <a:ext cx="12723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luminance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DB26D0-2FD7-8947-A567-FEEAE3CDCE0B}"/>
              </a:ext>
            </a:extLst>
          </p:cNvPr>
          <p:cNvSpPr txBox="1"/>
          <p:nvPr/>
        </p:nvSpPr>
        <p:spPr>
          <a:xfrm>
            <a:off x="2217188" y="4346853"/>
            <a:ext cx="607756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information and chrominance difference signals.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08A2FC-4DFB-F361-DDCB-1503281BFD0C}"/>
              </a:ext>
            </a:extLst>
          </p:cNvPr>
          <p:cNvSpPr txBox="1"/>
          <p:nvPr/>
        </p:nvSpPr>
        <p:spPr>
          <a:xfrm>
            <a:off x="2392565" y="478970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4D8BD103-6187-F7EF-C970-F0860EBB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9A1C22-AD97-4B3B-9586-B3FE84718721}" type="slidenum">
              <a:rPr/>
              <a:t>113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F968931-85A7-6B3C-6ECA-1F4CCD7F3E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1AF22-FAA5-BEC1-2AB9-23DEE151049F}"/>
              </a:ext>
            </a:extLst>
          </p:cNvPr>
          <p:cNvSpPr txBox="1"/>
          <p:nvPr/>
        </p:nvSpPr>
        <p:spPr>
          <a:xfrm>
            <a:off x="2282831" y="1433710"/>
            <a:ext cx="2773516" cy="40139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722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3) Digitalization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D5BA6-5BFD-6338-A68C-25B0AA012F31}"/>
              </a:ext>
            </a:extLst>
          </p:cNvPr>
          <p:cNvSpPr txBox="1"/>
          <p:nvPr/>
        </p:nvSpPr>
        <p:spPr>
          <a:xfrm>
            <a:off x="2282831" y="184455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20912-1700-39F6-025C-98678E96EA03}"/>
              </a:ext>
            </a:extLst>
          </p:cNvPr>
          <p:cNvSpPr txBox="1"/>
          <p:nvPr/>
        </p:nvSpPr>
        <p:spPr>
          <a:xfrm>
            <a:off x="3112685" y="1844555"/>
            <a:ext cx="15825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A0FB4-9D95-1F1E-F98F-B2D55D01D537}"/>
              </a:ext>
            </a:extLst>
          </p:cNvPr>
          <p:cNvSpPr txBox="1"/>
          <p:nvPr/>
        </p:nvSpPr>
        <p:spPr>
          <a:xfrm>
            <a:off x="4947443" y="1844555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E7690-85FC-54D2-A2AC-072B16AD1248}"/>
              </a:ext>
            </a:extLst>
          </p:cNvPr>
          <p:cNvSpPr txBox="1"/>
          <p:nvPr/>
        </p:nvSpPr>
        <p:spPr>
          <a:xfrm>
            <a:off x="5410868" y="1844555"/>
            <a:ext cx="1552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A37EC9-C5A8-A8D5-0566-42AC90777AF9}"/>
              </a:ext>
            </a:extLst>
          </p:cNvPr>
          <p:cNvSpPr txBox="1"/>
          <p:nvPr/>
        </p:nvSpPr>
        <p:spPr>
          <a:xfrm>
            <a:off x="5829550" y="1844555"/>
            <a:ext cx="10706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54830-9F61-5B62-DC01-2E0F4D1AE27C}"/>
              </a:ext>
            </a:extLst>
          </p:cNvPr>
          <p:cNvSpPr txBox="1"/>
          <p:nvPr/>
        </p:nvSpPr>
        <p:spPr>
          <a:xfrm>
            <a:off x="7154506" y="1844555"/>
            <a:ext cx="2635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46D2D-70B5-3C06-A371-75EF8C31BDCA}"/>
              </a:ext>
            </a:extLst>
          </p:cNvPr>
          <p:cNvSpPr txBox="1"/>
          <p:nvPr/>
        </p:nvSpPr>
        <p:spPr>
          <a:xfrm>
            <a:off x="7678351" y="1844555"/>
            <a:ext cx="12408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changing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5FAD3-38CD-187A-3950-CD51492B7365}"/>
              </a:ext>
            </a:extLst>
          </p:cNvPr>
          <p:cNvSpPr txBox="1"/>
          <p:nvPr/>
        </p:nvSpPr>
        <p:spPr>
          <a:xfrm>
            <a:off x="9169213" y="1844555"/>
            <a:ext cx="4187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0D988-C247-9CE1-FEF6-0D7C9FDB63D0}"/>
              </a:ext>
            </a:extLst>
          </p:cNvPr>
          <p:cNvSpPr txBox="1"/>
          <p:nvPr/>
        </p:nvSpPr>
        <p:spPr>
          <a:xfrm>
            <a:off x="2282831" y="2110396"/>
            <a:ext cx="73997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continuously varying signal into discrete components.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26BCD-B206-127F-479F-11BB1197A9C4}"/>
              </a:ext>
            </a:extLst>
          </p:cNvPr>
          <p:cNvSpPr txBox="1"/>
          <p:nvPr/>
        </p:nvSpPr>
        <p:spPr>
          <a:xfrm>
            <a:off x="2282831" y="244220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5B595-56A7-66E3-4ECA-DC03A856F29B}"/>
              </a:ext>
            </a:extLst>
          </p:cNvPr>
          <p:cNvSpPr txBox="1"/>
          <p:nvPr/>
        </p:nvSpPr>
        <p:spPr>
          <a:xfrm>
            <a:off x="3112684" y="2442206"/>
            <a:ext cx="527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7D79E7-A2FE-D5E9-28B5-F25A686334AC}"/>
              </a:ext>
            </a:extLst>
          </p:cNvPr>
          <p:cNvSpPr txBox="1"/>
          <p:nvPr/>
        </p:nvSpPr>
        <p:spPr>
          <a:xfrm>
            <a:off x="3888326" y="2442206"/>
            <a:ext cx="10704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basically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717496-E1B5-84B2-ADAE-73F22074B083}"/>
              </a:ext>
            </a:extLst>
          </p:cNvPr>
          <p:cNvSpPr txBox="1"/>
          <p:nvPr/>
        </p:nvSpPr>
        <p:spPr>
          <a:xfrm>
            <a:off x="5204792" y="2442206"/>
            <a:ext cx="5896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C9E6D7-584B-DAB1-38E1-B4F2A5C1A031}"/>
              </a:ext>
            </a:extLst>
          </p:cNvPr>
          <p:cNvSpPr txBox="1"/>
          <p:nvPr/>
        </p:nvSpPr>
        <p:spPr>
          <a:xfrm>
            <a:off x="6043790" y="2442206"/>
            <a:ext cx="16600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mathematical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EF7A5F-FD17-13F3-352B-87487D03B559}"/>
              </a:ext>
            </a:extLst>
          </p:cNvPr>
          <p:cNvSpPr txBox="1"/>
          <p:nvPr/>
        </p:nvSpPr>
        <p:spPr>
          <a:xfrm>
            <a:off x="7942558" y="2442206"/>
            <a:ext cx="9774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809C3-476D-621D-A769-09CCE2C3B7B0}"/>
              </a:ext>
            </a:extLst>
          </p:cNvPr>
          <p:cNvSpPr txBox="1"/>
          <p:nvPr/>
        </p:nvSpPr>
        <p:spPr>
          <a:xfrm>
            <a:off x="9166274" y="2442206"/>
            <a:ext cx="41883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like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F7A0BB-5365-F132-300A-FA4A6D0D95DA}"/>
              </a:ext>
            </a:extLst>
          </p:cNvPr>
          <p:cNvSpPr txBox="1"/>
          <p:nvPr/>
        </p:nvSpPr>
        <p:spPr>
          <a:xfrm>
            <a:off x="2282831" y="2707720"/>
            <a:ext cx="726166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Fourier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analysis</a:t>
            </a:r>
            <a:r>
              <a:rPr lang="en-US" sz="2177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or a series of step consisting of sampling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252AE-8AB0-676D-2A95-ED4752E56928}"/>
              </a:ext>
            </a:extLst>
          </p:cNvPr>
          <p:cNvSpPr txBox="1"/>
          <p:nvPr/>
        </p:nvSpPr>
        <p:spPr>
          <a:xfrm>
            <a:off x="2282831" y="2972908"/>
            <a:ext cx="20486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quantizing.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5374D9-001E-D3AE-7A66-A712B3F65768}"/>
              </a:ext>
            </a:extLst>
          </p:cNvPr>
          <p:cNvSpPr txBox="1"/>
          <p:nvPr/>
        </p:nvSpPr>
        <p:spPr>
          <a:xfrm>
            <a:off x="2282831" y="330471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53DBAF-4FB7-6056-B2A5-5F47743FA903}"/>
              </a:ext>
            </a:extLst>
          </p:cNvPr>
          <p:cNvSpPr txBox="1"/>
          <p:nvPr/>
        </p:nvSpPr>
        <p:spPr>
          <a:xfrm>
            <a:off x="3112684" y="3304719"/>
            <a:ext cx="66256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  is  the  process  that  actually  digitizes  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63166B-245B-9923-CC1D-FF36E96F0261}"/>
              </a:ext>
            </a:extLst>
          </p:cNvPr>
          <p:cNvSpPr txBox="1"/>
          <p:nvPr/>
        </p:nvSpPr>
        <p:spPr>
          <a:xfrm>
            <a:off x="2282831" y="3570559"/>
            <a:ext cx="758784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spatial  position  of  the  image  while  quantizing  digitizes  its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42F0B-667E-F3ED-9036-11A5000E8267}"/>
              </a:ext>
            </a:extLst>
          </p:cNvPr>
          <p:cNvSpPr txBox="1"/>
          <p:nvPr/>
        </p:nvSpPr>
        <p:spPr>
          <a:xfrm>
            <a:off x="2282831" y="3836072"/>
            <a:ext cx="22962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information.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7016BC-9043-6BD7-A426-6F46BE677613}"/>
              </a:ext>
            </a:extLst>
          </p:cNvPr>
          <p:cNvSpPr txBox="1"/>
          <p:nvPr/>
        </p:nvSpPr>
        <p:spPr>
          <a:xfrm>
            <a:off x="2282831" y="416788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445FDB-B72D-3EA0-E4F6-9B20D435D0A5}"/>
              </a:ext>
            </a:extLst>
          </p:cNvPr>
          <p:cNvSpPr txBox="1"/>
          <p:nvPr/>
        </p:nvSpPr>
        <p:spPr>
          <a:xfrm>
            <a:off x="3112685" y="4167884"/>
            <a:ext cx="63462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Sampling involves dividing the picture at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M*N array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986445-A7C2-976C-E721-6B1FCE69C6B0}"/>
              </a:ext>
            </a:extLst>
          </p:cNvPr>
          <p:cNvSpPr txBox="1"/>
          <p:nvPr/>
        </p:nvSpPr>
        <p:spPr>
          <a:xfrm>
            <a:off x="2282831" y="4433398"/>
            <a:ext cx="72623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points while quantizing involves dividing the signal into 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795E59-FCC5-D913-A071-BA4756E1FF84}"/>
              </a:ext>
            </a:extLst>
          </p:cNvPr>
          <p:cNvSpPr txBox="1"/>
          <p:nvPr/>
        </p:nvSpPr>
        <p:spPr>
          <a:xfrm>
            <a:off x="2282830" y="4698912"/>
            <a:ext cx="34138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range of gray level values.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6D326C-0519-CF0B-9492-594E2182AD6F}"/>
              </a:ext>
            </a:extLst>
          </p:cNvPr>
          <p:cNvSpPr txBox="1"/>
          <p:nvPr/>
        </p:nvSpPr>
        <p:spPr>
          <a:xfrm>
            <a:off x="2282831" y="503072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0B16A-1351-7403-8358-84F7FB5A192C}"/>
              </a:ext>
            </a:extLst>
          </p:cNvPr>
          <p:cNvSpPr txBox="1"/>
          <p:nvPr/>
        </p:nvSpPr>
        <p:spPr>
          <a:xfrm>
            <a:off x="3112685" y="5030723"/>
            <a:ext cx="8066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Finally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BF7286-0F67-10F7-E08E-673D45DE3AE1}"/>
              </a:ext>
            </a:extLst>
          </p:cNvPr>
          <p:cNvSpPr txBox="1"/>
          <p:nvPr/>
        </p:nvSpPr>
        <p:spPr>
          <a:xfrm>
            <a:off x="4147962" y="503072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738AA8-DA28-688B-320C-CB80BAE529B3}"/>
              </a:ext>
            </a:extLst>
          </p:cNvPr>
          <p:cNvSpPr txBox="1"/>
          <p:nvPr/>
        </p:nvSpPr>
        <p:spPr>
          <a:xfrm>
            <a:off x="4769126" y="5030723"/>
            <a:ext cx="729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44B94D-F53D-4D20-5D86-6B0A74F5F286}"/>
              </a:ext>
            </a:extLst>
          </p:cNvPr>
          <p:cNvSpPr txBox="1"/>
          <p:nvPr/>
        </p:nvSpPr>
        <p:spPr>
          <a:xfrm>
            <a:off x="5728635" y="5030723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77B0F7-5729-B2FA-C94B-C8E59CAFAA5E}"/>
              </a:ext>
            </a:extLst>
          </p:cNvPr>
          <p:cNvSpPr txBox="1"/>
          <p:nvPr/>
        </p:nvSpPr>
        <p:spPr>
          <a:xfrm>
            <a:off x="6794937" y="5030723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E5A867-E922-8CE7-F269-D072EB8A56F0}"/>
              </a:ext>
            </a:extLst>
          </p:cNvPr>
          <p:cNvSpPr txBox="1"/>
          <p:nvPr/>
        </p:nvSpPr>
        <p:spPr>
          <a:xfrm>
            <a:off x="7693700" y="5030723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845066-E652-F676-70B4-940823D31F9A}"/>
              </a:ext>
            </a:extLst>
          </p:cNvPr>
          <p:cNvSpPr txBox="1"/>
          <p:nvPr/>
        </p:nvSpPr>
        <p:spPr>
          <a:xfrm>
            <a:off x="8129039" y="5030723"/>
            <a:ext cx="9310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created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D2005F-A022-9BD8-FC25-CF5CDFC5A915}"/>
              </a:ext>
            </a:extLst>
          </p:cNvPr>
          <p:cNvSpPr txBox="1"/>
          <p:nvPr/>
        </p:nvSpPr>
        <p:spPr>
          <a:xfrm>
            <a:off x="9288090" y="5030723"/>
            <a:ext cx="29482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95B4F5-7545-6989-537E-6C06CF37A7AF}"/>
              </a:ext>
            </a:extLst>
          </p:cNvPr>
          <p:cNvSpPr txBox="1"/>
          <p:nvPr/>
        </p:nvSpPr>
        <p:spPr>
          <a:xfrm>
            <a:off x="2282831" y="5296237"/>
            <a:ext cx="41840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digitizing the pictures temporally.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F353A1A-EA59-3F68-D000-0877EAB8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56922E-A615-414B-A1E3-9B4A15D6A07B}" type="slidenum">
              <a:rPr/>
              <a:t>114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947CDE5-31BA-B637-D3AB-F2FC00BEBD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B8FDF-6DF2-4D56-6D68-8141FB0614C5}"/>
              </a:ext>
            </a:extLst>
          </p:cNvPr>
          <p:cNvSpPr txBox="1"/>
          <p:nvPr/>
        </p:nvSpPr>
        <p:spPr>
          <a:xfrm>
            <a:off x="2198900" y="1490536"/>
            <a:ext cx="3703963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Video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DF044-1E64-24FB-2A52-B5FB21EEE144}"/>
              </a:ext>
            </a:extLst>
          </p:cNvPr>
          <p:cNvSpPr txBox="1"/>
          <p:nvPr/>
        </p:nvSpPr>
        <p:spPr>
          <a:xfrm>
            <a:off x="2198899" y="1992825"/>
            <a:ext cx="90474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18521-E14D-6475-9A7E-32647DFFC8CD}"/>
              </a:ext>
            </a:extLst>
          </p:cNvPr>
          <p:cNvSpPr txBox="1"/>
          <p:nvPr/>
        </p:nvSpPr>
        <p:spPr>
          <a:xfrm>
            <a:off x="3028754" y="1992825"/>
            <a:ext cx="6445739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video format depends on the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D548D-8C17-1C8E-4014-AED1B15866A8}"/>
              </a:ext>
            </a:extLst>
          </p:cNvPr>
          <p:cNvSpPr txBox="1"/>
          <p:nvPr/>
        </p:nvSpPr>
        <p:spPr>
          <a:xfrm>
            <a:off x="2198899" y="2411508"/>
            <a:ext cx="6934334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output devices for the motion video medium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085E9-6593-20E2-2DC0-F37D369959C3}"/>
              </a:ext>
            </a:extLst>
          </p:cNvPr>
          <p:cNvSpPr txBox="1"/>
          <p:nvPr/>
        </p:nvSpPr>
        <p:spPr>
          <a:xfrm>
            <a:off x="2198900" y="2913470"/>
            <a:ext cx="18094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22E85-2973-ADF2-5302-58BDFFD63E3D}"/>
              </a:ext>
            </a:extLst>
          </p:cNvPr>
          <p:cNvSpPr txBox="1"/>
          <p:nvPr/>
        </p:nvSpPr>
        <p:spPr>
          <a:xfrm>
            <a:off x="2452003" y="3456581"/>
            <a:ext cx="217495" cy="30732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D16349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A8639-A8E7-7A5F-BDA1-B040BA7FC6ED}"/>
              </a:ext>
            </a:extLst>
          </p:cNvPr>
          <p:cNvSpPr txBox="1"/>
          <p:nvPr/>
        </p:nvSpPr>
        <p:spPr>
          <a:xfrm>
            <a:off x="2876564" y="3415758"/>
            <a:ext cx="640290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Current video digitizers differ in digital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21BF6-6DF6-D422-224C-FBE6E5006663}"/>
              </a:ext>
            </a:extLst>
          </p:cNvPr>
          <p:cNvSpPr txBox="1"/>
          <p:nvPr/>
        </p:nvSpPr>
        <p:spPr>
          <a:xfrm>
            <a:off x="2876564" y="3834440"/>
            <a:ext cx="5739456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resolution, quantization and frame rate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C819F-7C8F-F4F4-4801-7E0DE516CA95}"/>
              </a:ext>
            </a:extLst>
          </p:cNvPr>
          <p:cNvSpPr txBox="1"/>
          <p:nvPr/>
        </p:nvSpPr>
        <p:spPr>
          <a:xfrm>
            <a:off x="2452003" y="4377226"/>
            <a:ext cx="217495" cy="30732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D16349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821866-BC79-411A-014E-8C6353DC5B1C}"/>
              </a:ext>
            </a:extLst>
          </p:cNvPr>
          <p:cNvSpPr txBox="1"/>
          <p:nvPr/>
        </p:nvSpPr>
        <p:spPr>
          <a:xfrm>
            <a:off x="2876565" y="4336729"/>
            <a:ext cx="5955989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Most often used display is raster display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16AB7-F649-F19F-BCF3-5ECBCDC9D193}"/>
              </a:ext>
            </a:extLst>
          </p:cNvPr>
          <p:cNvSpPr txBox="1"/>
          <p:nvPr/>
        </p:nvSpPr>
        <p:spPr>
          <a:xfrm>
            <a:off x="2452003" y="4879188"/>
            <a:ext cx="217495" cy="30732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D16349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EB557-643C-F7E1-F602-7F1948DF83B9}"/>
              </a:ext>
            </a:extLst>
          </p:cNvPr>
          <p:cNvSpPr txBox="1"/>
          <p:nvPr/>
        </p:nvSpPr>
        <p:spPr>
          <a:xfrm>
            <a:off x="2876564" y="4838691"/>
            <a:ext cx="5955926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raster display architecture (as shown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8FB998-C69D-F80D-048A-4D16E47A3333}"/>
              </a:ext>
            </a:extLst>
          </p:cNvPr>
          <p:cNvSpPr txBox="1"/>
          <p:nvPr/>
        </p:nvSpPr>
        <p:spPr>
          <a:xfrm>
            <a:off x="2876565" y="5257700"/>
            <a:ext cx="1140505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below) </a:t>
            </a:r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1CF4A95-A525-C05A-249F-E190C86B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B23CAE-907A-4586-9C77-2730CB6A3EB7}" type="slidenum">
              <a:rPr/>
              <a:t>115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929AB28-EF71-8426-DA94-DDA06614D5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8F61C-E1EC-8205-A47D-DB42BE247D0A}"/>
              </a:ext>
            </a:extLst>
          </p:cNvPr>
          <p:cNvSpPr txBox="1"/>
          <p:nvPr/>
        </p:nvSpPr>
        <p:spPr>
          <a:xfrm>
            <a:off x="2119213" y="134912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C64FD-7777-DAAC-675C-7EB54F0C16E0}"/>
              </a:ext>
            </a:extLst>
          </p:cNvPr>
          <p:cNvSpPr txBox="1"/>
          <p:nvPr/>
        </p:nvSpPr>
        <p:spPr>
          <a:xfrm>
            <a:off x="2949066" y="1349125"/>
            <a:ext cx="729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0860E-CFD3-66D6-BADF-362B7A295DC5}"/>
              </a:ext>
            </a:extLst>
          </p:cNvPr>
          <p:cNvSpPr txBox="1"/>
          <p:nvPr/>
        </p:nvSpPr>
        <p:spPr>
          <a:xfrm>
            <a:off x="4065988" y="1349125"/>
            <a:ext cx="11636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ACA36-63AB-9346-866C-63BCAA8E32FC}"/>
              </a:ext>
            </a:extLst>
          </p:cNvPr>
          <p:cNvSpPr txBox="1"/>
          <p:nvPr/>
        </p:nvSpPr>
        <p:spPr>
          <a:xfrm>
            <a:off x="5614982" y="1349125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FF668-9433-19A9-8451-4A70C2CA1F06}"/>
              </a:ext>
            </a:extLst>
          </p:cNvPr>
          <p:cNvSpPr txBox="1"/>
          <p:nvPr/>
        </p:nvSpPr>
        <p:spPr>
          <a:xfrm>
            <a:off x="6669855" y="1349125"/>
            <a:ext cx="11480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controller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6125A-CFBC-549C-3746-071C86A525A9}"/>
              </a:ext>
            </a:extLst>
          </p:cNvPr>
          <p:cNvSpPr txBox="1"/>
          <p:nvPr/>
        </p:nvSpPr>
        <p:spPr>
          <a:xfrm>
            <a:off x="8203500" y="1349125"/>
            <a:ext cx="12259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standards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751A0-8132-E748-70B5-DE6182615851}"/>
              </a:ext>
            </a:extLst>
          </p:cNvPr>
          <p:cNvSpPr txBox="1"/>
          <p:nvPr/>
        </p:nvSpPr>
        <p:spPr>
          <a:xfrm>
            <a:off x="2119212" y="1697591"/>
            <a:ext cx="57814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(Computer Video Formats)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 given below: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98D26C-B0DB-2720-13A5-EF574493B9F4}"/>
              </a:ext>
            </a:extLst>
          </p:cNvPr>
          <p:cNvSpPr txBox="1"/>
          <p:nvPr/>
        </p:nvSpPr>
        <p:spPr>
          <a:xfrm>
            <a:off x="2119212" y="2123132"/>
            <a:ext cx="402257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Graphics Adapter (CGA)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BA1FD-C1B8-E244-CD29-927CF70F35C0}"/>
              </a:ext>
            </a:extLst>
          </p:cNvPr>
          <p:cNvSpPr txBox="1"/>
          <p:nvPr/>
        </p:nvSpPr>
        <p:spPr>
          <a:xfrm>
            <a:off x="2368071" y="2533324"/>
            <a:ext cx="200221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Resolution: 320*200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F8A29-2D98-7558-ED2D-88B41B4675DB}"/>
              </a:ext>
            </a:extLst>
          </p:cNvPr>
          <p:cNvSpPr txBox="1"/>
          <p:nvPr/>
        </p:nvSpPr>
        <p:spPr>
          <a:xfrm>
            <a:off x="2368071" y="2852398"/>
            <a:ext cx="230447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depth: 2 bits/pixel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DC36F5-5E91-FB02-B1EE-29E6A6AA92D3}"/>
              </a:ext>
            </a:extLst>
          </p:cNvPr>
          <p:cNvSpPr txBox="1"/>
          <p:nvPr/>
        </p:nvSpPr>
        <p:spPr>
          <a:xfrm>
            <a:off x="2368071" y="3171472"/>
            <a:ext cx="181549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size: 16 KB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D59C9-AFF9-7943-2D60-24883D3B6CE8}"/>
              </a:ext>
            </a:extLst>
          </p:cNvPr>
          <p:cNvSpPr txBox="1"/>
          <p:nvPr/>
        </p:nvSpPr>
        <p:spPr>
          <a:xfrm>
            <a:off x="2368070" y="3490220"/>
            <a:ext cx="152445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No. of colors: 4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94090-AA14-72A5-A32A-6302A4BEC53A}"/>
              </a:ext>
            </a:extLst>
          </p:cNvPr>
          <p:cNvSpPr txBox="1"/>
          <p:nvPr/>
        </p:nvSpPr>
        <p:spPr>
          <a:xfrm>
            <a:off x="2368071" y="3809947"/>
            <a:ext cx="431278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Capacity: 320*200*4/8=16,000 bytes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D43D2-273B-1F3C-6F2D-E07C3B4B09D6}"/>
              </a:ext>
            </a:extLst>
          </p:cNvPr>
          <p:cNvSpPr txBox="1"/>
          <p:nvPr/>
        </p:nvSpPr>
        <p:spPr>
          <a:xfrm>
            <a:off x="2119213" y="4144696"/>
            <a:ext cx="47675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Enhanced Graphics Adapter (EGA)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9BE748-4359-06C5-035F-30D1139C8FA2}"/>
              </a:ext>
            </a:extLst>
          </p:cNvPr>
          <p:cNvSpPr txBox="1"/>
          <p:nvPr/>
        </p:nvSpPr>
        <p:spPr>
          <a:xfrm>
            <a:off x="2368071" y="4554562"/>
            <a:ext cx="200221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Resolution: 640*350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33225F-4170-6086-F72D-08D365482B2B}"/>
              </a:ext>
            </a:extLst>
          </p:cNvPr>
          <p:cNvSpPr txBox="1"/>
          <p:nvPr/>
        </p:nvSpPr>
        <p:spPr>
          <a:xfrm>
            <a:off x="2368071" y="4873636"/>
            <a:ext cx="230447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depth: 4 bits/pixel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8B2C6-DB4F-33AD-753F-8867D5A507DA}"/>
              </a:ext>
            </a:extLst>
          </p:cNvPr>
          <p:cNvSpPr txBox="1"/>
          <p:nvPr/>
        </p:nvSpPr>
        <p:spPr>
          <a:xfrm>
            <a:off x="2368071" y="5193037"/>
            <a:ext cx="191642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size: 112 KB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290C54-DF9B-7808-D155-1CE2DAC15C03}"/>
              </a:ext>
            </a:extLst>
          </p:cNvPr>
          <p:cNvSpPr txBox="1"/>
          <p:nvPr/>
        </p:nvSpPr>
        <p:spPr>
          <a:xfrm>
            <a:off x="2368070" y="5512437"/>
            <a:ext cx="164089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No. of colors: 16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875832-02A4-1E31-A071-1BA27D35A62C}"/>
              </a:ext>
            </a:extLst>
          </p:cNvPr>
          <p:cNvSpPr txBox="1"/>
          <p:nvPr/>
        </p:nvSpPr>
        <p:spPr>
          <a:xfrm>
            <a:off x="2368071" y="5831511"/>
            <a:ext cx="4413709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Capacity: 640*480*4/8=112,000 bytes  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EC77B23-B2C2-E6AC-809E-2B5296E2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C32777-8C0B-4032-93DB-8AD3016F4A3B}" type="slidenum">
              <a:rPr/>
              <a:t>116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F8BAE14-A00B-D38E-7A79-96A4E548C8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1056B-14C9-BA3C-10EC-69D99BB4958E}"/>
              </a:ext>
            </a:extLst>
          </p:cNvPr>
          <p:cNvSpPr txBox="1"/>
          <p:nvPr/>
        </p:nvSpPr>
        <p:spPr>
          <a:xfrm>
            <a:off x="2348149" y="1512743"/>
            <a:ext cx="38577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 Graphics Array (VGA)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E1419-0A44-37B4-59F0-E53B14E01E1A}"/>
              </a:ext>
            </a:extLst>
          </p:cNvPr>
          <p:cNvSpPr txBox="1"/>
          <p:nvPr/>
        </p:nvSpPr>
        <p:spPr>
          <a:xfrm>
            <a:off x="2615622" y="1925222"/>
            <a:ext cx="26693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Resolution: 649*480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A7986-B3A2-3200-90A0-6B6E6954D1B2}"/>
              </a:ext>
            </a:extLst>
          </p:cNvPr>
          <p:cNvSpPr txBox="1"/>
          <p:nvPr/>
        </p:nvSpPr>
        <p:spPr>
          <a:xfrm>
            <a:off x="2615622" y="2338026"/>
            <a:ext cx="307238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depth: 8 bits/pixel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5168E-5971-879D-4435-6BBD753F68F4}"/>
              </a:ext>
            </a:extLst>
          </p:cNvPr>
          <p:cNvSpPr txBox="1"/>
          <p:nvPr/>
        </p:nvSpPr>
        <p:spPr>
          <a:xfrm>
            <a:off x="2615622" y="2750503"/>
            <a:ext cx="28087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size: 307.2 KB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BE178-091F-C5E0-DABE-EE28119DCA94}"/>
              </a:ext>
            </a:extLst>
          </p:cNvPr>
          <p:cNvSpPr txBox="1"/>
          <p:nvPr/>
        </p:nvSpPr>
        <p:spPr>
          <a:xfrm>
            <a:off x="2615623" y="3162981"/>
            <a:ext cx="234307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No. of colors: 256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6BA9C-3D45-2ED1-3DA6-4EB78C623E13}"/>
              </a:ext>
            </a:extLst>
          </p:cNvPr>
          <p:cNvSpPr txBox="1"/>
          <p:nvPr/>
        </p:nvSpPr>
        <p:spPr>
          <a:xfrm>
            <a:off x="2615623" y="3575457"/>
            <a:ext cx="59052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Capacity: 640*480*8/8=307,200 bytes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99C47-4BA6-293B-C45D-B5C8ECC231B4}"/>
              </a:ext>
            </a:extLst>
          </p:cNvPr>
          <p:cNvSpPr txBox="1"/>
          <p:nvPr/>
        </p:nvSpPr>
        <p:spPr>
          <a:xfrm>
            <a:off x="2348149" y="3988262"/>
            <a:ext cx="40439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8514/A Display Adapter Mode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E9E790-848A-5482-C790-69E3D90B6FEB}"/>
              </a:ext>
            </a:extLst>
          </p:cNvPr>
          <p:cNvSpPr txBox="1"/>
          <p:nvPr/>
        </p:nvSpPr>
        <p:spPr>
          <a:xfrm>
            <a:off x="2615622" y="4400413"/>
            <a:ext cx="28245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Resolution: 1024*768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26E3F1-3AF4-F8DF-AB9C-54224C06BF18}"/>
              </a:ext>
            </a:extLst>
          </p:cNvPr>
          <p:cNvSpPr txBox="1"/>
          <p:nvPr/>
        </p:nvSpPr>
        <p:spPr>
          <a:xfrm>
            <a:off x="2615623" y="4812889"/>
            <a:ext cx="234307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No. of colors: 256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49220-0E67-4DBC-7275-A9966B18F634}"/>
              </a:ext>
            </a:extLst>
          </p:cNvPr>
          <p:cNvSpPr txBox="1"/>
          <p:nvPr/>
        </p:nvSpPr>
        <p:spPr>
          <a:xfrm>
            <a:off x="2615623" y="5225694"/>
            <a:ext cx="60605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Capacity: 1024*768*8/8=786,432 bytes  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7045F53-42AE-3952-9214-E273177E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AA8051-44FE-4FE7-B358-3825B0F73265}" type="slidenum">
              <a:rPr/>
              <a:t>117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C966DBA-041E-C141-57D7-A7905AD0922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Video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29BB3-D9E7-2260-28CC-FBE4D96FEB79}"/>
              </a:ext>
            </a:extLst>
          </p:cNvPr>
          <p:cNvSpPr txBox="1"/>
          <p:nvPr/>
        </p:nvSpPr>
        <p:spPr>
          <a:xfrm>
            <a:off x="2380480" y="1512743"/>
            <a:ext cx="43645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Extended Graphics Array (XGA)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EE75C-53CD-BA0B-7E04-EA139127D420}"/>
              </a:ext>
            </a:extLst>
          </p:cNvPr>
          <p:cNvSpPr txBox="1"/>
          <p:nvPr/>
        </p:nvSpPr>
        <p:spPr>
          <a:xfrm>
            <a:off x="2629339" y="1910852"/>
            <a:ext cx="409734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Resolution: 640*480 / 1024*768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E1AEE-C459-106B-7A99-80DE52A4CBF6}"/>
              </a:ext>
            </a:extLst>
          </p:cNvPr>
          <p:cNvSpPr txBox="1"/>
          <p:nvPr/>
        </p:nvSpPr>
        <p:spPr>
          <a:xfrm>
            <a:off x="2629339" y="2309286"/>
            <a:ext cx="412792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depth: 65,000 colors / 256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EEC6B-AC05-A9BA-FA6D-C827C4BC8CB0}"/>
              </a:ext>
            </a:extLst>
          </p:cNvPr>
          <p:cNvSpPr txBox="1"/>
          <p:nvPr/>
        </p:nvSpPr>
        <p:spPr>
          <a:xfrm>
            <a:off x="2629339" y="2707720"/>
            <a:ext cx="31652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colors No. of colors: 256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98A13-BC27-99CB-3767-DB30978BC37A}"/>
              </a:ext>
            </a:extLst>
          </p:cNvPr>
          <p:cNvSpPr txBox="1"/>
          <p:nvPr/>
        </p:nvSpPr>
        <p:spPr>
          <a:xfrm>
            <a:off x="2629339" y="3105828"/>
            <a:ext cx="60605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Capacity: 1024*768*8/8=786,432 bytes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5B874-6661-1CB3-757D-291D64ABC98E}"/>
              </a:ext>
            </a:extLst>
          </p:cNvPr>
          <p:cNvSpPr txBox="1"/>
          <p:nvPr/>
        </p:nvSpPr>
        <p:spPr>
          <a:xfrm>
            <a:off x="2380480" y="3503935"/>
            <a:ext cx="26732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Super VGA (SVGA)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E5E18-3BC6-8087-2F9A-E3F116E8C2B8}"/>
              </a:ext>
            </a:extLst>
          </p:cNvPr>
          <p:cNvSpPr txBox="1"/>
          <p:nvPr/>
        </p:nvSpPr>
        <p:spPr>
          <a:xfrm>
            <a:off x="2629339" y="3902370"/>
            <a:ext cx="282455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Resolution: 1024*768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00359-3221-1A46-B42F-A67A92716895}"/>
              </a:ext>
            </a:extLst>
          </p:cNvPr>
          <p:cNvSpPr txBox="1"/>
          <p:nvPr/>
        </p:nvSpPr>
        <p:spPr>
          <a:xfrm>
            <a:off x="2629339" y="4300478"/>
            <a:ext cx="32276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depth: 24 bits/pixel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4552C-BD7E-58C9-67BA-CB664636375B}"/>
              </a:ext>
            </a:extLst>
          </p:cNvPr>
          <p:cNvSpPr txBox="1"/>
          <p:nvPr/>
        </p:nvSpPr>
        <p:spPr>
          <a:xfrm>
            <a:off x="2629339" y="4698585"/>
            <a:ext cx="277742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 size: 2.35 MB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30F0C-617E-E4F2-105C-56700B828530}"/>
              </a:ext>
            </a:extLst>
          </p:cNvPr>
          <p:cNvSpPr txBox="1"/>
          <p:nvPr/>
        </p:nvSpPr>
        <p:spPr>
          <a:xfrm>
            <a:off x="2629339" y="5097020"/>
            <a:ext cx="18774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No. of colors: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AA7AF-B4BD-461F-51C0-99246F3BDB17}"/>
              </a:ext>
            </a:extLst>
          </p:cNvPr>
          <p:cNvSpPr txBox="1"/>
          <p:nvPr/>
        </p:nvSpPr>
        <p:spPr>
          <a:xfrm>
            <a:off x="4487610" y="5098000"/>
            <a:ext cx="207108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001DF-660E-F557-292E-0F1EF8A6059E}"/>
              </a:ext>
            </a:extLst>
          </p:cNvPr>
          <p:cNvSpPr txBox="1"/>
          <p:nvPr/>
        </p:nvSpPr>
        <p:spPr>
          <a:xfrm>
            <a:off x="4692380" y="5097020"/>
            <a:ext cx="155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9DD4E-8445-5C1F-C49C-9FC5810A958A}"/>
              </a:ext>
            </a:extLst>
          </p:cNvPr>
          <p:cNvSpPr txBox="1"/>
          <p:nvPr/>
        </p:nvSpPr>
        <p:spPr>
          <a:xfrm>
            <a:off x="2629339" y="5495454"/>
            <a:ext cx="64485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Storage Capacity: 1024*768*24/8=2,359,296 bytes  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8D7C85A-6369-E445-FF7F-33ED2ED3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36EB6C-B150-4674-869E-B770D05BBDDC}" type="slidenum">
              <a:rPr/>
              <a:t>118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69EB954-D6BE-7143-583E-348BC4E05D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5E11F-C3E9-B420-C066-9BF8AE728E2B}"/>
              </a:ext>
            </a:extLst>
          </p:cNvPr>
          <p:cNvSpPr txBox="1"/>
          <p:nvPr/>
        </p:nvSpPr>
        <p:spPr>
          <a:xfrm>
            <a:off x="2282831" y="1727311"/>
            <a:ext cx="314932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Conventional Systems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F6488-1E59-3138-6122-39D930BD97DC}"/>
              </a:ext>
            </a:extLst>
          </p:cNvPr>
          <p:cNvSpPr txBox="1"/>
          <p:nvPr/>
        </p:nvSpPr>
        <p:spPr>
          <a:xfrm>
            <a:off x="2282831" y="220314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A9004-897F-DB89-3772-F44BE427D49C}"/>
              </a:ext>
            </a:extLst>
          </p:cNvPr>
          <p:cNvSpPr txBox="1"/>
          <p:nvPr/>
        </p:nvSpPr>
        <p:spPr>
          <a:xfrm>
            <a:off x="3112685" y="2203146"/>
            <a:ext cx="16294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Conventional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D7A0E-5D47-7FF0-AE8C-534820152E02}"/>
              </a:ext>
            </a:extLst>
          </p:cNvPr>
          <p:cNvSpPr txBox="1"/>
          <p:nvPr/>
        </p:nvSpPr>
        <p:spPr>
          <a:xfrm>
            <a:off x="5081670" y="2203146"/>
            <a:ext cx="11637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television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2F85D-FF95-313B-680E-76712E14AA0E}"/>
              </a:ext>
            </a:extLst>
          </p:cNvPr>
          <p:cNvSpPr txBox="1"/>
          <p:nvPr/>
        </p:nvSpPr>
        <p:spPr>
          <a:xfrm>
            <a:off x="6588861" y="2203146"/>
            <a:ext cx="10237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D03B2-B983-720B-1F1D-690B6FDBBE3B}"/>
              </a:ext>
            </a:extLst>
          </p:cNvPr>
          <p:cNvSpPr txBox="1"/>
          <p:nvPr/>
        </p:nvSpPr>
        <p:spPr>
          <a:xfrm>
            <a:off x="7956275" y="2203146"/>
            <a:ext cx="8998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employ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6AB0E-B2F3-65DA-231A-A05DFF9CF3EC}"/>
              </a:ext>
            </a:extLst>
          </p:cNvPr>
          <p:cNvSpPr txBox="1"/>
          <p:nvPr/>
        </p:nvSpPr>
        <p:spPr>
          <a:xfrm>
            <a:off x="9199586" y="2203146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933E-B58E-BEEA-9C9C-284957DA5B4F}"/>
              </a:ext>
            </a:extLst>
          </p:cNvPr>
          <p:cNvSpPr txBox="1"/>
          <p:nvPr/>
        </p:nvSpPr>
        <p:spPr>
          <a:xfrm>
            <a:off x="2282831" y="2599621"/>
            <a:ext cx="26223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following standards: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9092C1-719C-B021-7C96-3181CE795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685" y="3078395"/>
            <a:ext cx="414436" cy="36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C46EF4-BD7F-5563-9FE4-E9B331C59BD8}"/>
              </a:ext>
            </a:extLst>
          </p:cNvPr>
          <p:cNvSpPr txBox="1"/>
          <p:nvPr/>
        </p:nvSpPr>
        <p:spPr>
          <a:xfrm>
            <a:off x="2282831" y="307545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374EC-0F1F-178D-473A-DE75F47C6939}"/>
              </a:ext>
            </a:extLst>
          </p:cNvPr>
          <p:cNvSpPr txBox="1"/>
          <p:nvPr/>
        </p:nvSpPr>
        <p:spPr>
          <a:xfrm>
            <a:off x="3320067" y="3075456"/>
            <a:ext cx="9927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NTSC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256D0A-7022-D651-D309-A47BB6977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685" y="3553904"/>
            <a:ext cx="414436" cy="3683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DDF2F3-5043-594B-FE46-D7DB2E324D81}"/>
              </a:ext>
            </a:extLst>
          </p:cNvPr>
          <p:cNvSpPr txBox="1"/>
          <p:nvPr/>
        </p:nvSpPr>
        <p:spPr>
          <a:xfrm>
            <a:off x="2282831" y="355096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0EBEE1-85D9-B564-936D-B08AD19B7966}"/>
              </a:ext>
            </a:extLst>
          </p:cNvPr>
          <p:cNvSpPr txBox="1"/>
          <p:nvPr/>
        </p:nvSpPr>
        <p:spPr>
          <a:xfrm>
            <a:off x="3320067" y="3550964"/>
            <a:ext cx="12255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SECAM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FE236C-870F-1011-896D-BA244F60B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685" y="4030065"/>
            <a:ext cx="414436" cy="36773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FFC460-9509-B802-749C-BFCDFD61818D}"/>
              </a:ext>
            </a:extLst>
          </p:cNvPr>
          <p:cNvSpPr txBox="1"/>
          <p:nvPr/>
        </p:nvSpPr>
        <p:spPr>
          <a:xfrm>
            <a:off x="2282831" y="4026799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F48DAD-D43B-4FC7-18CD-0FD49C3FD683}"/>
              </a:ext>
            </a:extLst>
          </p:cNvPr>
          <p:cNvSpPr txBox="1"/>
          <p:nvPr/>
        </p:nvSpPr>
        <p:spPr>
          <a:xfrm>
            <a:off x="3320067" y="4026799"/>
            <a:ext cx="729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PAL  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10CC003-DB0C-3574-E9CC-DDD56091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488ECD-243E-468C-BDE7-A5C9CE4E8A17}" type="slidenum">
              <a:rPr/>
              <a:t>119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2BFE00F-FE9F-5DCB-9BC7-F5613BE92A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6E0BD-1BA4-F7F6-1AF1-E9DDCAA309ED}"/>
              </a:ext>
            </a:extLst>
          </p:cNvPr>
          <p:cNvSpPr txBox="1"/>
          <p:nvPr/>
        </p:nvSpPr>
        <p:spPr>
          <a:xfrm>
            <a:off x="2310917" y="1446774"/>
            <a:ext cx="91512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NTSC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41F93-5752-568B-B61E-F140172EF39C}"/>
              </a:ext>
            </a:extLst>
          </p:cNvPr>
          <p:cNvSpPr txBox="1"/>
          <p:nvPr/>
        </p:nvSpPr>
        <p:spPr>
          <a:xfrm>
            <a:off x="2393871" y="184945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F6814-3F6A-FCC8-EE71-5F812E1CC3B0}"/>
              </a:ext>
            </a:extLst>
          </p:cNvPr>
          <p:cNvSpPr txBox="1"/>
          <p:nvPr/>
        </p:nvSpPr>
        <p:spPr>
          <a:xfrm>
            <a:off x="2616602" y="1811896"/>
            <a:ext cx="50526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National Television Systems Committee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F634E-9865-F0CE-A567-D42B38E3343A}"/>
              </a:ext>
            </a:extLst>
          </p:cNvPr>
          <p:cNvSpPr txBox="1"/>
          <p:nvPr/>
        </p:nvSpPr>
        <p:spPr>
          <a:xfrm>
            <a:off x="2393871" y="221490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E37CA-7134-C4AC-D1C3-04A62C25FF64}"/>
              </a:ext>
            </a:extLst>
          </p:cNvPr>
          <p:cNvSpPr txBox="1"/>
          <p:nvPr/>
        </p:nvSpPr>
        <p:spPr>
          <a:xfrm>
            <a:off x="2616602" y="2177345"/>
            <a:ext cx="28707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Developed in the U.S.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B9BC2-52C3-A2C2-6F0C-71E2828DE9D1}"/>
              </a:ext>
            </a:extLst>
          </p:cNvPr>
          <p:cNvSpPr txBox="1"/>
          <p:nvPr/>
        </p:nvSpPr>
        <p:spPr>
          <a:xfrm>
            <a:off x="2393871" y="2579699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CCD3B-2172-293C-C4B8-206F7C36F3C4}"/>
              </a:ext>
            </a:extLst>
          </p:cNvPr>
          <p:cNvSpPr txBox="1"/>
          <p:nvPr/>
        </p:nvSpPr>
        <p:spPr>
          <a:xfrm>
            <a:off x="2616602" y="2542142"/>
            <a:ext cx="61291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Oldest and most widely used television standard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8BEE5-CAC6-78D2-5A78-E39632FEFC3D}"/>
              </a:ext>
            </a:extLst>
          </p:cNvPr>
          <p:cNvSpPr txBox="1"/>
          <p:nvPr/>
        </p:nvSpPr>
        <p:spPr>
          <a:xfrm>
            <a:off x="2393871" y="294482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F0C67-2F63-EFE4-A260-BAC2445EF3DE}"/>
              </a:ext>
            </a:extLst>
          </p:cNvPr>
          <p:cNvSpPr txBox="1"/>
          <p:nvPr/>
        </p:nvSpPr>
        <p:spPr>
          <a:xfrm>
            <a:off x="2616602" y="2907264"/>
            <a:ext cx="72608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 carrier  is  used  with  approximately  4.429  MHz  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35B44-3747-8B81-DC71-4BE118F7D421}"/>
              </a:ext>
            </a:extLst>
          </p:cNvPr>
          <p:cNvSpPr txBox="1"/>
          <p:nvPr/>
        </p:nvSpPr>
        <p:spPr>
          <a:xfrm>
            <a:off x="2616602" y="3205437"/>
            <a:ext cx="38166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 approximately 3.57 MHz.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05AC2-4E32-60F0-9645-369303F791A8}"/>
              </a:ext>
            </a:extLst>
          </p:cNvPr>
          <p:cNvSpPr txBox="1"/>
          <p:nvPr/>
        </p:nvSpPr>
        <p:spPr>
          <a:xfrm>
            <a:off x="2393871" y="360844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49A8B-7DB3-44F3-CF3D-3F28023751E7}"/>
              </a:ext>
            </a:extLst>
          </p:cNvPr>
          <p:cNvSpPr txBox="1"/>
          <p:nvPr/>
        </p:nvSpPr>
        <p:spPr>
          <a:xfrm>
            <a:off x="2616602" y="3571212"/>
            <a:ext cx="63600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23CB13-A8BD-5D39-1C54-9C1FBAE30180}"/>
              </a:ext>
            </a:extLst>
          </p:cNvPr>
          <p:cNvSpPr txBox="1"/>
          <p:nvPr/>
        </p:nvSpPr>
        <p:spPr>
          <a:xfrm>
            <a:off x="3525163" y="3571212"/>
            <a:ext cx="1552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BB9442-5582-A5B7-4154-D3C35D77D797}"/>
              </a:ext>
            </a:extLst>
          </p:cNvPr>
          <p:cNvSpPr txBox="1"/>
          <p:nvPr/>
        </p:nvSpPr>
        <p:spPr>
          <a:xfrm>
            <a:off x="3956256" y="3571212"/>
            <a:ext cx="13501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quadrature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22B2CD-CC01-807B-91BF-CBD352E7C139}"/>
              </a:ext>
            </a:extLst>
          </p:cNvPr>
          <p:cNvSpPr txBox="1"/>
          <p:nvPr/>
        </p:nvSpPr>
        <p:spPr>
          <a:xfrm>
            <a:off x="5575794" y="3571212"/>
            <a:ext cx="12103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amplitude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2C9522-B8A2-67F5-D8F2-949BA0A6E0AB}"/>
              </a:ext>
            </a:extLst>
          </p:cNvPr>
          <p:cNvSpPr txBox="1"/>
          <p:nvPr/>
        </p:nvSpPr>
        <p:spPr>
          <a:xfrm>
            <a:off x="7053919" y="3571212"/>
            <a:ext cx="13655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18869D-DF38-AD8D-B3E3-0B0A2E47DF94}"/>
              </a:ext>
            </a:extLst>
          </p:cNvPr>
          <p:cNvSpPr txBox="1"/>
          <p:nvPr/>
        </p:nvSpPr>
        <p:spPr>
          <a:xfrm>
            <a:off x="8686846" y="3571212"/>
            <a:ext cx="4964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with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CAD15B-93B2-590B-92C3-6686DEB2C645}"/>
              </a:ext>
            </a:extLst>
          </p:cNvPr>
          <p:cNvSpPr txBox="1"/>
          <p:nvPr/>
        </p:nvSpPr>
        <p:spPr>
          <a:xfrm>
            <a:off x="9458568" y="3571212"/>
            <a:ext cx="1552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41DBD1-D587-3B14-D15D-65D5789865CE}"/>
              </a:ext>
            </a:extLst>
          </p:cNvPr>
          <p:cNvSpPr txBox="1"/>
          <p:nvPr/>
        </p:nvSpPr>
        <p:spPr>
          <a:xfrm>
            <a:off x="2616602" y="3869712"/>
            <a:ext cx="31495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suppressed color carrier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F03DF9-4447-E402-692C-F9930F0160A2}"/>
              </a:ext>
            </a:extLst>
          </p:cNvPr>
          <p:cNvSpPr txBox="1"/>
          <p:nvPr/>
        </p:nvSpPr>
        <p:spPr>
          <a:xfrm>
            <a:off x="2393871" y="427206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C5F23-2711-EAE6-A5DC-A2AB22D2134C}"/>
              </a:ext>
            </a:extLst>
          </p:cNvPr>
          <p:cNvSpPr txBox="1"/>
          <p:nvPr/>
        </p:nvSpPr>
        <p:spPr>
          <a:xfrm>
            <a:off x="2616603" y="4234834"/>
            <a:ext cx="689932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Works with a motion frequency of approximately 30 Hz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97E9DC-9EE3-AB09-5037-681B00431A3C}"/>
              </a:ext>
            </a:extLst>
          </p:cNvPr>
          <p:cNvSpPr txBox="1"/>
          <p:nvPr/>
        </p:nvSpPr>
        <p:spPr>
          <a:xfrm>
            <a:off x="2393871" y="463718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EA5A86-7C51-4AA8-5CE1-676FBF2C944A}"/>
              </a:ext>
            </a:extLst>
          </p:cNvPr>
          <p:cNvSpPr txBox="1"/>
          <p:nvPr/>
        </p:nvSpPr>
        <p:spPr>
          <a:xfrm>
            <a:off x="2616603" y="4599630"/>
            <a:ext cx="38327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picture consists of 525 lines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7BE2A2-9493-C33B-53AE-B28C91A9F9D2}"/>
              </a:ext>
            </a:extLst>
          </p:cNvPr>
          <p:cNvSpPr txBox="1"/>
          <p:nvPr/>
        </p:nvSpPr>
        <p:spPr>
          <a:xfrm>
            <a:off x="2393871" y="500263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92B965-E20A-B692-6B10-2A72DB1ED2AA}"/>
              </a:ext>
            </a:extLst>
          </p:cNvPr>
          <p:cNvSpPr txBox="1"/>
          <p:nvPr/>
        </p:nvSpPr>
        <p:spPr>
          <a:xfrm>
            <a:off x="2616602" y="4965079"/>
            <a:ext cx="68427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4.2 MHz is used for the luminance and 1.5 MHz is used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C0E75-A7D5-1D85-B9AF-E9EFC027FEFF}"/>
              </a:ext>
            </a:extLst>
          </p:cNvPr>
          <p:cNvSpPr txBox="1"/>
          <p:nvPr/>
        </p:nvSpPr>
        <p:spPr>
          <a:xfrm>
            <a:off x="2616602" y="5263578"/>
            <a:ext cx="540013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 each of the two chrominance channels. 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2D3D3-D6A3-D949-C020-DEA05CC6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197E7F-227E-4338-AC4A-716A3CC1B96A}" type="slidenum">
              <a:t>120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CB0884D7-B5DF-5D13-431F-7CA6CF4443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D2C3F-FDEA-BDDA-DB42-2D73C78B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911" y="1654808"/>
            <a:ext cx="7923290" cy="356141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8ECA9B2-EC9B-E433-539E-A7D6DF87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D94262-B891-4806-A852-B804C50498FD}" type="slidenum">
              <a:rPr/>
              <a:t>121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4A6C87E-1707-7A6C-9243-7BD59E005D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3E202-6521-68E5-D426-C5430D5DBD91}"/>
              </a:ext>
            </a:extLst>
          </p:cNvPr>
          <p:cNvSpPr txBox="1"/>
          <p:nvPr/>
        </p:nvSpPr>
        <p:spPr>
          <a:xfrm>
            <a:off x="2245601" y="1317120"/>
            <a:ext cx="116333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SECAM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DACDF-7A76-C353-15D4-A5A393B884F9}"/>
              </a:ext>
            </a:extLst>
          </p:cNvPr>
          <p:cNvSpPr txBox="1"/>
          <p:nvPr/>
        </p:nvSpPr>
        <p:spPr>
          <a:xfrm>
            <a:off x="2430775" y="1731556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08243-23DA-8797-FC1C-27475F9D25CB}"/>
              </a:ext>
            </a:extLst>
          </p:cNvPr>
          <p:cNvSpPr txBox="1"/>
          <p:nvPr/>
        </p:nvSpPr>
        <p:spPr>
          <a:xfrm>
            <a:off x="2596681" y="1700205"/>
            <a:ext cx="384630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quential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ouleur 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vec 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emoire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6DB5-8986-19B6-4F11-8A4D62AE9010}"/>
              </a:ext>
            </a:extLst>
          </p:cNvPr>
          <p:cNvSpPr txBox="1"/>
          <p:nvPr/>
        </p:nvSpPr>
        <p:spPr>
          <a:xfrm>
            <a:off x="2430775" y="2063367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23012-B8FB-0D86-05D6-A86AB02A5C17}"/>
              </a:ext>
            </a:extLst>
          </p:cNvPr>
          <p:cNvSpPr txBox="1"/>
          <p:nvPr/>
        </p:nvSpPr>
        <p:spPr>
          <a:xfrm>
            <a:off x="2596681" y="2032015"/>
            <a:ext cx="385983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 in France and Eastern Europe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32D60-E13D-9D41-E0F6-994AA9EC7B34}"/>
              </a:ext>
            </a:extLst>
          </p:cNvPr>
          <p:cNvSpPr txBox="1"/>
          <p:nvPr/>
        </p:nvSpPr>
        <p:spPr>
          <a:xfrm>
            <a:off x="2430775" y="2395178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3F781-F6C1-322F-BDF4-F7A0BE4B32E9}"/>
              </a:ext>
            </a:extLst>
          </p:cNvPr>
          <p:cNvSpPr txBox="1"/>
          <p:nvPr/>
        </p:nvSpPr>
        <p:spPr>
          <a:xfrm>
            <a:off x="2596681" y="2363826"/>
            <a:ext cx="623350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Unlike NTSC and PAL, it is based on frequency modulation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D0A509-253A-EB88-C321-28AB8A064AA8}"/>
              </a:ext>
            </a:extLst>
          </p:cNvPr>
          <p:cNvSpPr txBox="1"/>
          <p:nvPr/>
        </p:nvSpPr>
        <p:spPr>
          <a:xfrm>
            <a:off x="2430775" y="2726989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97165-E4BA-170E-9A57-5EFE90FB3D5D}"/>
              </a:ext>
            </a:extLst>
          </p:cNvPr>
          <p:cNvSpPr txBox="1"/>
          <p:nvPr/>
        </p:nvSpPr>
        <p:spPr>
          <a:xfrm>
            <a:off x="2596681" y="2695637"/>
            <a:ext cx="365157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Uses a motion frequency of 25 Hz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88812-309D-12F4-1164-4D8D4A020E97}"/>
              </a:ext>
            </a:extLst>
          </p:cNvPr>
          <p:cNvSpPr txBox="1"/>
          <p:nvPr/>
        </p:nvSpPr>
        <p:spPr>
          <a:xfrm>
            <a:off x="2430775" y="3058800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85BDDE-139E-3F71-8DA8-E200949A9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084" y="3312883"/>
            <a:ext cx="5531378" cy="269563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35415D-2D99-E05A-827B-412C42CDE48E}"/>
              </a:ext>
            </a:extLst>
          </p:cNvPr>
          <p:cNvSpPr txBox="1"/>
          <p:nvPr/>
        </p:nvSpPr>
        <p:spPr>
          <a:xfrm>
            <a:off x="2596681" y="3027448"/>
            <a:ext cx="287226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Each picture has 625 lines  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351B07-9D24-B67E-AC19-B999A184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BE5CB3-3A38-4E6B-AA38-D3B78634808A}" type="slidenum">
              <a:rPr/>
              <a:t>122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08643C9-939A-BDB1-71CD-5801F1AF86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8AB02-4292-C558-3FC4-88F945F18289}"/>
              </a:ext>
            </a:extLst>
          </p:cNvPr>
          <p:cNvSpPr txBox="1"/>
          <p:nvPr/>
        </p:nvSpPr>
        <p:spPr>
          <a:xfrm>
            <a:off x="2315164" y="1280216"/>
            <a:ext cx="57586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PAL 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782DB-E2C7-5B00-D357-B6C1928E5D12}"/>
              </a:ext>
            </a:extLst>
          </p:cNvPr>
          <p:cNvSpPr txBox="1"/>
          <p:nvPr/>
        </p:nvSpPr>
        <p:spPr>
          <a:xfrm>
            <a:off x="2450695" y="1664280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B6179-9A92-6206-E8D3-5D31789C296F}"/>
              </a:ext>
            </a:extLst>
          </p:cNvPr>
          <p:cNvSpPr txBox="1"/>
          <p:nvPr/>
        </p:nvSpPr>
        <p:spPr>
          <a:xfrm>
            <a:off x="2616602" y="1631295"/>
            <a:ext cx="246965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Phase Alternating Line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C85CE-4F05-B470-CADE-B59A56993FD4}"/>
              </a:ext>
            </a:extLst>
          </p:cNvPr>
          <p:cNvSpPr txBox="1"/>
          <p:nvPr/>
        </p:nvSpPr>
        <p:spPr>
          <a:xfrm>
            <a:off x="2450695" y="2016013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C2949-7FC3-4837-9396-3AA8AE6E3E1E}"/>
              </a:ext>
            </a:extLst>
          </p:cNvPr>
          <p:cNvSpPr txBox="1"/>
          <p:nvPr/>
        </p:nvSpPr>
        <p:spPr>
          <a:xfrm>
            <a:off x="2616602" y="1982701"/>
            <a:ext cx="318414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Invented in 1963 by W. Bruch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5A35B-F6FF-E7E6-A1FA-9983877D6AE3}"/>
              </a:ext>
            </a:extLst>
          </p:cNvPr>
          <p:cNvSpPr txBox="1"/>
          <p:nvPr/>
        </p:nvSpPr>
        <p:spPr>
          <a:xfrm>
            <a:off x="2450695" y="2367092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2AF46-A287-1BCA-A44D-B31476BC1AFF}"/>
              </a:ext>
            </a:extLst>
          </p:cNvPr>
          <p:cNvSpPr txBox="1"/>
          <p:nvPr/>
        </p:nvSpPr>
        <p:spPr>
          <a:xfrm>
            <a:off x="2616602" y="2334107"/>
            <a:ext cx="351731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 in parts of Western Europe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CFBD5-7E39-F291-15EF-17AA9C8DC8EA}"/>
              </a:ext>
            </a:extLst>
          </p:cNvPr>
          <p:cNvSpPr txBox="1"/>
          <p:nvPr/>
        </p:nvSpPr>
        <p:spPr>
          <a:xfrm>
            <a:off x="2450695" y="2718171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C8C26-7852-CECE-CE28-C81BD92FCE0F}"/>
              </a:ext>
            </a:extLst>
          </p:cNvPr>
          <p:cNvSpPr txBox="1"/>
          <p:nvPr/>
        </p:nvSpPr>
        <p:spPr>
          <a:xfrm>
            <a:off x="2616602" y="2685186"/>
            <a:ext cx="675736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Uses a quadrature amplitude modulation similar to NTSC, but the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B56BC5-BC5B-D269-B044-2F9AD924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17" y="3306024"/>
            <a:ext cx="5737127" cy="2973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4CB152-2F00-83B7-548F-91708B299D81}"/>
              </a:ext>
            </a:extLst>
          </p:cNvPr>
          <p:cNvSpPr txBox="1"/>
          <p:nvPr/>
        </p:nvSpPr>
        <p:spPr>
          <a:xfrm>
            <a:off x="2616602" y="2977479"/>
            <a:ext cx="326147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color carrier is not suppressed  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735C937-6F8F-194B-7467-1560A638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3CE40F-F684-45A7-850C-BF8253039012}" type="slidenum">
              <a:rPr/>
              <a:t>123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280A47F-25E8-7F34-CE64-10DFFF4A7A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C6EE7-5DAE-FF68-CE7B-2ACB126D97AB}"/>
              </a:ext>
            </a:extLst>
          </p:cNvPr>
          <p:cNvSpPr txBox="1"/>
          <p:nvPr/>
        </p:nvSpPr>
        <p:spPr>
          <a:xfrm>
            <a:off x="2511115" y="1385376"/>
            <a:ext cx="4155946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High Definition Television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B74E7-2387-7E73-7E1F-D5DA23863960}"/>
              </a:ext>
            </a:extLst>
          </p:cNvPr>
          <p:cNvSpPr txBox="1"/>
          <p:nvPr/>
        </p:nvSpPr>
        <p:spPr>
          <a:xfrm>
            <a:off x="2511115" y="1870029"/>
            <a:ext cx="336521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formats used in HDTV are: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8B06A-7059-44F2-6E2D-0D8128070713}"/>
              </a:ext>
            </a:extLst>
          </p:cNvPr>
          <p:cNvSpPr txBox="1"/>
          <p:nvPr/>
        </p:nvSpPr>
        <p:spPr>
          <a:xfrm>
            <a:off x="2599946" y="2274342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34867-375A-E2BA-1308-AEFD25EFC8A9}"/>
              </a:ext>
            </a:extLst>
          </p:cNvPr>
          <p:cNvSpPr txBox="1"/>
          <p:nvPr/>
        </p:nvSpPr>
        <p:spPr>
          <a:xfrm>
            <a:off x="2777281" y="2239396"/>
            <a:ext cx="383380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720p 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- 1280x720 pixels progressive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550F1-8903-1175-A8B7-2B3DB58086C2}"/>
              </a:ext>
            </a:extLst>
          </p:cNvPr>
          <p:cNvSpPr txBox="1"/>
          <p:nvPr/>
        </p:nvSpPr>
        <p:spPr>
          <a:xfrm>
            <a:off x="2599946" y="2643710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BF1DC-7839-3E6E-E0F3-BC18C12E54A0}"/>
              </a:ext>
            </a:extLst>
          </p:cNvPr>
          <p:cNvSpPr txBox="1"/>
          <p:nvPr/>
        </p:nvSpPr>
        <p:spPr>
          <a:xfrm>
            <a:off x="2777281" y="2608765"/>
            <a:ext cx="382130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1080i 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- 1920x1080 pixels interlaced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88C60-1B0F-6717-3F90-3539BE8F5E18}"/>
              </a:ext>
            </a:extLst>
          </p:cNvPr>
          <p:cNvSpPr txBox="1"/>
          <p:nvPr/>
        </p:nvSpPr>
        <p:spPr>
          <a:xfrm>
            <a:off x="2599946" y="3013404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67327E-BA71-01D1-57C3-58269E9DA97F}"/>
              </a:ext>
            </a:extLst>
          </p:cNvPr>
          <p:cNvSpPr txBox="1"/>
          <p:nvPr/>
        </p:nvSpPr>
        <p:spPr>
          <a:xfrm>
            <a:off x="2777281" y="2978459"/>
            <a:ext cx="409387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1080p 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- 1920x1080 pixels progressive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C17AA-4DD6-3E4B-A785-91BD065E8391}"/>
              </a:ext>
            </a:extLst>
          </p:cNvPr>
          <p:cNvSpPr txBox="1"/>
          <p:nvPr/>
        </p:nvSpPr>
        <p:spPr>
          <a:xfrm>
            <a:off x="2511115" y="3610076"/>
            <a:ext cx="709450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HDTV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 high-resolution digital television (DTV) combined with Dolby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5ACE1-091A-78D4-FF70-8B6D851E406A}"/>
              </a:ext>
            </a:extLst>
          </p:cNvPr>
          <p:cNvSpPr txBox="1"/>
          <p:nvPr/>
        </p:nvSpPr>
        <p:spPr>
          <a:xfrm>
            <a:off x="2511115" y="3917720"/>
            <a:ext cx="335245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Digital surround sound (AC- 3).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FB8CB-A999-6FD8-CA18-AA947237B032}"/>
              </a:ext>
            </a:extLst>
          </p:cNvPr>
          <p:cNvSpPr txBox="1"/>
          <p:nvPr/>
        </p:nvSpPr>
        <p:spPr>
          <a:xfrm>
            <a:off x="2511115" y="4225690"/>
            <a:ext cx="711682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HDTV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 the highest DTV resolution in the new set of standards. This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ECCF53-B3BE-E6FF-0983-C4413D0DB27F}"/>
              </a:ext>
            </a:extLst>
          </p:cNvPr>
          <p:cNvSpPr txBox="1"/>
          <p:nvPr/>
        </p:nvSpPr>
        <p:spPr>
          <a:xfrm>
            <a:off x="2511115" y="4533660"/>
            <a:ext cx="683584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combination creates a stunning image with stunning sound.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HDTV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8205D6-F8FF-4EAA-B8CB-FB56144407B2}"/>
              </a:ext>
            </a:extLst>
          </p:cNvPr>
          <p:cNvSpPr txBox="1"/>
          <p:nvPr/>
        </p:nvSpPr>
        <p:spPr>
          <a:xfrm>
            <a:off x="2511115" y="4840977"/>
            <a:ext cx="683558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requires new production and transmission equipment at the </a:t>
            </a:r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HDTV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113676-7060-3C0E-988A-FF75DA152E55}"/>
              </a:ext>
            </a:extLst>
          </p:cNvPr>
          <p:cNvSpPr txBox="1"/>
          <p:nvPr/>
        </p:nvSpPr>
        <p:spPr>
          <a:xfrm>
            <a:off x="2511115" y="5149274"/>
            <a:ext cx="6913303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stations</a:t>
            </a:r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as well as new equipment for reception by the consumer.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6A0EA-1E78-21C7-7667-ADCB97DA9485}"/>
              </a:ext>
            </a:extLst>
          </p:cNvPr>
          <p:cNvSpPr txBox="1"/>
          <p:nvPr/>
        </p:nvSpPr>
        <p:spPr>
          <a:xfrm>
            <a:off x="2511115" y="5457570"/>
            <a:ext cx="667080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higher resolution picture is the main selling point for HDTV.  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EBA128C-2FE4-924E-7166-B0871604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7FB306-B5F9-4B52-BBC2-84D94D53CFF3}" type="slidenum">
              <a:t>124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3341AC65-4E56-136E-600F-205F673756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Television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BD049-3D22-3544-3E2B-04DEE2876081}"/>
              </a:ext>
            </a:extLst>
          </p:cNvPr>
          <p:cNvSpPr txBox="1"/>
          <p:nvPr/>
        </p:nvSpPr>
        <p:spPr>
          <a:xfrm>
            <a:off x="2182243" y="1508825"/>
            <a:ext cx="298299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High Definition Television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67AEF-350E-BD2F-6DF1-FB3FD6839453}"/>
              </a:ext>
            </a:extLst>
          </p:cNvPr>
          <p:cNvSpPr txBox="1"/>
          <p:nvPr/>
        </p:nvSpPr>
        <p:spPr>
          <a:xfrm>
            <a:off x="2182243" y="1894523"/>
            <a:ext cx="735060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High-Definition Television (HDTV) is defined by the image it presents 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1D491-EBC7-E9A9-39C9-0C57CF54687B}"/>
              </a:ext>
            </a:extLst>
          </p:cNvPr>
          <p:cNvSpPr txBox="1"/>
          <p:nvPr/>
        </p:nvSpPr>
        <p:spPr>
          <a:xfrm>
            <a:off x="2182244" y="2320717"/>
            <a:ext cx="511960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its viewer, which has the following characteristics: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FF4E4-70E9-3D58-86BC-AD876CD581D0}"/>
              </a:ext>
            </a:extLst>
          </p:cNvPr>
          <p:cNvSpPr txBox="1"/>
          <p:nvPr/>
        </p:nvSpPr>
        <p:spPr>
          <a:xfrm>
            <a:off x="7577762" y="2224701"/>
            <a:ext cx="180947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67C2E-4A49-A158-C620-A32ED3367D68}"/>
              </a:ext>
            </a:extLst>
          </p:cNvPr>
          <p:cNvSpPr txBox="1"/>
          <p:nvPr/>
        </p:nvSpPr>
        <p:spPr>
          <a:xfrm>
            <a:off x="2182244" y="2730255"/>
            <a:ext cx="1207831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E69BB-E932-A7AF-10B7-C94A5D83331D}"/>
              </a:ext>
            </a:extLst>
          </p:cNvPr>
          <p:cNvSpPr txBox="1"/>
          <p:nvPr/>
        </p:nvSpPr>
        <p:spPr>
          <a:xfrm>
            <a:off x="3457560" y="2754749"/>
            <a:ext cx="11631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7F5E8-41A3-8AEC-95D2-9B13917EA731}"/>
              </a:ext>
            </a:extLst>
          </p:cNvPr>
          <p:cNvSpPr txBox="1"/>
          <p:nvPr/>
        </p:nvSpPr>
        <p:spPr>
          <a:xfrm>
            <a:off x="2182244" y="3108441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E2A6A-FB28-E440-B018-AAE55AE0BF79}"/>
              </a:ext>
            </a:extLst>
          </p:cNvPr>
          <p:cNvSpPr txBox="1"/>
          <p:nvPr/>
        </p:nvSpPr>
        <p:spPr>
          <a:xfrm>
            <a:off x="3069249" y="3108441"/>
            <a:ext cx="665682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HDTV  image  has  approximately  twice  as  many  horizontal  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58409-CBF5-4AF9-D54B-38B4C8DA6610}"/>
              </a:ext>
            </a:extLst>
          </p:cNvPr>
          <p:cNvSpPr txBox="1"/>
          <p:nvPr/>
        </p:nvSpPr>
        <p:spPr>
          <a:xfrm>
            <a:off x="2182243" y="3397796"/>
            <a:ext cx="719273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vertical pixels as conventional systems. Luminance detail is also increased by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821430-3BD4-A234-0DAE-5AB20ECF5378}"/>
              </a:ext>
            </a:extLst>
          </p:cNvPr>
          <p:cNvSpPr txBox="1"/>
          <p:nvPr/>
        </p:nvSpPr>
        <p:spPr>
          <a:xfrm>
            <a:off x="2182243" y="3686497"/>
            <a:ext cx="95449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employing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C1007-256A-C973-0A8D-BCDC290EFB92}"/>
              </a:ext>
            </a:extLst>
          </p:cNvPr>
          <p:cNvSpPr txBox="1"/>
          <p:nvPr/>
        </p:nvSpPr>
        <p:spPr>
          <a:xfrm>
            <a:off x="3397141" y="3686497"/>
            <a:ext cx="11644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601E9-BC82-3EBD-43A7-382D7736169D}"/>
              </a:ext>
            </a:extLst>
          </p:cNvPr>
          <p:cNvSpPr txBox="1"/>
          <p:nvPr/>
        </p:nvSpPr>
        <p:spPr>
          <a:xfrm>
            <a:off x="3727972" y="3686497"/>
            <a:ext cx="500586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51ADEE-D1F8-EA65-A707-8E2B133D32FF}"/>
              </a:ext>
            </a:extLst>
          </p:cNvPr>
          <p:cNvSpPr txBox="1"/>
          <p:nvPr/>
        </p:nvSpPr>
        <p:spPr>
          <a:xfrm>
            <a:off x="4462463" y="3686497"/>
            <a:ext cx="95462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bandwidth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CC4628-15DD-0B2D-9743-5FCF4F6AA0A5}"/>
              </a:ext>
            </a:extLst>
          </p:cNvPr>
          <p:cNvSpPr txBox="1"/>
          <p:nvPr/>
        </p:nvSpPr>
        <p:spPr>
          <a:xfrm>
            <a:off x="5677361" y="3686497"/>
            <a:ext cx="130356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approximately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0052AF-C5A7-CE11-F2D5-CD16D7A67A40}"/>
              </a:ext>
            </a:extLst>
          </p:cNvPr>
          <p:cNvSpPr txBox="1"/>
          <p:nvPr/>
        </p:nvSpPr>
        <p:spPr>
          <a:xfrm>
            <a:off x="7261301" y="3686497"/>
            <a:ext cx="32585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ACF194-505D-ACA1-46FD-EAC51D0A59D8}"/>
              </a:ext>
            </a:extLst>
          </p:cNvPr>
          <p:cNvSpPr txBox="1"/>
          <p:nvPr/>
        </p:nvSpPr>
        <p:spPr>
          <a:xfrm>
            <a:off x="7812577" y="3686497"/>
            <a:ext cx="500330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times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67B6CC-B97D-7559-5FA8-E344F097A606}"/>
              </a:ext>
            </a:extLst>
          </p:cNvPr>
          <p:cNvSpPr txBox="1"/>
          <p:nvPr/>
        </p:nvSpPr>
        <p:spPr>
          <a:xfrm>
            <a:off x="8548700" y="3686497"/>
            <a:ext cx="349198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C252BF-5DD8-C5A2-8EBF-8B5518995685}"/>
              </a:ext>
            </a:extLst>
          </p:cNvPr>
          <p:cNvSpPr txBox="1"/>
          <p:nvPr/>
        </p:nvSpPr>
        <p:spPr>
          <a:xfrm>
            <a:off x="9125124" y="3686497"/>
            <a:ext cx="45403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1D88D5-B3F1-9C66-0DFE-813BA65DB3DB}"/>
              </a:ext>
            </a:extLst>
          </p:cNvPr>
          <p:cNvSpPr txBox="1"/>
          <p:nvPr/>
        </p:nvSpPr>
        <p:spPr>
          <a:xfrm>
            <a:off x="9810627" y="3686497"/>
            <a:ext cx="162993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56A1B9-EBF5-F5E6-D46D-AAE979BCDA95}"/>
              </a:ext>
            </a:extLst>
          </p:cNvPr>
          <p:cNvSpPr txBox="1"/>
          <p:nvPr/>
        </p:nvSpPr>
        <p:spPr>
          <a:xfrm>
            <a:off x="2182244" y="3976179"/>
            <a:ext cx="2176301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conventional systems.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8B57CF-AAB4-FD45-4E54-8ADD26206885}"/>
              </a:ext>
            </a:extLst>
          </p:cNvPr>
          <p:cNvSpPr txBox="1"/>
          <p:nvPr/>
        </p:nvSpPr>
        <p:spPr>
          <a:xfrm>
            <a:off x="2182243" y="4330524"/>
            <a:ext cx="155888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Aspect Ratio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FEBC1-3D57-CAE1-B0AA-B9E3B3A075EF}"/>
              </a:ext>
            </a:extLst>
          </p:cNvPr>
          <p:cNvSpPr txBox="1"/>
          <p:nvPr/>
        </p:nvSpPr>
        <p:spPr>
          <a:xfrm>
            <a:off x="2182244" y="4709037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9DE3B0-4DB6-07B2-B5F9-5DEB76EFFC26}"/>
              </a:ext>
            </a:extLst>
          </p:cNvPr>
          <p:cNvSpPr txBox="1"/>
          <p:nvPr/>
        </p:nvSpPr>
        <p:spPr>
          <a:xfrm>
            <a:off x="3069249" y="4709037"/>
            <a:ext cx="5056834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aspect ratio of the HDTV images is 16/9 = 1.777.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A57654-EECE-BF87-C812-5B4A485B8581}"/>
              </a:ext>
            </a:extLst>
          </p:cNvPr>
          <p:cNvSpPr txBox="1"/>
          <p:nvPr/>
        </p:nvSpPr>
        <p:spPr>
          <a:xfrm>
            <a:off x="2182243" y="5063382"/>
            <a:ext cx="204408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Viewing Distance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521076-FFCC-F151-C563-73C6AB4083DA}"/>
              </a:ext>
            </a:extLst>
          </p:cNvPr>
          <p:cNvSpPr txBox="1"/>
          <p:nvPr/>
        </p:nvSpPr>
        <p:spPr>
          <a:xfrm>
            <a:off x="2182244" y="5441568"/>
            <a:ext cx="58157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7C773-C3D1-D623-C502-359E139CE876}"/>
              </a:ext>
            </a:extLst>
          </p:cNvPr>
          <p:cNvSpPr txBox="1"/>
          <p:nvPr/>
        </p:nvSpPr>
        <p:spPr>
          <a:xfrm>
            <a:off x="3069250" y="5441568"/>
            <a:ext cx="6377515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Since  the  eye‟s  ability  to  distinguish  details  is  limited,  the  more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BAA6CC-847F-2ACC-CCCC-CC946B68B5A7}"/>
              </a:ext>
            </a:extLst>
          </p:cNvPr>
          <p:cNvSpPr txBox="1"/>
          <p:nvPr/>
        </p:nvSpPr>
        <p:spPr>
          <a:xfrm>
            <a:off x="2182243" y="5731249"/>
            <a:ext cx="6983322" cy="24083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3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detailed HDTV image should be viewed closer than conventional systems. </a:t>
            </a:r>
            <a:r>
              <a:rPr lang="en-US" sz="163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C119471-09B8-BBFC-390F-08B12328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4DBCA9-ACE0-4999-82DA-E0EC5B49BD95}" type="slidenum">
              <a:rPr/>
              <a:t>125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23F2D33-4678-91C6-38E8-8D4B7B8336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Concepts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9ADBF-6FE6-6B7C-04B8-2C84DAC67681}"/>
              </a:ext>
            </a:extLst>
          </p:cNvPr>
          <p:cNvSpPr txBox="1"/>
          <p:nvPr/>
        </p:nvSpPr>
        <p:spPr>
          <a:xfrm>
            <a:off x="2021563" y="155683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DDD02-AF40-79A4-9A3F-1996E389EB94}"/>
              </a:ext>
            </a:extLst>
          </p:cNvPr>
          <p:cNvSpPr txBox="1"/>
          <p:nvPr/>
        </p:nvSpPr>
        <p:spPr>
          <a:xfrm>
            <a:off x="2195959" y="1513071"/>
            <a:ext cx="136486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2BA96-6615-FD29-B7AC-D3FCB0496FD3}"/>
              </a:ext>
            </a:extLst>
          </p:cNvPr>
          <p:cNvSpPr txBox="1"/>
          <p:nvPr/>
        </p:nvSpPr>
        <p:spPr>
          <a:xfrm>
            <a:off x="3899756" y="1513071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44178-91FF-E571-547C-D8596A19DDA7}"/>
              </a:ext>
            </a:extLst>
          </p:cNvPr>
          <p:cNvSpPr txBox="1"/>
          <p:nvPr/>
        </p:nvSpPr>
        <p:spPr>
          <a:xfrm>
            <a:off x="4391595" y="1513071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AB08B-9B46-AD11-B70C-9CDEC51D771D}"/>
              </a:ext>
            </a:extLst>
          </p:cNvPr>
          <p:cNvSpPr txBox="1"/>
          <p:nvPr/>
        </p:nvSpPr>
        <p:spPr>
          <a:xfrm>
            <a:off x="5077097" y="1513071"/>
            <a:ext cx="97744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1E03A-6BC8-2153-8E8A-62539077B24E}"/>
              </a:ext>
            </a:extLst>
          </p:cNvPr>
          <p:cNvSpPr txBox="1"/>
          <p:nvPr/>
        </p:nvSpPr>
        <p:spPr>
          <a:xfrm>
            <a:off x="6377234" y="1513071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E51E5-6DF3-77E6-DF64-18A5F27DE440}"/>
              </a:ext>
            </a:extLst>
          </p:cNvPr>
          <p:cNvSpPr txBox="1"/>
          <p:nvPr/>
        </p:nvSpPr>
        <p:spPr>
          <a:xfrm>
            <a:off x="6902710" y="1513071"/>
            <a:ext cx="8998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13517-E986-1427-359F-E0BBB674CF58}"/>
              </a:ext>
            </a:extLst>
          </p:cNvPr>
          <p:cNvSpPr txBox="1"/>
          <p:nvPr/>
        </p:nvSpPr>
        <p:spPr>
          <a:xfrm>
            <a:off x="8123159" y="1513071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B6C26-085F-C3D2-48CC-AD63CEB6EC6C}"/>
              </a:ext>
            </a:extLst>
          </p:cNvPr>
          <p:cNvSpPr txBox="1"/>
          <p:nvPr/>
        </p:nvSpPr>
        <p:spPr>
          <a:xfrm>
            <a:off x="8810296" y="1513071"/>
            <a:ext cx="85331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illusion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DFA83-3526-2937-1468-D0ADA15BADAE}"/>
              </a:ext>
            </a:extLst>
          </p:cNvPr>
          <p:cNvSpPr txBox="1"/>
          <p:nvPr/>
        </p:nvSpPr>
        <p:spPr>
          <a:xfrm>
            <a:off x="2195959" y="1898767"/>
            <a:ext cx="26849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motion and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E2DD0B-8991-E755-5C4F-12D17F664A0B}"/>
              </a:ext>
            </a:extLst>
          </p:cNvPr>
          <p:cNvSpPr txBox="1"/>
          <p:nvPr/>
        </p:nvSpPr>
        <p:spPr>
          <a:xfrm>
            <a:off x="5082976" y="1900074"/>
            <a:ext cx="51745" cy="21409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45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19572-DB48-3CBA-3B69-A9167DADF655}"/>
              </a:ext>
            </a:extLst>
          </p:cNvPr>
          <p:cNvSpPr txBox="1"/>
          <p:nvPr/>
        </p:nvSpPr>
        <p:spPr>
          <a:xfrm>
            <a:off x="5143720" y="1898767"/>
            <a:ext cx="41742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by means of the rapid display of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14C9F4-7000-1371-615A-78A74DFB8522}"/>
              </a:ext>
            </a:extLst>
          </p:cNvPr>
          <p:cNvSpPr txBox="1"/>
          <p:nvPr/>
        </p:nvSpPr>
        <p:spPr>
          <a:xfrm>
            <a:off x="2195959" y="2284792"/>
            <a:ext cx="70235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sequence of static images that minimally differ from each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03A18-5E10-7E96-8951-C0B5C1718937}"/>
              </a:ext>
            </a:extLst>
          </p:cNvPr>
          <p:cNvSpPr txBox="1"/>
          <p:nvPr/>
        </p:nvSpPr>
        <p:spPr>
          <a:xfrm>
            <a:off x="2195959" y="2670815"/>
            <a:ext cx="73496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other.  The  illusion—as  in  motion  pictures  in  general—is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679F8-BD4E-CB52-FCC6-0887889FB05C}"/>
              </a:ext>
            </a:extLst>
          </p:cNvPr>
          <p:cNvSpPr txBox="1"/>
          <p:nvPr/>
        </p:nvSpPr>
        <p:spPr>
          <a:xfrm>
            <a:off x="2195959" y="3056514"/>
            <a:ext cx="70296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thought to rely on the phenomenon. Animators are artists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BF6EA3-B72B-83F3-6513-D02DC2D51A40}"/>
              </a:ext>
            </a:extLst>
          </p:cNvPr>
          <p:cNvSpPr txBox="1"/>
          <p:nvPr/>
        </p:nvSpPr>
        <p:spPr>
          <a:xfrm>
            <a:off x="2195959" y="3442210"/>
            <a:ext cx="53224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who specialize in the creation of animation.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B6818E-5260-C713-3F2F-A8DC6E116BC2}"/>
              </a:ext>
            </a:extLst>
          </p:cNvPr>
          <p:cNvSpPr txBox="1"/>
          <p:nvPr/>
        </p:nvSpPr>
        <p:spPr>
          <a:xfrm>
            <a:off x="2021563" y="394907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E7A509-AEAF-A806-E85A-6C8884F471D2}"/>
              </a:ext>
            </a:extLst>
          </p:cNvPr>
          <p:cNvSpPr txBox="1"/>
          <p:nvPr/>
        </p:nvSpPr>
        <p:spPr>
          <a:xfrm>
            <a:off x="2195959" y="3905309"/>
            <a:ext cx="74701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  is  the  creation  of  the  ―illusion  of  movement‖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F20D4F-C72D-9031-3CCC-76E453C2938C}"/>
              </a:ext>
            </a:extLst>
          </p:cNvPr>
          <p:cNvSpPr txBox="1"/>
          <p:nvPr/>
        </p:nvSpPr>
        <p:spPr>
          <a:xfrm>
            <a:off x="2195959" y="4291007"/>
            <a:ext cx="35685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using a series of still images.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896F54-70FA-0B55-7740-8998F90EFDC4}"/>
              </a:ext>
            </a:extLst>
          </p:cNvPr>
          <p:cNvSpPr txBox="1"/>
          <p:nvPr/>
        </p:nvSpPr>
        <p:spPr>
          <a:xfrm>
            <a:off x="2021563" y="479754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60A1E-DCD3-6F89-2B87-EC3B87AC55E2}"/>
              </a:ext>
            </a:extLst>
          </p:cNvPr>
          <p:cNvSpPr txBox="1"/>
          <p:nvPr/>
        </p:nvSpPr>
        <p:spPr>
          <a:xfrm>
            <a:off x="2195959" y="4753778"/>
            <a:ext cx="72624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  collection  of  static  image  joined  together  and  shown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1D699B-D3AB-FB7C-0E91-A480F2A7036B}"/>
              </a:ext>
            </a:extLst>
          </p:cNvPr>
          <p:cNvSpPr txBox="1"/>
          <p:nvPr/>
        </p:nvSpPr>
        <p:spPr>
          <a:xfrm>
            <a:off x="2195959" y="5139475"/>
            <a:ext cx="46862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consecutively so that appear to move.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F0FFFDB3-A577-C563-F486-9D2BF251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F7EE2E-753D-466B-8688-62B591E3716E}" type="slidenum">
              <a:rPr/>
              <a:t>126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A12BF64-6BE9-0AF5-01DB-B3D12BE725E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Concepts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E685C-B036-62FA-CF39-D8597B139D6C}"/>
              </a:ext>
            </a:extLst>
          </p:cNvPr>
          <p:cNvSpPr txBox="1"/>
          <p:nvPr/>
        </p:nvSpPr>
        <p:spPr>
          <a:xfrm>
            <a:off x="2021237" y="155454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398AA-A00C-1356-6C35-9E9EECE73A2E}"/>
              </a:ext>
            </a:extLst>
          </p:cNvPr>
          <p:cNvSpPr txBox="1"/>
          <p:nvPr/>
        </p:nvSpPr>
        <p:spPr>
          <a:xfrm>
            <a:off x="2202818" y="1512743"/>
            <a:ext cx="12413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83660-985B-7E43-CAA8-2B765C22A8F2}"/>
              </a:ext>
            </a:extLst>
          </p:cNvPr>
          <p:cNvSpPr txBox="1"/>
          <p:nvPr/>
        </p:nvSpPr>
        <p:spPr>
          <a:xfrm>
            <a:off x="3855994" y="1512743"/>
            <a:ext cx="9930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creation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F78EA-3748-3CB6-29C7-2A5D4AFF51BB}"/>
              </a:ext>
            </a:extLst>
          </p:cNvPr>
          <p:cNvSpPr txBox="1"/>
          <p:nvPr/>
        </p:nvSpPr>
        <p:spPr>
          <a:xfrm>
            <a:off x="5238430" y="1512743"/>
            <a:ext cx="10706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06AB4-450B-FED4-5761-0B6B4D4AF5EA}"/>
              </a:ext>
            </a:extLst>
          </p:cNvPr>
          <p:cNvSpPr txBox="1"/>
          <p:nvPr/>
        </p:nvSpPr>
        <p:spPr>
          <a:xfrm>
            <a:off x="6704146" y="1512743"/>
            <a:ext cx="8845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include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719DF-F953-669C-F8BB-4D50D15E68BA}"/>
              </a:ext>
            </a:extLst>
          </p:cNvPr>
          <p:cNvSpPr txBox="1"/>
          <p:nvPr/>
        </p:nvSpPr>
        <p:spPr>
          <a:xfrm>
            <a:off x="7968359" y="1512743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B5236-A6AC-65ED-48CF-F38312434034}"/>
              </a:ext>
            </a:extLst>
          </p:cNvPr>
          <p:cNvSpPr txBox="1"/>
          <p:nvPr/>
        </p:nvSpPr>
        <p:spPr>
          <a:xfrm>
            <a:off x="8694358" y="1512743"/>
            <a:ext cx="12103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traditional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9C40C-D38C-3E20-B52F-2F4AC665FE07}"/>
              </a:ext>
            </a:extLst>
          </p:cNvPr>
          <p:cNvSpPr txBox="1"/>
          <p:nvPr/>
        </p:nvSpPr>
        <p:spPr>
          <a:xfrm>
            <a:off x="2202819" y="1883092"/>
            <a:ext cx="12103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DE73D-EBE2-FA08-3711-0E0CA7DAD9F2}"/>
              </a:ext>
            </a:extLst>
          </p:cNvPr>
          <p:cNvSpPr txBox="1"/>
          <p:nvPr/>
        </p:nvSpPr>
        <p:spPr>
          <a:xfrm>
            <a:off x="3749853" y="1883092"/>
            <a:ext cx="9930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creation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814DB8-D865-F972-911D-F773AA481946}"/>
              </a:ext>
            </a:extLst>
          </p:cNvPr>
          <p:cNvSpPr txBox="1"/>
          <p:nvPr/>
        </p:nvSpPr>
        <p:spPr>
          <a:xfrm>
            <a:off x="5061421" y="1883092"/>
            <a:ext cx="9310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2F35E-F802-F476-9343-2D6F89CEE3A0}"/>
              </a:ext>
            </a:extLst>
          </p:cNvPr>
          <p:cNvSpPr txBox="1"/>
          <p:nvPr/>
        </p:nvSpPr>
        <p:spPr>
          <a:xfrm>
            <a:off x="6304732" y="1883092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56B58E-543A-1255-90E2-BF59826FA55C}"/>
              </a:ext>
            </a:extLst>
          </p:cNvPr>
          <p:cNvSpPr txBox="1"/>
          <p:nvPr/>
        </p:nvSpPr>
        <p:spPr>
          <a:xfrm>
            <a:off x="7044122" y="1883092"/>
            <a:ext cx="6828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those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791F12-9122-831E-B9AB-3D0CDB3740D0}"/>
              </a:ext>
            </a:extLst>
          </p:cNvPr>
          <p:cNvSpPr txBox="1"/>
          <p:nvPr/>
        </p:nvSpPr>
        <p:spPr>
          <a:xfrm>
            <a:off x="8019633" y="1883092"/>
            <a:ext cx="10861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involving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995177-C30E-658F-4796-F35325CB1859}"/>
              </a:ext>
            </a:extLst>
          </p:cNvPr>
          <p:cNvSpPr txBox="1"/>
          <p:nvPr/>
        </p:nvSpPr>
        <p:spPr>
          <a:xfrm>
            <a:off x="9433747" y="1883092"/>
            <a:ext cx="52764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D23862-112A-18CA-D9F2-E75A8F0BCE61}"/>
              </a:ext>
            </a:extLst>
          </p:cNvPr>
          <p:cNvSpPr txBox="1"/>
          <p:nvPr/>
        </p:nvSpPr>
        <p:spPr>
          <a:xfrm>
            <a:off x="2202818" y="2254093"/>
            <a:ext cx="8378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7E3F03-0FCD-7626-100A-EA4A5128BA60}"/>
              </a:ext>
            </a:extLst>
          </p:cNvPr>
          <p:cNvSpPr txBox="1"/>
          <p:nvPr/>
        </p:nvSpPr>
        <p:spPr>
          <a:xfrm>
            <a:off x="3500343" y="2254093"/>
            <a:ext cx="12103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DD196D-28E4-4CAC-01E4-11501723D464}"/>
              </a:ext>
            </a:extLst>
          </p:cNvPr>
          <p:cNvSpPr txBox="1"/>
          <p:nvPr/>
        </p:nvSpPr>
        <p:spPr>
          <a:xfrm>
            <a:off x="5201853" y="2254093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18CB96-9545-3732-35E1-1EDA58F7C46A}"/>
              </a:ext>
            </a:extLst>
          </p:cNvPr>
          <p:cNvSpPr txBox="1"/>
          <p:nvPr/>
        </p:nvSpPr>
        <p:spPr>
          <a:xfrm>
            <a:off x="5843266" y="2254093"/>
            <a:ext cx="4344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6E57E-D3AD-09AD-40E5-ADEAF6E2A331}"/>
              </a:ext>
            </a:extLst>
          </p:cNvPr>
          <p:cNvSpPr txBox="1"/>
          <p:nvPr/>
        </p:nvSpPr>
        <p:spPr>
          <a:xfrm>
            <a:off x="6702513" y="2254093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1F9D8C-D168-48A7-91B7-28E2A8DBAA64}"/>
              </a:ext>
            </a:extLst>
          </p:cNvPr>
          <p:cNvSpPr txBox="1"/>
          <p:nvPr/>
        </p:nvSpPr>
        <p:spPr>
          <a:xfrm>
            <a:off x="7596378" y="2254093"/>
            <a:ext cx="22188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three-dimensional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4A45F-82D3-D06F-16A4-89746B7677A3}"/>
              </a:ext>
            </a:extLst>
          </p:cNvPr>
          <p:cNvSpPr txBox="1"/>
          <p:nvPr/>
        </p:nvSpPr>
        <p:spPr>
          <a:xfrm>
            <a:off x="2202819" y="2624441"/>
            <a:ext cx="69830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objects, paper cutouts, puppets and clay figures. Images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907A5A-BB56-033D-4FCB-BEB7F32C4268}"/>
              </a:ext>
            </a:extLst>
          </p:cNvPr>
          <p:cNvSpPr txBox="1"/>
          <p:nvPr/>
        </p:nvSpPr>
        <p:spPr>
          <a:xfrm>
            <a:off x="2202819" y="2995116"/>
            <a:ext cx="70915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 displayed in a rapid succession, usually 24, 25, 30, 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5C974-0718-7D02-6D25-26FF65C9B139}"/>
              </a:ext>
            </a:extLst>
          </p:cNvPr>
          <p:cNvSpPr txBox="1"/>
          <p:nvPr/>
        </p:nvSpPr>
        <p:spPr>
          <a:xfrm>
            <a:off x="2202818" y="3365464"/>
            <a:ext cx="27775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60 frames per second.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BA663C0-130F-74DA-F321-74C3F8553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847" y="3906943"/>
            <a:ext cx="2579045" cy="1932406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325E86-768D-B098-CAA9-4AE0F40AB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369" y="3843258"/>
            <a:ext cx="2159382" cy="196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C19307-7DDE-74F2-3E44-121651A39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866" y="3830194"/>
            <a:ext cx="1662320" cy="1662320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BA15DF0-AD74-E54D-F14D-9B8B31426845}"/>
              </a:ext>
            </a:extLst>
          </p:cNvPr>
          <p:cNvSpPr/>
          <p:nvPr/>
        </p:nvSpPr>
        <p:spPr>
          <a:xfrm rot="16164000">
            <a:off x="7272531" y="4438323"/>
            <a:ext cx="532987" cy="66623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3" h="2041">
                <a:moveTo>
                  <a:pt x="0" y="1549"/>
                </a:moveTo>
                <a:lnTo>
                  <a:pt x="608" y="1549"/>
                </a:lnTo>
                <a:lnTo>
                  <a:pt x="608" y="0"/>
                </a:lnTo>
                <a:lnTo>
                  <a:pt x="1025" y="0"/>
                </a:lnTo>
                <a:lnTo>
                  <a:pt x="1025" y="1549"/>
                </a:lnTo>
                <a:lnTo>
                  <a:pt x="1633" y="1549"/>
                </a:lnTo>
                <a:lnTo>
                  <a:pt x="816" y="2041"/>
                </a:lnTo>
                <a:close/>
              </a:path>
            </a:pathLst>
          </a:custGeom>
          <a:solidFill>
            <a:srgbClr val="D16349"/>
          </a:solidFill>
          <a:ln w="26280" cap="flat">
            <a:solidFill>
              <a:srgbClr val="994733"/>
            </a:solidFill>
            <a:prstDash val="solid"/>
            <a:miter/>
          </a:ln>
        </p:spPr>
        <p:txBody>
          <a:bodyPr wrap="none" lIns="11757" tIns="11757" rIns="11757" bIns="11757" anchorCtr="0" compatLnSpc="0"/>
          <a:lstStyle/>
          <a:p>
            <a:pPr hangingPunct="0"/>
            <a:endParaRPr lang="en-US" sz="1633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DA203-AC6B-0578-EDB8-C8A4AA39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4A2BD5-EE79-4098-9E1B-BDD12E373629}" type="slidenum">
              <a:rPr/>
              <a:t>127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1BB40345-D2D7-F582-C5E2-6C21655C7CE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Concepts of Animation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AC7FF-27AF-29EB-9DC3-9D4B5D20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04" y="1478127"/>
            <a:ext cx="6981418" cy="3525163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849BA-78D4-4FC1-8583-A1836FDC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59E692-8F14-4174-BB53-53D4990033A4}" type="slidenum">
              <a:rPr/>
              <a:t>128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9D92D3DC-756D-E6F5-FE89-C8ABA39F12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Concepts of Animation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E60F91-5DBF-ED88-2D3A-387D641E8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324" y="1493476"/>
            <a:ext cx="7856667" cy="2323328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EFB6D6-E86B-5BB8-434E-FB3D54B66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264" y="4053253"/>
            <a:ext cx="2432409" cy="1922935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3B4F8-BFE6-533B-48EF-A99561F8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5BC64CC-90EC-4734-AB0D-F15EE4518023}" type="slidenum">
              <a:rPr/>
              <a:t>129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1C72DE1-D4B2-4FE6-29D5-41F7BB1674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Concepts of Animation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0DFF7-31D2-CF08-3324-AAC0D2B49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187" y="1388969"/>
            <a:ext cx="7100620" cy="4536272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252D1-2728-90B2-592E-FA997ABD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996152-E949-40C0-B1F4-3CF2E9B579A2}" type="slidenum">
              <a:rPr/>
              <a:t>130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75F8902-210A-75DA-7283-B57F42B916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Concepts of Animation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F7592-A345-5D31-09CD-7E94C0E0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846" y="1451999"/>
            <a:ext cx="7837725" cy="4686828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068DF4-39BB-C053-4F49-912433A1F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999" y="1362188"/>
            <a:ext cx="4682909" cy="2488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64A28-D399-4F77-0DE7-1191153D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B2D8B0-4540-4078-A259-96FE1FC82000}" type="slidenum">
              <a:rPr/>
              <a:t>131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A46DFDD-9B0F-4E2E-1F61-8B1EC02FC1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3920" y="685315"/>
            <a:ext cx="9539562" cy="494366"/>
          </a:xfrm>
        </p:spPr>
        <p:txBody>
          <a:bodyPr vert="horz">
            <a:spAutoFit/>
          </a:bodyPr>
          <a:lstStyle/>
          <a:p>
            <a:pPr lvl="0" rtl="0"/>
            <a:r>
              <a:rPr lang="en-US" sz="2903" b="1"/>
              <a:t>3. Video and Animation Technology</a:t>
            </a: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7EA699BC-708B-C99A-E7B0-5D8B6B1E18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76105" y="1548015"/>
            <a:ext cx="7873976" cy="3924578"/>
          </a:xfrm>
        </p:spPr>
        <p:txBody>
          <a:bodyPr vert="horz">
            <a:normAutofit lnSpcReduction="10000"/>
          </a:bodyPr>
          <a:lstStyle/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3.1. Basic Video Concept: Representation and Format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3.2 Television: High Definition Television(HDTV)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 Animation: Types of Animation</a:t>
            </a:r>
          </a:p>
          <a:p>
            <a:pPr marL="518628"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3.3.1 Computer Based Animation</a:t>
            </a:r>
          </a:p>
          <a:p>
            <a:pPr marL="518628"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3.3.2 Handwritten Animation</a:t>
            </a:r>
          </a:p>
          <a:p>
            <a:pPr marL="518628"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3.3.3 Stop Motion Animation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3.4 Design Principles of Animation,</a:t>
            </a:r>
          </a:p>
          <a:p>
            <a:pPr>
              <a:spcBef>
                <a:spcPts val="1540"/>
              </a:spcBef>
              <a:spcAft>
                <a:spcPts val="257"/>
              </a:spcAft>
            </a:pPr>
            <a:r>
              <a:rPr lang="en-US" sz="2177">
                <a:solidFill>
                  <a:srgbClr val="000000"/>
                </a:solidFill>
              </a:rPr>
              <a:t>      Methods of ControllingAnimations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6A66F-1288-85A9-F366-805039A1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C1B118-13E8-4F58-B986-CFF1352D2C19}" type="slidenum">
              <a:rPr/>
              <a:t>132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9F82A83-DA3E-081C-1293-B65D4425DE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7F773-4EE7-5406-9E9F-5A4BC1CB1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07" y="1415421"/>
            <a:ext cx="7676065" cy="5046072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DCA573-C73A-DA28-C278-73BD4688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6AD686B-62A2-4595-B869-B0DD47EDFB0F}" type="slidenum">
              <a:rPr/>
              <a:t>133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53F4B9B-BA2F-8668-9F3E-86A56574D3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1274D-AD42-D424-5AC7-249F44A32999}"/>
              </a:ext>
            </a:extLst>
          </p:cNvPr>
          <p:cNvSpPr txBox="1"/>
          <p:nvPr/>
        </p:nvSpPr>
        <p:spPr>
          <a:xfrm>
            <a:off x="2315489" y="1692040"/>
            <a:ext cx="111184" cy="36529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477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0A2E5-F6A1-0D94-F6EF-D76AC49D930E}"/>
              </a:ext>
            </a:extLst>
          </p:cNvPr>
          <p:cNvSpPr txBox="1"/>
          <p:nvPr/>
        </p:nvSpPr>
        <p:spPr>
          <a:xfrm>
            <a:off x="2582638" y="1615619"/>
            <a:ext cx="3819315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Hand Drawn Animation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53160-2257-CEDC-E3A5-F79021E586FB}"/>
              </a:ext>
            </a:extLst>
          </p:cNvPr>
          <p:cNvSpPr txBox="1"/>
          <p:nvPr/>
        </p:nvSpPr>
        <p:spPr>
          <a:xfrm>
            <a:off x="2315489" y="2505238"/>
            <a:ext cx="111184" cy="36529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477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26BCB-864C-C33D-1E3F-5543A2AF820F}"/>
              </a:ext>
            </a:extLst>
          </p:cNvPr>
          <p:cNvSpPr txBox="1"/>
          <p:nvPr/>
        </p:nvSpPr>
        <p:spPr>
          <a:xfrm>
            <a:off x="2582637" y="2428817"/>
            <a:ext cx="3736536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Stop Motion Animation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56679-8374-93F8-6081-0890E3941146}"/>
              </a:ext>
            </a:extLst>
          </p:cNvPr>
          <p:cNvSpPr txBox="1"/>
          <p:nvPr/>
        </p:nvSpPr>
        <p:spPr>
          <a:xfrm>
            <a:off x="2315489" y="3319089"/>
            <a:ext cx="111184" cy="36529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477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CEB27-D44A-F0C5-1DB1-5CA150299444}"/>
              </a:ext>
            </a:extLst>
          </p:cNvPr>
          <p:cNvSpPr txBox="1"/>
          <p:nvPr/>
        </p:nvSpPr>
        <p:spPr>
          <a:xfrm>
            <a:off x="2582637" y="3242015"/>
            <a:ext cx="3362459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animation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D4813E-0B87-3E8B-C76B-A4583B695A87}"/>
              </a:ext>
            </a:extLst>
          </p:cNvPr>
          <p:cNvSpPr txBox="1"/>
          <p:nvPr/>
        </p:nvSpPr>
        <p:spPr>
          <a:xfrm>
            <a:off x="2482702" y="4055213"/>
            <a:ext cx="103746" cy="42941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12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13F189E-368A-3013-F18E-7073D389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41327C-C423-41C7-9342-23D119674155}" type="slidenum">
              <a:rPr/>
              <a:t>134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880F2C9-E051-86AE-8450-D0F7BF080F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5F841-616A-4232-13E9-6A82DEEE1F05}"/>
              </a:ext>
            </a:extLst>
          </p:cNvPr>
          <p:cNvSpPr txBox="1"/>
          <p:nvPr/>
        </p:nvSpPr>
        <p:spPr>
          <a:xfrm>
            <a:off x="2021237" y="1913791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C9725-FACB-B824-B048-88748990D36E}"/>
              </a:ext>
            </a:extLst>
          </p:cNvPr>
          <p:cNvSpPr txBox="1"/>
          <p:nvPr/>
        </p:nvSpPr>
        <p:spPr>
          <a:xfrm>
            <a:off x="2213268" y="1865456"/>
            <a:ext cx="82230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Done by an artist who draws each character and movement individually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B0A0A-DBA3-2F51-05B1-DF6C0417C4F3}"/>
              </a:ext>
            </a:extLst>
          </p:cNvPr>
          <p:cNvSpPr txBox="1"/>
          <p:nvPr/>
        </p:nvSpPr>
        <p:spPr>
          <a:xfrm>
            <a:off x="2021237" y="2437961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C3369-7725-CAF3-A4A4-2BC3E54D2358}"/>
              </a:ext>
            </a:extLst>
          </p:cNvPr>
          <p:cNvSpPr txBox="1"/>
          <p:nvPr/>
        </p:nvSpPr>
        <p:spPr>
          <a:xfrm>
            <a:off x="2213268" y="2389300"/>
            <a:ext cx="679743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Very time consuming to have to draw, then color, then photograph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B7902-8F72-11D4-AA45-DE852D06547E}"/>
              </a:ext>
            </a:extLst>
          </p:cNvPr>
          <p:cNvSpPr txBox="1"/>
          <p:nvPr/>
        </p:nvSpPr>
        <p:spPr>
          <a:xfrm>
            <a:off x="2213268" y="2820718"/>
            <a:ext cx="127368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each picture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714C1-FF31-D4B1-FF00-1067D960C5CC}"/>
              </a:ext>
            </a:extLst>
          </p:cNvPr>
          <p:cNvSpPr txBox="1"/>
          <p:nvPr/>
        </p:nvSpPr>
        <p:spPr>
          <a:xfrm>
            <a:off x="2021237" y="3386692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06D17-2198-FEE4-975B-9AFCE60A9C2E}"/>
              </a:ext>
            </a:extLst>
          </p:cNvPr>
          <p:cNvSpPr txBox="1"/>
          <p:nvPr/>
        </p:nvSpPr>
        <p:spPr>
          <a:xfrm>
            <a:off x="2213269" y="3338030"/>
            <a:ext cx="4911729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Draw pictures first, then color them on celluloid,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3F4D9C-A7F4-C7E2-FAF9-858260368988}"/>
              </a:ext>
            </a:extLst>
          </p:cNvPr>
          <p:cNvSpPr txBox="1"/>
          <p:nvPr/>
        </p:nvSpPr>
        <p:spPr>
          <a:xfrm>
            <a:off x="2213269" y="3769123"/>
            <a:ext cx="398974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Then  they pictures  and animate them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A1771-7168-565C-0B5A-72B175F0EE9E}"/>
              </a:ext>
            </a:extLst>
          </p:cNvPr>
          <p:cNvSpPr txBox="1"/>
          <p:nvPr/>
        </p:nvSpPr>
        <p:spPr>
          <a:xfrm>
            <a:off x="2021237" y="4335423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4BADF-518C-3066-F80E-2AFC7853384F}"/>
              </a:ext>
            </a:extLst>
          </p:cNvPr>
          <p:cNvSpPr txBox="1"/>
          <p:nvPr/>
        </p:nvSpPr>
        <p:spPr>
          <a:xfrm>
            <a:off x="2213268" y="4286435"/>
            <a:ext cx="471789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Very expensive due to hours of labor involved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C0BC4-97AB-C4B3-D3BD-2979B601C3F9}"/>
              </a:ext>
            </a:extLst>
          </p:cNvPr>
          <p:cNvSpPr txBox="1"/>
          <p:nvPr/>
        </p:nvSpPr>
        <p:spPr>
          <a:xfrm>
            <a:off x="2021237" y="5016027"/>
            <a:ext cx="69634" cy="22865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884B5-5C62-2CC9-33B2-AC3F23823E67}"/>
              </a:ext>
            </a:extLst>
          </p:cNvPr>
          <p:cNvSpPr txBox="1"/>
          <p:nvPr/>
        </p:nvSpPr>
        <p:spPr>
          <a:xfrm>
            <a:off x="2213268" y="4967039"/>
            <a:ext cx="615937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Examples: older Disney Movies i.e. Bambi, Fox and Hound,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A8C6BA-006B-0342-8D37-5A04EA813E9B}"/>
              </a:ext>
            </a:extLst>
          </p:cNvPr>
          <p:cNvSpPr txBox="1"/>
          <p:nvPr/>
        </p:nvSpPr>
        <p:spPr>
          <a:xfrm>
            <a:off x="2213268" y="5398458"/>
            <a:ext cx="1494448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Cinderella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8DFA67-4EDB-53A7-576F-6BA0ADF54980}"/>
              </a:ext>
            </a:extLst>
          </p:cNvPr>
          <p:cNvSpPr txBox="1"/>
          <p:nvPr/>
        </p:nvSpPr>
        <p:spPr>
          <a:xfrm>
            <a:off x="2141421" y="5915443"/>
            <a:ext cx="12990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6DAF7C-24A4-C85A-124D-735E144BF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180" y="2790673"/>
            <a:ext cx="2419019" cy="201111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28B0DE-638B-8B16-4AE2-F30B4568A033}"/>
              </a:ext>
            </a:extLst>
          </p:cNvPr>
          <p:cNvSpPr txBox="1"/>
          <p:nvPr/>
        </p:nvSpPr>
        <p:spPr>
          <a:xfrm>
            <a:off x="2021237" y="1243311"/>
            <a:ext cx="4495461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Hand Drawn Animation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DBD51-B5FB-5F9A-9954-EBB3B20A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9948AF-689F-45E5-93B1-52EC75CA71FE}" type="slidenum">
              <a:rPr/>
              <a:t>135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A56C3ED-9EE0-D611-A722-8A3DBBBD24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5B7BB-0734-F75A-DB1C-4B8AC6FF2960}"/>
              </a:ext>
            </a:extLst>
          </p:cNvPr>
          <p:cNvSpPr txBox="1"/>
          <p:nvPr/>
        </p:nvSpPr>
        <p:spPr>
          <a:xfrm>
            <a:off x="2021237" y="1243311"/>
            <a:ext cx="4495461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Hand Drawn Animation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F8559-B325-314C-D47C-9FFA002BA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186" y="1646971"/>
            <a:ext cx="7658756" cy="4617919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DE4EE-5A8F-A71E-6E71-8FA924F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7A7DF3-E13F-4EEE-ADA6-11796A328B8C}" type="slidenum">
              <a:rPr/>
              <a:t>136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78A8216-C342-B25D-9039-779DFA61EB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5510C-3719-1C6C-0B52-024BD919E49B}"/>
              </a:ext>
            </a:extLst>
          </p:cNvPr>
          <p:cNvSpPr txBox="1"/>
          <p:nvPr/>
        </p:nvSpPr>
        <p:spPr>
          <a:xfrm>
            <a:off x="2021237" y="1243311"/>
            <a:ext cx="4495461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Hand Drawn Animation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011E4-7240-28D5-639B-8351D4073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115" y="1770420"/>
            <a:ext cx="7630996" cy="2980419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D37DB74C-5195-90CA-0AD9-64833920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4C4FFA-F6A3-4623-88D1-EDC3BAFCB9AD}" type="slidenum">
              <a:rPr/>
              <a:t>137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ED43E1F8-AD7F-AB20-2EA6-DD0A7A529B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066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32409-FEC1-2D46-75FC-A309A4097C2A}"/>
              </a:ext>
            </a:extLst>
          </p:cNvPr>
          <p:cNvSpPr txBox="1"/>
          <p:nvPr/>
        </p:nvSpPr>
        <p:spPr>
          <a:xfrm>
            <a:off x="2152197" y="1243638"/>
            <a:ext cx="4473853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Stop Motion Animation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DA14F-C524-6BE3-C688-D503BC770BA4}"/>
              </a:ext>
            </a:extLst>
          </p:cNvPr>
          <p:cNvSpPr txBox="1"/>
          <p:nvPr/>
        </p:nvSpPr>
        <p:spPr>
          <a:xfrm>
            <a:off x="2152197" y="1965066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2F13E-43B5-177D-8952-D941DFE81641}"/>
              </a:ext>
            </a:extLst>
          </p:cNvPr>
          <p:cNvSpPr txBox="1"/>
          <p:nvPr/>
        </p:nvSpPr>
        <p:spPr>
          <a:xfrm>
            <a:off x="2318103" y="1928814"/>
            <a:ext cx="667304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 be done by virtually anyone, with no extensive training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6D59D-A547-6639-1C1E-E356930D2117}"/>
              </a:ext>
            </a:extLst>
          </p:cNvPr>
          <p:cNvSpPr txBox="1"/>
          <p:nvPr/>
        </p:nvSpPr>
        <p:spPr>
          <a:xfrm>
            <a:off x="2152197" y="2355989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B4587-2A6A-000F-EE54-8F334374A7E0}"/>
              </a:ext>
            </a:extLst>
          </p:cNvPr>
          <p:cNvSpPr txBox="1"/>
          <p:nvPr/>
        </p:nvSpPr>
        <p:spPr>
          <a:xfrm>
            <a:off x="2318102" y="2320062"/>
            <a:ext cx="685739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Does not take that much time relative to the other 2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4453C-22C1-EC84-CA61-2A658428F68E}"/>
              </a:ext>
            </a:extLst>
          </p:cNvPr>
          <p:cNvSpPr txBox="1"/>
          <p:nvPr/>
        </p:nvSpPr>
        <p:spPr>
          <a:xfrm>
            <a:off x="2152197" y="2747565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2D0AC-C5D1-996D-668D-74B2D46ABD59}"/>
              </a:ext>
            </a:extLst>
          </p:cNvPr>
          <p:cNvSpPr txBox="1"/>
          <p:nvPr/>
        </p:nvSpPr>
        <p:spPr>
          <a:xfrm>
            <a:off x="2318102" y="2711313"/>
            <a:ext cx="707065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Uses jointed figures or clay figures that can be moved to make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44A22-493F-621D-4167-F06A26FF8AB6}"/>
              </a:ext>
            </a:extLst>
          </p:cNvPr>
          <p:cNvSpPr txBox="1"/>
          <p:nvPr/>
        </p:nvSpPr>
        <p:spPr>
          <a:xfrm>
            <a:off x="2318102" y="3037245"/>
            <a:ext cx="8962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EFF09-FA8F-6705-B788-F288A9345C9A}"/>
              </a:ext>
            </a:extLst>
          </p:cNvPr>
          <p:cNvSpPr txBox="1"/>
          <p:nvPr/>
        </p:nvSpPr>
        <p:spPr>
          <a:xfrm>
            <a:off x="2152197" y="3464746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3CF11D-B8EB-146E-C4E3-FDD78024D629}"/>
              </a:ext>
            </a:extLst>
          </p:cNvPr>
          <p:cNvSpPr txBox="1"/>
          <p:nvPr/>
        </p:nvSpPr>
        <p:spPr>
          <a:xfrm>
            <a:off x="2318102" y="3428168"/>
            <a:ext cx="54066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Take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D2AA5-4C89-1B4C-645D-4AEB9A0BE04E}"/>
              </a:ext>
            </a:extLst>
          </p:cNvPr>
          <p:cNvSpPr txBox="1"/>
          <p:nvPr/>
        </p:nvSpPr>
        <p:spPr>
          <a:xfrm>
            <a:off x="3034631" y="3428168"/>
            <a:ext cx="36971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still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3B04D-09EF-DBC7-8C03-46A339384623}"/>
              </a:ext>
            </a:extLst>
          </p:cNvPr>
          <p:cNvSpPr txBox="1"/>
          <p:nvPr/>
        </p:nvSpPr>
        <p:spPr>
          <a:xfrm>
            <a:off x="3580683" y="3428168"/>
            <a:ext cx="89620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5C24D-202C-F8E0-3FF6-FFB1CD291A81}"/>
              </a:ext>
            </a:extLst>
          </p:cNvPr>
          <p:cNvSpPr txBox="1"/>
          <p:nvPr/>
        </p:nvSpPr>
        <p:spPr>
          <a:xfrm>
            <a:off x="4648290" y="3428168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EB890-21A9-310E-3EC4-C30BE41D5798}"/>
              </a:ext>
            </a:extLst>
          </p:cNvPr>
          <p:cNvSpPr txBox="1"/>
          <p:nvPr/>
        </p:nvSpPr>
        <p:spPr>
          <a:xfrm>
            <a:off x="5039540" y="3428168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928CA1-9C82-B4EA-2F32-F0DB37E44220}"/>
              </a:ext>
            </a:extLst>
          </p:cNvPr>
          <p:cNvSpPr txBox="1"/>
          <p:nvPr/>
        </p:nvSpPr>
        <p:spPr>
          <a:xfrm>
            <a:off x="5570568" y="3428168"/>
            <a:ext cx="106721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individual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E81BE7-3E46-A4D3-0C6F-A7586D89D32B}"/>
              </a:ext>
            </a:extLst>
          </p:cNvPr>
          <p:cNvSpPr txBox="1"/>
          <p:nvPr/>
        </p:nvSpPr>
        <p:spPr>
          <a:xfrm>
            <a:off x="6808000" y="3428168"/>
            <a:ext cx="139397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movements,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AC28C6-E29C-B873-9975-28EEB9D38ABC}"/>
              </a:ext>
            </a:extLst>
          </p:cNvPr>
          <p:cNvSpPr txBox="1"/>
          <p:nvPr/>
        </p:nvSpPr>
        <p:spPr>
          <a:xfrm>
            <a:off x="8370710" y="3428168"/>
            <a:ext cx="49815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0D389-FB4F-00C5-D2BB-E15F69EA78E1}"/>
              </a:ext>
            </a:extLst>
          </p:cNvPr>
          <p:cNvSpPr txBox="1"/>
          <p:nvPr/>
        </p:nvSpPr>
        <p:spPr>
          <a:xfrm>
            <a:off x="9043804" y="3428168"/>
            <a:ext cx="412677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95D2CE-3344-F043-1C2C-CA7718054EC7}"/>
              </a:ext>
            </a:extLst>
          </p:cNvPr>
          <p:cNvSpPr txBox="1"/>
          <p:nvPr/>
        </p:nvSpPr>
        <p:spPr>
          <a:xfrm>
            <a:off x="2318103" y="3754427"/>
            <a:ext cx="587551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relatively inexpensive computer software to animate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FCECD7-71F1-F2B4-2605-B061870556FE}"/>
              </a:ext>
            </a:extLst>
          </p:cNvPr>
          <p:cNvSpPr txBox="1"/>
          <p:nvPr/>
        </p:nvSpPr>
        <p:spPr>
          <a:xfrm>
            <a:off x="2152197" y="4181601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714658-8D7D-A3B9-22F2-4F87D84FC40F}"/>
              </a:ext>
            </a:extLst>
          </p:cNvPr>
          <p:cNvSpPr txBox="1"/>
          <p:nvPr/>
        </p:nvSpPr>
        <p:spPr>
          <a:xfrm>
            <a:off x="2318102" y="4145676"/>
            <a:ext cx="662450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 use Movie Maker Software to complete our animations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CD657-22AF-A8C7-AC5C-6E5834429DA1}"/>
              </a:ext>
            </a:extLst>
          </p:cNvPr>
          <p:cNvSpPr txBox="1"/>
          <p:nvPr/>
        </p:nvSpPr>
        <p:spPr>
          <a:xfrm>
            <a:off x="2152197" y="4572851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0FDA3E-8628-F9A0-BC4D-6ABDB78050E1}"/>
              </a:ext>
            </a:extLst>
          </p:cNvPr>
          <p:cNvSpPr txBox="1"/>
          <p:nvPr/>
        </p:nvSpPr>
        <p:spPr>
          <a:xfrm>
            <a:off x="2318102" y="4536926"/>
            <a:ext cx="751186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Not  very  expensive  because  all  you  need  is  a  digital  camera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5104DF-31A5-8094-823F-503A0E57C2EA}"/>
              </a:ext>
            </a:extLst>
          </p:cNvPr>
          <p:cNvSpPr txBox="1"/>
          <p:nvPr/>
        </p:nvSpPr>
        <p:spPr>
          <a:xfrm>
            <a:off x="2318102" y="4862531"/>
            <a:ext cx="672447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the software comes with windows XP operating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1E034-6837-A164-3402-482DCCFE14CB}"/>
              </a:ext>
            </a:extLst>
          </p:cNvPr>
          <p:cNvSpPr txBox="1"/>
          <p:nvPr/>
        </p:nvSpPr>
        <p:spPr>
          <a:xfrm>
            <a:off x="2152197" y="5290032"/>
            <a:ext cx="76175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92308A-6D40-B2DB-53B8-79E3A117A301}"/>
              </a:ext>
            </a:extLst>
          </p:cNvPr>
          <p:cNvSpPr txBox="1"/>
          <p:nvPr/>
        </p:nvSpPr>
        <p:spPr>
          <a:xfrm>
            <a:off x="2318102" y="5253453"/>
            <a:ext cx="715606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Examples: star wars, robot chicken, old Rudolph the red Nosed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BB6D3-0EE2-BB3E-10FD-4ED960BF2A2E}"/>
              </a:ext>
            </a:extLst>
          </p:cNvPr>
          <p:cNvSpPr txBox="1"/>
          <p:nvPr/>
        </p:nvSpPr>
        <p:spPr>
          <a:xfrm>
            <a:off x="2318102" y="5580039"/>
            <a:ext cx="109568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Reindeer.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D7F98-AB52-18C5-AFE4-0CF7ED64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706A915-35A7-4BA1-A6BF-7E61338FF817}" type="slidenum">
              <a:rPr/>
              <a:t>138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7EA143CF-26AB-3A61-18D0-B3F97BFFED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6433B-9AEE-DAEC-8440-1580DADEA073}"/>
              </a:ext>
            </a:extLst>
          </p:cNvPr>
          <p:cNvSpPr txBox="1"/>
          <p:nvPr/>
        </p:nvSpPr>
        <p:spPr>
          <a:xfrm>
            <a:off x="2152525" y="1243638"/>
            <a:ext cx="4473853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Stop Motion Animation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DF720-EFD0-81D2-9D51-8D382C82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295" y="1608761"/>
            <a:ext cx="7269139" cy="4361222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0F789-EB0E-71B3-E072-FF35BF75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7FF1E2-4B05-4F98-A98C-857313520275}" type="slidenum">
              <a:rPr/>
              <a:t>139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4171033-A973-9B23-D4A3-9C7B51445A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9E275-DC02-8D1E-BC82-2353F56E60A6}"/>
              </a:ext>
            </a:extLst>
          </p:cNvPr>
          <p:cNvSpPr txBox="1"/>
          <p:nvPr/>
        </p:nvSpPr>
        <p:spPr>
          <a:xfrm>
            <a:off x="2152525" y="1243638"/>
            <a:ext cx="4473853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2.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Stop Motion Animation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7BB4A-E8B7-054C-A89E-4FD03829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162" y="1606148"/>
            <a:ext cx="6912508" cy="4111058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5F17542-3293-04D6-D4D2-92856F96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4329AA-5726-4DD8-B80C-C175FEBE60BE}" type="slidenum">
              <a:rPr/>
              <a:t>140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AC16AF0-7D0C-5D6A-4D7E-861B66F36F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Types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A8157-2022-24B6-9A88-343598C67BB3}"/>
              </a:ext>
            </a:extLst>
          </p:cNvPr>
          <p:cNvSpPr txBox="1"/>
          <p:nvPr/>
        </p:nvSpPr>
        <p:spPr>
          <a:xfrm>
            <a:off x="2152524" y="1243638"/>
            <a:ext cx="4081502" cy="42806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903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3. </a:t>
            </a:r>
            <a:r>
              <a:rPr lang="en-US" sz="2903" b="1" u="sng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Animation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E3489-08E9-4DE0-9FD5-C6260E478E46}"/>
              </a:ext>
            </a:extLst>
          </p:cNvPr>
          <p:cNvSpPr txBox="1"/>
          <p:nvPr/>
        </p:nvSpPr>
        <p:spPr>
          <a:xfrm>
            <a:off x="2282505" y="174625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F2FDA-42FF-C358-B891-F6EA19D2AA52}"/>
              </a:ext>
            </a:extLst>
          </p:cNvPr>
          <p:cNvSpPr txBox="1"/>
          <p:nvPr/>
        </p:nvSpPr>
        <p:spPr>
          <a:xfrm>
            <a:off x="2448410" y="1708695"/>
            <a:ext cx="3102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D953-80E7-2A6D-084D-4D1EE454135D}"/>
              </a:ext>
            </a:extLst>
          </p:cNvPr>
          <p:cNvSpPr txBox="1"/>
          <p:nvPr/>
        </p:nvSpPr>
        <p:spPr>
          <a:xfrm>
            <a:off x="2978132" y="1708695"/>
            <a:ext cx="13032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characters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B98C2-EC51-CFAE-DAE9-6DA636B149C9}"/>
              </a:ext>
            </a:extLst>
          </p:cNvPr>
          <p:cNvSpPr txBox="1"/>
          <p:nvPr/>
        </p:nvSpPr>
        <p:spPr>
          <a:xfrm>
            <a:off x="4493489" y="1708695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3FF189-BB30-7DCB-F0AE-2C23B03EF0AE}"/>
              </a:ext>
            </a:extLst>
          </p:cNvPr>
          <p:cNvSpPr txBox="1"/>
          <p:nvPr/>
        </p:nvSpPr>
        <p:spPr>
          <a:xfrm>
            <a:off x="5175400" y="1708695"/>
            <a:ext cx="14428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movements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0B2F9-3518-852B-B837-F3F8645AA87B}"/>
              </a:ext>
            </a:extLst>
          </p:cNvPr>
          <p:cNvSpPr txBox="1"/>
          <p:nvPr/>
        </p:nvSpPr>
        <p:spPr>
          <a:xfrm>
            <a:off x="6827595" y="1708695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3963D-6538-7242-EF9E-B8E4DA673792}"/>
              </a:ext>
            </a:extLst>
          </p:cNvPr>
          <p:cNvSpPr txBox="1"/>
          <p:nvPr/>
        </p:nvSpPr>
        <p:spPr>
          <a:xfrm>
            <a:off x="7449740" y="1708695"/>
            <a:ext cx="12572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generated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C9F06-6B48-5496-B82B-1BAD14373754}"/>
              </a:ext>
            </a:extLst>
          </p:cNvPr>
          <p:cNvSpPr txBox="1"/>
          <p:nvPr/>
        </p:nvSpPr>
        <p:spPr>
          <a:xfrm>
            <a:off x="8917089" y="1708695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A4C30-D452-FA1D-490F-6C0BC0E51406}"/>
              </a:ext>
            </a:extLst>
          </p:cNvPr>
          <p:cNvSpPr txBox="1"/>
          <p:nvPr/>
        </p:nvSpPr>
        <p:spPr>
          <a:xfrm>
            <a:off x="2448409" y="2040506"/>
            <a:ext cx="358418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computer animation software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979F5E-F04A-0BDF-6837-A0DDF562960B}"/>
              </a:ext>
            </a:extLst>
          </p:cNvPr>
          <p:cNvSpPr txBox="1"/>
          <p:nvPr/>
        </p:nvSpPr>
        <p:spPr>
          <a:xfrm>
            <a:off x="2282505" y="247649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4F81F-41C7-64CF-1F85-FDDC2C9529FC}"/>
              </a:ext>
            </a:extLst>
          </p:cNvPr>
          <p:cNvSpPr txBox="1"/>
          <p:nvPr/>
        </p:nvSpPr>
        <p:spPr>
          <a:xfrm>
            <a:off x="2448409" y="2438941"/>
            <a:ext cx="74789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  also  be  very  time  consuming  as  they  can  get  very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06EF9-D310-7E38-C62C-C07F2E6B56E6}"/>
              </a:ext>
            </a:extLst>
          </p:cNvPr>
          <p:cNvSpPr txBox="1"/>
          <p:nvPr/>
        </p:nvSpPr>
        <p:spPr>
          <a:xfrm>
            <a:off x="2448410" y="2770751"/>
            <a:ext cx="47429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complicated in movements and effects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27875-3FEA-E6DD-8984-24C0B8877D92}"/>
              </a:ext>
            </a:extLst>
          </p:cNvPr>
          <p:cNvSpPr txBox="1"/>
          <p:nvPr/>
        </p:nvSpPr>
        <p:spPr>
          <a:xfrm>
            <a:off x="2282505" y="320641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C2D4A-65ED-9329-AFE8-0FF61B629C14}"/>
              </a:ext>
            </a:extLst>
          </p:cNvPr>
          <p:cNvSpPr txBox="1"/>
          <p:nvPr/>
        </p:nvSpPr>
        <p:spPr>
          <a:xfrm>
            <a:off x="2448409" y="3168859"/>
            <a:ext cx="646984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 characters are fully animated with no still pictures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A437F-5DF1-ECD2-BEEB-B0C9FCBE4754}"/>
              </a:ext>
            </a:extLst>
          </p:cNvPr>
          <p:cNvSpPr txBox="1"/>
          <p:nvPr/>
        </p:nvSpPr>
        <p:spPr>
          <a:xfrm>
            <a:off x="2282505" y="360485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A0FD69-978F-8948-0F59-036DC83EC712}"/>
              </a:ext>
            </a:extLst>
          </p:cNvPr>
          <p:cNvSpPr txBox="1"/>
          <p:nvPr/>
        </p:nvSpPr>
        <p:spPr>
          <a:xfrm>
            <a:off x="2448410" y="3567293"/>
            <a:ext cx="69208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Can be very expensive because of the complexity of the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98EA4A-4D60-F3BE-86EB-6ECD05EFE1DC}"/>
              </a:ext>
            </a:extLst>
          </p:cNvPr>
          <p:cNvSpPr txBox="1"/>
          <p:nvPr/>
        </p:nvSpPr>
        <p:spPr>
          <a:xfrm>
            <a:off x="2448410" y="3899104"/>
            <a:ext cx="403507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stunts and animation being done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43F03-1C28-ADCF-4020-80D823484617}"/>
              </a:ext>
            </a:extLst>
          </p:cNvPr>
          <p:cNvSpPr txBox="1"/>
          <p:nvPr/>
        </p:nvSpPr>
        <p:spPr>
          <a:xfrm>
            <a:off x="2282505" y="433477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B94ACE-358F-3C61-446A-5D1A0E380608}"/>
              </a:ext>
            </a:extLst>
          </p:cNvPr>
          <p:cNvSpPr txBox="1"/>
          <p:nvPr/>
        </p:nvSpPr>
        <p:spPr>
          <a:xfrm>
            <a:off x="2448410" y="4297538"/>
            <a:ext cx="723159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Huge  budgets  because  the  animation  sequences  more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57F767-86E2-EAC6-80EE-A4D95D823B16}"/>
              </a:ext>
            </a:extLst>
          </p:cNvPr>
          <p:cNvSpPr txBox="1"/>
          <p:nvPr/>
        </p:nvSpPr>
        <p:spPr>
          <a:xfrm>
            <a:off x="2448410" y="4629349"/>
            <a:ext cx="71329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complicated these days eg. The war scenes in Lord of 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290AE-E57D-CEE1-7485-099A6F4541DD}"/>
              </a:ext>
            </a:extLst>
          </p:cNvPr>
          <p:cNvSpPr txBox="1"/>
          <p:nvPr/>
        </p:nvSpPr>
        <p:spPr>
          <a:xfrm>
            <a:off x="2448410" y="4961160"/>
            <a:ext cx="12412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Rings etc.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842381-5EF9-4C06-9024-C6A0BBA58E9A}"/>
              </a:ext>
            </a:extLst>
          </p:cNvPr>
          <p:cNvSpPr txBox="1"/>
          <p:nvPr/>
        </p:nvSpPr>
        <p:spPr>
          <a:xfrm>
            <a:off x="2282505" y="539715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1EB9B-6A59-644B-7AEC-D10F9BC777BD}"/>
              </a:ext>
            </a:extLst>
          </p:cNvPr>
          <p:cNvSpPr txBox="1"/>
          <p:nvPr/>
        </p:nvSpPr>
        <p:spPr>
          <a:xfrm>
            <a:off x="2448410" y="5359594"/>
            <a:ext cx="74735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Examples:  Toy  story  ,  finding  Nemo,  Matrix,  Lord  of  the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84EED0-04F6-740F-17FF-A51CE71E2C74}"/>
              </a:ext>
            </a:extLst>
          </p:cNvPr>
          <p:cNvSpPr txBox="1"/>
          <p:nvPr/>
        </p:nvSpPr>
        <p:spPr>
          <a:xfrm>
            <a:off x="2448410" y="5691405"/>
            <a:ext cx="7136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Rings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320D0B7-4889-981A-D381-6E29CE0B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3377D9-2F71-4233-8A83-EB882863DFFB}" type="slidenum">
              <a:rPr/>
              <a:t>141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529F2142-1B6D-3427-71D7-D7292A3ABB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09416-B743-06C1-DC7D-47BB22B84753}"/>
              </a:ext>
            </a:extLst>
          </p:cNvPr>
          <p:cNvSpPr txBox="1"/>
          <p:nvPr/>
        </p:nvSpPr>
        <p:spPr>
          <a:xfrm>
            <a:off x="2125091" y="156597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5F814-26FF-070D-8970-A168417DAC0F}"/>
              </a:ext>
            </a:extLst>
          </p:cNvPr>
          <p:cNvSpPr txBox="1"/>
          <p:nvPr/>
        </p:nvSpPr>
        <p:spPr>
          <a:xfrm>
            <a:off x="2721436" y="1512743"/>
            <a:ext cx="33508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Shooting reference video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3A9C8-7560-BEAE-C48C-E517C6370119}"/>
              </a:ext>
            </a:extLst>
          </p:cNvPr>
          <p:cNvSpPr txBox="1"/>
          <p:nvPr/>
        </p:nvSpPr>
        <p:spPr>
          <a:xfrm>
            <a:off x="2125091" y="212933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36D92-440C-4DDA-9F7E-2AD5E6CFE0AC}"/>
              </a:ext>
            </a:extLst>
          </p:cNvPr>
          <p:cNvSpPr txBox="1"/>
          <p:nvPr/>
        </p:nvSpPr>
        <p:spPr>
          <a:xfrm>
            <a:off x="2721436" y="2075778"/>
            <a:ext cx="15047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Key posing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6F670-BD08-3FE0-F419-579CACC8D002}"/>
              </a:ext>
            </a:extLst>
          </p:cNvPr>
          <p:cNvSpPr txBox="1"/>
          <p:nvPr/>
        </p:nvSpPr>
        <p:spPr>
          <a:xfrm>
            <a:off x="2125091" y="2692044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A65A76-3D61-6A78-A9D4-CB3901918DA5}"/>
              </a:ext>
            </a:extLst>
          </p:cNvPr>
          <p:cNvSpPr txBox="1"/>
          <p:nvPr/>
        </p:nvSpPr>
        <p:spPr>
          <a:xfrm>
            <a:off x="2721436" y="2639137"/>
            <a:ext cx="117891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Blocking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15CA3-89CA-1D6A-E33B-B1C8D1DFB0EC}"/>
              </a:ext>
            </a:extLst>
          </p:cNvPr>
          <p:cNvSpPr txBox="1"/>
          <p:nvPr/>
        </p:nvSpPr>
        <p:spPr>
          <a:xfrm>
            <a:off x="2125091" y="3255405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9B2F0-C652-7D44-9689-B76EB252E0ED}"/>
              </a:ext>
            </a:extLst>
          </p:cNvPr>
          <p:cNvSpPr txBox="1"/>
          <p:nvPr/>
        </p:nvSpPr>
        <p:spPr>
          <a:xfrm>
            <a:off x="2721436" y="3202497"/>
            <a:ext cx="11011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Splining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B7D71-DC46-F843-9708-EEDB994B87AA}"/>
              </a:ext>
            </a:extLst>
          </p:cNvPr>
          <p:cNvSpPr txBox="1"/>
          <p:nvPr/>
        </p:nvSpPr>
        <p:spPr>
          <a:xfrm>
            <a:off x="2125091" y="381843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FAE5E-ACC3-5ABB-998E-9661EF65EF9D}"/>
              </a:ext>
            </a:extLst>
          </p:cNvPr>
          <p:cNvSpPr txBox="1"/>
          <p:nvPr/>
        </p:nvSpPr>
        <p:spPr>
          <a:xfrm>
            <a:off x="2721437" y="3765204"/>
            <a:ext cx="14577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Smoothing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7C0B7-5593-EAFA-2A39-AA372A6695DF}"/>
              </a:ext>
            </a:extLst>
          </p:cNvPr>
          <p:cNvSpPr txBox="1"/>
          <p:nvPr/>
        </p:nvSpPr>
        <p:spPr>
          <a:xfrm>
            <a:off x="2125091" y="4381145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6.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40A20-171E-C548-B131-25B4FC0ED437}"/>
              </a:ext>
            </a:extLst>
          </p:cNvPr>
          <p:cNvSpPr txBox="1"/>
          <p:nvPr/>
        </p:nvSpPr>
        <p:spPr>
          <a:xfrm>
            <a:off x="2721436" y="4328238"/>
            <a:ext cx="14423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Adding life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B6FDFD1-70E1-5E2B-D5CB-F2E6B26D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CA92A3B-9324-4277-BEFC-E35CA4F1D551}" type="slidenum">
              <a:rPr/>
              <a:t>142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4C4E638-372F-DA8A-3269-E0BBC4B1EB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0C262-8F01-5822-A207-58017636D9BB}"/>
              </a:ext>
            </a:extLst>
          </p:cNvPr>
          <p:cNvSpPr txBox="1"/>
          <p:nvPr/>
        </p:nvSpPr>
        <p:spPr>
          <a:xfrm>
            <a:off x="2125091" y="133736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156C3-F893-551B-4ECE-9346B462A97F}"/>
              </a:ext>
            </a:extLst>
          </p:cNvPr>
          <p:cNvSpPr txBox="1"/>
          <p:nvPr/>
        </p:nvSpPr>
        <p:spPr>
          <a:xfrm>
            <a:off x="2721436" y="1284133"/>
            <a:ext cx="33508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Shooting reference video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2C108-6489-BC1D-5755-5F161C2576A1}"/>
              </a:ext>
            </a:extLst>
          </p:cNvPr>
          <p:cNvSpPr txBox="1"/>
          <p:nvPr/>
        </p:nvSpPr>
        <p:spPr>
          <a:xfrm>
            <a:off x="2151871" y="181157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BF040-D3AF-C51F-09E3-359D60717CDA}"/>
              </a:ext>
            </a:extLst>
          </p:cNvPr>
          <p:cNvSpPr txBox="1"/>
          <p:nvPr/>
        </p:nvSpPr>
        <p:spPr>
          <a:xfrm>
            <a:off x="2317776" y="1774013"/>
            <a:ext cx="75559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 is  a  very  important  and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overlooked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step.  It‘s  weird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58125-7B25-6A85-26FD-F302171965B1}"/>
              </a:ext>
            </a:extLst>
          </p:cNvPr>
          <p:cNvSpPr txBox="1"/>
          <p:nvPr/>
        </p:nvSpPr>
        <p:spPr>
          <a:xfrm>
            <a:off x="2317776" y="2105823"/>
            <a:ext cx="73395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how  people  really  think  they  know  what  certain  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BEFD8-E58E-141F-9841-D3FE59444916}"/>
              </a:ext>
            </a:extLst>
          </p:cNvPr>
          <p:cNvSpPr txBox="1"/>
          <p:nvPr/>
        </p:nvSpPr>
        <p:spPr>
          <a:xfrm>
            <a:off x="2317776" y="2437961"/>
            <a:ext cx="755713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look  like  and  how  long  they  take,  but  in  reality  they  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1B21B-F637-2F45-6F7F-CA49662E466C}"/>
              </a:ext>
            </a:extLst>
          </p:cNvPr>
          <p:cNvSpPr txBox="1"/>
          <p:nvPr/>
        </p:nvSpPr>
        <p:spPr>
          <a:xfrm>
            <a:off x="2317775" y="2769772"/>
            <a:ext cx="15363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often wrong.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0A39C-2EA2-BBD9-584C-1C7A21AEC157}"/>
              </a:ext>
            </a:extLst>
          </p:cNvPr>
          <p:cNvSpPr txBox="1"/>
          <p:nvPr/>
        </p:nvSpPr>
        <p:spPr>
          <a:xfrm>
            <a:off x="2151871" y="3205437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4B554-B751-9739-2A3E-BCAC280F0744}"/>
              </a:ext>
            </a:extLst>
          </p:cNvPr>
          <p:cNvSpPr txBox="1"/>
          <p:nvPr/>
        </p:nvSpPr>
        <p:spPr>
          <a:xfrm>
            <a:off x="2317775" y="3167878"/>
            <a:ext cx="10394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Physical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5FC56-4005-F061-3F0A-380C734CD485}"/>
              </a:ext>
            </a:extLst>
          </p:cNvPr>
          <p:cNvSpPr txBox="1"/>
          <p:nvPr/>
        </p:nvSpPr>
        <p:spPr>
          <a:xfrm>
            <a:off x="3748873" y="3167878"/>
            <a:ext cx="8844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070F41-1DFE-DBBE-8111-C696546BA082}"/>
              </a:ext>
            </a:extLst>
          </p:cNvPr>
          <p:cNvSpPr txBox="1"/>
          <p:nvPr/>
        </p:nvSpPr>
        <p:spPr>
          <a:xfrm>
            <a:off x="5025496" y="3167878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BEC51-4FCB-4AE6-35A2-AC8430E3E22B}"/>
              </a:ext>
            </a:extLst>
          </p:cNvPr>
          <p:cNvSpPr txBox="1"/>
          <p:nvPr/>
        </p:nvSpPr>
        <p:spPr>
          <a:xfrm>
            <a:off x="5624128" y="3167878"/>
            <a:ext cx="12879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something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62500-E20E-581B-2834-927FECAEAF7D}"/>
              </a:ext>
            </a:extLst>
          </p:cNvPr>
          <p:cNvSpPr txBox="1"/>
          <p:nvPr/>
        </p:nvSpPr>
        <p:spPr>
          <a:xfrm>
            <a:off x="7301144" y="3167878"/>
            <a:ext cx="4500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245087-9233-90F7-D9A1-EFA422AE7F35}"/>
              </a:ext>
            </a:extLst>
          </p:cNvPr>
          <p:cNvSpPr txBox="1"/>
          <p:nvPr/>
        </p:nvSpPr>
        <p:spPr>
          <a:xfrm>
            <a:off x="8146020" y="3167878"/>
            <a:ext cx="6515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20F3F-D1F5-F903-BFF9-28787B3A2DD7}"/>
              </a:ext>
            </a:extLst>
          </p:cNvPr>
          <p:cNvSpPr txBox="1"/>
          <p:nvPr/>
        </p:nvSpPr>
        <p:spPr>
          <a:xfrm>
            <a:off x="9191421" y="3167878"/>
            <a:ext cx="2635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F73D1B-A419-57E8-E788-AD680A1B365F}"/>
              </a:ext>
            </a:extLst>
          </p:cNvPr>
          <p:cNvSpPr txBox="1"/>
          <p:nvPr/>
        </p:nvSpPr>
        <p:spPr>
          <a:xfrm>
            <a:off x="2317776" y="3499689"/>
            <a:ext cx="70605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analyze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before animating, especially if you‘re a beginner.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F6DB3-211B-3B92-8BA5-734EFD10166D}"/>
              </a:ext>
            </a:extLst>
          </p:cNvPr>
          <p:cNvSpPr txBox="1"/>
          <p:nvPr/>
        </p:nvSpPr>
        <p:spPr>
          <a:xfrm>
            <a:off x="2151871" y="393568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01E7FC-1126-E04F-8CAC-510092D8AD56}"/>
              </a:ext>
            </a:extLst>
          </p:cNvPr>
          <p:cNvSpPr txBox="1"/>
          <p:nvPr/>
        </p:nvSpPr>
        <p:spPr>
          <a:xfrm>
            <a:off x="2317775" y="3898124"/>
            <a:ext cx="729917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  have  a  shot  of  a  guy  throwing  a  baseball?  Better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C0120E-744F-D33C-B35F-AE3BA236BB01}"/>
              </a:ext>
            </a:extLst>
          </p:cNvPr>
          <p:cNvSpPr txBox="1"/>
          <p:nvPr/>
        </p:nvSpPr>
        <p:spPr>
          <a:xfrm>
            <a:off x="2317776" y="4229935"/>
            <a:ext cx="70862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YouTube some reference video of pitchers throwing balls.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EC2DE7-B567-DAD6-38FD-D590EDDA75BA}"/>
              </a:ext>
            </a:extLst>
          </p:cNvPr>
          <p:cNvSpPr txBox="1"/>
          <p:nvPr/>
        </p:nvSpPr>
        <p:spPr>
          <a:xfrm>
            <a:off x="2317776" y="4561746"/>
            <a:ext cx="72772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Don‘t  assume  you  know  what  an  action  looks  like  just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D51BF0-E652-5E28-1967-0EC7F974DE04}"/>
              </a:ext>
            </a:extLst>
          </p:cNvPr>
          <p:cNvSpPr txBox="1"/>
          <p:nvPr/>
        </p:nvSpPr>
        <p:spPr>
          <a:xfrm>
            <a:off x="2317776" y="4893557"/>
            <a:ext cx="74335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because  you‘ve  seen  it  before.  Looking  at  an  action  as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D512B-99F6-BE4E-03CA-82ED52FD0A16}"/>
              </a:ext>
            </a:extLst>
          </p:cNvPr>
          <p:cNvSpPr txBox="1"/>
          <p:nvPr/>
        </p:nvSpPr>
        <p:spPr>
          <a:xfrm>
            <a:off x="2317776" y="5225694"/>
            <a:ext cx="70550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animator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is completely different than looking at it as 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3499E-3E1D-9350-94A6-82628553AF62}"/>
              </a:ext>
            </a:extLst>
          </p:cNvPr>
          <p:cNvSpPr txBox="1"/>
          <p:nvPr/>
        </p:nvSpPr>
        <p:spPr>
          <a:xfrm>
            <a:off x="2317776" y="5557505"/>
            <a:ext cx="18153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regular viewer.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1DB9C80-F0A1-72E8-8A5D-A6D7E515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316D30E-E927-4F73-9550-5A786D37878F}" type="slidenum">
              <a:rPr/>
              <a:t>143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6F63638F-68DB-25EE-A159-CBDA165CA7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43E5D-AFCA-80CE-32DC-1C85A58C888D}"/>
              </a:ext>
            </a:extLst>
          </p:cNvPr>
          <p:cNvSpPr txBox="1"/>
          <p:nvPr/>
        </p:nvSpPr>
        <p:spPr>
          <a:xfrm>
            <a:off x="2125091" y="1378191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243EFD-DD83-1447-A54D-6E1E42A30A9A}"/>
              </a:ext>
            </a:extLst>
          </p:cNvPr>
          <p:cNvSpPr txBox="1"/>
          <p:nvPr/>
        </p:nvSpPr>
        <p:spPr>
          <a:xfrm>
            <a:off x="2721436" y="1324631"/>
            <a:ext cx="15047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Key posing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2918B-B4DB-504E-675F-507D8685EF09}"/>
              </a:ext>
            </a:extLst>
          </p:cNvPr>
          <p:cNvSpPr txBox="1"/>
          <p:nvPr/>
        </p:nvSpPr>
        <p:spPr>
          <a:xfrm>
            <a:off x="2184856" y="182169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F4B22-1CF2-377F-78BF-53687482F85B}"/>
              </a:ext>
            </a:extLst>
          </p:cNvPr>
          <p:cNvSpPr txBox="1"/>
          <p:nvPr/>
        </p:nvSpPr>
        <p:spPr>
          <a:xfrm>
            <a:off x="2350762" y="1774013"/>
            <a:ext cx="71533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After  shooting  a  reference,  it‘s  time  to  create  the 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2BEAE-AA95-EAB7-6536-03288D93B4D4}"/>
              </a:ext>
            </a:extLst>
          </p:cNvPr>
          <p:cNvSpPr txBox="1"/>
          <p:nvPr/>
        </p:nvSpPr>
        <p:spPr>
          <a:xfrm>
            <a:off x="2350762" y="2195960"/>
            <a:ext cx="220374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poses of the shot.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C512D-B706-09FF-EE6E-A45B7AA1B766}"/>
              </a:ext>
            </a:extLst>
          </p:cNvPr>
          <p:cNvSpPr txBox="1"/>
          <p:nvPr/>
        </p:nvSpPr>
        <p:spPr>
          <a:xfrm>
            <a:off x="2184856" y="275050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2FF6F-BCC3-0228-081A-EF4BA1A2ACB5}"/>
              </a:ext>
            </a:extLst>
          </p:cNvPr>
          <p:cNvSpPr txBox="1"/>
          <p:nvPr/>
        </p:nvSpPr>
        <p:spPr>
          <a:xfrm>
            <a:off x="2350762" y="2702495"/>
            <a:ext cx="690554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These poses are called key poses because they are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EAA2D-0FB4-2463-7BC0-4817072929EF}"/>
              </a:ext>
            </a:extLst>
          </p:cNvPr>
          <p:cNvSpPr txBox="1"/>
          <p:nvPr/>
        </p:nvSpPr>
        <p:spPr>
          <a:xfrm>
            <a:off x="2350761" y="3124443"/>
            <a:ext cx="744332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most  important  poses  of  the  shot.  These  are  the  poses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55C08-A11D-8D3C-6398-4F8A442D1A50}"/>
              </a:ext>
            </a:extLst>
          </p:cNvPr>
          <p:cNvSpPr txBox="1"/>
          <p:nvPr/>
        </p:nvSpPr>
        <p:spPr>
          <a:xfrm>
            <a:off x="2350761" y="3546392"/>
            <a:ext cx="74741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  convey  the  story  of  the  shot.  We  better  make  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435F4-F92B-0299-385F-E144992E8A89}"/>
              </a:ext>
            </a:extLst>
          </p:cNvPr>
          <p:cNvSpPr txBox="1"/>
          <p:nvPr/>
        </p:nvSpPr>
        <p:spPr>
          <a:xfrm>
            <a:off x="2350762" y="3968340"/>
            <a:ext cx="69510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get those poses right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because we‘re going to build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32578B-86A2-47C9-C872-50094290D539}"/>
              </a:ext>
            </a:extLst>
          </p:cNvPr>
          <p:cNvSpPr txBox="1"/>
          <p:nvPr/>
        </p:nvSpPr>
        <p:spPr>
          <a:xfrm>
            <a:off x="2350762" y="4390615"/>
            <a:ext cx="43915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 those for the rest of the process.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B8067CDC-3731-0698-CBE4-E80928A5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592735-D405-4745-A3E7-676693551DB8}" type="slidenum">
              <a:rPr/>
              <a:t>144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A3B0EBC-618C-1326-C83A-748CF4CFE6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ADCA5-2473-200D-5C7A-303C74188F15}"/>
              </a:ext>
            </a:extLst>
          </p:cNvPr>
          <p:cNvSpPr txBox="1"/>
          <p:nvPr/>
        </p:nvSpPr>
        <p:spPr>
          <a:xfrm>
            <a:off x="2125091" y="1451020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CFF2D-4616-46E9-E5FE-6561AA60657F}"/>
              </a:ext>
            </a:extLst>
          </p:cNvPr>
          <p:cNvSpPr txBox="1"/>
          <p:nvPr/>
        </p:nvSpPr>
        <p:spPr>
          <a:xfrm>
            <a:off x="2721436" y="1398113"/>
            <a:ext cx="117891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Blocking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B4598-DC04-5428-6520-3299280A468F}"/>
              </a:ext>
            </a:extLst>
          </p:cNvPr>
          <p:cNvSpPr txBox="1"/>
          <p:nvPr/>
        </p:nvSpPr>
        <p:spPr>
          <a:xfrm>
            <a:off x="2511115" y="175376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2633C-3DCE-FBE9-58DA-CC405A1EBC3E}"/>
              </a:ext>
            </a:extLst>
          </p:cNvPr>
          <p:cNvSpPr txBox="1"/>
          <p:nvPr/>
        </p:nvSpPr>
        <p:spPr>
          <a:xfrm>
            <a:off x="2677019" y="1709022"/>
            <a:ext cx="70132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Once we‘re happy with our key poses, we start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breaking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81A79-92C9-576D-0301-7D0D7BD76037}"/>
              </a:ext>
            </a:extLst>
          </p:cNvPr>
          <p:cNvSpPr txBox="1"/>
          <p:nvPr/>
        </p:nvSpPr>
        <p:spPr>
          <a:xfrm>
            <a:off x="2677020" y="2104517"/>
            <a:ext cx="702897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down 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the  movement  from  each  pose  to  the  next  by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B1297-821F-491F-0031-9675C63E0F40}"/>
              </a:ext>
            </a:extLst>
          </p:cNvPr>
          <p:cNvSpPr txBox="1"/>
          <p:nvPr/>
        </p:nvSpPr>
        <p:spPr>
          <a:xfrm>
            <a:off x="2677020" y="2500339"/>
            <a:ext cx="70130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adding ‗in between‘ (also known as breakdown poses 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C2FA7-33CB-B2CF-314D-E7BF185458A3}"/>
              </a:ext>
            </a:extLst>
          </p:cNvPr>
          <p:cNvSpPr txBox="1"/>
          <p:nvPr/>
        </p:nvSpPr>
        <p:spPr>
          <a:xfrm>
            <a:off x="2677019" y="2895834"/>
            <a:ext cx="714881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passing poses). These are the poses that connect the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CF4E9-C4BE-07D1-C532-A4F985312D37}"/>
              </a:ext>
            </a:extLst>
          </p:cNvPr>
          <p:cNvSpPr txBox="1"/>
          <p:nvPr/>
        </p:nvSpPr>
        <p:spPr>
          <a:xfrm>
            <a:off x="2677020" y="3291329"/>
            <a:ext cx="8224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8978C-AA9C-6EE3-5A37-C505BB9A460C}"/>
              </a:ext>
            </a:extLst>
          </p:cNvPr>
          <p:cNvSpPr txBox="1"/>
          <p:nvPr/>
        </p:nvSpPr>
        <p:spPr>
          <a:xfrm>
            <a:off x="2511115" y="381060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E43133-B2F8-3C0A-DCFB-725AAEA4BF0C}"/>
              </a:ext>
            </a:extLst>
          </p:cNvPr>
          <p:cNvSpPr txBox="1"/>
          <p:nvPr/>
        </p:nvSpPr>
        <p:spPr>
          <a:xfrm>
            <a:off x="2677020" y="3765856"/>
            <a:ext cx="70861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We keep adding more poses until the movement looks 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10B56-5C9F-1726-940B-BE769B9FF874}"/>
              </a:ext>
            </a:extLst>
          </p:cNvPr>
          <p:cNvSpPr txBox="1"/>
          <p:nvPr/>
        </p:nvSpPr>
        <p:spPr>
          <a:xfrm>
            <a:off x="2677020" y="4161678"/>
            <a:ext cx="6209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good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52A3F-37EA-BDAC-37A1-7DAA64F6503B}"/>
              </a:ext>
            </a:extLst>
          </p:cNvPr>
          <p:cNvSpPr txBox="1"/>
          <p:nvPr/>
        </p:nvSpPr>
        <p:spPr>
          <a:xfrm>
            <a:off x="3563373" y="4161678"/>
            <a:ext cx="29482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1077F-3DFB-D7A1-0220-D93C4BEE383E}"/>
              </a:ext>
            </a:extLst>
          </p:cNvPr>
          <p:cNvSpPr txBox="1"/>
          <p:nvPr/>
        </p:nvSpPr>
        <p:spPr>
          <a:xfrm>
            <a:off x="4127386" y="4161678"/>
            <a:ext cx="13959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C38A5-0D10-4C92-8322-36998EEC4D70}"/>
              </a:ext>
            </a:extLst>
          </p:cNvPr>
          <p:cNvSpPr txBox="1"/>
          <p:nvPr/>
        </p:nvSpPr>
        <p:spPr>
          <a:xfrm>
            <a:off x="4536924" y="4161678"/>
            <a:ext cx="74488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could,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3B2C4-A98F-1AE5-DD9D-91590E6308F5}"/>
              </a:ext>
            </a:extLst>
          </p:cNvPr>
          <p:cNvSpPr txBox="1"/>
          <p:nvPr/>
        </p:nvSpPr>
        <p:spPr>
          <a:xfrm>
            <a:off x="5546400" y="4161678"/>
            <a:ext cx="6360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5AA4F8-8BED-0E20-F3CB-3E7DD2ECE02A}"/>
              </a:ext>
            </a:extLst>
          </p:cNvPr>
          <p:cNvSpPr txBox="1"/>
          <p:nvPr/>
        </p:nvSpPr>
        <p:spPr>
          <a:xfrm>
            <a:off x="6446470" y="4161678"/>
            <a:ext cx="40318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still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4A9860-6B21-4FE6-D940-4FA02F3473AF}"/>
              </a:ext>
            </a:extLst>
          </p:cNvPr>
          <p:cNvSpPr txBox="1"/>
          <p:nvPr/>
        </p:nvSpPr>
        <p:spPr>
          <a:xfrm>
            <a:off x="7117277" y="4161678"/>
            <a:ext cx="8844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staying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3A26E0-BDC4-CB27-5901-3F15758A4C98}"/>
              </a:ext>
            </a:extLst>
          </p:cNvPr>
          <p:cNvSpPr txBox="1"/>
          <p:nvPr/>
        </p:nvSpPr>
        <p:spPr>
          <a:xfrm>
            <a:off x="8264572" y="4161678"/>
            <a:ext cx="217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A6CDE-4CD4-0DD7-6477-DD2F566F641F}"/>
              </a:ext>
            </a:extLst>
          </p:cNvPr>
          <p:cNvSpPr txBox="1"/>
          <p:nvPr/>
        </p:nvSpPr>
        <p:spPr>
          <a:xfrm>
            <a:off x="8750204" y="4161678"/>
            <a:ext cx="10703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stepped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0B2E59-BE0B-9E53-86EB-719AF14F8E69}"/>
              </a:ext>
            </a:extLst>
          </p:cNvPr>
          <p:cNvSpPr txBox="1"/>
          <p:nvPr/>
        </p:nvSpPr>
        <p:spPr>
          <a:xfrm>
            <a:off x="2677020" y="4557174"/>
            <a:ext cx="74456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FA4F06-C17D-FAA0-C34D-054B3B16B40E}"/>
              </a:ext>
            </a:extLst>
          </p:cNvPr>
          <p:cNvSpPr txBox="1"/>
          <p:nvPr/>
        </p:nvSpPr>
        <p:spPr>
          <a:xfrm>
            <a:off x="3712623" y="4557174"/>
            <a:ext cx="108632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(stepped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C42374-78ED-C96A-8341-D10E3BC956C5}"/>
              </a:ext>
            </a:extLst>
          </p:cNvPr>
          <p:cNvSpPr txBox="1"/>
          <p:nvPr/>
        </p:nvSpPr>
        <p:spPr>
          <a:xfrm>
            <a:off x="5087221" y="4557174"/>
            <a:ext cx="69826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935A04-2962-2C93-EE2A-C792A848209D}"/>
              </a:ext>
            </a:extLst>
          </p:cNvPr>
          <p:cNvSpPr txBox="1"/>
          <p:nvPr/>
        </p:nvSpPr>
        <p:spPr>
          <a:xfrm>
            <a:off x="6077428" y="4557174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1D28E5-BC59-89EC-7038-5EB0082F5ACD}"/>
              </a:ext>
            </a:extLst>
          </p:cNvPr>
          <p:cNvSpPr txBox="1"/>
          <p:nvPr/>
        </p:nvSpPr>
        <p:spPr>
          <a:xfrm>
            <a:off x="6576451" y="4557174"/>
            <a:ext cx="6672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25955E-36E2-EFD7-038F-D741C48504AC}"/>
              </a:ext>
            </a:extLst>
          </p:cNvPr>
          <p:cNvSpPr txBox="1"/>
          <p:nvPr/>
        </p:nvSpPr>
        <p:spPr>
          <a:xfrm>
            <a:off x="7535959" y="4557174"/>
            <a:ext cx="4500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4299E4-5D90-EDAF-CF11-C99F8024BCCF}"/>
              </a:ext>
            </a:extLst>
          </p:cNvPr>
          <p:cNvSpPr txBox="1"/>
          <p:nvPr/>
        </p:nvSpPr>
        <p:spPr>
          <a:xfrm>
            <a:off x="8281227" y="4557174"/>
            <a:ext cx="605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don‘t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AAEDE-BAE5-6288-CC20-4DC383F2A233}"/>
              </a:ext>
            </a:extLst>
          </p:cNvPr>
          <p:cNvSpPr txBox="1"/>
          <p:nvPr/>
        </p:nvSpPr>
        <p:spPr>
          <a:xfrm>
            <a:off x="9179010" y="4557174"/>
            <a:ext cx="63607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038733-A35A-A9AA-B272-5EE3774F1A8F}"/>
              </a:ext>
            </a:extLst>
          </p:cNvPr>
          <p:cNvSpPr txBox="1"/>
          <p:nvPr/>
        </p:nvSpPr>
        <p:spPr>
          <a:xfrm>
            <a:off x="2677020" y="4952669"/>
            <a:ext cx="152080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interpolation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9E04A4-47F3-FCAC-9483-78A3FE504F6E}"/>
              </a:ext>
            </a:extLst>
          </p:cNvPr>
          <p:cNvSpPr txBox="1"/>
          <p:nvPr/>
        </p:nvSpPr>
        <p:spPr>
          <a:xfrm>
            <a:off x="4379183" y="4952669"/>
            <a:ext cx="10553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between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BF945-2364-76C0-BE67-6354CC76D67A}"/>
              </a:ext>
            </a:extLst>
          </p:cNvPr>
          <p:cNvSpPr txBox="1"/>
          <p:nvPr/>
        </p:nvSpPr>
        <p:spPr>
          <a:xfrm>
            <a:off x="5619556" y="4952669"/>
            <a:ext cx="8224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poses,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7C943D-84B2-A2AE-4AA7-5E55409BB7C9}"/>
              </a:ext>
            </a:extLst>
          </p:cNvPr>
          <p:cNvSpPr txBox="1"/>
          <p:nvPr/>
        </p:nvSpPr>
        <p:spPr>
          <a:xfrm>
            <a:off x="6626092" y="4952669"/>
            <a:ext cx="71365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which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6D2B1C-6EDA-C2BB-D57B-50263F1BF446}"/>
              </a:ext>
            </a:extLst>
          </p:cNvPr>
          <p:cNvSpPr txBox="1"/>
          <p:nvPr/>
        </p:nvSpPr>
        <p:spPr>
          <a:xfrm>
            <a:off x="7526488" y="4952669"/>
            <a:ext cx="82221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results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F58662-9806-C2F0-3643-DCE4DF28505D}"/>
              </a:ext>
            </a:extLst>
          </p:cNvPr>
          <p:cNvSpPr txBox="1"/>
          <p:nvPr/>
        </p:nvSpPr>
        <p:spPr>
          <a:xfrm>
            <a:off x="8534331" y="4952669"/>
            <a:ext cx="2172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8F3178-4D14-1779-F662-FA123A69DCE6}"/>
              </a:ext>
            </a:extLst>
          </p:cNvPr>
          <p:cNvSpPr txBox="1"/>
          <p:nvPr/>
        </p:nvSpPr>
        <p:spPr>
          <a:xfrm>
            <a:off x="8942563" y="4952669"/>
            <a:ext cx="1552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465B61-B58C-B7FD-1183-1EC3FB37F07F}"/>
              </a:ext>
            </a:extLst>
          </p:cNvPr>
          <p:cNvSpPr txBox="1"/>
          <p:nvPr/>
        </p:nvSpPr>
        <p:spPr>
          <a:xfrm>
            <a:off x="9289396" y="4952669"/>
            <a:ext cx="527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97AF16-602C-EAD1-B960-527DE28ECE21}"/>
              </a:ext>
            </a:extLst>
          </p:cNvPr>
          <p:cNvSpPr txBox="1"/>
          <p:nvPr/>
        </p:nvSpPr>
        <p:spPr>
          <a:xfrm>
            <a:off x="2677020" y="5348164"/>
            <a:ext cx="285494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choppy/blocky motion).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16DDFE-14FC-39A9-569A-4C42B529A910}"/>
              </a:ext>
            </a:extLst>
          </p:cNvPr>
          <p:cNvSpPr txBox="1"/>
          <p:nvPr/>
        </p:nvSpPr>
        <p:spPr>
          <a:xfrm>
            <a:off x="2677020" y="582269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DCD80-8F4C-8F78-329C-579F79B334F1}"/>
              </a:ext>
            </a:extLst>
          </p:cNvPr>
          <p:cNvSpPr txBox="1"/>
          <p:nvPr/>
        </p:nvSpPr>
        <p:spPr>
          <a:xfrm>
            <a:off x="2677020" y="6297874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4E9A045-90A6-8F99-8431-60E9730B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6D13D5-6600-4022-9A77-67FA958B50CB}" type="slidenum">
              <a:rPr/>
              <a:t>145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0CB560B0-DFF5-7A6F-D606-5911398F99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0173C-CB83-36F5-3916-22DC4331BAFD}"/>
              </a:ext>
            </a:extLst>
          </p:cNvPr>
          <p:cNvSpPr txBox="1"/>
          <p:nvPr/>
        </p:nvSpPr>
        <p:spPr>
          <a:xfrm>
            <a:off x="2125091" y="1491842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F7CD3-59C7-B272-9C17-0CBD322C7A97}"/>
              </a:ext>
            </a:extLst>
          </p:cNvPr>
          <p:cNvSpPr txBox="1"/>
          <p:nvPr/>
        </p:nvSpPr>
        <p:spPr>
          <a:xfrm>
            <a:off x="2721436" y="1438936"/>
            <a:ext cx="110119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Splining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8BF4E-658C-E728-9AFB-320D81C9FBB1}"/>
              </a:ext>
            </a:extLst>
          </p:cNvPr>
          <p:cNvSpPr txBox="1"/>
          <p:nvPr/>
        </p:nvSpPr>
        <p:spPr>
          <a:xfrm>
            <a:off x="2413466" y="1952002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45BDD-C82C-5A63-F779-15E177D7E9F3}"/>
              </a:ext>
            </a:extLst>
          </p:cNvPr>
          <p:cNvSpPr txBox="1"/>
          <p:nvPr/>
        </p:nvSpPr>
        <p:spPr>
          <a:xfrm>
            <a:off x="2579371" y="1904973"/>
            <a:ext cx="69821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Splining is a 3D animation term. It‘s the process in which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B62E8-BB2F-C0CF-055D-ACEF5D39F3FB}"/>
              </a:ext>
            </a:extLst>
          </p:cNvPr>
          <p:cNvSpPr txBox="1"/>
          <p:nvPr/>
        </p:nvSpPr>
        <p:spPr>
          <a:xfrm>
            <a:off x="2579372" y="2320390"/>
            <a:ext cx="695203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 convert the interpolation of the keys from stepped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DB282-8AD6-635E-36DF-1F99F5C40F21}"/>
              </a:ext>
            </a:extLst>
          </p:cNvPr>
          <p:cNvSpPr txBox="1"/>
          <p:nvPr/>
        </p:nvSpPr>
        <p:spPr>
          <a:xfrm>
            <a:off x="2579371" y="2736460"/>
            <a:ext cx="69361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spline. In other words – you make the computer 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C696F-C0C3-04D2-918E-F968AF391C07}"/>
              </a:ext>
            </a:extLst>
          </p:cNvPr>
          <p:cNvSpPr txBox="1"/>
          <p:nvPr/>
        </p:nvSpPr>
        <p:spPr>
          <a:xfrm>
            <a:off x="2579372" y="3151877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6A36B-3649-509D-AD52-CDB5173DC643}"/>
              </a:ext>
            </a:extLst>
          </p:cNvPr>
          <p:cNvSpPr txBox="1"/>
          <p:nvPr/>
        </p:nvSpPr>
        <p:spPr>
          <a:xfrm>
            <a:off x="3216865" y="3151877"/>
            <a:ext cx="130324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movement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AE1D1-1C8A-E1CA-7610-6A87A61FEFC0}"/>
              </a:ext>
            </a:extLst>
          </p:cNvPr>
          <p:cNvSpPr txBox="1"/>
          <p:nvPr/>
        </p:nvSpPr>
        <p:spPr>
          <a:xfrm>
            <a:off x="4761615" y="3151877"/>
            <a:ext cx="10553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between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D22749-EE6A-08DB-6BE2-F1B2036FB723}"/>
              </a:ext>
            </a:extLst>
          </p:cNvPr>
          <p:cNvSpPr txBox="1"/>
          <p:nvPr/>
        </p:nvSpPr>
        <p:spPr>
          <a:xfrm>
            <a:off x="6058486" y="3151877"/>
            <a:ext cx="6052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A13CD-1279-F5BC-E7D0-997859F915F0}"/>
              </a:ext>
            </a:extLst>
          </p:cNvPr>
          <p:cNvSpPr txBox="1"/>
          <p:nvPr/>
        </p:nvSpPr>
        <p:spPr>
          <a:xfrm>
            <a:off x="6911854" y="3151877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A0824-C5A4-95D2-F292-787AA1E5806C}"/>
              </a:ext>
            </a:extLst>
          </p:cNvPr>
          <p:cNvSpPr txBox="1"/>
          <p:nvPr/>
        </p:nvSpPr>
        <p:spPr>
          <a:xfrm>
            <a:off x="7394221" y="3151877"/>
            <a:ext cx="5430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6902E-54D1-BB4D-19F8-CE32222F4C9E}"/>
              </a:ext>
            </a:extLst>
          </p:cNvPr>
          <p:cNvSpPr txBox="1"/>
          <p:nvPr/>
        </p:nvSpPr>
        <p:spPr>
          <a:xfrm>
            <a:off x="8184885" y="3151877"/>
            <a:ext cx="82246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poses,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AC4B15-CE8E-7C4A-0BC8-1845CEE73903}"/>
              </a:ext>
            </a:extLst>
          </p:cNvPr>
          <p:cNvSpPr txBox="1"/>
          <p:nvPr/>
        </p:nvSpPr>
        <p:spPr>
          <a:xfrm>
            <a:off x="9249880" y="3151877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2CFBC6-4B63-6C55-E226-63060D641B2A}"/>
              </a:ext>
            </a:extLst>
          </p:cNvPr>
          <p:cNvSpPr txBox="1"/>
          <p:nvPr/>
        </p:nvSpPr>
        <p:spPr>
          <a:xfrm>
            <a:off x="2579371" y="3567293"/>
            <a:ext cx="527516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that makes the movement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look smoother.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A385-73B5-FBFD-A594-0FA9052C289B}"/>
              </a:ext>
            </a:extLst>
          </p:cNvPr>
          <p:cNvSpPr txBox="1"/>
          <p:nvPr/>
        </p:nvSpPr>
        <p:spPr>
          <a:xfrm>
            <a:off x="2413466" y="411301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85632-41CD-4978-D765-0396340822B9}"/>
              </a:ext>
            </a:extLst>
          </p:cNvPr>
          <p:cNvSpPr txBox="1"/>
          <p:nvPr/>
        </p:nvSpPr>
        <p:spPr>
          <a:xfrm>
            <a:off x="2579371" y="4065989"/>
            <a:ext cx="699845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problem is that the computer doesn‘t do a very good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40E4DB-BC74-1CDA-5D88-97933A5B22F9}"/>
              </a:ext>
            </a:extLst>
          </p:cNvPr>
          <p:cNvSpPr txBox="1"/>
          <p:nvPr/>
        </p:nvSpPr>
        <p:spPr>
          <a:xfrm>
            <a:off x="2579371" y="4481733"/>
            <a:ext cx="68841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job at interpolating. It only works with what it has. That‘s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F9462-E72B-1E0C-CF8E-7F3E7572AC2A}"/>
              </a:ext>
            </a:extLst>
          </p:cNvPr>
          <p:cNvSpPr txBox="1"/>
          <p:nvPr/>
        </p:nvSpPr>
        <p:spPr>
          <a:xfrm>
            <a:off x="2579371" y="4897149"/>
            <a:ext cx="729353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why  the  better  the  blocking  is  –  the  better  the  splined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719BF-6838-98DC-BDD9-37D8891C1763}"/>
              </a:ext>
            </a:extLst>
          </p:cNvPr>
          <p:cNvSpPr txBox="1"/>
          <p:nvPr/>
        </p:nvSpPr>
        <p:spPr>
          <a:xfrm>
            <a:off x="2579372" y="5312892"/>
            <a:ext cx="29172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version is going to look.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BD9639-1B02-475B-4CD4-A95ECE706727}"/>
              </a:ext>
            </a:extLst>
          </p:cNvPr>
          <p:cNvSpPr txBox="1"/>
          <p:nvPr/>
        </p:nvSpPr>
        <p:spPr>
          <a:xfrm>
            <a:off x="2579372" y="5811262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5DEBC9-75A1-65F3-9EBF-34297C0180EA}"/>
              </a:ext>
            </a:extLst>
          </p:cNvPr>
          <p:cNvSpPr txBox="1"/>
          <p:nvPr/>
        </p:nvSpPr>
        <p:spPr>
          <a:xfrm>
            <a:off x="2579372" y="631028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F077786-DC34-66D7-8325-68E75F77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97B44D-F5C9-474E-B235-7C0A484947F4}" type="slidenum">
              <a:rPr/>
              <a:t>146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5BA8502-CBD7-6F0A-9EA8-AEE90080BE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D39CA-01EE-F2C0-4672-9E3C7E832667}"/>
              </a:ext>
            </a:extLst>
          </p:cNvPr>
          <p:cNvSpPr txBox="1"/>
          <p:nvPr/>
        </p:nvSpPr>
        <p:spPr>
          <a:xfrm>
            <a:off x="2125091" y="1467023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7B63A-A611-4D53-35E9-252A8BA93E1A}"/>
              </a:ext>
            </a:extLst>
          </p:cNvPr>
          <p:cNvSpPr txBox="1"/>
          <p:nvPr/>
        </p:nvSpPr>
        <p:spPr>
          <a:xfrm>
            <a:off x="2721437" y="1413789"/>
            <a:ext cx="14577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Smoothing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18D68-619D-BE47-8959-4655D7796DFD}"/>
              </a:ext>
            </a:extLst>
          </p:cNvPr>
          <p:cNvSpPr txBox="1"/>
          <p:nvPr/>
        </p:nvSpPr>
        <p:spPr>
          <a:xfrm>
            <a:off x="2315489" y="188799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B7AFE-22E0-68CB-CDE3-4DCFFABE3C3F}"/>
              </a:ext>
            </a:extLst>
          </p:cNvPr>
          <p:cNvSpPr txBox="1"/>
          <p:nvPr/>
        </p:nvSpPr>
        <p:spPr>
          <a:xfrm>
            <a:off x="2481396" y="1839329"/>
            <a:ext cx="685860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Now that all of our keys are on spline mode, we have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1F23E-75CA-0752-FF64-F33F5B7DF623}"/>
              </a:ext>
            </a:extLst>
          </p:cNvPr>
          <p:cNvSpPr txBox="1"/>
          <p:nvPr/>
        </p:nvSpPr>
        <p:spPr>
          <a:xfrm>
            <a:off x="2481395" y="2269443"/>
            <a:ext cx="75053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work  on  them.  We  need  to  clean  up  all  the  curves  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22233-6240-E652-286B-C069ABA60023}"/>
              </a:ext>
            </a:extLst>
          </p:cNvPr>
          <p:cNvSpPr txBox="1"/>
          <p:nvPr/>
        </p:nvSpPr>
        <p:spPr>
          <a:xfrm>
            <a:off x="2481396" y="2699882"/>
            <a:ext cx="49495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make sure the movement looks smooth.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01B07-D4D2-902E-E86B-7F7B5C186181}"/>
              </a:ext>
            </a:extLst>
          </p:cNvPr>
          <p:cNvSpPr txBox="1"/>
          <p:nvPr/>
        </p:nvSpPr>
        <p:spPr>
          <a:xfrm>
            <a:off x="2315489" y="3264549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B767C-E9B7-7210-BF85-4082D3B4FE36}"/>
              </a:ext>
            </a:extLst>
          </p:cNvPr>
          <p:cNvSpPr txBox="1"/>
          <p:nvPr/>
        </p:nvSpPr>
        <p:spPr>
          <a:xfrm>
            <a:off x="2481396" y="3215887"/>
            <a:ext cx="76499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It‘s  also  a  good  idea  to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offset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 some  of  the  actions  so 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479ED-BC89-6DCD-9D3E-3C403BF141ED}"/>
              </a:ext>
            </a:extLst>
          </p:cNvPr>
          <p:cNvSpPr txBox="1"/>
          <p:nvPr/>
        </p:nvSpPr>
        <p:spPr>
          <a:xfrm>
            <a:off x="2481395" y="3646000"/>
            <a:ext cx="701313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doesn‘t  look  so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‘stop  and  start’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,  as  if  the  character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7F901-1F92-7912-1647-557F26537102}"/>
              </a:ext>
            </a:extLst>
          </p:cNvPr>
          <p:cNvSpPr txBox="1"/>
          <p:nvPr/>
        </p:nvSpPr>
        <p:spPr>
          <a:xfrm>
            <a:off x="2481396" y="4076114"/>
            <a:ext cx="75418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  doing  all  the  motion  at  once.  By  the  end  of  this  step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825DA-8DCD-0648-B2C8-957F5C34B1A0}"/>
              </a:ext>
            </a:extLst>
          </p:cNvPr>
          <p:cNvSpPr txBox="1"/>
          <p:nvPr/>
        </p:nvSpPr>
        <p:spPr>
          <a:xfrm>
            <a:off x="2481396" y="4506553"/>
            <a:ext cx="66258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your shot should look pretty solid and almost finished.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2EF6CD-D312-C661-4739-F8E6D7DE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9EED21-6DB4-4094-ADD3-2BADC5B25AF0}" type="slidenum">
              <a:rPr/>
              <a:t>147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ADE75FB-2E6C-8929-EEDC-851F733E44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392" y="273352"/>
            <a:ext cx="8229627" cy="1145009"/>
          </a:xfrm>
        </p:spPr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Basic Steps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E5C87-1FCF-5E78-95B5-51B76EA61A3E}"/>
              </a:ext>
            </a:extLst>
          </p:cNvPr>
          <p:cNvSpPr txBox="1"/>
          <p:nvPr/>
        </p:nvSpPr>
        <p:spPr>
          <a:xfrm>
            <a:off x="2125091" y="1376558"/>
            <a:ext cx="198003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 b="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6.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66AB7-BED5-B43D-BFD2-515765E32841}"/>
              </a:ext>
            </a:extLst>
          </p:cNvPr>
          <p:cNvSpPr txBox="1"/>
          <p:nvPr/>
        </p:nvSpPr>
        <p:spPr>
          <a:xfrm>
            <a:off x="2721436" y="1323651"/>
            <a:ext cx="144238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Adding 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7EF5-51D2-2A23-21A0-B4A57D0ABF33}"/>
              </a:ext>
            </a:extLst>
          </p:cNvPr>
          <p:cNvSpPr txBox="1"/>
          <p:nvPr/>
        </p:nvSpPr>
        <p:spPr>
          <a:xfrm>
            <a:off x="2348149" y="182267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E1E09-76C1-E559-510F-9B557F86EF00}"/>
              </a:ext>
            </a:extLst>
          </p:cNvPr>
          <p:cNvSpPr txBox="1"/>
          <p:nvPr/>
        </p:nvSpPr>
        <p:spPr>
          <a:xfrm>
            <a:off x="2514054" y="1774013"/>
            <a:ext cx="67912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This step is the a lot of fun. We‘ve already finished with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099BA-5781-E63E-4F3F-5E38ECDAC294}"/>
              </a:ext>
            </a:extLst>
          </p:cNvPr>
          <p:cNvSpPr txBox="1"/>
          <p:nvPr/>
        </p:nvSpPr>
        <p:spPr>
          <a:xfrm>
            <a:off x="2514054" y="2203472"/>
            <a:ext cx="75726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grunt  work  of  animating  and  it‘s  time  to  add  the  fun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E0362-0154-DA1C-83EC-26A269D071F4}"/>
              </a:ext>
            </a:extLst>
          </p:cNvPr>
          <p:cNvSpPr txBox="1"/>
          <p:nvPr/>
        </p:nvSpPr>
        <p:spPr>
          <a:xfrm>
            <a:off x="2514055" y="2632932"/>
            <a:ext cx="694651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stuff. In this step we add </a:t>
            </a:r>
            <a:r>
              <a:rPr lang="en-US" sz="2177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small imperfections</a:t>
            </a:r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that bring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6360C6-9E6D-01C7-4FC4-54ED0602EC6C}"/>
              </a:ext>
            </a:extLst>
          </p:cNvPr>
          <p:cNvSpPr txBox="1"/>
          <p:nvPr/>
        </p:nvSpPr>
        <p:spPr>
          <a:xfrm>
            <a:off x="2514054" y="3062392"/>
            <a:ext cx="727757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life  to  the  character.  Maybe  an  extra  blink  or  a  mouth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DC96F-4AAB-D835-4A21-6E4FF0567640}"/>
              </a:ext>
            </a:extLst>
          </p:cNvPr>
          <p:cNvSpPr txBox="1"/>
          <p:nvPr/>
        </p:nvSpPr>
        <p:spPr>
          <a:xfrm>
            <a:off x="2514054" y="3491852"/>
            <a:ext cx="687996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twitch here and there. The difference between the last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580DB-B6F5-2CCE-D55A-1EA545FA518A}"/>
              </a:ext>
            </a:extLst>
          </p:cNvPr>
          <p:cNvSpPr txBox="1"/>
          <p:nvPr/>
        </p:nvSpPr>
        <p:spPr>
          <a:xfrm>
            <a:off x="2514055" y="3920985"/>
            <a:ext cx="41737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steps is small but very noticeable.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583DFFE-DE1B-D042-7B20-70C5E79D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EEE146-1BAD-42B2-A01E-25A1ACF2A566}" type="slidenum">
              <a:rPr/>
              <a:t>148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122F48B9-1BFC-A9CD-4934-27A177F200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Transmission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5D82E-215F-2079-289E-BF4F8EFD6DDB}"/>
              </a:ext>
            </a:extLst>
          </p:cNvPr>
          <p:cNvSpPr txBox="1"/>
          <p:nvPr/>
        </p:nvSpPr>
        <p:spPr>
          <a:xfrm>
            <a:off x="2021563" y="1250170"/>
            <a:ext cx="96950" cy="3183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6153E-78E9-8147-7024-80B56018A7BE}"/>
              </a:ext>
            </a:extLst>
          </p:cNvPr>
          <p:cNvSpPr txBox="1"/>
          <p:nvPr/>
        </p:nvSpPr>
        <p:spPr>
          <a:xfrm>
            <a:off x="2187469" y="1181260"/>
            <a:ext cx="4090479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Symbolic Representation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337F5-3A72-E241-0FCA-88A855D41D75}"/>
              </a:ext>
            </a:extLst>
          </p:cNvPr>
          <p:cNvSpPr txBox="1"/>
          <p:nvPr/>
        </p:nvSpPr>
        <p:spPr>
          <a:xfrm>
            <a:off x="2217188" y="1613006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A37E1-F9F0-76BA-2A3B-EB4A17EF488D}"/>
              </a:ext>
            </a:extLst>
          </p:cNvPr>
          <p:cNvSpPr txBox="1"/>
          <p:nvPr/>
        </p:nvSpPr>
        <p:spPr>
          <a:xfrm>
            <a:off x="3109092" y="1613006"/>
            <a:ext cx="644407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symbolic  representation  (e.g.  circle)  of  animation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8932F-88B9-DF19-73D6-EA36AF8DFE2A}"/>
              </a:ext>
            </a:extLst>
          </p:cNvPr>
          <p:cNvSpPr txBox="1"/>
          <p:nvPr/>
        </p:nvSpPr>
        <p:spPr>
          <a:xfrm>
            <a:off x="2217188" y="1884725"/>
            <a:ext cx="721280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objects  (e.g.  ball)  is  transmitted  together  with  the  operation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BC5AF-93B6-FA36-87F1-856467BB24CA}"/>
              </a:ext>
            </a:extLst>
          </p:cNvPr>
          <p:cNvSpPr txBox="1"/>
          <p:nvPr/>
        </p:nvSpPr>
        <p:spPr>
          <a:xfrm>
            <a:off x="2217188" y="2156444"/>
            <a:ext cx="728423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commands (e.g. roll the ball) performed on the object, and at the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27751-73CE-E6D9-8DD0-87806C8DF2F7}"/>
              </a:ext>
            </a:extLst>
          </p:cNvPr>
          <p:cNvSpPr txBox="1"/>
          <p:nvPr/>
        </p:nvSpPr>
        <p:spPr>
          <a:xfrm>
            <a:off x="2217188" y="2428490"/>
            <a:ext cx="46806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receiver side the animation is displayed.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DC55D-9BC9-A0CD-D0EE-EB9E4B38855D}"/>
              </a:ext>
            </a:extLst>
          </p:cNvPr>
          <p:cNvSpPr txBox="1"/>
          <p:nvPr/>
        </p:nvSpPr>
        <p:spPr>
          <a:xfrm>
            <a:off x="2217188" y="2767812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E922D-ABA8-F32B-7BE1-4F4D27432ABE}"/>
              </a:ext>
            </a:extLst>
          </p:cNvPr>
          <p:cNvSpPr txBox="1"/>
          <p:nvPr/>
        </p:nvSpPr>
        <p:spPr>
          <a:xfrm>
            <a:off x="3109093" y="2767812"/>
            <a:ext cx="642964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transmission  time  is  short  because  the  symbolic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02BC5-C0A9-F880-80AD-72429BA3A967}"/>
              </a:ext>
            </a:extLst>
          </p:cNvPr>
          <p:cNvSpPr txBox="1"/>
          <p:nvPr/>
        </p:nvSpPr>
        <p:spPr>
          <a:xfrm>
            <a:off x="2217188" y="3039858"/>
            <a:ext cx="722749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representation of an animated object is smaller in byte size than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BDDE7-BC2A-42EC-8E67-BA661F6DC676}"/>
              </a:ext>
            </a:extLst>
          </p:cNvPr>
          <p:cNvSpPr txBox="1"/>
          <p:nvPr/>
        </p:nvSpPr>
        <p:spPr>
          <a:xfrm>
            <a:off x="2217188" y="3311576"/>
            <a:ext cx="719850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its  pixmap  representation.  However,  the  display  time  at  the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3565E-18A2-0CA9-8406-BB2C7845D0CD}"/>
              </a:ext>
            </a:extLst>
          </p:cNvPr>
          <p:cNvSpPr txBox="1"/>
          <p:nvPr/>
        </p:nvSpPr>
        <p:spPr>
          <a:xfrm>
            <a:off x="2217188" y="3583296"/>
            <a:ext cx="734156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receiver takes longer because the scan-converting operation has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A966B-E140-C6E5-F9D4-D6288EC3E120}"/>
              </a:ext>
            </a:extLst>
          </p:cNvPr>
          <p:cNvSpPr txBox="1"/>
          <p:nvPr/>
        </p:nvSpPr>
        <p:spPr>
          <a:xfrm>
            <a:off x="2217188" y="3855015"/>
            <a:ext cx="425372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to be performed at the receiver side.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2B42B-892B-64D0-9F13-15C6B7730E80}"/>
              </a:ext>
            </a:extLst>
          </p:cNvPr>
          <p:cNvSpPr txBox="1"/>
          <p:nvPr/>
        </p:nvSpPr>
        <p:spPr>
          <a:xfrm>
            <a:off x="2217188" y="4194664"/>
            <a:ext cx="7111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330A4-08E3-B417-C5BF-52B0141366FB}"/>
              </a:ext>
            </a:extLst>
          </p:cNvPr>
          <p:cNvSpPr txBox="1"/>
          <p:nvPr/>
        </p:nvSpPr>
        <p:spPr>
          <a:xfrm>
            <a:off x="3109093" y="4194664"/>
            <a:ext cx="6429709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transmission rate (bits/sec or bytes/sec) of animated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13436-F53B-B58A-2012-0CDFC718639A}"/>
              </a:ext>
            </a:extLst>
          </p:cNvPr>
          <p:cNvSpPr txBox="1"/>
          <p:nvPr/>
        </p:nvSpPr>
        <p:spPr>
          <a:xfrm>
            <a:off x="2217188" y="4466383"/>
            <a:ext cx="243329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objects depends on: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92DDE1-351B-33BA-2672-EC2003A461B9}"/>
              </a:ext>
            </a:extLst>
          </p:cNvPr>
          <p:cNvSpPr txBox="1"/>
          <p:nvPr/>
        </p:nvSpPr>
        <p:spPr>
          <a:xfrm>
            <a:off x="2217188" y="4833466"/>
            <a:ext cx="156261" cy="22070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129B20-250D-5965-19A8-503D8214AC7E}"/>
              </a:ext>
            </a:extLst>
          </p:cNvPr>
          <p:cNvSpPr txBox="1"/>
          <p:nvPr/>
        </p:nvSpPr>
        <p:spPr>
          <a:xfrm>
            <a:off x="2489234" y="4803746"/>
            <a:ext cx="40286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CCC75-847E-487E-AC66-A27BAC902BEA}"/>
              </a:ext>
            </a:extLst>
          </p:cNvPr>
          <p:cNvSpPr txBox="1"/>
          <p:nvPr/>
        </p:nvSpPr>
        <p:spPr>
          <a:xfrm>
            <a:off x="3112032" y="4803746"/>
            <a:ext cx="41575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size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F09399-D3CD-395E-6455-A08DAFC3E1B5}"/>
              </a:ext>
            </a:extLst>
          </p:cNvPr>
          <p:cNvSpPr txBox="1"/>
          <p:nvPr/>
        </p:nvSpPr>
        <p:spPr>
          <a:xfrm>
            <a:off x="3749527" y="4803746"/>
            <a:ext cx="19499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67DAE9-25B8-EBA4-22F7-A6EF4940B33D}"/>
              </a:ext>
            </a:extLst>
          </p:cNvPr>
          <p:cNvSpPr txBox="1"/>
          <p:nvPr/>
        </p:nvSpPr>
        <p:spPr>
          <a:xfrm>
            <a:off x="4147635" y="4803746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F29A6-5EC5-50E5-3E30-2818F4E16DB9}"/>
              </a:ext>
            </a:extLst>
          </p:cNvPr>
          <p:cNvSpPr txBox="1"/>
          <p:nvPr/>
        </p:nvSpPr>
        <p:spPr>
          <a:xfrm>
            <a:off x="4687154" y="4803746"/>
            <a:ext cx="909352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symbolic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059BA-4A85-3EC8-AE48-57A5B28CFFA2}"/>
              </a:ext>
            </a:extLst>
          </p:cNvPr>
          <p:cNvSpPr txBox="1"/>
          <p:nvPr/>
        </p:nvSpPr>
        <p:spPr>
          <a:xfrm>
            <a:off x="5846532" y="4803746"/>
            <a:ext cx="149470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A2C149-8517-F305-4F2E-3579581E6A2D}"/>
              </a:ext>
            </a:extLst>
          </p:cNvPr>
          <p:cNvSpPr txBox="1"/>
          <p:nvPr/>
        </p:nvSpPr>
        <p:spPr>
          <a:xfrm>
            <a:off x="7623810" y="4803746"/>
            <a:ext cx="97443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structure,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24F69E-BEC5-917A-2B6E-425EDF4A8F88}"/>
              </a:ext>
            </a:extLst>
          </p:cNvPr>
          <p:cNvSpPr txBox="1"/>
          <p:nvPr/>
        </p:nvSpPr>
        <p:spPr>
          <a:xfrm>
            <a:off x="8850466" y="4803746"/>
            <a:ext cx="636777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778991-894A-8EE8-9AA6-D26333EC6C77}"/>
              </a:ext>
            </a:extLst>
          </p:cNvPr>
          <p:cNvSpPr txBox="1"/>
          <p:nvPr/>
        </p:nvSpPr>
        <p:spPr>
          <a:xfrm>
            <a:off x="9719510" y="4803746"/>
            <a:ext cx="32502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B40BCC-BCCE-67BE-C9D4-7DA5C2CC40AE}"/>
              </a:ext>
            </a:extLst>
          </p:cNvPr>
          <p:cNvSpPr txBox="1"/>
          <p:nvPr/>
        </p:nvSpPr>
        <p:spPr>
          <a:xfrm>
            <a:off x="2489234" y="5050645"/>
            <a:ext cx="3041345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animated object is encoded,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CBF220-EE22-6142-C425-A26E155AE8D2}"/>
              </a:ext>
            </a:extLst>
          </p:cNvPr>
          <p:cNvSpPr txBox="1"/>
          <p:nvPr/>
        </p:nvSpPr>
        <p:spPr>
          <a:xfrm>
            <a:off x="2217188" y="5389314"/>
            <a:ext cx="156261" cy="22070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A269E5-95EC-976D-7731-A7A0C3FBB1E0}"/>
              </a:ext>
            </a:extLst>
          </p:cNvPr>
          <p:cNvSpPr txBox="1"/>
          <p:nvPr/>
        </p:nvSpPr>
        <p:spPr>
          <a:xfrm>
            <a:off x="2489234" y="5359268"/>
            <a:ext cx="705674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size of the structure, where the operation command is encoded,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17E2EE-D18C-FA02-A94A-D92B57D42C91}"/>
              </a:ext>
            </a:extLst>
          </p:cNvPr>
          <p:cNvSpPr txBox="1"/>
          <p:nvPr/>
        </p:nvSpPr>
        <p:spPr>
          <a:xfrm>
            <a:off x="2489234" y="5606820"/>
            <a:ext cx="520014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0B08CA-1F19-57E3-D13D-7228CD75693B}"/>
              </a:ext>
            </a:extLst>
          </p:cNvPr>
          <p:cNvSpPr txBox="1"/>
          <p:nvPr/>
        </p:nvSpPr>
        <p:spPr>
          <a:xfrm>
            <a:off x="2217188" y="5945488"/>
            <a:ext cx="156261" cy="22070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551">
                <a:solidFill>
                  <a:srgbClr val="D16349"/>
                </a:solidFill>
                <a:latin typeface="Wingdings" pitchFamily="18"/>
                <a:ea typeface="Noto Sans CJK SC Regular" pitchFamily="2"/>
                <a:cs typeface="Wingdings" pitchFamily="2"/>
              </a:rPr>
              <a:t>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BA2822-2411-74CB-C507-DCADF9FDC632}"/>
              </a:ext>
            </a:extLst>
          </p:cNvPr>
          <p:cNvSpPr txBox="1"/>
          <p:nvPr/>
        </p:nvSpPr>
        <p:spPr>
          <a:xfrm>
            <a:off x="2489234" y="5915443"/>
            <a:ext cx="6966010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number of animated objects and operation commands sent per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0DB399-C017-EF68-CE5C-F23B99C84C99}"/>
              </a:ext>
            </a:extLst>
          </p:cNvPr>
          <p:cNvSpPr txBox="1"/>
          <p:nvPr/>
        </p:nvSpPr>
        <p:spPr>
          <a:xfrm>
            <a:off x="2489234" y="6162342"/>
            <a:ext cx="948786" cy="26885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23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second.  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44C4F96-C4A7-BA11-E509-ADEEFB99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007081-F402-4537-A98A-47B04D2F4D63}" type="slidenum">
              <a:rPr/>
              <a:t>149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2676C5B4-87C1-8357-A3A1-5E174AD9D7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Transmission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FA570-F24D-0D51-CC3C-B2B5553DA055}"/>
              </a:ext>
            </a:extLst>
          </p:cNvPr>
          <p:cNvSpPr txBox="1"/>
          <p:nvPr/>
        </p:nvSpPr>
        <p:spPr>
          <a:xfrm>
            <a:off x="2021563" y="1295239"/>
            <a:ext cx="96950" cy="31835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59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F28A6-5FD8-43CC-951C-55AAE54BF307}"/>
              </a:ext>
            </a:extLst>
          </p:cNvPr>
          <p:cNvSpPr txBox="1"/>
          <p:nvPr/>
        </p:nvSpPr>
        <p:spPr>
          <a:xfrm>
            <a:off x="2187469" y="1226329"/>
            <a:ext cx="3801041" cy="37459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540" b="1" i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Pixmap Representation </a:t>
            </a:r>
            <a:r>
              <a:rPr lang="en-US" sz="2540" b="1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D9D6E-E978-184B-7063-6B7B13CF0485}"/>
              </a:ext>
            </a:extLst>
          </p:cNvPr>
          <p:cNvSpPr txBox="1"/>
          <p:nvPr/>
        </p:nvSpPr>
        <p:spPr>
          <a:xfrm>
            <a:off x="2217188" y="1577735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F6C07-C1BD-29BC-2D56-34CCFE8A4787}"/>
              </a:ext>
            </a:extLst>
          </p:cNvPr>
          <p:cNvSpPr txBox="1"/>
          <p:nvPr/>
        </p:nvSpPr>
        <p:spPr>
          <a:xfrm>
            <a:off x="3086232" y="1577735"/>
            <a:ext cx="67501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 pixmap  representation  of  the  animated  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71D04-6D40-3624-CD99-B7B46A758177}"/>
              </a:ext>
            </a:extLst>
          </p:cNvPr>
          <p:cNvSpPr txBox="1"/>
          <p:nvPr/>
        </p:nvSpPr>
        <p:spPr>
          <a:xfrm>
            <a:off x="2217188" y="1916404"/>
            <a:ext cx="620676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 transmitted and displayed on the receiver side.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5D135-F09B-E7F1-E7B0-010D1A7ECBF3}"/>
              </a:ext>
            </a:extLst>
          </p:cNvPr>
          <p:cNvSpPr txBox="1"/>
          <p:nvPr/>
        </p:nvSpPr>
        <p:spPr>
          <a:xfrm>
            <a:off x="2217188" y="2330188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0F927-CB09-DE3A-6B2D-AA6F94B20C1E}"/>
              </a:ext>
            </a:extLst>
          </p:cNvPr>
          <p:cNvSpPr txBox="1"/>
          <p:nvPr/>
        </p:nvSpPr>
        <p:spPr>
          <a:xfrm>
            <a:off x="3086232" y="2330188"/>
            <a:ext cx="645445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 transmission time is longer in comparison to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256B2-B226-0F07-8F33-F50CA2D2BCE2}"/>
              </a:ext>
            </a:extLst>
          </p:cNvPr>
          <p:cNvSpPr txBox="1"/>
          <p:nvPr/>
        </p:nvSpPr>
        <p:spPr>
          <a:xfrm>
            <a:off x="2217188" y="2669183"/>
            <a:ext cx="72313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previous because of the size of the pixmap representation.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79C79-E11B-D6A7-0001-718198B86F09}"/>
              </a:ext>
            </a:extLst>
          </p:cNvPr>
          <p:cNvSpPr txBox="1"/>
          <p:nvPr/>
        </p:nvSpPr>
        <p:spPr>
          <a:xfrm>
            <a:off x="2217188" y="3007526"/>
            <a:ext cx="738580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However,  the  display  time  is  shorter  because  the  scan-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54BB7-1C55-BF0D-96F1-062006E1A6E8}"/>
              </a:ext>
            </a:extLst>
          </p:cNvPr>
          <p:cNvSpPr txBox="1"/>
          <p:nvPr/>
        </p:nvSpPr>
        <p:spPr>
          <a:xfrm>
            <a:off x="2217188" y="3346194"/>
            <a:ext cx="13499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conversion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734B2-7171-DFCE-7400-9F7A6822AC7E}"/>
              </a:ext>
            </a:extLst>
          </p:cNvPr>
          <p:cNvSpPr txBox="1"/>
          <p:nvPr/>
        </p:nvSpPr>
        <p:spPr>
          <a:xfrm>
            <a:off x="3823009" y="3346194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A93FA-69FA-5DDD-CC79-63EE8F67FFF9}"/>
              </a:ext>
            </a:extLst>
          </p:cNvPr>
          <p:cNvSpPr txBox="1"/>
          <p:nvPr/>
        </p:nvSpPr>
        <p:spPr>
          <a:xfrm>
            <a:off x="4266186" y="3346194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58849-0CC1-4B93-7EA1-DE5AD42693F4}"/>
              </a:ext>
            </a:extLst>
          </p:cNvPr>
          <p:cNvSpPr txBox="1"/>
          <p:nvPr/>
        </p:nvSpPr>
        <p:spPr>
          <a:xfrm>
            <a:off x="4871675" y="3346194"/>
            <a:ext cx="114832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FA2E8-3B63-701A-566D-48C3441C9A18}"/>
              </a:ext>
            </a:extLst>
          </p:cNvPr>
          <p:cNvSpPr txBox="1"/>
          <p:nvPr/>
        </p:nvSpPr>
        <p:spPr>
          <a:xfrm>
            <a:off x="6264562" y="3346194"/>
            <a:ext cx="8844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objects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0F0C39-106C-6792-AC49-6061A2D68ED9}"/>
              </a:ext>
            </a:extLst>
          </p:cNvPr>
          <p:cNvSpPr txBox="1"/>
          <p:nvPr/>
        </p:nvSpPr>
        <p:spPr>
          <a:xfrm>
            <a:off x="7386710" y="3346194"/>
            <a:ext cx="20159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17FA4C-2A1A-221B-ED3E-1F2DCA0B418D}"/>
              </a:ext>
            </a:extLst>
          </p:cNvPr>
          <p:cNvSpPr txBox="1"/>
          <p:nvPr/>
        </p:nvSpPr>
        <p:spPr>
          <a:xfrm>
            <a:off x="7798207" y="3346194"/>
            <a:ext cx="97776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avoided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73F65-7D78-B841-E640-8C86D9FE461B}"/>
              </a:ext>
            </a:extLst>
          </p:cNvPr>
          <p:cNvSpPr txBox="1"/>
          <p:nvPr/>
        </p:nvSpPr>
        <p:spPr>
          <a:xfrm>
            <a:off x="9016370" y="3346194"/>
            <a:ext cx="23282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C7C1C6-BE8E-39A4-279C-BF1DEC62F3CC}"/>
              </a:ext>
            </a:extLst>
          </p:cNvPr>
          <p:cNvSpPr txBox="1"/>
          <p:nvPr/>
        </p:nvSpPr>
        <p:spPr>
          <a:xfrm>
            <a:off x="9460854" y="3346194"/>
            <a:ext cx="3880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3C36A4-2F39-1115-C0C1-BF9EB1067272}"/>
              </a:ext>
            </a:extLst>
          </p:cNvPr>
          <p:cNvSpPr txBox="1"/>
          <p:nvPr/>
        </p:nvSpPr>
        <p:spPr>
          <a:xfrm>
            <a:off x="2217188" y="3684538"/>
            <a:ext cx="18152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receiver side.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372E0-CDA2-6124-53C7-17B1298A0F64}"/>
              </a:ext>
            </a:extLst>
          </p:cNvPr>
          <p:cNvSpPr txBox="1"/>
          <p:nvPr/>
        </p:nvSpPr>
        <p:spPr>
          <a:xfrm>
            <a:off x="2217188" y="4098321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685B64-E6BF-26CB-8986-757BA945F10D}"/>
              </a:ext>
            </a:extLst>
          </p:cNvPr>
          <p:cNvSpPr txBox="1"/>
          <p:nvPr/>
        </p:nvSpPr>
        <p:spPr>
          <a:xfrm>
            <a:off x="3086232" y="4098321"/>
            <a:ext cx="682744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 is  performed  at  the  sender  side  where  animation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48BCCC-4D5F-96DA-AB1E-D45560ECEEC2}"/>
              </a:ext>
            </a:extLst>
          </p:cNvPr>
          <p:cNvSpPr txBox="1"/>
          <p:nvPr/>
        </p:nvSpPr>
        <p:spPr>
          <a:xfrm>
            <a:off x="2217188" y="4436990"/>
            <a:ext cx="8844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objects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F8C9DB-15EB-1920-617D-93418405C5F7}"/>
              </a:ext>
            </a:extLst>
          </p:cNvPr>
          <p:cNvSpPr txBox="1"/>
          <p:nvPr/>
        </p:nvSpPr>
        <p:spPr>
          <a:xfrm>
            <a:off x="3354032" y="4436990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5B296F-B152-7598-9B6C-A0699CFAA435}"/>
              </a:ext>
            </a:extLst>
          </p:cNvPr>
          <p:cNvSpPr txBox="1"/>
          <p:nvPr/>
        </p:nvSpPr>
        <p:spPr>
          <a:xfrm>
            <a:off x="4056191" y="4436990"/>
            <a:ext cx="116397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operation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E89DA6-0D5D-4840-0432-6727C8745820}"/>
              </a:ext>
            </a:extLst>
          </p:cNvPr>
          <p:cNvSpPr txBox="1"/>
          <p:nvPr/>
        </p:nvSpPr>
        <p:spPr>
          <a:xfrm>
            <a:off x="5484023" y="4436990"/>
            <a:ext cx="136524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commands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88BCF6-9B54-F5D3-6A66-28826D3245B5}"/>
              </a:ext>
            </a:extLst>
          </p:cNvPr>
          <p:cNvSpPr txBox="1"/>
          <p:nvPr/>
        </p:nvSpPr>
        <p:spPr>
          <a:xfrm>
            <a:off x="7118909" y="4436990"/>
            <a:ext cx="40344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C21CE2-96B2-3887-E81A-7598BEE01D30}"/>
              </a:ext>
            </a:extLst>
          </p:cNvPr>
          <p:cNvSpPr txBox="1"/>
          <p:nvPr/>
        </p:nvSpPr>
        <p:spPr>
          <a:xfrm>
            <a:off x="7757710" y="4436990"/>
            <a:ext cx="133478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generated.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4E495-E0A8-A8EB-4110-AAC2331C2552}"/>
              </a:ext>
            </a:extLst>
          </p:cNvPr>
          <p:cNvSpPr txBox="1"/>
          <p:nvPr/>
        </p:nvSpPr>
        <p:spPr>
          <a:xfrm>
            <a:off x="9362225" y="4436990"/>
            <a:ext cx="48102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FF093A-338E-964D-23D8-1A5582FE7811}"/>
              </a:ext>
            </a:extLst>
          </p:cNvPr>
          <p:cNvSpPr txBox="1"/>
          <p:nvPr/>
        </p:nvSpPr>
        <p:spPr>
          <a:xfrm>
            <a:off x="2217189" y="4775333"/>
            <a:ext cx="735521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transmission rate of the animation is equal to the size of the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E1409-645A-3F01-FC89-75C24275352C}"/>
              </a:ext>
            </a:extLst>
          </p:cNvPr>
          <p:cNvSpPr txBox="1"/>
          <p:nvPr/>
        </p:nvSpPr>
        <p:spPr>
          <a:xfrm>
            <a:off x="2217188" y="5114329"/>
            <a:ext cx="727769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pixmap  representation  of  an  animated  object  (graphical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335734-2DAE-2E70-0594-3987BA6F63BF}"/>
              </a:ext>
            </a:extLst>
          </p:cNvPr>
          <p:cNvSpPr txBox="1"/>
          <p:nvPr/>
        </p:nvSpPr>
        <p:spPr>
          <a:xfrm>
            <a:off x="2217188" y="5452998"/>
            <a:ext cx="757194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image)  multiplied  by  the  number  of  graphical  images  per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FC4E97-4B00-D77A-7F25-546F37E40107}"/>
              </a:ext>
            </a:extLst>
          </p:cNvPr>
          <p:cNvSpPr txBox="1"/>
          <p:nvPr/>
        </p:nvSpPr>
        <p:spPr>
          <a:xfrm>
            <a:off x="2217188" y="5791340"/>
            <a:ext cx="113287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second.  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6FD1C55-FE6D-8351-1BE6-6F112A17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0B9B75-3779-4969-AEE2-31C2FC7136CF}" type="slidenum">
              <a:rPr/>
              <a:t>150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DB5EC823-9DFB-CD9C-1019-575EB08A65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Applications of Animation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FF56B-F3B6-6348-3979-7017F71BA41B}"/>
              </a:ext>
            </a:extLst>
          </p:cNvPr>
          <p:cNvSpPr txBox="1"/>
          <p:nvPr/>
        </p:nvSpPr>
        <p:spPr>
          <a:xfrm>
            <a:off x="2609090" y="1558466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27515-9498-6FCC-87EC-DC6E10CD2E2B}"/>
              </a:ext>
            </a:extLst>
          </p:cNvPr>
          <p:cNvSpPr txBox="1"/>
          <p:nvPr/>
        </p:nvSpPr>
        <p:spPr>
          <a:xfrm>
            <a:off x="2788059" y="1513071"/>
            <a:ext cx="498021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Animated Movies: Million dollar industry;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A2528-0411-137C-78DE-92E1EBB4B77E}"/>
              </a:ext>
            </a:extLst>
          </p:cNvPr>
          <p:cNvSpPr txBox="1"/>
          <p:nvPr/>
        </p:nvSpPr>
        <p:spPr>
          <a:xfrm>
            <a:off x="2609090" y="203887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55107-1B9E-5106-3A14-BA8424FFAE1D}"/>
              </a:ext>
            </a:extLst>
          </p:cNvPr>
          <p:cNvSpPr txBox="1"/>
          <p:nvPr/>
        </p:nvSpPr>
        <p:spPr>
          <a:xfrm>
            <a:off x="2788058" y="1993151"/>
            <a:ext cx="422051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1-20 millions spent on each movie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B82E8-6018-6966-44F0-B224D408698B}"/>
              </a:ext>
            </a:extLst>
          </p:cNvPr>
          <p:cNvSpPr txBox="1"/>
          <p:nvPr/>
        </p:nvSpPr>
        <p:spPr>
          <a:xfrm>
            <a:off x="2609090" y="251895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5194A-48E6-4B60-DB49-8C8A3724B5E1}"/>
              </a:ext>
            </a:extLst>
          </p:cNvPr>
          <p:cNvSpPr txBox="1"/>
          <p:nvPr/>
        </p:nvSpPr>
        <p:spPr>
          <a:xfrm>
            <a:off x="2788059" y="2473559"/>
            <a:ext cx="651216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Animation and computer graphics effects are used 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976FE-7086-4C3F-EAF4-3F938CBAE87E}"/>
              </a:ext>
            </a:extLst>
          </p:cNvPr>
          <p:cNvSpPr txBox="1"/>
          <p:nvPr/>
        </p:nvSpPr>
        <p:spPr>
          <a:xfrm>
            <a:off x="2788059" y="2873952"/>
            <a:ext cx="21877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movies frequently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43A6B-6B62-70DA-C3E2-47659DDC1E88}"/>
              </a:ext>
            </a:extLst>
          </p:cNvPr>
          <p:cNvSpPr txBox="1"/>
          <p:nvPr/>
        </p:nvSpPr>
        <p:spPr>
          <a:xfrm>
            <a:off x="2609090" y="3399755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98AF4-400A-E2BB-C9F5-CB0A9B5A0D28}"/>
              </a:ext>
            </a:extLst>
          </p:cNvPr>
          <p:cNvSpPr txBox="1"/>
          <p:nvPr/>
        </p:nvSpPr>
        <p:spPr>
          <a:xfrm>
            <a:off x="2788059" y="3354359"/>
            <a:ext cx="16242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Video games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2FAE3A-CC9A-BA1A-A5B6-C5E5A72BB76B}"/>
              </a:ext>
            </a:extLst>
          </p:cNvPr>
          <p:cNvSpPr txBox="1"/>
          <p:nvPr/>
        </p:nvSpPr>
        <p:spPr>
          <a:xfrm>
            <a:off x="2609090" y="3879836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AEFAA8-9CA1-A743-ECA1-837DC44337A5}"/>
              </a:ext>
            </a:extLst>
          </p:cNvPr>
          <p:cNvSpPr txBox="1"/>
          <p:nvPr/>
        </p:nvSpPr>
        <p:spPr>
          <a:xfrm>
            <a:off x="2788059" y="3834439"/>
            <a:ext cx="423032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TV programs(e.g. Weather, News)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C5FFE1-59A7-BD68-DEAB-04FBC554E1D7}"/>
              </a:ext>
            </a:extLst>
          </p:cNvPr>
          <p:cNvSpPr txBox="1"/>
          <p:nvPr/>
        </p:nvSpPr>
        <p:spPr>
          <a:xfrm>
            <a:off x="2609090" y="4360243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F3B47-7E85-C415-D5EB-11A1BC81A636}"/>
              </a:ext>
            </a:extLst>
          </p:cNvPr>
          <p:cNvSpPr txBox="1"/>
          <p:nvPr/>
        </p:nvSpPr>
        <p:spPr>
          <a:xfrm>
            <a:off x="2788059" y="4314848"/>
            <a:ext cx="43756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Used online (images, ads, chatting)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13742-7D30-C384-A55F-485CF80DD977}"/>
              </a:ext>
            </a:extLst>
          </p:cNvPr>
          <p:cNvSpPr txBox="1"/>
          <p:nvPr/>
        </p:nvSpPr>
        <p:spPr>
          <a:xfrm>
            <a:off x="2609090" y="484032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38416-811D-267C-82CD-D932F69A5027}"/>
              </a:ext>
            </a:extLst>
          </p:cNvPr>
          <p:cNvSpPr txBox="1"/>
          <p:nvPr/>
        </p:nvSpPr>
        <p:spPr>
          <a:xfrm>
            <a:off x="2788059" y="4794928"/>
            <a:ext cx="476361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Simulations (science and Engineering)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934DB-49F2-2647-9F3D-78E890F39C1E}"/>
              </a:ext>
            </a:extLst>
          </p:cNvPr>
          <p:cNvSpPr txBox="1"/>
          <p:nvPr/>
        </p:nvSpPr>
        <p:spPr>
          <a:xfrm>
            <a:off x="2609090" y="532040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0F0763-CD4B-9817-57F1-9F649AA5DA99}"/>
              </a:ext>
            </a:extLst>
          </p:cNvPr>
          <p:cNvSpPr txBox="1"/>
          <p:nvPr/>
        </p:nvSpPr>
        <p:spPr>
          <a:xfrm>
            <a:off x="2788058" y="5275009"/>
            <a:ext cx="385830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Virtual Reality (e.g. second life)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3FA53CB-3F38-98FB-20E7-4E13909A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DA5F33-194F-4AD9-9358-32ED85859223}" type="slidenum">
              <a:rPr/>
              <a:t>151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0199414-E371-F7B7-E770-6707DC4A90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29" b="1">
                <a:solidFill>
                  <a:srgbClr val="800000"/>
                </a:solidFill>
              </a:rPr>
              <a:t>Morphing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E19C7-CA47-6C14-E246-8DEED3535EDD}"/>
              </a:ext>
            </a:extLst>
          </p:cNvPr>
          <p:cNvSpPr txBox="1"/>
          <p:nvPr/>
        </p:nvSpPr>
        <p:spPr>
          <a:xfrm>
            <a:off x="2353700" y="1512743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996E2-780D-DF13-EDEB-BDAC19B598A7}"/>
              </a:ext>
            </a:extLst>
          </p:cNvPr>
          <p:cNvSpPr txBox="1"/>
          <p:nvPr/>
        </p:nvSpPr>
        <p:spPr>
          <a:xfrm>
            <a:off x="3079701" y="1512743"/>
            <a:ext cx="60663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It is derived from the word metamorphosis, which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54C09-6EC3-EC8A-3788-365CCAD47AE7}"/>
              </a:ext>
            </a:extLst>
          </p:cNvPr>
          <p:cNvSpPr txBox="1"/>
          <p:nvPr/>
        </p:nvSpPr>
        <p:spPr>
          <a:xfrm>
            <a:off x="2353700" y="1926201"/>
            <a:ext cx="716965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means the transformation shape, appearance of one 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DA795-7830-A00E-5D4C-F24F8A4D7A08}"/>
              </a:ext>
            </a:extLst>
          </p:cNvPr>
          <p:cNvSpPr txBox="1"/>
          <p:nvPr/>
        </p:nvSpPr>
        <p:spPr>
          <a:xfrm>
            <a:off x="2353700" y="2339984"/>
            <a:ext cx="724179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into another. The transformation of object shapes from 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3D1EA-EB5D-016A-5A89-C4B051D501D4}"/>
              </a:ext>
            </a:extLst>
          </p:cNvPr>
          <p:cNvSpPr txBox="1"/>
          <p:nvPr/>
        </p:nvSpPr>
        <p:spPr>
          <a:xfrm>
            <a:off x="2353700" y="2753441"/>
            <a:ext cx="4298036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form to another is called morphing.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D7768-177D-1B25-0C61-9AA322D9953A}"/>
              </a:ext>
            </a:extLst>
          </p:cNvPr>
          <p:cNvSpPr txBox="1"/>
          <p:nvPr/>
        </p:nvSpPr>
        <p:spPr>
          <a:xfrm>
            <a:off x="2353700" y="3249526"/>
            <a:ext cx="7758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F4A4D-DB8F-C08D-47C3-A7B016D9101E}"/>
              </a:ext>
            </a:extLst>
          </p:cNvPr>
          <p:cNvSpPr txBox="1"/>
          <p:nvPr/>
        </p:nvSpPr>
        <p:spPr>
          <a:xfrm>
            <a:off x="2353700" y="3745282"/>
            <a:ext cx="311925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Also it can be defined as: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4F3DD-A20C-F234-59AE-315B0579730B}"/>
              </a:ext>
            </a:extLst>
          </p:cNvPr>
          <p:cNvSpPr txBox="1"/>
          <p:nvPr/>
        </p:nvSpPr>
        <p:spPr>
          <a:xfrm>
            <a:off x="2249846" y="428872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00D0C-347F-D62C-E642-A9421F893D06}"/>
              </a:ext>
            </a:extLst>
          </p:cNvPr>
          <p:cNvSpPr txBox="1"/>
          <p:nvPr/>
        </p:nvSpPr>
        <p:spPr>
          <a:xfrm>
            <a:off x="2415751" y="4242019"/>
            <a:ext cx="461389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Transition from one object to another.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C35F7-A4CC-B078-F241-0430421563AC}"/>
              </a:ext>
            </a:extLst>
          </p:cNvPr>
          <p:cNvSpPr txBox="1"/>
          <p:nvPr/>
        </p:nvSpPr>
        <p:spPr>
          <a:xfrm>
            <a:off x="2249846" y="4784804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98AC1C-71B1-9439-7834-E360E6D82F70}"/>
              </a:ext>
            </a:extLst>
          </p:cNvPr>
          <p:cNvSpPr txBox="1"/>
          <p:nvPr/>
        </p:nvSpPr>
        <p:spPr>
          <a:xfrm>
            <a:off x="2415752" y="4738429"/>
            <a:ext cx="594316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Process of transforming one image into another.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D4A25-DC3B-659F-C732-43EBD021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5F0533-6FA7-4776-94F6-745384F82053}" type="slidenum">
              <a:rPr/>
              <a:t>152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AA2B2A83-895C-C413-3A4C-FD960C9548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Morphing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A91458-3310-3C09-8897-3316652FD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783" y="1207387"/>
            <a:ext cx="6566654" cy="4929154"/>
          </a:xfrm>
          <a:prstGeom prst="rect">
            <a:avLst/>
          </a:prstGeom>
          <a:noFill/>
          <a:ln>
            <a:noFill/>
          </a:ln>
          <a:effectLst>
            <a:outerShdw dist="101823" dir="2700000" algn="tl">
              <a:srgbClr val="808080"/>
            </a:outerShdw>
          </a:effectLst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578EDDF-569A-5FCA-6C37-C19129A8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CC39BB-7320-446F-9F65-8CA2FCC1B2F2}" type="slidenum">
              <a:rPr/>
              <a:t>153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4452ABD2-7047-56CD-976B-A2E00F489B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b="1"/>
              <a:t>Assignment IV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B8DD4-59B0-F814-EB79-E9DE95D57F86}"/>
              </a:ext>
            </a:extLst>
          </p:cNvPr>
          <p:cNvSpPr txBox="1"/>
          <p:nvPr/>
        </p:nvSpPr>
        <p:spPr>
          <a:xfrm>
            <a:off x="2021563" y="1515358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BA45-40D9-3DA9-D34A-11381B459CFD}"/>
              </a:ext>
            </a:extLst>
          </p:cNvPr>
          <p:cNvSpPr txBox="1"/>
          <p:nvPr/>
        </p:nvSpPr>
        <p:spPr>
          <a:xfrm>
            <a:off x="2465393" y="1480086"/>
            <a:ext cx="725583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What  do  you  mean  by  computer  based  animation?  List  the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FA832-7005-474A-69AC-B83919BB55E5}"/>
              </a:ext>
            </a:extLst>
          </p:cNvPr>
          <p:cNvSpPr txBox="1"/>
          <p:nvPr/>
        </p:nvSpPr>
        <p:spPr>
          <a:xfrm>
            <a:off x="2465393" y="1767481"/>
            <a:ext cx="453425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different types of animation languages.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70218-955C-8384-EFE2-3FAF568D0F64}"/>
              </a:ext>
            </a:extLst>
          </p:cNvPr>
          <p:cNvSpPr txBox="1"/>
          <p:nvPr/>
        </p:nvSpPr>
        <p:spPr>
          <a:xfrm>
            <a:off x="2021563" y="2154485"/>
            <a:ext cx="182486" cy="25160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70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FA4CB-EFEB-6979-F7B1-E3B7025E3690}"/>
              </a:ext>
            </a:extLst>
          </p:cNvPr>
          <p:cNvSpPr txBox="1"/>
          <p:nvPr/>
        </p:nvSpPr>
        <p:spPr>
          <a:xfrm>
            <a:off x="2021563" y="2806676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B08BF-CFE1-DCEA-EC58-73E4843D0F90}"/>
              </a:ext>
            </a:extLst>
          </p:cNvPr>
          <p:cNvSpPr txBox="1"/>
          <p:nvPr/>
        </p:nvSpPr>
        <p:spPr>
          <a:xfrm>
            <a:off x="2387013" y="2144360"/>
            <a:ext cx="839525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Explain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AA1DF-1470-2B73-2B85-D77C420917C3}"/>
              </a:ext>
            </a:extLst>
          </p:cNvPr>
          <p:cNvSpPr txBox="1"/>
          <p:nvPr/>
        </p:nvSpPr>
        <p:spPr>
          <a:xfrm>
            <a:off x="3674412" y="2144360"/>
            <a:ext cx="149348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Tele-services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4DD0A-B702-2E7D-2ACA-0D111032FBF9}"/>
              </a:ext>
            </a:extLst>
          </p:cNvPr>
          <p:cNvSpPr txBox="1"/>
          <p:nvPr/>
        </p:nvSpPr>
        <p:spPr>
          <a:xfrm>
            <a:off x="5658746" y="2144360"/>
            <a:ext cx="427040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5C947-5469-4D62-D539-FFD0A78E2AA9}"/>
              </a:ext>
            </a:extLst>
          </p:cNvPr>
          <p:cNvSpPr txBox="1"/>
          <p:nvPr/>
        </p:nvSpPr>
        <p:spPr>
          <a:xfrm>
            <a:off x="6509501" y="2144360"/>
            <a:ext cx="35580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the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517231-93B4-7E9D-C0F4-7EA510B82F3D}"/>
              </a:ext>
            </a:extLst>
          </p:cNvPr>
          <p:cNvSpPr txBox="1"/>
          <p:nvPr/>
        </p:nvSpPr>
        <p:spPr>
          <a:xfrm>
            <a:off x="7286121" y="2144360"/>
            <a:ext cx="173566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implementation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E76D5-7573-D330-3BBD-D5B0FA2304C4}"/>
              </a:ext>
            </a:extLst>
          </p:cNvPr>
          <p:cNvSpPr txBox="1"/>
          <p:nvPr/>
        </p:nvSpPr>
        <p:spPr>
          <a:xfrm>
            <a:off x="9527804" y="2144360"/>
            <a:ext cx="21345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88785-52AF-1109-363A-451ABF226B67}"/>
              </a:ext>
            </a:extLst>
          </p:cNvPr>
          <p:cNvSpPr txBox="1"/>
          <p:nvPr/>
        </p:nvSpPr>
        <p:spPr>
          <a:xfrm>
            <a:off x="2387013" y="2431756"/>
            <a:ext cx="6102633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Conversation services in Multimedia communication.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1A02D-CB03-289E-1882-C2904DEA756D}"/>
              </a:ext>
            </a:extLst>
          </p:cNvPr>
          <p:cNvSpPr txBox="1"/>
          <p:nvPr/>
        </p:nvSpPr>
        <p:spPr>
          <a:xfrm>
            <a:off x="2021563" y="3192701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4.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F62BA-D7DF-A22F-7249-394B2227009B}"/>
              </a:ext>
            </a:extLst>
          </p:cNvPr>
          <p:cNvSpPr txBox="1"/>
          <p:nvPr/>
        </p:nvSpPr>
        <p:spPr>
          <a:xfrm>
            <a:off x="2387012" y="2783488"/>
            <a:ext cx="6402522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Explain the methods that are used to control animation.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C5AE2F-A419-C079-40B3-90DEF9ABB909}"/>
              </a:ext>
            </a:extLst>
          </p:cNvPr>
          <p:cNvSpPr txBox="1"/>
          <p:nvPr/>
        </p:nvSpPr>
        <p:spPr>
          <a:xfrm>
            <a:off x="2021563" y="3544106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5.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14E98F-E07A-D04A-7CB6-08E3DAF61935}"/>
              </a:ext>
            </a:extLst>
          </p:cNvPr>
          <p:cNvSpPr txBox="1"/>
          <p:nvPr/>
        </p:nvSpPr>
        <p:spPr>
          <a:xfrm>
            <a:off x="2387013" y="3134567"/>
            <a:ext cx="5457841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Discuss the YUV model for video transmission.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82A141-95D5-17A2-4F01-2C42A33AC32C}"/>
              </a:ext>
            </a:extLst>
          </p:cNvPr>
          <p:cNvSpPr txBox="1"/>
          <p:nvPr/>
        </p:nvSpPr>
        <p:spPr>
          <a:xfrm>
            <a:off x="2021563" y="4711976"/>
            <a:ext cx="181332" cy="250133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696">
                <a:solidFill>
                  <a:srgbClr val="D16349"/>
                </a:solidFill>
                <a:latin typeface="Arial" pitchFamily="18"/>
                <a:ea typeface="Noto Sans CJK SC Regular" pitchFamily="2"/>
                <a:cs typeface="Arial" pitchFamily="2"/>
              </a:rPr>
              <a:t>6.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6F3C30-8AE2-7688-7F9D-B2B7E7F5B675}"/>
              </a:ext>
            </a:extLst>
          </p:cNvPr>
          <p:cNvSpPr txBox="1"/>
          <p:nvPr/>
        </p:nvSpPr>
        <p:spPr>
          <a:xfrm>
            <a:off x="2387012" y="3486300"/>
            <a:ext cx="709854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How  long  will  it  take  to  transmit  a  `  minute  long  video  of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9155A-27A5-A3DA-D6A7-781D69D36010}"/>
              </a:ext>
            </a:extLst>
          </p:cNvPr>
          <p:cNvSpPr txBox="1"/>
          <p:nvPr/>
        </p:nvSpPr>
        <p:spPr>
          <a:xfrm>
            <a:off x="2387012" y="3773696"/>
            <a:ext cx="6615594" cy="31245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spatial resolution 640×480, 32 bits per pixel and 12 frames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35DFF-8657-BA60-448A-FB713B2AAE2B}"/>
              </a:ext>
            </a:extLst>
          </p:cNvPr>
          <p:cNvSpPr txBox="1"/>
          <p:nvPr/>
        </p:nvSpPr>
        <p:spPr>
          <a:xfrm>
            <a:off x="2387013" y="4061417"/>
            <a:ext cx="6715428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per second through a communication link at a constant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76E5E-5B3B-AD59-DC10-E5E06FE9EC1D}"/>
              </a:ext>
            </a:extLst>
          </p:cNvPr>
          <p:cNvSpPr txBox="1"/>
          <p:nvPr/>
        </p:nvSpPr>
        <p:spPr>
          <a:xfrm>
            <a:off x="2387012" y="4348812"/>
            <a:ext cx="1906484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of 56 K bits PS.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6F3739-589F-2E76-FD5F-0BF56E4D4FCE}"/>
              </a:ext>
            </a:extLst>
          </p:cNvPr>
          <p:cNvSpPr txBox="1"/>
          <p:nvPr/>
        </p:nvSpPr>
        <p:spPr>
          <a:xfrm>
            <a:off x="2387012" y="4700218"/>
            <a:ext cx="3983526" cy="29437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996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Describe the television standards.  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1286662-F1CE-7D0F-AB3D-4AC84F89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8FB3CEF-6845-4445-BD30-665A0319BD41}" type="slidenum">
              <a:rPr/>
              <a:t>154</a:t>
            </a:fld>
            <a:endParaRPr lang="en-US"/>
          </a:p>
        </p:txBody>
      </p:sp>
      <p:sp>
        <p:nvSpPr>
          <p:cNvPr id="2" name=" 1">
            <a:extLst>
              <a:ext uri="{FF2B5EF4-FFF2-40B4-BE49-F238E27FC236}">
                <a16:creationId xmlns:a16="http://schemas.microsoft.com/office/drawing/2014/main" id="{84AD7705-97E5-DD49-5B0D-4F911D8752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b="1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3FA54-3112-D82F-8207-168A267ED4AC}"/>
              </a:ext>
            </a:extLst>
          </p:cNvPr>
          <p:cNvSpPr txBox="1"/>
          <p:nvPr/>
        </p:nvSpPr>
        <p:spPr>
          <a:xfrm>
            <a:off x="2021563" y="1565978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ED4E0-18C3-4203-6115-7D7A342135F7}"/>
              </a:ext>
            </a:extLst>
          </p:cNvPr>
          <p:cNvSpPr txBox="1"/>
          <p:nvPr/>
        </p:nvSpPr>
        <p:spPr>
          <a:xfrm>
            <a:off x="2203472" y="1513071"/>
            <a:ext cx="1427250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Multimedia: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22147-5F46-DF6C-0061-B28D6966BDC8}"/>
              </a:ext>
            </a:extLst>
          </p:cNvPr>
          <p:cNvSpPr txBox="1"/>
          <p:nvPr/>
        </p:nvSpPr>
        <p:spPr>
          <a:xfrm>
            <a:off x="4408904" y="1513071"/>
            <a:ext cx="142750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Computing,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AD2D4-D521-4065-B637-792422B7E863}"/>
              </a:ext>
            </a:extLst>
          </p:cNvPr>
          <p:cNvSpPr txBox="1"/>
          <p:nvPr/>
        </p:nvSpPr>
        <p:spPr>
          <a:xfrm>
            <a:off x="6609763" y="1513071"/>
            <a:ext cx="2078902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Communications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64760-71A7-4C69-FE6F-3DAF17175F73}"/>
              </a:ext>
            </a:extLst>
          </p:cNvPr>
          <p:cNvSpPr txBox="1"/>
          <p:nvPr/>
        </p:nvSpPr>
        <p:spPr>
          <a:xfrm>
            <a:off x="9521599" y="1513071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7E4AF-AE2D-704E-C7C7-A57F6ED41AD1}"/>
              </a:ext>
            </a:extLst>
          </p:cNvPr>
          <p:cNvSpPr txBox="1"/>
          <p:nvPr/>
        </p:nvSpPr>
        <p:spPr>
          <a:xfrm>
            <a:off x="2203472" y="1980088"/>
            <a:ext cx="167571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Applications”,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27EF5-4AEE-0CB5-DF88-2EE6A54835B2}"/>
              </a:ext>
            </a:extLst>
          </p:cNvPr>
          <p:cNvSpPr txBox="1"/>
          <p:nvPr/>
        </p:nvSpPr>
        <p:spPr>
          <a:xfrm>
            <a:off x="4326604" y="1980088"/>
            <a:ext cx="49641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Ralf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210688-0BFB-77EB-583E-766012DE0019}"/>
              </a:ext>
            </a:extLst>
          </p:cNvPr>
          <p:cNvSpPr txBox="1"/>
          <p:nvPr/>
        </p:nvSpPr>
        <p:spPr>
          <a:xfrm>
            <a:off x="5165602" y="1980088"/>
            <a:ext cx="1241237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Steinmetz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880023-1CF4-5476-2C0B-C10227058104}"/>
              </a:ext>
            </a:extLst>
          </p:cNvPr>
          <p:cNvSpPr txBox="1"/>
          <p:nvPr/>
        </p:nvSpPr>
        <p:spPr>
          <a:xfrm>
            <a:off x="6816165" y="1980088"/>
            <a:ext cx="465705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59BAD-66C6-345B-42A6-7ECCE8E01369}"/>
              </a:ext>
            </a:extLst>
          </p:cNvPr>
          <p:cNvSpPr txBox="1"/>
          <p:nvPr/>
        </p:nvSpPr>
        <p:spPr>
          <a:xfrm>
            <a:off x="7621198" y="1980088"/>
            <a:ext cx="6516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Klara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562B0-E5A2-6CBF-19B1-8266F9083621}"/>
              </a:ext>
            </a:extLst>
          </p:cNvPr>
          <p:cNvSpPr txBox="1"/>
          <p:nvPr/>
        </p:nvSpPr>
        <p:spPr>
          <a:xfrm>
            <a:off x="8629694" y="1980088"/>
            <a:ext cx="1287853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Nahrstedt,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96D351-E208-83C1-C555-E0B28FD95C19}"/>
              </a:ext>
            </a:extLst>
          </p:cNvPr>
          <p:cNvSpPr txBox="1"/>
          <p:nvPr/>
        </p:nvSpPr>
        <p:spPr>
          <a:xfrm>
            <a:off x="2203472" y="2447432"/>
            <a:ext cx="29640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Pearson Education Asia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4929E1-67F4-CEDB-195F-4ACDAABC67DE}"/>
              </a:ext>
            </a:extLst>
          </p:cNvPr>
          <p:cNvSpPr txBox="1"/>
          <p:nvPr/>
        </p:nvSpPr>
        <p:spPr>
          <a:xfrm>
            <a:off x="2021563" y="3060760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1D05B-FCB8-ADAB-E69C-A3601380548C}"/>
              </a:ext>
            </a:extLst>
          </p:cNvPr>
          <p:cNvSpPr txBox="1"/>
          <p:nvPr/>
        </p:nvSpPr>
        <p:spPr>
          <a:xfrm>
            <a:off x="2203472" y="3007852"/>
            <a:ext cx="1442639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“Multimedia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BD8CA0-2D33-07EC-F0BF-815AAAAC966B}"/>
              </a:ext>
            </a:extLst>
          </p:cNvPr>
          <p:cNvSpPr txBox="1"/>
          <p:nvPr/>
        </p:nvSpPr>
        <p:spPr>
          <a:xfrm>
            <a:off x="4053905" y="3007852"/>
            <a:ext cx="21564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Communications,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C2576-B364-59CC-B16E-0F0FFD8AF4FA}"/>
              </a:ext>
            </a:extLst>
          </p:cNvPr>
          <p:cNvSpPr txBox="1"/>
          <p:nvPr/>
        </p:nvSpPr>
        <p:spPr>
          <a:xfrm>
            <a:off x="6679651" y="3007852"/>
            <a:ext cx="158274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Applications,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21329-8044-65A9-D576-434DFB156208}"/>
              </a:ext>
            </a:extLst>
          </p:cNvPr>
          <p:cNvSpPr txBox="1"/>
          <p:nvPr/>
        </p:nvSpPr>
        <p:spPr>
          <a:xfrm>
            <a:off x="8680315" y="3007852"/>
            <a:ext cx="124098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Networks,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27D40-D6D7-8ED6-62BB-578605EE3F2D}"/>
              </a:ext>
            </a:extLst>
          </p:cNvPr>
          <p:cNvSpPr txBox="1"/>
          <p:nvPr/>
        </p:nvSpPr>
        <p:spPr>
          <a:xfrm>
            <a:off x="2203472" y="3474869"/>
            <a:ext cx="7122271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protocols ad Standards”, Fred Halsall, Pearson Education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232975-1E00-BF0F-F077-8887C5D59EDE}"/>
              </a:ext>
            </a:extLst>
          </p:cNvPr>
          <p:cNvSpPr txBox="1"/>
          <p:nvPr/>
        </p:nvSpPr>
        <p:spPr>
          <a:xfrm>
            <a:off x="2203471" y="3941887"/>
            <a:ext cx="543034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Asia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156025-4C8B-9D7F-0A93-70A4FE35E9F9}"/>
              </a:ext>
            </a:extLst>
          </p:cNvPr>
          <p:cNvSpPr txBox="1"/>
          <p:nvPr/>
        </p:nvSpPr>
        <p:spPr>
          <a:xfrm>
            <a:off x="2021563" y="4555541"/>
            <a:ext cx="83100" cy="27296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1851">
                <a:solidFill>
                  <a:srgbClr val="0F6FC6"/>
                </a:solidFill>
                <a:latin typeface="Arial" pitchFamily="18"/>
                <a:ea typeface="Noto Sans CJK SC Regular" pitchFamily="2"/>
                <a:cs typeface="Arial" pitchFamily="2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453AD3-9AC7-16CE-99F7-8F7F3989542D}"/>
              </a:ext>
            </a:extLst>
          </p:cNvPr>
          <p:cNvSpPr txBox="1"/>
          <p:nvPr/>
        </p:nvSpPr>
        <p:spPr>
          <a:xfrm>
            <a:off x="2203471" y="4502634"/>
            <a:ext cx="724595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“Multimedia  Systems”,  John  F.  Koegel  Buford,  Pearson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3FCF1-FD22-7540-81F3-A753E9FE7CCE}"/>
              </a:ext>
            </a:extLst>
          </p:cNvPr>
          <p:cNvSpPr txBox="1"/>
          <p:nvPr/>
        </p:nvSpPr>
        <p:spPr>
          <a:xfrm>
            <a:off x="2203471" y="4969651"/>
            <a:ext cx="1846788" cy="3210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0">
            <a:spAutoFit/>
          </a:bodyPr>
          <a:lstStyle/>
          <a:p>
            <a:pPr hangingPunct="0"/>
            <a:r>
              <a:rPr lang="en-US" sz="2177">
                <a:solidFill>
                  <a:srgbClr val="000000"/>
                </a:solidFill>
                <a:latin typeface="Arial" pitchFamily="18"/>
                <a:ea typeface="Noto Sans CJK SC Regular" pitchFamily="2"/>
                <a:cs typeface="Arial" pitchFamily="2"/>
              </a:rPr>
              <a:t>Education Asia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11182</Words>
  <Application>Microsoft Office PowerPoint</Application>
  <PresentationFormat>Widescreen</PresentationFormat>
  <Paragraphs>3156</Paragraphs>
  <Slides>154</Slides>
  <Notes>151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62" baseType="lpstr">
      <vt:lpstr>Arial</vt:lpstr>
      <vt:lpstr>Calibri</vt:lpstr>
      <vt:lpstr>Calibri Light</vt:lpstr>
      <vt:lpstr>Liberation Sans</vt:lpstr>
      <vt:lpstr>Liberation Serif</vt:lpstr>
      <vt:lpstr>StarSymbol</vt:lpstr>
      <vt:lpstr>Wingdings</vt:lpstr>
      <vt:lpstr>Office Theme</vt:lpstr>
      <vt:lpstr>Niranjan Khakurel {niranjan@ncit.edu.np}</vt:lpstr>
      <vt:lpstr>PowerPoint Presentation</vt:lpstr>
      <vt:lpstr>1. Multimedia</vt:lpstr>
      <vt:lpstr>1.1 Introduction</vt:lpstr>
      <vt:lpstr>1.1 Introduction</vt:lpstr>
      <vt:lpstr>1.1 Introduction</vt:lpstr>
      <vt:lpstr>1.1 Introduction</vt:lpstr>
      <vt:lpstr>1.1 Introduction</vt:lpstr>
      <vt:lpstr>1.1 Introduction</vt:lpstr>
      <vt:lpstr>1.2. The medium aspect</vt:lpstr>
      <vt:lpstr>1.2. The medium aspect</vt:lpstr>
      <vt:lpstr>1.2. The medium aspect</vt:lpstr>
      <vt:lpstr>1.2. The medium aspect</vt:lpstr>
      <vt:lpstr>1.2. The medium aspect</vt:lpstr>
      <vt:lpstr>1.2. The medium aspect</vt:lpstr>
      <vt:lpstr>1.2. The medium aspect</vt:lpstr>
      <vt:lpstr>1.2. The medium aspect</vt:lpstr>
      <vt:lpstr>1.2. The medium aspect</vt:lpstr>
      <vt:lpstr>1.2. The medium aspect</vt:lpstr>
      <vt:lpstr>1.3. Main Properties ...</vt:lpstr>
      <vt:lpstr>1.3. Main Properties ...</vt:lpstr>
      <vt:lpstr>1.3. Main Properties ...</vt:lpstr>
      <vt:lpstr>1.3. Main Properties ...</vt:lpstr>
      <vt:lpstr>1.4. Definition of Multimedia System</vt:lpstr>
      <vt:lpstr>Applications of Multimedia System</vt:lpstr>
      <vt:lpstr>1.4. Definition of Multimedia System</vt:lpstr>
      <vt:lpstr>1.4. Definition of Multimedia System</vt:lpstr>
      <vt:lpstr>Global Structure of Multimedia System</vt:lpstr>
      <vt:lpstr>Global Structure of Multimedia System</vt:lpstr>
      <vt:lpstr>Global Structure of Multimedia System</vt:lpstr>
      <vt:lpstr>Global Structure of Multimedia System</vt:lpstr>
      <vt:lpstr>Global Structure of Multimedia System</vt:lpstr>
      <vt:lpstr>Global Structure of Multimedia System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1.6. Traditional Data Stream Characteristics</vt:lpstr>
      <vt:lpstr>Streaming Media</vt:lpstr>
      <vt:lpstr>1.7. Information Units</vt:lpstr>
      <vt:lpstr>1.7. Information Units</vt:lpstr>
      <vt:lpstr>1.7. Information Units</vt:lpstr>
      <vt:lpstr>Assignment I</vt:lpstr>
      <vt:lpstr>PowerPoint Presentation</vt:lpstr>
      <vt:lpstr>6.2 Sound and Audio 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2.1 Basic Sound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 Basic Music(MIDI) Concepts</vt:lpstr>
      <vt:lpstr>Assignment II</vt:lpstr>
      <vt:lpstr>PowerPoint Presentation</vt:lpstr>
      <vt:lpstr>3. Video and Animation Technology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Basic Video Concepts</vt:lpstr>
      <vt:lpstr>Television</vt:lpstr>
      <vt:lpstr>Television</vt:lpstr>
      <vt:lpstr>Television</vt:lpstr>
      <vt:lpstr>Television</vt:lpstr>
      <vt:lpstr>Television</vt:lpstr>
      <vt:lpstr>Television</vt:lpstr>
      <vt:lpstr>Television</vt:lpstr>
      <vt:lpstr>Basic Concepts of Animation</vt:lpstr>
      <vt:lpstr>Basic Concepts of Animation</vt:lpstr>
      <vt:lpstr>Basic Concepts of Animation</vt:lpstr>
      <vt:lpstr>Basic Concepts of Animation</vt:lpstr>
      <vt:lpstr>Basic Concepts of Animation</vt:lpstr>
      <vt:lpstr>Basic Concepts of Animation</vt:lpstr>
      <vt:lpstr>3. Video and Animation Technology</vt:lpstr>
      <vt:lpstr>Types of Animation</vt:lpstr>
      <vt:lpstr>Types of Animation</vt:lpstr>
      <vt:lpstr>Types of Animation</vt:lpstr>
      <vt:lpstr>Types of Animation</vt:lpstr>
      <vt:lpstr>Types of Animation</vt:lpstr>
      <vt:lpstr>Types of Animation</vt:lpstr>
      <vt:lpstr>Types of Animation</vt:lpstr>
      <vt:lpstr>Types of Animation</vt:lpstr>
      <vt:lpstr>Types of Animation</vt:lpstr>
      <vt:lpstr>Basic Steps of Animation</vt:lpstr>
      <vt:lpstr>Basic Steps of Animation</vt:lpstr>
      <vt:lpstr>Basic Steps of Animation</vt:lpstr>
      <vt:lpstr>Basic Steps of Animation</vt:lpstr>
      <vt:lpstr>Basic Steps of Animation</vt:lpstr>
      <vt:lpstr>Basic Steps of Animation</vt:lpstr>
      <vt:lpstr>Basic Steps of Animation</vt:lpstr>
      <vt:lpstr>Transmission of Animation</vt:lpstr>
      <vt:lpstr>Transmission of Animation</vt:lpstr>
      <vt:lpstr>Applications of Animation</vt:lpstr>
      <vt:lpstr>Morphing</vt:lpstr>
      <vt:lpstr>Morphing</vt:lpstr>
      <vt:lpstr>Assignment IV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Niranjan Khakurel</dc:creator>
  <cp:lastModifiedBy>Niranjan Khakurel</cp:lastModifiedBy>
  <cp:revision>2</cp:revision>
  <dcterms:created xsi:type="dcterms:W3CDTF">2026-06-02T15:19:16Z</dcterms:created>
  <dcterms:modified xsi:type="dcterms:W3CDTF">2026-06-03T09:59:11Z</dcterms:modified>
</cp:coreProperties>
</file>