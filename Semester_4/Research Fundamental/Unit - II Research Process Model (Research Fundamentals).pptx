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6" r:id="rId2"/>
    <p:sldId id="260" r:id="rId3"/>
    <p:sldId id="308" r:id="rId4"/>
    <p:sldId id="309" r:id="rId5"/>
    <p:sldId id="273" r:id="rId6"/>
    <p:sldId id="274" r:id="rId7"/>
    <p:sldId id="276" r:id="rId8"/>
    <p:sldId id="310" r:id="rId9"/>
    <p:sldId id="311" r:id="rId10"/>
    <p:sldId id="312" r:id="rId11"/>
    <p:sldId id="313" r:id="rId12"/>
    <p:sldId id="314" r:id="rId13"/>
    <p:sldId id="315" r:id="rId14"/>
    <p:sldId id="316" r:id="rId15"/>
    <p:sldId id="317" r:id="rId16"/>
    <p:sldId id="318" r:id="rId17"/>
    <p:sldId id="320" r:id="rId18"/>
    <p:sldId id="321" r:id="rId19"/>
    <p:sldId id="322" r:id="rId20"/>
    <p:sldId id="323" r:id="rId21"/>
    <p:sldId id="324" r:id="rId22"/>
    <p:sldId id="325" r:id="rId23"/>
    <p:sldId id="326" r:id="rId24"/>
    <p:sldId id="327" r:id="rId25"/>
    <p:sldId id="328" r:id="rId26"/>
    <p:sldId id="329" r:id="rId27"/>
    <p:sldId id="330" r:id="rId28"/>
    <p:sldId id="277" r:id="rId29"/>
    <p:sldId id="278" r:id="rId30"/>
    <p:sldId id="331" r:id="rId31"/>
    <p:sldId id="332" r:id="rId32"/>
    <p:sldId id="333" r:id="rId33"/>
    <p:sldId id="282" r:id="rId34"/>
    <p:sldId id="334" r:id="rId35"/>
    <p:sldId id="284" r:id="rId36"/>
    <p:sldId id="335" r:id="rId37"/>
    <p:sldId id="336" r:id="rId38"/>
    <p:sldId id="337" r:id="rId39"/>
    <p:sldId id="338" r:id="rId40"/>
    <p:sldId id="387" r:id="rId41"/>
    <p:sldId id="388" r:id="rId42"/>
    <p:sldId id="385" r:id="rId43"/>
    <p:sldId id="386" r:id="rId44"/>
    <p:sldId id="389" r:id="rId45"/>
    <p:sldId id="390" r:id="rId46"/>
    <p:sldId id="339" r:id="rId47"/>
    <p:sldId id="340" r:id="rId48"/>
    <p:sldId id="341" r:id="rId49"/>
    <p:sldId id="342" r:id="rId50"/>
    <p:sldId id="343" r:id="rId51"/>
    <p:sldId id="344" r:id="rId52"/>
    <p:sldId id="345" r:id="rId53"/>
    <p:sldId id="346" r:id="rId54"/>
    <p:sldId id="351" r:id="rId55"/>
    <p:sldId id="347" r:id="rId56"/>
    <p:sldId id="348" r:id="rId57"/>
    <p:sldId id="349" r:id="rId58"/>
    <p:sldId id="350" r:id="rId59"/>
    <p:sldId id="352" r:id="rId60"/>
    <p:sldId id="353" r:id="rId61"/>
    <p:sldId id="354" r:id="rId62"/>
    <p:sldId id="355" r:id="rId63"/>
    <p:sldId id="356" r:id="rId64"/>
    <p:sldId id="357" r:id="rId65"/>
    <p:sldId id="358" r:id="rId66"/>
    <p:sldId id="359" r:id="rId67"/>
    <p:sldId id="361" r:id="rId68"/>
    <p:sldId id="362" r:id="rId69"/>
    <p:sldId id="363" r:id="rId70"/>
    <p:sldId id="365" r:id="rId71"/>
    <p:sldId id="366" r:id="rId72"/>
    <p:sldId id="360" r:id="rId73"/>
    <p:sldId id="367" r:id="rId74"/>
    <p:sldId id="368" r:id="rId75"/>
    <p:sldId id="369" r:id="rId76"/>
    <p:sldId id="370" r:id="rId77"/>
    <p:sldId id="371" r:id="rId78"/>
    <p:sldId id="372" r:id="rId79"/>
    <p:sldId id="373" r:id="rId80"/>
    <p:sldId id="374" r:id="rId81"/>
    <p:sldId id="380" r:id="rId82"/>
    <p:sldId id="381" r:id="rId83"/>
    <p:sldId id="379" r:id="rId84"/>
    <p:sldId id="376" r:id="rId85"/>
    <p:sldId id="383" r:id="rId86"/>
    <p:sldId id="391" r:id="rId87"/>
    <p:sldId id="392" r:id="rId88"/>
    <p:sldId id="384" r:id="rId89"/>
    <p:sldId id="382" r:id="rId90"/>
    <p:sldId id="375" r:id="rId91"/>
    <p:sldId id="393" r:id="rId92"/>
    <p:sldId id="377" r:id="rId93"/>
    <p:sldId id="394" r:id="rId94"/>
    <p:sldId id="395" r:id="rId95"/>
    <p:sldId id="396" r:id="rId96"/>
    <p:sldId id="397" r:id="rId97"/>
    <p:sldId id="398" r:id="rId98"/>
    <p:sldId id="399" r:id="rId99"/>
    <p:sldId id="400" r:id="rId100"/>
    <p:sldId id="271" r:id="rId10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19" autoAdjust="0"/>
    <p:restoredTop sz="94660"/>
  </p:normalViewPr>
  <p:slideViewPr>
    <p:cSldViewPr showGuides="1">
      <p:cViewPr varScale="1">
        <p:scale>
          <a:sx n="82" d="100"/>
          <a:sy n="82" d="100"/>
        </p:scale>
        <p:origin x="211" y="5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96" d="100"/>
          <a:sy n="96" d="100"/>
        </p:scale>
        <p:origin x="-360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87B2C0-8028-4EA5-A161-FB77DB21CFED}" type="doc">
      <dgm:prSet loTypeId="urn:microsoft.com/office/officeart/2005/8/layout/process4" loCatId="list" qsTypeId="urn:microsoft.com/office/officeart/2005/8/quickstyle/simple1" qsCatId="simple" csTypeId="urn:microsoft.com/office/officeart/2005/8/colors/colorful5" csCatId="colorful" phldr="1"/>
      <dgm:spPr/>
      <dgm:t>
        <a:bodyPr/>
        <a:lstStyle/>
        <a:p>
          <a:endParaRPr lang="en-IN"/>
        </a:p>
      </dgm:t>
    </dgm:pt>
    <dgm:pt modelId="{2CAA02EE-38CC-4D49-8AFE-0EB8B67FAC6D}">
      <dgm:prSet phldrT="[Text]" custT="1"/>
      <dgm:spPr/>
      <dgm:t>
        <a:bodyPr/>
        <a:lstStyle/>
        <a:p>
          <a:r>
            <a:rPr lang="en-IN" sz="2200" b="1" dirty="0">
              <a:solidFill>
                <a:schemeClr val="tx2"/>
              </a:solidFill>
            </a:rPr>
            <a:t>Find a working topic</a:t>
          </a:r>
        </a:p>
      </dgm:t>
    </dgm:pt>
    <dgm:pt modelId="{D47BFF81-16C2-4A64-BD35-20B96793CC11}" type="parTrans" cxnId="{0D0A415E-5473-41A3-9E68-C0BEFB5A4483}">
      <dgm:prSet/>
      <dgm:spPr/>
      <dgm:t>
        <a:bodyPr/>
        <a:lstStyle/>
        <a:p>
          <a:endParaRPr lang="en-IN"/>
        </a:p>
      </dgm:t>
    </dgm:pt>
    <dgm:pt modelId="{56A18C78-463B-41C0-B1C3-BEBE08964168}" type="sibTrans" cxnId="{0D0A415E-5473-41A3-9E68-C0BEFB5A4483}">
      <dgm:prSet/>
      <dgm:spPr/>
      <dgm:t>
        <a:bodyPr/>
        <a:lstStyle/>
        <a:p>
          <a:endParaRPr lang="en-IN"/>
        </a:p>
      </dgm:t>
    </dgm:pt>
    <dgm:pt modelId="{4F6385AF-9C7D-4794-83FE-2AFE05C12A32}">
      <dgm:prSet phldrT="[Text]" custT="1"/>
      <dgm:spPr/>
      <dgm:t>
        <a:bodyPr/>
        <a:lstStyle/>
        <a:p>
          <a:r>
            <a:rPr lang="en-IN" sz="2400" dirty="0"/>
            <a:t>1. What interests you</a:t>
          </a:r>
        </a:p>
      </dgm:t>
    </dgm:pt>
    <dgm:pt modelId="{4ACE4D24-98FD-4A14-84B0-550CC6C41027}" type="parTrans" cxnId="{75A7A404-81E8-4634-9ABA-42C284BAAD18}">
      <dgm:prSet/>
      <dgm:spPr/>
      <dgm:t>
        <a:bodyPr/>
        <a:lstStyle/>
        <a:p>
          <a:endParaRPr lang="en-IN"/>
        </a:p>
      </dgm:t>
    </dgm:pt>
    <dgm:pt modelId="{DFF733BC-6242-4975-BA3C-4A519F3EB472}" type="sibTrans" cxnId="{75A7A404-81E8-4634-9ABA-42C284BAAD18}">
      <dgm:prSet/>
      <dgm:spPr/>
      <dgm:t>
        <a:bodyPr/>
        <a:lstStyle/>
        <a:p>
          <a:endParaRPr lang="en-IN"/>
        </a:p>
      </dgm:t>
    </dgm:pt>
    <dgm:pt modelId="{1F267F69-3E8D-4568-A9DA-AEDD278A21B6}">
      <dgm:prSet phldrT="[Text]" custT="1"/>
      <dgm:spPr/>
      <dgm:t>
        <a:bodyPr/>
        <a:lstStyle/>
        <a:p>
          <a:r>
            <a:rPr lang="en-IN" sz="2400" dirty="0"/>
            <a:t>2. What is fertile ground for study</a:t>
          </a:r>
        </a:p>
      </dgm:t>
    </dgm:pt>
    <dgm:pt modelId="{191ED1FC-C7AA-4C0E-99D8-67239C3A143A}" type="parTrans" cxnId="{2E85EABA-162A-44A3-9622-1186E0E06C16}">
      <dgm:prSet/>
      <dgm:spPr/>
      <dgm:t>
        <a:bodyPr/>
        <a:lstStyle/>
        <a:p>
          <a:endParaRPr lang="en-IN"/>
        </a:p>
      </dgm:t>
    </dgm:pt>
    <dgm:pt modelId="{9B0FA318-A9E9-46D8-BF79-136E1BEA3952}" type="sibTrans" cxnId="{2E85EABA-162A-44A3-9622-1186E0E06C16}">
      <dgm:prSet/>
      <dgm:spPr/>
      <dgm:t>
        <a:bodyPr/>
        <a:lstStyle/>
        <a:p>
          <a:endParaRPr lang="en-IN"/>
        </a:p>
      </dgm:t>
    </dgm:pt>
    <dgm:pt modelId="{6FC1324D-BF26-43F6-A988-6CD1684552D0}">
      <dgm:prSet phldrT="[Text]"/>
      <dgm:spPr/>
      <dgm:t>
        <a:bodyPr/>
        <a:lstStyle/>
        <a:p>
          <a:r>
            <a:rPr lang="en-IN" b="1" dirty="0">
              <a:solidFill>
                <a:schemeClr val="tx2"/>
              </a:solidFill>
            </a:rPr>
            <a:t>Review the literature</a:t>
          </a:r>
        </a:p>
      </dgm:t>
    </dgm:pt>
    <dgm:pt modelId="{E208FA32-2091-495E-B4C2-6B80008F9CAD}" type="parTrans" cxnId="{0A7A068D-CDE8-467E-B321-40F36C3CA26A}">
      <dgm:prSet/>
      <dgm:spPr/>
      <dgm:t>
        <a:bodyPr/>
        <a:lstStyle/>
        <a:p>
          <a:endParaRPr lang="en-IN"/>
        </a:p>
      </dgm:t>
    </dgm:pt>
    <dgm:pt modelId="{F161C631-5AB8-44C6-9E90-703F20CAB291}" type="sibTrans" cxnId="{0A7A068D-CDE8-467E-B321-40F36C3CA26A}">
      <dgm:prSet/>
      <dgm:spPr/>
      <dgm:t>
        <a:bodyPr/>
        <a:lstStyle/>
        <a:p>
          <a:endParaRPr lang="en-IN"/>
        </a:p>
      </dgm:t>
    </dgm:pt>
    <dgm:pt modelId="{C48B50AC-CE82-45DE-8281-E290C3EA98A3}">
      <dgm:prSet phldrT="[Text]" custT="1"/>
      <dgm:spPr/>
      <dgm:t>
        <a:bodyPr/>
        <a:lstStyle/>
        <a:p>
          <a:r>
            <a:rPr lang="en-IN" sz="2000" dirty="0"/>
            <a:t>1. Keywords – database  search</a:t>
          </a:r>
        </a:p>
      </dgm:t>
    </dgm:pt>
    <dgm:pt modelId="{5EAAB9F4-C830-49F3-AA01-F5602A82C074}" type="parTrans" cxnId="{ABDB3807-8BF9-4515-9046-F4F56551FB16}">
      <dgm:prSet/>
      <dgm:spPr/>
      <dgm:t>
        <a:bodyPr/>
        <a:lstStyle/>
        <a:p>
          <a:endParaRPr lang="en-IN"/>
        </a:p>
      </dgm:t>
    </dgm:pt>
    <dgm:pt modelId="{8F5F3C55-F783-48F7-A0C2-337959B40366}" type="sibTrans" cxnId="{ABDB3807-8BF9-4515-9046-F4F56551FB16}">
      <dgm:prSet/>
      <dgm:spPr/>
      <dgm:t>
        <a:bodyPr/>
        <a:lstStyle/>
        <a:p>
          <a:endParaRPr lang="en-IN"/>
        </a:p>
      </dgm:t>
    </dgm:pt>
    <dgm:pt modelId="{B7FD542D-A3C0-4635-B01C-F4F7662C4A22}">
      <dgm:prSet phldrT="[Text]" custT="1"/>
      <dgm:spPr/>
      <dgm:t>
        <a:bodyPr/>
        <a:lstStyle/>
        <a:p>
          <a:r>
            <a:rPr lang="en-IN" sz="2000" dirty="0"/>
            <a:t>2. reference lists and reviews </a:t>
          </a:r>
        </a:p>
      </dgm:t>
    </dgm:pt>
    <dgm:pt modelId="{2C5B1013-B6CE-4AE5-94B1-C752D03B9F34}" type="parTrans" cxnId="{4D96440A-3E1C-454E-A1BB-393FE730959F}">
      <dgm:prSet/>
      <dgm:spPr/>
      <dgm:t>
        <a:bodyPr/>
        <a:lstStyle/>
        <a:p>
          <a:endParaRPr lang="en-IN"/>
        </a:p>
      </dgm:t>
    </dgm:pt>
    <dgm:pt modelId="{0C400CB2-F185-448D-B7FC-C87C441A3496}" type="sibTrans" cxnId="{4D96440A-3E1C-454E-A1BB-393FE730959F}">
      <dgm:prSet/>
      <dgm:spPr/>
      <dgm:t>
        <a:bodyPr/>
        <a:lstStyle/>
        <a:p>
          <a:endParaRPr lang="en-IN"/>
        </a:p>
      </dgm:t>
    </dgm:pt>
    <dgm:pt modelId="{A16B70FE-FAA2-4E25-8DEC-2FDE938BC4B5}">
      <dgm:prSet phldrT="[Text]"/>
      <dgm:spPr/>
      <dgm:t>
        <a:bodyPr/>
        <a:lstStyle/>
        <a:p>
          <a:r>
            <a:rPr lang="en-IN" b="1" dirty="0">
              <a:solidFill>
                <a:schemeClr val="tx1"/>
              </a:solidFill>
            </a:rPr>
            <a:t>Focus Your Topic Narrowly and Select Papers Accordingly</a:t>
          </a:r>
          <a:endParaRPr lang="en-IN" dirty="0">
            <a:solidFill>
              <a:schemeClr val="tx1"/>
            </a:solidFill>
          </a:endParaRPr>
        </a:p>
      </dgm:t>
    </dgm:pt>
    <dgm:pt modelId="{09A1CDE2-D36A-4E3F-ACDB-834F47613DAA}" type="parTrans" cxnId="{01962E17-B90A-4A94-8FA8-5F18C653362A}">
      <dgm:prSet/>
      <dgm:spPr/>
      <dgm:t>
        <a:bodyPr/>
        <a:lstStyle/>
        <a:p>
          <a:endParaRPr lang="en-IN"/>
        </a:p>
      </dgm:t>
    </dgm:pt>
    <dgm:pt modelId="{53370B28-5F1D-4463-89DC-F88B3D8E6C1A}" type="sibTrans" cxnId="{01962E17-B90A-4A94-8FA8-5F18C653362A}">
      <dgm:prSet/>
      <dgm:spPr/>
      <dgm:t>
        <a:bodyPr/>
        <a:lstStyle/>
        <a:p>
          <a:endParaRPr lang="en-IN"/>
        </a:p>
      </dgm:t>
    </dgm:pt>
    <dgm:pt modelId="{268E1004-0DD9-4EFE-9737-8F396C5D975E}">
      <dgm:prSet/>
      <dgm:spPr/>
      <dgm:t>
        <a:bodyPr/>
        <a:lstStyle/>
        <a:p>
          <a:r>
            <a:rPr lang="en-IN" dirty="0"/>
            <a:t>1. What interests you?</a:t>
          </a:r>
        </a:p>
      </dgm:t>
    </dgm:pt>
    <dgm:pt modelId="{06FE3C5C-27B0-48FB-9A03-04365464F38E}" type="parTrans" cxnId="{A8DA91EC-709E-4B11-99BF-426625FD82DA}">
      <dgm:prSet/>
      <dgm:spPr/>
      <dgm:t>
        <a:bodyPr/>
        <a:lstStyle/>
        <a:p>
          <a:endParaRPr lang="en-IN"/>
        </a:p>
      </dgm:t>
    </dgm:pt>
    <dgm:pt modelId="{2184BAD3-5A7D-457E-9D5A-33A4F115D543}" type="sibTrans" cxnId="{A8DA91EC-709E-4B11-99BF-426625FD82DA}">
      <dgm:prSet/>
      <dgm:spPr/>
      <dgm:t>
        <a:bodyPr/>
        <a:lstStyle/>
        <a:p>
          <a:endParaRPr lang="en-IN"/>
        </a:p>
      </dgm:t>
    </dgm:pt>
    <dgm:pt modelId="{F364456F-8E65-4636-BB7D-0F4830F35F54}">
      <dgm:prSet phldrT="[Text]" custT="1"/>
      <dgm:spPr/>
      <dgm:t>
        <a:bodyPr/>
        <a:lstStyle/>
        <a:p>
          <a:r>
            <a:rPr lang="en-IN" sz="1800" dirty="0"/>
            <a:t>2.What interests others?</a:t>
          </a:r>
        </a:p>
      </dgm:t>
    </dgm:pt>
    <dgm:pt modelId="{70A68CFF-E5BD-4970-AE21-CCFF707CEAA3}" type="parTrans" cxnId="{BA664D29-88A1-49F9-9764-DF399ABD2F20}">
      <dgm:prSet/>
      <dgm:spPr/>
      <dgm:t>
        <a:bodyPr/>
        <a:lstStyle/>
        <a:p>
          <a:endParaRPr lang="en-IN"/>
        </a:p>
      </dgm:t>
    </dgm:pt>
    <dgm:pt modelId="{3D6F3C5D-3405-41BA-84CA-53C85BC4AAA2}" type="sibTrans" cxnId="{BA664D29-88A1-49F9-9764-DF399ABD2F20}">
      <dgm:prSet/>
      <dgm:spPr/>
      <dgm:t>
        <a:bodyPr/>
        <a:lstStyle/>
        <a:p>
          <a:endParaRPr lang="en-IN"/>
        </a:p>
      </dgm:t>
    </dgm:pt>
    <dgm:pt modelId="{4678F309-DFDF-48EE-8E02-2868203A361E}">
      <dgm:prSet phldrT="[Text]" custT="1"/>
      <dgm:spPr/>
      <dgm:t>
        <a:bodyPr/>
        <a:lstStyle/>
        <a:p>
          <a:r>
            <a:rPr lang="en-IN" sz="1800" dirty="0"/>
            <a:t>3. studies contrary to your point of view</a:t>
          </a:r>
        </a:p>
      </dgm:t>
    </dgm:pt>
    <dgm:pt modelId="{0EE67B0B-20B6-49E1-B68D-35C01C5B75D8}" type="parTrans" cxnId="{F5281268-CB3E-4DA3-A073-966E3195962C}">
      <dgm:prSet/>
      <dgm:spPr/>
      <dgm:t>
        <a:bodyPr/>
        <a:lstStyle/>
        <a:p>
          <a:endParaRPr lang="en-IN"/>
        </a:p>
      </dgm:t>
    </dgm:pt>
    <dgm:pt modelId="{E912C8BF-DF4F-4C29-9630-F6353A34F692}" type="sibTrans" cxnId="{F5281268-CB3E-4DA3-A073-966E3195962C}">
      <dgm:prSet/>
      <dgm:spPr/>
      <dgm:t>
        <a:bodyPr/>
        <a:lstStyle/>
        <a:p>
          <a:endParaRPr lang="en-IN"/>
        </a:p>
      </dgm:t>
    </dgm:pt>
    <dgm:pt modelId="{B7B8C029-A63B-4BFB-BCF9-05C07CAE6EA3}">
      <dgm:prSet phldrT="[Text]" custT="1"/>
      <dgm:spPr/>
      <dgm:t>
        <a:bodyPr/>
        <a:lstStyle/>
        <a:p>
          <a:r>
            <a:rPr lang="en-IN" sz="1800" dirty="0"/>
            <a:t>3. What time span of research will you consider?</a:t>
          </a:r>
        </a:p>
      </dgm:t>
    </dgm:pt>
    <dgm:pt modelId="{133631D0-FFE8-456A-9428-31D2F5C2B69B}" type="parTrans" cxnId="{955F7F21-BFC4-4A21-9D55-D4F77FDDE8E1}">
      <dgm:prSet/>
      <dgm:spPr/>
      <dgm:t>
        <a:bodyPr/>
        <a:lstStyle/>
        <a:p>
          <a:endParaRPr lang="en-IN"/>
        </a:p>
      </dgm:t>
    </dgm:pt>
    <dgm:pt modelId="{793F5975-E33F-44DA-8FD8-BCA18DC1AC73}" type="sibTrans" cxnId="{955F7F21-BFC4-4A21-9D55-D4F77FDDE8E1}">
      <dgm:prSet/>
      <dgm:spPr/>
      <dgm:t>
        <a:bodyPr/>
        <a:lstStyle/>
        <a:p>
          <a:endParaRPr lang="en-IN"/>
        </a:p>
      </dgm:t>
    </dgm:pt>
    <dgm:pt modelId="{CC61FE89-B400-451A-BF86-549F59D0BEEF}" type="pres">
      <dgm:prSet presAssocID="{D887B2C0-8028-4EA5-A161-FB77DB21CFED}" presName="Name0" presStyleCnt="0">
        <dgm:presLayoutVars>
          <dgm:dir/>
          <dgm:animLvl val="lvl"/>
          <dgm:resizeHandles val="exact"/>
        </dgm:presLayoutVars>
      </dgm:prSet>
      <dgm:spPr/>
    </dgm:pt>
    <dgm:pt modelId="{8BBDEC12-541A-4DF8-8EB9-A86E8212D876}" type="pres">
      <dgm:prSet presAssocID="{A16B70FE-FAA2-4E25-8DEC-2FDE938BC4B5}" presName="boxAndChildren" presStyleCnt="0"/>
      <dgm:spPr/>
    </dgm:pt>
    <dgm:pt modelId="{173EEFF4-2F70-46D0-B7A0-0D47DE326EAE}" type="pres">
      <dgm:prSet presAssocID="{A16B70FE-FAA2-4E25-8DEC-2FDE938BC4B5}" presName="parentTextBox" presStyleLbl="node1" presStyleIdx="0" presStyleCnt="3"/>
      <dgm:spPr/>
    </dgm:pt>
    <dgm:pt modelId="{AA9DA410-23F3-4ADF-8E72-D128F9B01907}" type="pres">
      <dgm:prSet presAssocID="{A16B70FE-FAA2-4E25-8DEC-2FDE938BC4B5}" presName="entireBox" presStyleLbl="node1" presStyleIdx="0" presStyleCnt="3"/>
      <dgm:spPr/>
    </dgm:pt>
    <dgm:pt modelId="{11F8835C-502A-4976-B2FF-D59575F44341}" type="pres">
      <dgm:prSet presAssocID="{A16B70FE-FAA2-4E25-8DEC-2FDE938BC4B5}" presName="descendantBox" presStyleCnt="0"/>
      <dgm:spPr/>
    </dgm:pt>
    <dgm:pt modelId="{D5C94A91-C51C-4BC5-AD94-5C20BEDD56E3}" type="pres">
      <dgm:prSet presAssocID="{268E1004-0DD9-4EFE-9737-8F396C5D975E}" presName="childTextBox" presStyleLbl="fgAccFollowNode1" presStyleIdx="0" presStyleCnt="8">
        <dgm:presLayoutVars>
          <dgm:bulletEnabled val="1"/>
        </dgm:presLayoutVars>
      </dgm:prSet>
      <dgm:spPr/>
    </dgm:pt>
    <dgm:pt modelId="{8706CEF9-D71A-4D03-8EC9-B864E4740EB8}" type="pres">
      <dgm:prSet presAssocID="{F364456F-8E65-4636-BB7D-0F4830F35F54}" presName="childTextBox" presStyleLbl="fgAccFollowNode1" presStyleIdx="1" presStyleCnt="8">
        <dgm:presLayoutVars>
          <dgm:bulletEnabled val="1"/>
        </dgm:presLayoutVars>
      </dgm:prSet>
      <dgm:spPr/>
    </dgm:pt>
    <dgm:pt modelId="{464AC235-BAE3-498B-8F4B-E59F9A937119}" type="pres">
      <dgm:prSet presAssocID="{B7B8C029-A63B-4BFB-BCF9-05C07CAE6EA3}" presName="childTextBox" presStyleLbl="fgAccFollowNode1" presStyleIdx="2" presStyleCnt="8">
        <dgm:presLayoutVars>
          <dgm:bulletEnabled val="1"/>
        </dgm:presLayoutVars>
      </dgm:prSet>
      <dgm:spPr/>
    </dgm:pt>
    <dgm:pt modelId="{396CE2AA-92B5-466E-9F00-107A27807822}" type="pres">
      <dgm:prSet presAssocID="{F161C631-5AB8-44C6-9E90-703F20CAB291}" presName="sp" presStyleCnt="0"/>
      <dgm:spPr/>
    </dgm:pt>
    <dgm:pt modelId="{ED9F4FF2-70F8-4490-8245-5A9400D6C276}" type="pres">
      <dgm:prSet presAssocID="{6FC1324D-BF26-43F6-A988-6CD1684552D0}" presName="arrowAndChildren" presStyleCnt="0"/>
      <dgm:spPr/>
    </dgm:pt>
    <dgm:pt modelId="{7FE3CD19-A3F7-4145-9662-381522A03A05}" type="pres">
      <dgm:prSet presAssocID="{6FC1324D-BF26-43F6-A988-6CD1684552D0}" presName="parentTextArrow" presStyleLbl="node1" presStyleIdx="0" presStyleCnt="3"/>
      <dgm:spPr/>
    </dgm:pt>
    <dgm:pt modelId="{3774F3A7-FEB7-4DCB-B799-DE8598627CCA}" type="pres">
      <dgm:prSet presAssocID="{6FC1324D-BF26-43F6-A988-6CD1684552D0}" presName="arrow" presStyleLbl="node1" presStyleIdx="1" presStyleCnt="3" custLinFactNeighborY="-1109"/>
      <dgm:spPr/>
    </dgm:pt>
    <dgm:pt modelId="{0BF0AE9C-E61E-4E78-88C7-AC2F89742649}" type="pres">
      <dgm:prSet presAssocID="{6FC1324D-BF26-43F6-A988-6CD1684552D0}" presName="descendantArrow" presStyleCnt="0"/>
      <dgm:spPr/>
    </dgm:pt>
    <dgm:pt modelId="{0370C00B-4053-44E7-95A9-3FAEEA731879}" type="pres">
      <dgm:prSet presAssocID="{C48B50AC-CE82-45DE-8281-E290C3EA98A3}" presName="childTextArrow" presStyleLbl="fgAccFollowNode1" presStyleIdx="3" presStyleCnt="8" custFlipHor="1" custScaleX="69010" custLinFactNeighborX="-2299" custLinFactNeighborY="4925">
        <dgm:presLayoutVars>
          <dgm:bulletEnabled val="1"/>
        </dgm:presLayoutVars>
      </dgm:prSet>
      <dgm:spPr/>
    </dgm:pt>
    <dgm:pt modelId="{8A80FFF9-3732-48EC-BA96-9D8916B7E534}" type="pres">
      <dgm:prSet presAssocID="{B7FD542D-A3C0-4635-B01C-F4F7662C4A22}" presName="childTextArrow" presStyleLbl="fgAccFollowNode1" presStyleIdx="4" presStyleCnt="8" custFlipHor="1" custScaleX="68713">
        <dgm:presLayoutVars>
          <dgm:bulletEnabled val="1"/>
        </dgm:presLayoutVars>
      </dgm:prSet>
      <dgm:spPr/>
    </dgm:pt>
    <dgm:pt modelId="{2DFBF6F8-05A5-4889-9DE6-2AF1789CB3C8}" type="pres">
      <dgm:prSet presAssocID="{4678F309-DFDF-48EE-8E02-2868203A361E}" presName="childTextArrow" presStyleLbl="fgAccFollowNode1" presStyleIdx="5" presStyleCnt="8" custScaleX="53909">
        <dgm:presLayoutVars>
          <dgm:bulletEnabled val="1"/>
        </dgm:presLayoutVars>
      </dgm:prSet>
      <dgm:spPr/>
    </dgm:pt>
    <dgm:pt modelId="{6D5C7374-304D-45D4-A56B-960A6D3423A0}" type="pres">
      <dgm:prSet presAssocID="{56A18C78-463B-41C0-B1C3-BEBE08964168}" presName="sp" presStyleCnt="0"/>
      <dgm:spPr/>
    </dgm:pt>
    <dgm:pt modelId="{502EAB38-6EB5-49F6-9240-67D22E69F179}" type="pres">
      <dgm:prSet presAssocID="{2CAA02EE-38CC-4D49-8AFE-0EB8B67FAC6D}" presName="arrowAndChildren" presStyleCnt="0"/>
      <dgm:spPr/>
    </dgm:pt>
    <dgm:pt modelId="{EEF40689-167C-4DC3-9229-537942812F02}" type="pres">
      <dgm:prSet presAssocID="{2CAA02EE-38CC-4D49-8AFE-0EB8B67FAC6D}" presName="parentTextArrow" presStyleLbl="node1" presStyleIdx="1" presStyleCnt="3"/>
      <dgm:spPr/>
    </dgm:pt>
    <dgm:pt modelId="{E31540E3-DA47-4EFF-B423-CFA3F73A0D35}" type="pres">
      <dgm:prSet presAssocID="{2CAA02EE-38CC-4D49-8AFE-0EB8B67FAC6D}" presName="arrow" presStyleLbl="node1" presStyleIdx="2" presStyleCnt="3" custLinFactNeighborY="-743"/>
      <dgm:spPr/>
    </dgm:pt>
    <dgm:pt modelId="{B24AEC57-2C0F-4C8A-8DC1-DB8F9690414C}" type="pres">
      <dgm:prSet presAssocID="{2CAA02EE-38CC-4D49-8AFE-0EB8B67FAC6D}" presName="descendantArrow" presStyleCnt="0"/>
      <dgm:spPr/>
    </dgm:pt>
    <dgm:pt modelId="{0C7A34D1-7466-467D-B683-D69B316DA155}" type="pres">
      <dgm:prSet presAssocID="{4F6385AF-9C7D-4794-83FE-2AFE05C12A32}" presName="childTextArrow" presStyleLbl="fgAccFollowNode1" presStyleIdx="6" presStyleCnt="8" custLinFactNeighborY="-3748">
        <dgm:presLayoutVars>
          <dgm:bulletEnabled val="1"/>
        </dgm:presLayoutVars>
      </dgm:prSet>
      <dgm:spPr/>
    </dgm:pt>
    <dgm:pt modelId="{DC2632BB-6846-4873-9E8E-6B800ABD4244}" type="pres">
      <dgm:prSet presAssocID="{1F267F69-3E8D-4568-A9DA-AEDD278A21B6}" presName="childTextArrow" presStyleLbl="fgAccFollowNode1" presStyleIdx="7" presStyleCnt="8" custLinFactNeighborX="0" custLinFactNeighborY="-3748">
        <dgm:presLayoutVars>
          <dgm:bulletEnabled val="1"/>
        </dgm:presLayoutVars>
      </dgm:prSet>
      <dgm:spPr/>
    </dgm:pt>
  </dgm:ptLst>
  <dgm:cxnLst>
    <dgm:cxn modelId="{49801D04-3DD1-42DB-BA54-DE10C2F1DCDC}" type="presOf" srcId="{B7FD542D-A3C0-4635-B01C-F4F7662C4A22}" destId="{8A80FFF9-3732-48EC-BA96-9D8916B7E534}" srcOrd="0" destOrd="0" presId="urn:microsoft.com/office/officeart/2005/8/layout/process4"/>
    <dgm:cxn modelId="{75A7A404-81E8-4634-9ABA-42C284BAAD18}" srcId="{2CAA02EE-38CC-4D49-8AFE-0EB8B67FAC6D}" destId="{4F6385AF-9C7D-4794-83FE-2AFE05C12A32}" srcOrd="0" destOrd="0" parTransId="{4ACE4D24-98FD-4A14-84B0-550CC6C41027}" sibTransId="{DFF733BC-6242-4975-BA3C-4A519F3EB472}"/>
    <dgm:cxn modelId="{ABDB3807-8BF9-4515-9046-F4F56551FB16}" srcId="{6FC1324D-BF26-43F6-A988-6CD1684552D0}" destId="{C48B50AC-CE82-45DE-8281-E290C3EA98A3}" srcOrd="0" destOrd="0" parTransId="{5EAAB9F4-C830-49F3-AA01-F5602A82C074}" sibTransId="{8F5F3C55-F783-48F7-A0C2-337959B40366}"/>
    <dgm:cxn modelId="{4D96440A-3E1C-454E-A1BB-393FE730959F}" srcId="{6FC1324D-BF26-43F6-A988-6CD1684552D0}" destId="{B7FD542D-A3C0-4635-B01C-F4F7662C4A22}" srcOrd="1" destOrd="0" parTransId="{2C5B1013-B6CE-4AE5-94B1-C752D03B9F34}" sibTransId="{0C400CB2-F185-448D-B7FC-C87C441A3496}"/>
    <dgm:cxn modelId="{01962E17-B90A-4A94-8FA8-5F18C653362A}" srcId="{D887B2C0-8028-4EA5-A161-FB77DB21CFED}" destId="{A16B70FE-FAA2-4E25-8DEC-2FDE938BC4B5}" srcOrd="2" destOrd="0" parTransId="{09A1CDE2-D36A-4E3F-ACDB-834F47613DAA}" sibTransId="{53370B28-5F1D-4463-89DC-F88B3D8E6C1A}"/>
    <dgm:cxn modelId="{0AFDB118-D636-4DE6-A0BE-E4C88F421A0A}" type="presOf" srcId="{4678F309-DFDF-48EE-8E02-2868203A361E}" destId="{2DFBF6F8-05A5-4889-9DE6-2AF1789CB3C8}" srcOrd="0" destOrd="0" presId="urn:microsoft.com/office/officeart/2005/8/layout/process4"/>
    <dgm:cxn modelId="{2477021B-3CAA-4BA0-A07F-37E8396CC432}" type="presOf" srcId="{6FC1324D-BF26-43F6-A988-6CD1684552D0}" destId="{7FE3CD19-A3F7-4145-9662-381522A03A05}" srcOrd="0" destOrd="0" presId="urn:microsoft.com/office/officeart/2005/8/layout/process4"/>
    <dgm:cxn modelId="{955F7F21-BFC4-4A21-9D55-D4F77FDDE8E1}" srcId="{A16B70FE-FAA2-4E25-8DEC-2FDE938BC4B5}" destId="{B7B8C029-A63B-4BFB-BCF9-05C07CAE6EA3}" srcOrd="2" destOrd="0" parTransId="{133631D0-FFE8-456A-9428-31D2F5C2B69B}" sibTransId="{793F5975-E33F-44DA-8FD8-BCA18DC1AC73}"/>
    <dgm:cxn modelId="{A9B62425-EEBE-46E3-85D0-CDA4445CE9F4}" type="presOf" srcId="{2CAA02EE-38CC-4D49-8AFE-0EB8B67FAC6D}" destId="{EEF40689-167C-4DC3-9229-537942812F02}" srcOrd="0" destOrd="0" presId="urn:microsoft.com/office/officeart/2005/8/layout/process4"/>
    <dgm:cxn modelId="{BA664D29-88A1-49F9-9764-DF399ABD2F20}" srcId="{A16B70FE-FAA2-4E25-8DEC-2FDE938BC4B5}" destId="{F364456F-8E65-4636-BB7D-0F4830F35F54}" srcOrd="1" destOrd="0" parTransId="{70A68CFF-E5BD-4970-AE21-CCFF707CEAA3}" sibTransId="{3D6F3C5D-3405-41BA-84CA-53C85BC4AAA2}"/>
    <dgm:cxn modelId="{0D0A415E-5473-41A3-9E68-C0BEFB5A4483}" srcId="{D887B2C0-8028-4EA5-A161-FB77DB21CFED}" destId="{2CAA02EE-38CC-4D49-8AFE-0EB8B67FAC6D}" srcOrd="0" destOrd="0" parTransId="{D47BFF81-16C2-4A64-BD35-20B96793CC11}" sibTransId="{56A18C78-463B-41C0-B1C3-BEBE08964168}"/>
    <dgm:cxn modelId="{F5281268-CB3E-4DA3-A073-966E3195962C}" srcId="{6FC1324D-BF26-43F6-A988-6CD1684552D0}" destId="{4678F309-DFDF-48EE-8E02-2868203A361E}" srcOrd="2" destOrd="0" parTransId="{0EE67B0B-20B6-49E1-B68D-35C01C5B75D8}" sibTransId="{E912C8BF-DF4F-4C29-9630-F6353A34F692}"/>
    <dgm:cxn modelId="{0227C950-DDC3-4794-9D02-5EE04D6E7807}" type="presOf" srcId="{268E1004-0DD9-4EFE-9737-8F396C5D975E}" destId="{D5C94A91-C51C-4BC5-AD94-5C20BEDD56E3}" srcOrd="0" destOrd="0" presId="urn:microsoft.com/office/officeart/2005/8/layout/process4"/>
    <dgm:cxn modelId="{F7143977-A3BE-4A78-847E-32646DA727ED}" type="presOf" srcId="{A16B70FE-FAA2-4E25-8DEC-2FDE938BC4B5}" destId="{AA9DA410-23F3-4ADF-8E72-D128F9B01907}" srcOrd="1" destOrd="0" presId="urn:microsoft.com/office/officeart/2005/8/layout/process4"/>
    <dgm:cxn modelId="{6446A789-D495-483D-BE3A-66D6A083ECD4}" type="presOf" srcId="{B7B8C029-A63B-4BFB-BCF9-05C07CAE6EA3}" destId="{464AC235-BAE3-498B-8F4B-E59F9A937119}" srcOrd="0" destOrd="0" presId="urn:microsoft.com/office/officeart/2005/8/layout/process4"/>
    <dgm:cxn modelId="{0A7A068D-CDE8-467E-B321-40F36C3CA26A}" srcId="{D887B2C0-8028-4EA5-A161-FB77DB21CFED}" destId="{6FC1324D-BF26-43F6-A988-6CD1684552D0}" srcOrd="1" destOrd="0" parTransId="{E208FA32-2091-495E-B4C2-6B80008F9CAD}" sibTransId="{F161C631-5AB8-44C6-9E90-703F20CAB291}"/>
    <dgm:cxn modelId="{4EFA3793-A0BB-414F-9D80-1CA7AE48B36B}" type="presOf" srcId="{F364456F-8E65-4636-BB7D-0F4830F35F54}" destId="{8706CEF9-D71A-4D03-8EC9-B864E4740EB8}" srcOrd="0" destOrd="0" presId="urn:microsoft.com/office/officeart/2005/8/layout/process4"/>
    <dgm:cxn modelId="{741F3595-0363-4256-A374-0CF903CC8A7A}" type="presOf" srcId="{D887B2C0-8028-4EA5-A161-FB77DB21CFED}" destId="{CC61FE89-B400-451A-BF86-549F59D0BEEF}" srcOrd="0" destOrd="0" presId="urn:microsoft.com/office/officeart/2005/8/layout/process4"/>
    <dgm:cxn modelId="{B3275199-2F1D-49A7-B5A4-521BD70EA881}" type="presOf" srcId="{6FC1324D-BF26-43F6-A988-6CD1684552D0}" destId="{3774F3A7-FEB7-4DCB-B799-DE8598627CCA}" srcOrd="1" destOrd="0" presId="urn:microsoft.com/office/officeart/2005/8/layout/process4"/>
    <dgm:cxn modelId="{4034EF9E-7E62-4D53-92FD-15D842087C0D}" type="presOf" srcId="{A16B70FE-FAA2-4E25-8DEC-2FDE938BC4B5}" destId="{173EEFF4-2F70-46D0-B7A0-0D47DE326EAE}" srcOrd="0" destOrd="0" presId="urn:microsoft.com/office/officeart/2005/8/layout/process4"/>
    <dgm:cxn modelId="{2E85EABA-162A-44A3-9622-1186E0E06C16}" srcId="{2CAA02EE-38CC-4D49-8AFE-0EB8B67FAC6D}" destId="{1F267F69-3E8D-4568-A9DA-AEDD278A21B6}" srcOrd="1" destOrd="0" parTransId="{191ED1FC-C7AA-4C0E-99D8-67239C3A143A}" sibTransId="{9B0FA318-A9E9-46D8-BF79-136E1BEA3952}"/>
    <dgm:cxn modelId="{283280BC-A015-44C3-868E-EE5E91BE11DE}" type="presOf" srcId="{1F267F69-3E8D-4568-A9DA-AEDD278A21B6}" destId="{DC2632BB-6846-4873-9E8E-6B800ABD4244}" srcOrd="0" destOrd="0" presId="urn:microsoft.com/office/officeart/2005/8/layout/process4"/>
    <dgm:cxn modelId="{3F7C60D9-9218-4F7C-8747-798DEBFB4383}" type="presOf" srcId="{2CAA02EE-38CC-4D49-8AFE-0EB8B67FAC6D}" destId="{E31540E3-DA47-4EFF-B423-CFA3F73A0D35}" srcOrd="1" destOrd="0" presId="urn:microsoft.com/office/officeart/2005/8/layout/process4"/>
    <dgm:cxn modelId="{846DDDE5-AA01-4714-BACB-BF66611E2F7C}" type="presOf" srcId="{4F6385AF-9C7D-4794-83FE-2AFE05C12A32}" destId="{0C7A34D1-7466-467D-B683-D69B316DA155}" srcOrd="0" destOrd="0" presId="urn:microsoft.com/office/officeart/2005/8/layout/process4"/>
    <dgm:cxn modelId="{F5E9E3EA-C0BD-4D9B-BA8F-693A7585D664}" type="presOf" srcId="{C48B50AC-CE82-45DE-8281-E290C3EA98A3}" destId="{0370C00B-4053-44E7-95A9-3FAEEA731879}" srcOrd="0" destOrd="0" presId="urn:microsoft.com/office/officeart/2005/8/layout/process4"/>
    <dgm:cxn modelId="{A8DA91EC-709E-4B11-99BF-426625FD82DA}" srcId="{A16B70FE-FAA2-4E25-8DEC-2FDE938BC4B5}" destId="{268E1004-0DD9-4EFE-9737-8F396C5D975E}" srcOrd="0" destOrd="0" parTransId="{06FE3C5C-27B0-48FB-9A03-04365464F38E}" sibTransId="{2184BAD3-5A7D-457E-9D5A-33A4F115D543}"/>
    <dgm:cxn modelId="{B8587011-8BE6-4FE8-81C8-9F10639D0118}" type="presParOf" srcId="{CC61FE89-B400-451A-BF86-549F59D0BEEF}" destId="{8BBDEC12-541A-4DF8-8EB9-A86E8212D876}" srcOrd="0" destOrd="0" presId="urn:microsoft.com/office/officeart/2005/8/layout/process4"/>
    <dgm:cxn modelId="{E3C60FDC-FF73-4C92-BE39-1985817B914E}" type="presParOf" srcId="{8BBDEC12-541A-4DF8-8EB9-A86E8212D876}" destId="{173EEFF4-2F70-46D0-B7A0-0D47DE326EAE}" srcOrd="0" destOrd="0" presId="urn:microsoft.com/office/officeart/2005/8/layout/process4"/>
    <dgm:cxn modelId="{B3BB5E9A-D016-43D1-A3EF-1F800D65A492}" type="presParOf" srcId="{8BBDEC12-541A-4DF8-8EB9-A86E8212D876}" destId="{AA9DA410-23F3-4ADF-8E72-D128F9B01907}" srcOrd="1" destOrd="0" presId="urn:microsoft.com/office/officeart/2005/8/layout/process4"/>
    <dgm:cxn modelId="{500A4A88-86C5-450B-93A4-72262CED0CFB}" type="presParOf" srcId="{8BBDEC12-541A-4DF8-8EB9-A86E8212D876}" destId="{11F8835C-502A-4976-B2FF-D59575F44341}" srcOrd="2" destOrd="0" presId="urn:microsoft.com/office/officeart/2005/8/layout/process4"/>
    <dgm:cxn modelId="{824F894C-7C24-486C-A1C7-5D4B933033F3}" type="presParOf" srcId="{11F8835C-502A-4976-B2FF-D59575F44341}" destId="{D5C94A91-C51C-4BC5-AD94-5C20BEDD56E3}" srcOrd="0" destOrd="0" presId="urn:microsoft.com/office/officeart/2005/8/layout/process4"/>
    <dgm:cxn modelId="{FCDDBCF4-1603-4F50-A644-91F698089C51}" type="presParOf" srcId="{11F8835C-502A-4976-B2FF-D59575F44341}" destId="{8706CEF9-D71A-4D03-8EC9-B864E4740EB8}" srcOrd="1" destOrd="0" presId="urn:microsoft.com/office/officeart/2005/8/layout/process4"/>
    <dgm:cxn modelId="{86B2BABC-7439-49E1-83EF-D63702B477FB}" type="presParOf" srcId="{11F8835C-502A-4976-B2FF-D59575F44341}" destId="{464AC235-BAE3-498B-8F4B-E59F9A937119}" srcOrd="2" destOrd="0" presId="urn:microsoft.com/office/officeart/2005/8/layout/process4"/>
    <dgm:cxn modelId="{FFF89861-5287-4EFE-B12F-A647F89DF737}" type="presParOf" srcId="{CC61FE89-B400-451A-BF86-549F59D0BEEF}" destId="{396CE2AA-92B5-466E-9F00-107A27807822}" srcOrd="1" destOrd="0" presId="urn:microsoft.com/office/officeart/2005/8/layout/process4"/>
    <dgm:cxn modelId="{2C567530-BC28-43FF-AABB-ADE01DC0DEF9}" type="presParOf" srcId="{CC61FE89-B400-451A-BF86-549F59D0BEEF}" destId="{ED9F4FF2-70F8-4490-8245-5A9400D6C276}" srcOrd="2" destOrd="0" presId="urn:microsoft.com/office/officeart/2005/8/layout/process4"/>
    <dgm:cxn modelId="{4EBE2BFE-78DB-44F8-8EF1-E54CE8188585}" type="presParOf" srcId="{ED9F4FF2-70F8-4490-8245-5A9400D6C276}" destId="{7FE3CD19-A3F7-4145-9662-381522A03A05}" srcOrd="0" destOrd="0" presId="urn:microsoft.com/office/officeart/2005/8/layout/process4"/>
    <dgm:cxn modelId="{CF158897-FCD2-4872-BD19-B2A9662229F1}" type="presParOf" srcId="{ED9F4FF2-70F8-4490-8245-5A9400D6C276}" destId="{3774F3A7-FEB7-4DCB-B799-DE8598627CCA}" srcOrd="1" destOrd="0" presId="urn:microsoft.com/office/officeart/2005/8/layout/process4"/>
    <dgm:cxn modelId="{BA2B6566-8D72-4D69-BB09-C1A17324773F}" type="presParOf" srcId="{ED9F4FF2-70F8-4490-8245-5A9400D6C276}" destId="{0BF0AE9C-E61E-4E78-88C7-AC2F89742649}" srcOrd="2" destOrd="0" presId="urn:microsoft.com/office/officeart/2005/8/layout/process4"/>
    <dgm:cxn modelId="{55B0C58A-0F8B-4369-B50E-4006CBFF3BF9}" type="presParOf" srcId="{0BF0AE9C-E61E-4E78-88C7-AC2F89742649}" destId="{0370C00B-4053-44E7-95A9-3FAEEA731879}" srcOrd="0" destOrd="0" presId="urn:microsoft.com/office/officeart/2005/8/layout/process4"/>
    <dgm:cxn modelId="{A71B94A4-A922-4646-A164-244E50F8D5F9}" type="presParOf" srcId="{0BF0AE9C-E61E-4E78-88C7-AC2F89742649}" destId="{8A80FFF9-3732-48EC-BA96-9D8916B7E534}" srcOrd="1" destOrd="0" presId="urn:microsoft.com/office/officeart/2005/8/layout/process4"/>
    <dgm:cxn modelId="{1B377939-2BF6-48B5-9008-03FD14429D97}" type="presParOf" srcId="{0BF0AE9C-E61E-4E78-88C7-AC2F89742649}" destId="{2DFBF6F8-05A5-4889-9DE6-2AF1789CB3C8}" srcOrd="2" destOrd="0" presId="urn:microsoft.com/office/officeart/2005/8/layout/process4"/>
    <dgm:cxn modelId="{2E7E8C78-0168-411D-BFB8-267D377C8B1B}" type="presParOf" srcId="{CC61FE89-B400-451A-BF86-549F59D0BEEF}" destId="{6D5C7374-304D-45D4-A56B-960A6D3423A0}" srcOrd="3" destOrd="0" presId="urn:microsoft.com/office/officeart/2005/8/layout/process4"/>
    <dgm:cxn modelId="{1B3553D9-13C7-43DD-8B70-AB26F164D06B}" type="presParOf" srcId="{CC61FE89-B400-451A-BF86-549F59D0BEEF}" destId="{502EAB38-6EB5-49F6-9240-67D22E69F179}" srcOrd="4" destOrd="0" presId="urn:microsoft.com/office/officeart/2005/8/layout/process4"/>
    <dgm:cxn modelId="{08EB50BD-13A0-4E6C-9F4B-244DE441CB58}" type="presParOf" srcId="{502EAB38-6EB5-49F6-9240-67D22E69F179}" destId="{EEF40689-167C-4DC3-9229-537942812F02}" srcOrd="0" destOrd="0" presId="urn:microsoft.com/office/officeart/2005/8/layout/process4"/>
    <dgm:cxn modelId="{61E2CAED-0AC4-4072-9C16-467BD5983E69}" type="presParOf" srcId="{502EAB38-6EB5-49F6-9240-67D22E69F179}" destId="{E31540E3-DA47-4EFF-B423-CFA3F73A0D35}" srcOrd="1" destOrd="0" presId="urn:microsoft.com/office/officeart/2005/8/layout/process4"/>
    <dgm:cxn modelId="{E99537F9-529F-4C57-8E2E-82C4170D10B2}" type="presParOf" srcId="{502EAB38-6EB5-49F6-9240-67D22E69F179}" destId="{B24AEC57-2C0F-4C8A-8DC1-DB8F9690414C}" srcOrd="2" destOrd="0" presId="urn:microsoft.com/office/officeart/2005/8/layout/process4"/>
    <dgm:cxn modelId="{15281D87-CF94-4838-BD9D-24E8AF7013CC}" type="presParOf" srcId="{B24AEC57-2C0F-4C8A-8DC1-DB8F9690414C}" destId="{0C7A34D1-7466-467D-B683-D69B316DA155}" srcOrd="0" destOrd="0" presId="urn:microsoft.com/office/officeart/2005/8/layout/process4"/>
    <dgm:cxn modelId="{E0DCDC52-2D4C-4AD8-8A29-B5FCC47C0065}" type="presParOf" srcId="{B24AEC57-2C0F-4C8A-8DC1-DB8F9690414C}" destId="{DC2632BB-6846-4873-9E8E-6B800ABD4244}"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87B2C0-8028-4EA5-A161-FB77DB21CFED}" type="doc">
      <dgm:prSet loTypeId="urn:microsoft.com/office/officeart/2005/8/layout/process4" loCatId="list" qsTypeId="urn:microsoft.com/office/officeart/2005/8/quickstyle/simple1" qsCatId="simple" csTypeId="urn:microsoft.com/office/officeart/2005/8/colors/colorful5" csCatId="colorful" phldr="1"/>
      <dgm:spPr/>
      <dgm:t>
        <a:bodyPr/>
        <a:lstStyle/>
        <a:p>
          <a:endParaRPr lang="en-IN"/>
        </a:p>
      </dgm:t>
    </dgm:pt>
    <dgm:pt modelId="{2CAA02EE-38CC-4D49-8AFE-0EB8B67FAC6D}">
      <dgm:prSet phldrT="[Text]" custT="1"/>
      <dgm:spPr/>
      <dgm:t>
        <a:bodyPr/>
        <a:lstStyle/>
        <a:p>
          <a:r>
            <a:rPr lang="en-IN" sz="2200" b="1" dirty="0">
              <a:solidFill>
                <a:schemeClr val="tx2"/>
              </a:solidFill>
            </a:rPr>
            <a:t>Read the Selected Articles Thoroughly and Evaluate Them</a:t>
          </a:r>
        </a:p>
      </dgm:t>
    </dgm:pt>
    <dgm:pt modelId="{D47BFF81-16C2-4A64-BD35-20B96793CC11}" type="parTrans" cxnId="{0D0A415E-5473-41A3-9E68-C0BEFB5A4483}">
      <dgm:prSet/>
      <dgm:spPr/>
      <dgm:t>
        <a:bodyPr/>
        <a:lstStyle/>
        <a:p>
          <a:endParaRPr lang="en-IN">
            <a:solidFill>
              <a:srgbClr val="00B0F0"/>
            </a:solidFill>
          </a:endParaRPr>
        </a:p>
      </dgm:t>
    </dgm:pt>
    <dgm:pt modelId="{56A18C78-463B-41C0-B1C3-BEBE08964168}" type="sibTrans" cxnId="{0D0A415E-5473-41A3-9E68-C0BEFB5A4483}">
      <dgm:prSet/>
      <dgm:spPr/>
      <dgm:t>
        <a:bodyPr/>
        <a:lstStyle/>
        <a:p>
          <a:endParaRPr lang="en-IN">
            <a:solidFill>
              <a:srgbClr val="00B0F0"/>
            </a:solidFill>
          </a:endParaRPr>
        </a:p>
      </dgm:t>
    </dgm:pt>
    <dgm:pt modelId="{4F6385AF-9C7D-4794-83FE-2AFE05C12A32}">
      <dgm:prSet phldrT="[Text]" custT="1"/>
      <dgm:spPr/>
      <dgm:t>
        <a:bodyPr/>
        <a:lstStyle/>
        <a:p>
          <a:r>
            <a:rPr lang="en-IN" sz="1600" dirty="0">
              <a:solidFill>
                <a:schemeClr val="tx1"/>
              </a:solidFill>
            </a:rPr>
            <a:t>1. assumptions</a:t>
          </a:r>
        </a:p>
      </dgm:t>
    </dgm:pt>
    <dgm:pt modelId="{4ACE4D24-98FD-4A14-84B0-550CC6C41027}" type="parTrans" cxnId="{75A7A404-81E8-4634-9ABA-42C284BAAD18}">
      <dgm:prSet/>
      <dgm:spPr/>
      <dgm:t>
        <a:bodyPr/>
        <a:lstStyle/>
        <a:p>
          <a:endParaRPr lang="en-IN">
            <a:solidFill>
              <a:srgbClr val="00B0F0"/>
            </a:solidFill>
          </a:endParaRPr>
        </a:p>
      </dgm:t>
    </dgm:pt>
    <dgm:pt modelId="{DFF733BC-6242-4975-BA3C-4A519F3EB472}" type="sibTrans" cxnId="{75A7A404-81E8-4634-9ABA-42C284BAAD18}">
      <dgm:prSet/>
      <dgm:spPr/>
      <dgm:t>
        <a:bodyPr/>
        <a:lstStyle/>
        <a:p>
          <a:endParaRPr lang="en-IN">
            <a:solidFill>
              <a:srgbClr val="00B0F0"/>
            </a:solidFill>
          </a:endParaRPr>
        </a:p>
      </dgm:t>
    </dgm:pt>
    <dgm:pt modelId="{1F267F69-3E8D-4568-A9DA-AEDD278A21B6}">
      <dgm:prSet phldrT="[Text]" custT="1"/>
      <dgm:spPr/>
      <dgm:t>
        <a:bodyPr/>
        <a:lstStyle/>
        <a:p>
          <a:r>
            <a:rPr lang="en-IN" sz="1600" dirty="0">
              <a:solidFill>
                <a:schemeClr val="tx1"/>
              </a:solidFill>
            </a:rPr>
            <a:t>2. methodologies</a:t>
          </a:r>
          <a:r>
            <a:rPr lang="en-IN" sz="1600" dirty="0">
              <a:solidFill>
                <a:srgbClr val="00B0F0"/>
              </a:solidFill>
            </a:rPr>
            <a:t> </a:t>
          </a:r>
        </a:p>
      </dgm:t>
    </dgm:pt>
    <dgm:pt modelId="{191ED1FC-C7AA-4C0E-99D8-67239C3A143A}" type="parTrans" cxnId="{2E85EABA-162A-44A3-9622-1186E0E06C16}">
      <dgm:prSet/>
      <dgm:spPr/>
      <dgm:t>
        <a:bodyPr/>
        <a:lstStyle/>
        <a:p>
          <a:endParaRPr lang="en-IN">
            <a:solidFill>
              <a:srgbClr val="00B0F0"/>
            </a:solidFill>
          </a:endParaRPr>
        </a:p>
      </dgm:t>
    </dgm:pt>
    <dgm:pt modelId="{9B0FA318-A9E9-46D8-BF79-136E1BEA3952}" type="sibTrans" cxnId="{2E85EABA-162A-44A3-9622-1186E0E06C16}">
      <dgm:prSet/>
      <dgm:spPr/>
      <dgm:t>
        <a:bodyPr/>
        <a:lstStyle/>
        <a:p>
          <a:endParaRPr lang="en-IN">
            <a:solidFill>
              <a:srgbClr val="00B0F0"/>
            </a:solidFill>
          </a:endParaRPr>
        </a:p>
      </dgm:t>
    </dgm:pt>
    <dgm:pt modelId="{6FC1324D-BF26-43F6-A988-6CD1684552D0}">
      <dgm:prSet phldrT="[Text]" custT="1"/>
      <dgm:spPr/>
      <dgm:t>
        <a:bodyPr/>
        <a:lstStyle/>
        <a:p>
          <a:r>
            <a:rPr lang="en-IN" sz="2200" b="1" dirty="0">
              <a:solidFill>
                <a:schemeClr val="tx2"/>
              </a:solidFill>
            </a:rPr>
            <a:t>Organize the Selected Papers By Looking For Patterns and By Developing Subtopics</a:t>
          </a:r>
          <a:endParaRPr lang="en-IN" sz="2200" dirty="0">
            <a:solidFill>
              <a:schemeClr val="tx2"/>
            </a:solidFill>
          </a:endParaRPr>
        </a:p>
      </dgm:t>
    </dgm:pt>
    <dgm:pt modelId="{E208FA32-2091-495E-B4C2-6B80008F9CAD}" type="parTrans" cxnId="{0A7A068D-CDE8-467E-B321-40F36C3CA26A}">
      <dgm:prSet/>
      <dgm:spPr/>
      <dgm:t>
        <a:bodyPr/>
        <a:lstStyle/>
        <a:p>
          <a:endParaRPr lang="en-IN">
            <a:solidFill>
              <a:srgbClr val="00B0F0"/>
            </a:solidFill>
          </a:endParaRPr>
        </a:p>
      </dgm:t>
    </dgm:pt>
    <dgm:pt modelId="{F161C631-5AB8-44C6-9E90-703F20CAB291}" type="sibTrans" cxnId="{0A7A068D-CDE8-467E-B321-40F36C3CA26A}">
      <dgm:prSet/>
      <dgm:spPr/>
      <dgm:t>
        <a:bodyPr/>
        <a:lstStyle/>
        <a:p>
          <a:endParaRPr lang="en-IN">
            <a:solidFill>
              <a:srgbClr val="00B0F0"/>
            </a:solidFill>
          </a:endParaRPr>
        </a:p>
      </dgm:t>
    </dgm:pt>
    <dgm:pt modelId="{C48B50AC-CE82-45DE-8281-E290C3EA98A3}">
      <dgm:prSet phldrT="[Text]"/>
      <dgm:spPr/>
      <dgm:t>
        <a:bodyPr/>
        <a:lstStyle/>
        <a:p>
          <a:r>
            <a:rPr lang="en-IN" dirty="0">
              <a:solidFill>
                <a:schemeClr val="tx1"/>
              </a:solidFill>
            </a:rPr>
            <a:t>1. Common Findings. </a:t>
          </a:r>
        </a:p>
      </dgm:t>
    </dgm:pt>
    <dgm:pt modelId="{5EAAB9F4-C830-49F3-AA01-F5602A82C074}" type="parTrans" cxnId="{ABDB3807-8BF9-4515-9046-F4F56551FB16}">
      <dgm:prSet/>
      <dgm:spPr/>
      <dgm:t>
        <a:bodyPr/>
        <a:lstStyle/>
        <a:p>
          <a:endParaRPr lang="en-IN">
            <a:solidFill>
              <a:srgbClr val="00B0F0"/>
            </a:solidFill>
          </a:endParaRPr>
        </a:p>
      </dgm:t>
    </dgm:pt>
    <dgm:pt modelId="{8F5F3C55-F783-48F7-A0C2-337959B40366}" type="sibTrans" cxnId="{ABDB3807-8BF9-4515-9046-F4F56551FB16}">
      <dgm:prSet/>
      <dgm:spPr/>
      <dgm:t>
        <a:bodyPr/>
        <a:lstStyle/>
        <a:p>
          <a:endParaRPr lang="en-IN">
            <a:solidFill>
              <a:srgbClr val="00B0F0"/>
            </a:solidFill>
          </a:endParaRPr>
        </a:p>
      </dgm:t>
    </dgm:pt>
    <dgm:pt modelId="{B7B8C029-A63B-4BFB-BCF9-05C07CAE6EA3}">
      <dgm:prSet phldrT="[Text]" custT="1"/>
      <dgm:spPr/>
      <dgm:t>
        <a:bodyPr/>
        <a:lstStyle/>
        <a:p>
          <a:r>
            <a:rPr lang="en-IN" sz="2200" b="1" dirty="0">
              <a:solidFill>
                <a:schemeClr val="tx1"/>
              </a:solidFill>
            </a:rPr>
            <a:t>Develop a Working Thesis</a:t>
          </a:r>
          <a:endParaRPr lang="en-IN" sz="2200" dirty="0">
            <a:solidFill>
              <a:schemeClr val="tx1"/>
            </a:solidFill>
          </a:endParaRPr>
        </a:p>
      </dgm:t>
    </dgm:pt>
    <dgm:pt modelId="{133631D0-FFE8-456A-9428-31D2F5C2B69B}" type="parTrans" cxnId="{955F7F21-BFC4-4A21-9D55-D4F77FDDE8E1}">
      <dgm:prSet/>
      <dgm:spPr/>
      <dgm:t>
        <a:bodyPr/>
        <a:lstStyle/>
        <a:p>
          <a:endParaRPr lang="en-IN">
            <a:solidFill>
              <a:srgbClr val="00B0F0"/>
            </a:solidFill>
          </a:endParaRPr>
        </a:p>
      </dgm:t>
    </dgm:pt>
    <dgm:pt modelId="{793F5975-E33F-44DA-8FD8-BCA18DC1AC73}" type="sibTrans" cxnId="{955F7F21-BFC4-4A21-9D55-D4F77FDDE8E1}">
      <dgm:prSet/>
      <dgm:spPr/>
      <dgm:t>
        <a:bodyPr/>
        <a:lstStyle/>
        <a:p>
          <a:endParaRPr lang="en-IN">
            <a:solidFill>
              <a:srgbClr val="00B0F0"/>
            </a:solidFill>
          </a:endParaRPr>
        </a:p>
      </dgm:t>
    </dgm:pt>
    <dgm:pt modelId="{F7201843-A122-49C5-B125-FBFE022DDB9F}">
      <dgm:prSet phldrT="[Text]" custT="1"/>
      <dgm:spPr/>
      <dgm:t>
        <a:bodyPr/>
        <a:lstStyle/>
        <a:p>
          <a:r>
            <a:rPr lang="en-IN" sz="1600" dirty="0">
              <a:solidFill>
                <a:schemeClr val="tx1"/>
              </a:solidFill>
            </a:rPr>
            <a:t>3. Evaluate and synthesize </a:t>
          </a:r>
        </a:p>
      </dgm:t>
    </dgm:pt>
    <dgm:pt modelId="{24BAD08F-6A7B-4DEB-BA3A-650C1C652729}" type="parTrans" cxnId="{A1F5879D-608D-4E83-8DAF-F03AFC860B95}">
      <dgm:prSet/>
      <dgm:spPr/>
      <dgm:t>
        <a:bodyPr/>
        <a:lstStyle/>
        <a:p>
          <a:endParaRPr lang="en-IN">
            <a:solidFill>
              <a:srgbClr val="00B0F0"/>
            </a:solidFill>
          </a:endParaRPr>
        </a:p>
      </dgm:t>
    </dgm:pt>
    <dgm:pt modelId="{09FF5344-4DDB-471C-9089-AFA3755B20C6}" type="sibTrans" cxnId="{A1F5879D-608D-4E83-8DAF-F03AFC860B95}">
      <dgm:prSet/>
      <dgm:spPr/>
      <dgm:t>
        <a:bodyPr/>
        <a:lstStyle/>
        <a:p>
          <a:endParaRPr lang="en-IN">
            <a:solidFill>
              <a:srgbClr val="00B0F0"/>
            </a:solidFill>
          </a:endParaRPr>
        </a:p>
      </dgm:t>
    </dgm:pt>
    <dgm:pt modelId="{5029C22B-D839-4E65-AACF-B62D6833B730}">
      <dgm:prSet phldrT="[Text]" custT="1"/>
      <dgm:spPr/>
      <dgm:t>
        <a:bodyPr/>
        <a:lstStyle/>
        <a:p>
          <a:r>
            <a:rPr lang="en-IN" sz="1600" dirty="0">
              <a:solidFill>
                <a:schemeClr val="tx1"/>
              </a:solidFill>
            </a:rPr>
            <a:t>4. Note experts in the ﬁeld</a:t>
          </a:r>
        </a:p>
      </dgm:t>
    </dgm:pt>
    <dgm:pt modelId="{D7096B42-973D-482A-B391-E1542BB9173F}" type="parTrans" cxnId="{C6E91322-1AD6-4D08-AFD1-AD51BFEE3D4F}">
      <dgm:prSet/>
      <dgm:spPr/>
      <dgm:t>
        <a:bodyPr/>
        <a:lstStyle/>
        <a:p>
          <a:endParaRPr lang="en-IN">
            <a:solidFill>
              <a:srgbClr val="00B0F0"/>
            </a:solidFill>
          </a:endParaRPr>
        </a:p>
      </dgm:t>
    </dgm:pt>
    <dgm:pt modelId="{FE717A9E-00C8-434D-B6E8-FC5C4368BE0C}" type="sibTrans" cxnId="{C6E91322-1AD6-4D08-AFD1-AD51BFEE3D4F}">
      <dgm:prSet/>
      <dgm:spPr/>
      <dgm:t>
        <a:bodyPr/>
        <a:lstStyle/>
        <a:p>
          <a:endParaRPr lang="en-IN">
            <a:solidFill>
              <a:srgbClr val="00B0F0"/>
            </a:solidFill>
          </a:endParaRPr>
        </a:p>
      </dgm:t>
    </dgm:pt>
    <dgm:pt modelId="{68E40A16-BEAC-4390-85C0-9C1DD60C2FCF}">
      <dgm:prSet phldrT="[Text]" custT="1"/>
      <dgm:spPr/>
      <dgm:t>
        <a:bodyPr/>
        <a:lstStyle/>
        <a:p>
          <a:r>
            <a:rPr lang="en-IN" sz="1600" dirty="0">
              <a:solidFill>
                <a:schemeClr val="tx1"/>
              </a:solidFill>
            </a:rPr>
            <a:t>5. Note conﬂicts </a:t>
          </a:r>
        </a:p>
      </dgm:t>
    </dgm:pt>
    <dgm:pt modelId="{BBEED7CE-ECEA-4F0E-8FC2-BF0A5A001D73}" type="parTrans" cxnId="{2E4DF6ED-7016-47B1-A283-FFAC71CB9AE5}">
      <dgm:prSet/>
      <dgm:spPr/>
      <dgm:t>
        <a:bodyPr/>
        <a:lstStyle/>
        <a:p>
          <a:endParaRPr lang="en-IN">
            <a:solidFill>
              <a:srgbClr val="00B0F0"/>
            </a:solidFill>
          </a:endParaRPr>
        </a:p>
      </dgm:t>
    </dgm:pt>
    <dgm:pt modelId="{9F17DE60-1F23-4D46-A641-7045720DDE36}" type="sibTrans" cxnId="{2E4DF6ED-7016-47B1-A283-FFAC71CB9AE5}">
      <dgm:prSet/>
      <dgm:spPr/>
      <dgm:t>
        <a:bodyPr/>
        <a:lstStyle/>
        <a:p>
          <a:endParaRPr lang="en-IN">
            <a:solidFill>
              <a:srgbClr val="00B0F0"/>
            </a:solidFill>
          </a:endParaRPr>
        </a:p>
      </dgm:t>
    </dgm:pt>
    <dgm:pt modelId="{9DD52C80-A4F9-4E6C-9DAB-EF9EE30B0B7B}">
      <dgm:prSet phldrT="[Text]" custT="1"/>
      <dgm:spPr/>
      <dgm:t>
        <a:bodyPr/>
        <a:lstStyle/>
        <a:p>
          <a:r>
            <a:rPr lang="en-IN" sz="1600" dirty="0">
              <a:solidFill>
                <a:schemeClr val="tx1"/>
              </a:solidFill>
            </a:rPr>
            <a:t>6. Note Popularity </a:t>
          </a:r>
        </a:p>
      </dgm:t>
    </dgm:pt>
    <dgm:pt modelId="{C4089D11-7074-4BDC-A258-4B18F9051CD3}" type="parTrans" cxnId="{A404A37B-F189-47C3-A75F-D3DB891F33EE}">
      <dgm:prSet/>
      <dgm:spPr/>
      <dgm:t>
        <a:bodyPr/>
        <a:lstStyle/>
        <a:p>
          <a:endParaRPr lang="en-IN">
            <a:solidFill>
              <a:srgbClr val="00B0F0"/>
            </a:solidFill>
          </a:endParaRPr>
        </a:p>
      </dgm:t>
    </dgm:pt>
    <dgm:pt modelId="{EAE0053C-9E7A-4A7A-87E8-0DACB461725E}" type="sibTrans" cxnId="{A404A37B-F189-47C3-A75F-D3DB891F33EE}">
      <dgm:prSet/>
      <dgm:spPr/>
      <dgm:t>
        <a:bodyPr/>
        <a:lstStyle/>
        <a:p>
          <a:endParaRPr lang="en-IN">
            <a:solidFill>
              <a:srgbClr val="00B0F0"/>
            </a:solidFill>
          </a:endParaRPr>
        </a:p>
      </dgm:t>
    </dgm:pt>
    <dgm:pt modelId="{863FA687-D53A-47BF-9970-2126FD5B44BD}">
      <dgm:prSet phldrT="[Text]"/>
      <dgm:spPr/>
      <dgm:t>
        <a:bodyPr/>
        <a:lstStyle/>
        <a:p>
          <a:r>
            <a:rPr lang="en-IN" dirty="0">
              <a:solidFill>
                <a:schemeClr val="tx1"/>
              </a:solidFill>
            </a:rPr>
            <a:t>2.Two or three important trends </a:t>
          </a:r>
        </a:p>
      </dgm:t>
    </dgm:pt>
    <dgm:pt modelId="{859CB2E9-6D7F-47C2-BC81-B7B38DC85A0C}" type="parTrans" cxnId="{BD507B08-E224-4B93-8ECE-49C00C06C885}">
      <dgm:prSet/>
      <dgm:spPr/>
      <dgm:t>
        <a:bodyPr/>
        <a:lstStyle/>
        <a:p>
          <a:endParaRPr lang="en-IN">
            <a:solidFill>
              <a:srgbClr val="00B0F0"/>
            </a:solidFill>
          </a:endParaRPr>
        </a:p>
      </dgm:t>
    </dgm:pt>
    <dgm:pt modelId="{DCAC1F4C-6ABC-4289-A249-79BB85D7E9A8}" type="sibTrans" cxnId="{BD507B08-E224-4B93-8ECE-49C00C06C885}">
      <dgm:prSet/>
      <dgm:spPr/>
      <dgm:t>
        <a:bodyPr/>
        <a:lstStyle/>
        <a:p>
          <a:endParaRPr lang="en-IN">
            <a:solidFill>
              <a:srgbClr val="00B0F0"/>
            </a:solidFill>
          </a:endParaRPr>
        </a:p>
      </dgm:t>
    </dgm:pt>
    <dgm:pt modelId="{0E46CD95-1646-4D71-9AD5-5D5C530A6F83}">
      <dgm:prSet phldrT="[Text]"/>
      <dgm:spPr/>
      <dgm:t>
        <a:bodyPr/>
        <a:lstStyle/>
        <a:p>
          <a:r>
            <a:rPr lang="en-IN" dirty="0">
              <a:solidFill>
                <a:schemeClr val="tx1"/>
              </a:solidFill>
            </a:rPr>
            <a:t>3. The most inﬂuential theories</a:t>
          </a:r>
        </a:p>
      </dgm:t>
    </dgm:pt>
    <dgm:pt modelId="{32F0A8EA-3DAD-4B65-96DA-D3D7BA85DCBE}" type="parTrans" cxnId="{7F926E78-294D-4F9C-A855-6E8C88DD97CC}">
      <dgm:prSet/>
      <dgm:spPr/>
      <dgm:t>
        <a:bodyPr/>
        <a:lstStyle/>
        <a:p>
          <a:endParaRPr lang="en-IN">
            <a:solidFill>
              <a:srgbClr val="00B0F0"/>
            </a:solidFill>
          </a:endParaRPr>
        </a:p>
      </dgm:t>
    </dgm:pt>
    <dgm:pt modelId="{3EF94FD9-F7DD-4CF8-9B47-08E3A63FE548}" type="sibTrans" cxnId="{7F926E78-294D-4F9C-A855-6E8C88DD97CC}">
      <dgm:prSet/>
      <dgm:spPr/>
      <dgm:t>
        <a:bodyPr/>
        <a:lstStyle/>
        <a:p>
          <a:endParaRPr lang="en-IN">
            <a:solidFill>
              <a:srgbClr val="00B0F0"/>
            </a:solidFill>
          </a:endParaRPr>
        </a:p>
      </dgm:t>
    </dgm:pt>
    <dgm:pt modelId="{CC61FE89-B400-451A-BF86-549F59D0BEEF}" type="pres">
      <dgm:prSet presAssocID="{D887B2C0-8028-4EA5-A161-FB77DB21CFED}" presName="Name0" presStyleCnt="0">
        <dgm:presLayoutVars>
          <dgm:dir/>
          <dgm:animLvl val="lvl"/>
          <dgm:resizeHandles val="exact"/>
        </dgm:presLayoutVars>
      </dgm:prSet>
      <dgm:spPr/>
    </dgm:pt>
    <dgm:pt modelId="{628A7E98-92DE-45B4-BFE0-544501C5F991}" type="pres">
      <dgm:prSet presAssocID="{B7B8C029-A63B-4BFB-BCF9-05C07CAE6EA3}" presName="boxAndChildren" presStyleCnt="0"/>
      <dgm:spPr/>
    </dgm:pt>
    <dgm:pt modelId="{7851C87F-1682-4636-B17D-B4D6EC4619DC}" type="pres">
      <dgm:prSet presAssocID="{B7B8C029-A63B-4BFB-BCF9-05C07CAE6EA3}" presName="parentTextBox" presStyleLbl="node1" presStyleIdx="0" presStyleCnt="3" custScaleY="49565" custLinFactNeighborX="8001" custLinFactNeighborY="12401"/>
      <dgm:spPr/>
    </dgm:pt>
    <dgm:pt modelId="{396CE2AA-92B5-466E-9F00-107A27807822}" type="pres">
      <dgm:prSet presAssocID="{F161C631-5AB8-44C6-9E90-703F20CAB291}" presName="sp" presStyleCnt="0"/>
      <dgm:spPr/>
    </dgm:pt>
    <dgm:pt modelId="{ED9F4FF2-70F8-4490-8245-5A9400D6C276}" type="pres">
      <dgm:prSet presAssocID="{6FC1324D-BF26-43F6-A988-6CD1684552D0}" presName="arrowAndChildren" presStyleCnt="0"/>
      <dgm:spPr/>
    </dgm:pt>
    <dgm:pt modelId="{7FE3CD19-A3F7-4145-9662-381522A03A05}" type="pres">
      <dgm:prSet presAssocID="{6FC1324D-BF26-43F6-A988-6CD1684552D0}" presName="parentTextArrow" presStyleLbl="node1" presStyleIdx="0" presStyleCnt="3"/>
      <dgm:spPr/>
    </dgm:pt>
    <dgm:pt modelId="{3774F3A7-FEB7-4DCB-B799-DE8598627CCA}" type="pres">
      <dgm:prSet presAssocID="{6FC1324D-BF26-43F6-A988-6CD1684552D0}" presName="arrow" presStyleLbl="node1" presStyleIdx="1" presStyleCnt="3" custFlipHor="1" custScaleY="139995" custLinFactNeighborY="-1109"/>
      <dgm:spPr/>
    </dgm:pt>
    <dgm:pt modelId="{0BF0AE9C-E61E-4E78-88C7-AC2F89742649}" type="pres">
      <dgm:prSet presAssocID="{6FC1324D-BF26-43F6-A988-6CD1684552D0}" presName="descendantArrow" presStyleCnt="0"/>
      <dgm:spPr/>
    </dgm:pt>
    <dgm:pt modelId="{0370C00B-4053-44E7-95A9-3FAEEA731879}" type="pres">
      <dgm:prSet presAssocID="{C48B50AC-CE82-45DE-8281-E290C3EA98A3}" presName="childTextArrow" presStyleLbl="fgAccFollowNode1" presStyleIdx="0" presStyleCnt="9" custFlipHor="1" custScaleX="69010" custLinFactNeighborX="-55" custLinFactNeighborY="746">
        <dgm:presLayoutVars>
          <dgm:bulletEnabled val="1"/>
        </dgm:presLayoutVars>
      </dgm:prSet>
      <dgm:spPr/>
    </dgm:pt>
    <dgm:pt modelId="{3CC0AFB5-6470-4762-9E49-F4FE4DF728FF}" type="pres">
      <dgm:prSet presAssocID="{863FA687-D53A-47BF-9970-2126FD5B44BD}" presName="childTextArrow" presStyleLbl="fgAccFollowNode1" presStyleIdx="1" presStyleCnt="9" custLinFactNeighborX="-438" custLinFactNeighborY="746">
        <dgm:presLayoutVars>
          <dgm:bulletEnabled val="1"/>
        </dgm:presLayoutVars>
      </dgm:prSet>
      <dgm:spPr/>
    </dgm:pt>
    <dgm:pt modelId="{8180C045-37F3-452C-B0EF-42B92712A53A}" type="pres">
      <dgm:prSet presAssocID="{0E46CD95-1646-4D71-9AD5-5D5C530A6F83}" presName="childTextArrow" presStyleLbl="fgAccFollowNode1" presStyleIdx="2" presStyleCnt="9">
        <dgm:presLayoutVars>
          <dgm:bulletEnabled val="1"/>
        </dgm:presLayoutVars>
      </dgm:prSet>
      <dgm:spPr/>
    </dgm:pt>
    <dgm:pt modelId="{6D5C7374-304D-45D4-A56B-960A6D3423A0}" type="pres">
      <dgm:prSet presAssocID="{56A18C78-463B-41C0-B1C3-BEBE08964168}" presName="sp" presStyleCnt="0"/>
      <dgm:spPr/>
    </dgm:pt>
    <dgm:pt modelId="{502EAB38-6EB5-49F6-9240-67D22E69F179}" type="pres">
      <dgm:prSet presAssocID="{2CAA02EE-38CC-4D49-8AFE-0EB8B67FAC6D}" presName="arrowAndChildren" presStyleCnt="0"/>
      <dgm:spPr/>
    </dgm:pt>
    <dgm:pt modelId="{EEF40689-167C-4DC3-9229-537942812F02}" type="pres">
      <dgm:prSet presAssocID="{2CAA02EE-38CC-4D49-8AFE-0EB8B67FAC6D}" presName="parentTextArrow" presStyleLbl="node1" presStyleIdx="1" presStyleCnt="3"/>
      <dgm:spPr/>
    </dgm:pt>
    <dgm:pt modelId="{E31540E3-DA47-4EFF-B423-CFA3F73A0D35}" type="pres">
      <dgm:prSet presAssocID="{2CAA02EE-38CC-4D49-8AFE-0EB8B67FAC6D}" presName="arrow" presStyleLbl="node1" presStyleIdx="2" presStyleCnt="3" custLinFactNeighborY="-46"/>
      <dgm:spPr/>
    </dgm:pt>
    <dgm:pt modelId="{B24AEC57-2C0F-4C8A-8DC1-DB8F9690414C}" type="pres">
      <dgm:prSet presAssocID="{2CAA02EE-38CC-4D49-8AFE-0EB8B67FAC6D}" presName="descendantArrow" presStyleCnt="0"/>
      <dgm:spPr/>
    </dgm:pt>
    <dgm:pt modelId="{0C7A34D1-7466-467D-B683-D69B316DA155}" type="pres">
      <dgm:prSet presAssocID="{4F6385AF-9C7D-4794-83FE-2AFE05C12A32}" presName="childTextArrow" presStyleLbl="fgAccFollowNode1" presStyleIdx="3" presStyleCnt="9">
        <dgm:presLayoutVars>
          <dgm:bulletEnabled val="1"/>
        </dgm:presLayoutVars>
      </dgm:prSet>
      <dgm:spPr/>
    </dgm:pt>
    <dgm:pt modelId="{DC2632BB-6846-4873-9E8E-6B800ABD4244}" type="pres">
      <dgm:prSet presAssocID="{1F267F69-3E8D-4568-A9DA-AEDD278A21B6}" presName="childTextArrow" presStyleLbl="fgAccFollowNode1" presStyleIdx="4" presStyleCnt="9">
        <dgm:presLayoutVars>
          <dgm:bulletEnabled val="1"/>
        </dgm:presLayoutVars>
      </dgm:prSet>
      <dgm:spPr/>
    </dgm:pt>
    <dgm:pt modelId="{9BCAF8EB-1F3D-4B92-8A4E-C3D5B90B5350}" type="pres">
      <dgm:prSet presAssocID="{F7201843-A122-49C5-B125-FBFE022DDB9F}" presName="childTextArrow" presStyleLbl="fgAccFollowNode1" presStyleIdx="5" presStyleCnt="9">
        <dgm:presLayoutVars>
          <dgm:bulletEnabled val="1"/>
        </dgm:presLayoutVars>
      </dgm:prSet>
      <dgm:spPr/>
    </dgm:pt>
    <dgm:pt modelId="{C1E7016B-F217-4A6B-BD2C-ED63D75DDCDA}" type="pres">
      <dgm:prSet presAssocID="{5029C22B-D839-4E65-AACF-B62D6833B730}" presName="childTextArrow" presStyleLbl="fgAccFollowNode1" presStyleIdx="6" presStyleCnt="9">
        <dgm:presLayoutVars>
          <dgm:bulletEnabled val="1"/>
        </dgm:presLayoutVars>
      </dgm:prSet>
      <dgm:spPr/>
    </dgm:pt>
    <dgm:pt modelId="{994BADE2-8EFE-4A16-839D-3529CE5CCFC3}" type="pres">
      <dgm:prSet presAssocID="{68E40A16-BEAC-4390-85C0-9C1DD60C2FCF}" presName="childTextArrow" presStyleLbl="fgAccFollowNode1" presStyleIdx="7" presStyleCnt="9">
        <dgm:presLayoutVars>
          <dgm:bulletEnabled val="1"/>
        </dgm:presLayoutVars>
      </dgm:prSet>
      <dgm:spPr/>
    </dgm:pt>
    <dgm:pt modelId="{BB962DC0-6F47-4737-9D97-13A5DB121645}" type="pres">
      <dgm:prSet presAssocID="{9DD52C80-A4F9-4E6C-9DAB-EF9EE30B0B7B}" presName="childTextArrow" presStyleLbl="fgAccFollowNode1" presStyleIdx="8" presStyleCnt="9">
        <dgm:presLayoutVars>
          <dgm:bulletEnabled val="1"/>
        </dgm:presLayoutVars>
      </dgm:prSet>
      <dgm:spPr/>
    </dgm:pt>
  </dgm:ptLst>
  <dgm:cxnLst>
    <dgm:cxn modelId="{75A7A404-81E8-4634-9ABA-42C284BAAD18}" srcId="{2CAA02EE-38CC-4D49-8AFE-0EB8B67FAC6D}" destId="{4F6385AF-9C7D-4794-83FE-2AFE05C12A32}" srcOrd="0" destOrd="0" parTransId="{4ACE4D24-98FD-4A14-84B0-550CC6C41027}" sibTransId="{DFF733BC-6242-4975-BA3C-4A519F3EB472}"/>
    <dgm:cxn modelId="{ABDB3807-8BF9-4515-9046-F4F56551FB16}" srcId="{6FC1324D-BF26-43F6-A988-6CD1684552D0}" destId="{C48B50AC-CE82-45DE-8281-E290C3EA98A3}" srcOrd="0" destOrd="0" parTransId="{5EAAB9F4-C830-49F3-AA01-F5602A82C074}" sibTransId="{8F5F3C55-F783-48F7-A0C2-337959B40366}"/>
    <dgm:cxn modelId="{BD507B08-E224-4B93-8ECE-49C00C06C885}" srcId="{6FC1324D-BF26-43F6-A988-6CD1684552D0}" destId="{863FA687-D53A-47BF-9970-2126FD5B44BD}" srcOrd="1" destOrd="0" parTransId="{859CB2E9-6D7F-47C2-BC81-B7B38DC85A0C}" sibTransId="{DCAC1F4C-6ABC-4289-A249-79BB85D7E9A8}"/>
    <dgm:cxn modelId="{7A27DE13-A202-42D9-8A6C-217553F14B86}" type="presOf" srcId="{863FA687-D53A-47BF-9970-2126FD5B44BD}" destId="{3CC0AFB5-6470-4762-9E49-F4FE4DF728FF}" srcOrd="0" destOrd="0" presId="urn:microsoft.com/office/officeart/2005/8/layout/process4"/>
    <dgm:cxn modelId="{955F7F21-BFC4-4A21-9D55-D4F77FDDE8E1}" srcId="{D887B2C0-8028-4EA5-A161-FB77DB21CFED}" destId="{B7B8C029-A63B-4BFB-BCF9-05C07CAE6EA3}" srcOrd="2" destOrd="0" parTransId="{133631D0-FFE8-456A-9428-31D2F5C2B69B}" sibTransId="{793F5975-E33F-44DA-8FD8-BCA18DC1AC73}"/>
    <dgm:cxn modelId="{C6E91322-1AD6-4D08-AFD1-AD51BFEE3D4F}" srcId="{2CAA02EE-38CC-4D49-8AFE-0EB8B67FAC6D}" destId="{5029C22B-D839-4E65-AACF-B62D6833B730}" srcOrd="3" destOrd="0" parTransId="{D7096B42-973D-482A-B391-E1542BB9173F}" sibTransId="{FE717A9E-00C8-434D-B6E8-FC5C4368BE0C}"/>
    <dgm:cxn modelId="{2A1D3632-EC7A-4FB9-9962-78DCE6A0266F}" type="presOf" srcId="{4F6385AF-9C7D-4794-83FE-2AFE05C12A32}" destId="{0C7A34D1-7466-467D-B683-D69B316DA155}" srcOrd="0" destOrd="0" presId="urn:microsoft.com/office/officeart/2005/8/layout/process4"/>
    <dgm:cxn modelId="{80675F37-0D72-45EF-AC59-308C687C3B74}" type="presOf" srcId="{68E40A16-BEAC-4390-85C0-9C1DD60C2FCF}" destId="{994BADE2-8EFE-4A16-839D-3529CE5CCFC3}" srcOrd="0" destOrd="0" presId="urn:microsoft.com/office/officeart/2005/8/layout/process4"/>
    <dgm:cxn modelId="{D4FAD140-FF6F-4EF2-8C02-C0BF9253B1FA}" type="presOf" srcId="{F7201843-A122-49C5-B125-FBFE022DDB9F}" destId="{9BCAF8EB-1F3D-4B92-8A4E-C3D5B90B5350}" srcOrd="0" destOrd="0" presId="urn:microsoft.com/office/officeart/2005/8/layout/process4"/>
    <dgm:cxn modelId="{0D0A415E-5473-41A3-9E68-C0BEFB5A4483}" srcId="{D887B2C0-8028-4EA5-A161-FB77DB21CFED}" destId="{2CAA02EE-38CC-4D49-8AFE-0EB8B67FAC6D}" srcOrd="0" destOrd="0" parTransId="{D47BFF81-16C2-4A64-BD35-20B96793CC11}" sibTransId="{56A18C78-463B-41C0-B1C3-BEBE08964168}"/>
    <dgm:cxn modelId="{B95EC649-869B-4FC9-99D6-060C8922559B}" type="presOf" srcId="{5029C22B-D839-4E65-AACF-B62D6833B730}" destId="{C1E7016B-F217-4A6B-BD2C-ED63D75DDCDA}" srcOrd="0" destOrd="0" presId="urn:microsoft.com/office/officeart/2005/8/layout/process4"/>
    <dgm:cxn modelId="{57E1BA51-F201-41E1-9C0A-68DF6EF442A6}" type="presOf" srcId="{C48B50AC-CE82-45DE-8281-E290C3EA98A3}" destId="{0370C00B-4053-44E7-95A9-3FAEEA731879}" srcOrd="0" destOrd="0" presId="urn:microsoft.com/office/officeart/2005/8/layout/process4"/>
    <dgm:cxn modelId="{D6F5DD73-D585-4E6B-A78F-AF3E498D6218}" type="presOf" srcId="{6FC1324D-BF26-43F6-A988-6CD1684552D0}" destId="{3774F3A7-FEB7-4DCB-B799-DE8598627CCA}" srcOrd="1" destOrd="0" presId="urn:microsoft.com/office/officeart/2005/8/layout/process4"/>
    <dgm:cxn modelId="{7F926E78-294D-4F9C-A855-6E8C88DD97CC}" srcId="{6FC1324D-BF26-43F6-A988-6CD1684552D0}" destId="{0E46CD95-1646-4D71-9AD5-5D5C530A6F83}" srcOrd="2" destOrd="0" parTransId="{32F0A8EA-3DAD-4B65-96DA-D3D7BA85DCBE}" sibTransId="{3EF94FD9-F7DD-4CF8-9B47-08E3A63FE548}"/>
    <dgm:cxn modelId="{A404A37B-F189-47C3-A75F-D3DB891F33EE}" srcId="{2CAA02EE-38CC-4D49-8AFE-0EB8B67FAC6D}" destId="{9DD52C80-A4F9-4E6C-9DAB-EF9EE30B0B7B}" srcOrd="5" destOrd="0" parTransId="{C4089D11-7074-4BDC-A258-4B18F9051CD3}" sibTransId="{EAE0053C-9E7A-4A7A-87E8-0DACB461725E}"/>
    <dgm:cxn modelId="{AC88908A-F5A7-476F-BAC8-124A886DCC5C}" type="presOf" srcId="{9DD52C80-A4F9-4E6C-9DAB-EF9EE30B0B7B}" destId="{BB962DC0-6F47-4737-9D97-13A5DB121645}" srcOrd="0" destOrd="0" presId="urn:microsoft.com/office/officeart/2005/8/layout/process4"/>
    <dgm:cxn modelId="{0A7A068D-CDE8-467E-B321-40F36C3CA26A}" srcId="{D887B2C0-8028-4EA5-A161-FB77DB21CFED}" destId="{6FC1324D-BF26-43F6-A988-6CD1684552D0}" srcOrd="1" destOrd="0" parTransId="{E208FA32-2091-495E-B4C2-6B80008F9CAD}" sibTransId="{F161C631-5AB8-44C6-9E90-703F20CAB291}"/>
    <dgm:cxn modelId="{A1F5879D-608D-4E83-8DAF-F03AFC860B95}" srcId="{2CAA02EE-38CC-4D49-8AFE-0EB8B67FAC6D}" destId="{F7201843-A122-49C5-B125-FBFE022DDB9F}" srcOrd="2" destOrd="0" parTransId="{24BAD08F-6A7B-4DEB-BA3A-650C1C652729}" sibTransId="{09FF5344-4DDB-471C-9089-AFA3755B20C6}"/>
    <dgm:cxn modelId="{2E85EABA-162A-44A3-9622-1186E0E06C16}" srcId="{2CAA02EE-38CC-4D49-8AFE-0EB8B67FAC6D}" destId="{1F267F69-3E8D-4568-A9DA-AEDD278A21B6}" srcOrd="1" destOrd="0" parTransId="{191ED1FC-C7AA-4C0E-99D8-67239C3A143A}" sibTransId="{9B0FA318-A9E9-46D8-BF79-136E1BEA3952}"/>
    <dgm:cxn modelId="{92B6EFBF-AE3A-4C97-A049-BC8E0982CDA1}" type="presOf" srcId="{2CAA02EE-38CC-4D49-8AFE-0EB8B67FAC6D}" destId="{E31540E3-DA47-4EFF-B423-CFA3F73A0D35}" srcOrd="1" destOrd="0" presId="urn:microsoft.com/office/officeart/2005/8/layout/process4"/>
    <dgm:cxn modelId="{7B5B3DC7-82C6-46B9-9D60-EC100CCF3445}" type="presOf" srcId="{D887B2C0-8028-4EA5-A161-FB77DB21CFED}" destId="{CC61FE89-B400-451A-BF86-549F59D0BEEF}" srcOrd="0" destOrd="0" presId="urn:microsoft.com/office/officeart/2005/8/layout/process4"/>
    <dgm:cxn modelId="{9D2C30D4-F19B-4BCA-AE96-7447A2FBCB25}" type="presOf" srcId="{1F267F69-3E8D-4568-A9DA-AEDD278A21B6}" destId="{DC2632BB-6846-4873-9E8E-6B800ABD4244}" srcOrd="0" destOrd="0" presId="urn:microsoft.com/office/officeart/2005/8/layout/process4"/>
    <dgm:cxn modelId="{7520E5D4-ED63-469E-88B1-41494CC18B66}" type="presOf" srcId="{6FC1324D-BF26-43F6-A988-6CD1684552D0}" destId="{7FE3CD19-A3F7-4145-9662-381522A03A05}" srcOrd="0" destOrd="0" presId="urn:microsoft.com/office/officeart/2005/8/layout/process4"/>
    <dgm:cxn modelId="{4EE3FAD4-FD35-4776-B0DD-EAB7150668F4}" type="presOf" srcId="{2CAA02EE-38CC-4D49-8AFE-0EB8B67FAC6D}" destId="{EEF40689-167C-4DC3-9229-537942812F02}" srcOrd="0" destOrd="0" presId="urn:microsoft.com/office/officeart/2005/8/layout/process4"/>
    <dgm:cxn modelId="{881249EC-988E-48B9-9FD7-5DD73ED7B32E}" type="presOf" srcId="{0E46CD95-1646-4D71-9AD5-5D5C530A6F83}" destId="{8180C045-37F3-452C-B0EF-42B92712A53A}" srcOrd="0" destOrd="0" presId="urn:microsoft.com/office/officeart/2005/8/layout/process4"/>
    <dgm:cxn modelId="{2E4DF6ED-7016-47B1-A283-FFAC71CB9AE5}" srcId="{2CAA02EE-38CC-4D49-8AFE-0EB8B67FAC6D}" destId="{68E40A16-BEAC-4390-85C0-9C1DD60C2FCF}" srcOrd="4" destOrd="0" parTransId="{BBEED7CE-ECEA-4F0E-8FC2-BF0A5A001D73}" sibTransId="{9F17DE60-1F23-4D46-A641-7045720DDE36}"/>
    <dgm:cxn modelId="{B7E8E1F3-A8B8-43C6-96F4-CD89833887EC}" type="presOf" srcId="{B7B8C029-A63B-4BFB-BCF9-05C07CAE6EA3}" destId="{7851C87F-1682-4636-B17D-B4D6EC4619DC}" srcOrd="0" destOrd="0" presId="urn:microsoft.com/office/officeart/2005/8/layout/process4"/>
    <dgm:cxn modelId="{B05127CB-5348-44A6-871C-8EDC73D61A54}" type="presParOf" srcId="{CC61FE89-B400-451A-BF86-549F59D0BEEF}" destId="{628A7E98-92DE-45B4-BFE0-544501C5F991}" srcOrd="0" destOrd="0" presId="urn:microsoft.com/office/officeart/2005/8/layout/process4"/>
    <dgm:cxn modelId="{3A8409E6-6435-4953-9F45-6DB910287201}" type="presParOf" srcId="{628A7E98-92DE-45B4-BFE0-544501C5F991}" destId="{7851C87F-1682-4636-B17D-B4D6EC4619DC}" srcOrd="0" destOrd="0" presId="urn:microsoft.com/office/officeart/2005/8/layout/process4"/>
    <dgm:cxn modelId="{51A01819-799A-4164-A968-5A933EF4A270}" type="presParOf" srcId="{CC61FE89-B400-451A-BF86-549F59D0BEEF}" destId="{396CE2AA-92B5-466E-9F00-107A27807822}" srcOrd="1" destOrd="0" presId="urn:microsoft.com/office/officeart/2005/8/layout/process4"/>
    <dgm:cxn modelId="{3D2ACC6E-170E-455B-96E7-3E390E8DD4CB}" type="presParOf" srcId="{CC61FE89-B400-451A-BF86-549F59D0BEEF}" destId="{ED9F4FF2-70F8-4490-8245-5A9400D6C276}" srcOrd="2" destOrd="0" presId="urn:microsoft.com/office/officeart/2005/8/layout/process4"/>
    <dgm:cxn modelId="{6D8DDAFC-6797-4E4A-9D19-68BAECDEAC45}" type="presParOf" srcId="{ED9F4FF2-70F8-4490-8245-5A9400D6C276}" destId="{7FE3CD19-A3F7-4145-9662-381522A03A05}" srcOrd="0" destOrd="0" presId="urn:microsoft.com/office/officeart/2005/8/layout/process4"/>
    <dgm:cxn modelId="{44C5669B-88AE-453E-AB1A-C81428C2E17C}" type="presParOf" srcId="{ED9F4FF2-70F8-4490-8245-5A9400D6C276}" destId="{3774F3A7-FEB7-4DCB-B799-DE8598627CCA}" srcOrd="1" destOrd="0" presId="urn:microsoft.com/office/officeart/2005/8/layout/process4"/>
    <dgm:cxn modelId="{D77DD7E1-99C7-41A4-A220-9DE6435DD6F7}" type="presParOf" srcId="{ED9F4FF2-70F8-4490-8245-5A9400D6C276}" destId="{0BF0AE9C-E61E-4E78-88C7-AC2F89742649}" srcOrd="2" destOrd="0" presId="urn:microsoft.com/office/officeart/2005/8/layout/process4"/>
    <dgm:cxn modelId="{D9E1A6CE-D181-4DDB-8BAF-0B3C9F088D01}" type="presParOf" srcId="{0BF0AE9C-E61E-4E78-88C7-AC2F89742649}" destId="{0370C00B-4053-44E7-95A9-3FAEEA731879}" srcOrd="0" destOrd="0" presId="urn:microsoft.com/office/officeart/2005/8/layout/process4"/>
    <dgm:cxn modelId="{B295F799-988C-497B-930E-A091B9C076FB}" type="presParOf" srcId="{0BF0AE9C-E61E-4E78-88C7-AC2F89742649}" destId="{3CC0AFB5-6470-4762-9E49-F4FE4DF728FF}" srcOrd="1" destOrd="0" presId="urn:microsoft.com/office/officeart/2005/8/layout/process4"/>
    <dgm:cxn modelId="{5EA9073A-A57F-4951-8417-8201D6DB02D4}" type="presParOf" srcId="{0BF0AE9C-E61E-4E78-88C7-AC2F89742649}" destId="{8180C045-37F3-452C-B0EF-42B92712A53A}" srcOrd="2" destOrd="0" presId="urn:microsoft.com/office/officeart/2005/8/layout/process4"/>
    <dgm:cxn modelId="{E74C27FB-3F56-4445-B2BF-C624411DBE26}" type="presParOf" srcId="{CC61FE89-B400-451A-BF86-549F59D0BEEF}" destId="{6D5C7374-304D-45D4-A56B-960A6D3423A0}" srcOrd="3" destOrd="0" presId="urn:microsoft.com/office/officeart/2005/8/layout/process4"/>
    <dgm:cxn modelId="{2F14A1AC-9DF9-45A3-9C46-7D7EF4938CA6}" type="presParOf" srcId="{CC61FE89-B400-451A-BF86-549F59D0BEEF}" destId="{502EAB38-6EB5-49F6-9240-67D22E69F179}" srcOrd="4" destOrd="0" presId="urn:microsoft.com/office/officeart/2005/8/layout/process4"/>
    <dgm:cxn modelId="{B1079CF0-470F-4534-A45D-BC784C63B768}" type="presParOf" srcId="{502EAB38-6EB5-49F6-9240-67D22E69F179}" destId="{EEF40689-167C-4DC3-9229-537942812F02}" srcOrd="0" destOrd="0" presId="urn:microsoft.com/office/officeart/2005/8/layout/process4"/>
    <dgm:cxn modelId="{1BC4CCF3-8C35-4DEF-9E41-F73F8A099516}" type="presParOf" srcId="{502EAB38-6EB5-49F6-9240-67D22E69F179}" destId="{E31540E3-DA47-4EFF-B423-CFA3F73A0D35}" srcOrd="1" destOrd="0" presId="urn:microsoft.com/office/officeart/2005/8/layout/process4"/>
    <dgm:cxn modelId="{B88452F1-4576-44E5-BDE3-D25DC79C3E50}" type="presParOf" srcId="{502EAB38-6EB5-49F6-9240-67D22E69F179}" destId="{B24AEC57-2C0F-4C8A-8DC1-DB8F9690414C}" srcOrd="2" destOrd="0" presId="urn:microsoft.com/office/officeart/2005/8/layout/process4"/>
    <dgm:cxn modelId="{043C4E61-CB42-4212-B395-B2B1A423558C}" type="presParOf" srcId="{B24AEC57-2C0F-4C8A-8DC1-DB8F9690414C}" destId="{0C7A34D1-7466-467D-B683-D69B316DA155}" srcOrd="0" destOrd="0" presId="urn:microsoft.com/office/officeart/2005/8/layout/process4"/>
    <dgm:cxn modelId="{A7E592A0-F61A-483B-9B29-3401FD1A23DF}" type="presParOf" srcId="{B24AEC57-2C0F-4C8A-8DC1-DB8F9690414C}" destId="{DC2632BB-6846-4873-9E8E-6B800ABD4244}" srcOrd="1" destOrd="0" presId="urn:microsoft.com/office/officeart/2005/8/layout/process4"/>
    <dgm:cxn modelId="{6C50B8E5-03D9-498D-8D1E-A1D4554B63D5}" type="presParOf" srcId="{B24AEC57-2C0F-4C8A-8DC1-DB8F9690414C}" destId="{9BCAF8EB-1F3D-4B92-8A4E-C3D5B90B5350}" srcOrd="2" destOrd="0" presId="urn:microsoft.com/office/officeart/2005/8/layout/process4"/>
    <dgm:cxn modelId="{4174D9AE-3BE1-4802-93AA-0EB578A86E1C}" type="presParOf" srcId="{B24AEC57-2C0F-4C8A-8DC1-DB8F9690414C}" destId="{C1E7016B-F217-4A6B-BD2C-ED63D75DDCDA}" srcOrd="3" destOrd="0" presId="urn:microsoft.com/office/officeart/2005/8/layout/process4"/>
    <dgm:cxn modelId="{39BEAD45-FAE4-4A9E-BF43-94CA2C3D7EAC}" type="presParOf" srcId="{B24AEC57-2C0F-4C8A-8DC1-DB8F9690414C}" destId="{994BADE2-8EFE-4A16-839D-3529CE5CCFC3}" srcOrd="4" destOrd="0" presId="urn:microsoft.com/office/officeart/2005/8/layout/process4"/>
    <dgm:cxn modelId="{6B1D1AEB-C0FF-4B63-B305-538A2188A21E}" type="presParOf" srcId="{B24AEC57-2C0F-4C8A-8DC1-DB8F9690414C}" destId="{BB962DC0-6F47-4737-9D97-13A5DB121645}" srcOrd="5"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87B2C0-8028-4EA5-A161-FB77DB21CFED}" type="doc">
      <dgm:prSet loTypeId="urn:microsoft.com/office/officeart/2005/8/layout/process4" loCatId="list" qsTypeId="urn:microsoft.com/office/officeart/2005/8/quickstyle/simple1" qsCatId="simple" csTypeId="urn:microsoft.com/office/officeart/2005/8/colors/colorful5" csCatId="colorful" phldr="1"/>
      <dgm:spPr/>
      <dgm:t>
        <a:bodyPr/>
        <a:lstStyle/>
        <a:p>
          <a:endParaRPr lang="en-IN"/>
        </a:p>
      </dgm:t>
    </dgm:pt>
    <dgm:pt modelId="{2CAA02EE-38CC-4D49-8AFE-0EB8B67FAC6D}">
      <dgm:prSet phldrT="[Text]" custT="1"/>
      <dgm:spPr/>
      <dgm:t>
        <a:bodyPr/>
        <a:lstStyle/>
        <a:p>
          <a:r>
            <a:rPr lang="en-IN" sz="2200" b="1" dirty="0">
              <a:solidFill>
                <a:schemeClr val="tx2"/>
              </a:solidFill>
            </a:rPr>
            <a:t>Organize Your Own Paper Based on the Findings From Steps 4 &amp; 5</a:t>
          </a:r>
        </a:p>
      </dgm:t>
    </dgm:pt>
    <dgm:pt modelId="{D47BFF81-16C2-4A64-BD35-20B96793CC11}" type="parTrans" cxnId="{0D0A415E-5473-41A3-9E68-C0BEFB5A4483}">
      <dgm:prSet/>
      <dgm:spPr/>
      <dgm:t>
        <a:bodyPr/>
        <a:lstStyle/>
        <a:p>
          <a:endParaRPr lang="en-IN">
            <a:solidFill>
              <a:srgbClr val="00B0F0"/>
            </a:solidFill>
          </a:endParaRPr>
        </a:p>
      </dgm:t>
    </dgm:pt>
    <dgm:pt modelId="{56A18C78-463B-41C0-B1C3-BEBE08964168}" type="sibTrans" cxnId="{0D0A415E-5473-41A3-9E68-C0BEFB5A4483}">
      <dgm:prSet/>
      <dgm:spPr/>
      <dgm:t>
        <a:bodyPr/>
        <a:lstStyle/>
        <a:p>
          <a:endParaRPr lang="en-IN">
            <a:solidFill>
              <a:srgbClr val="00B0F0"/>
            </a:solidFill>
          </a:endParaRPr>
        </a:p>
      </dgm:t>
    </dgm:pt>
    <dgm:pt modelId="{6FC1324D-BF26-43F6-A988-6CD1684552D0}">
      <dgm:prSet phldrT="[Text]" custT="1"/>
      <dgm:spPr/>
      <dgm:t>
        <a:bodyPr/>
        <a:lstStyle/>
        <a:p>
          <a:r>
            <a:rPr lang="en-IN" sz="2200" b="1" dirty="0">
              <a:solidFill>
                <a:schemeClr val="tx2"/>
              </a:solidFill>
            </a:rPr>
            <a:t>Write the Body of the Paper</a:t>
          </a:r>
          <a:endParaRPr lang="en-IN" sz="2200" dirty="0">
            <a:solidFill>
              <a:schemeClr val="tx2"/>
            </a:solidFill>
          </a:endParaRPr>
        </a:p>
      </dgm:t>
    </dgm:pt>
    <dgm:pt modelId="{E208FA32-2091-495E-B4C2-6B80008F9CAD}" type="parTrans" cxnId="{0A7A068D-CDE8-467E-B321-40F36C3CA26A}">
      <dgm:prSet/>
      <dgm:spPr/>
      <dgm:t>
        <a:bodyPr/>
        <a:lstStyle/>
        <a:p>
          <a:endParaRPr lang="en-IN">
            <a:solidFill>
              <a:srgbClr val="00B0F0"/>
            </a:solidFill>
          </a:endParaRPr>
        </a:p>
      </dgm:t>
    </dgm:pt>
    <dgm:pt modelId="{F161C631-5AB8-44C6-9E90-703F20CAB291}" type="sibTrans" cxnId="{0A7A068D-CDE8-467E-B321-40F36C3CA26A}">
      <dgm:prSet/>
      <dgm:spPr/>
      <dgm:t>
        <a:bodyPr/>
        <a:lstStyle/>
        <a:p>
          <a:endParaRPr lang="en-IN">
            <a:solidFill>
              <a:srgbClr val="00B0F0"/>
            </a:solidFill>
          </a:endParaRPr>
        </a:p>
      </dgm:t>
    </dgm:pt>
    <dgm:pt modelId="{B7B8C029-A63B-4BFB-BCF9-05C07CAE6EA3}">
      <dgm:prSet phldrT="[Text]" custT="1"/>
      <dgm:spPr/>
      <dgm:t>
        <a:bodyPr/>
        <a:lstStyle/>
        <a:p>
          <a:r>
            <a:rPr lang="en-IN" sz="2200" b="1" dirty="0">
              <a:solidFill>
                <a:schemeClr val="tx1"/>
              </a:solidFill>
            </a:rPr>
            <a:t>Look At What You Have Written; Focus On Analysis, Not Description</a:t>
          </a:r>
          <a:endParaRPr lang="en-IN" sz="2200" dirty="0">
            <a:solidFill>
              <a:schemeClr val="tx1"/>
            </a:solidFill>
          </a:endParaRPr>
        </a:p>
      </dgm:t>
    </dgm:pt>
    <dgm:pt modelId="{133631D0-FFE8-456A-9428-31D2F5C2B69B}" type="parTrans" cxnId="{955F7F21-BFC4-4A21-9D55-D4F77FDDE8E1}">
      <dgm:prSet/>
      <dgm:spPr/>
      <dgm:t>
        <a:bodyPr/>
        <a:lstStyle/>
        <a:p>
          <a:endParaRPr lang="en-IN">
            <a:solidFill>
              <a:srgbClr val="00B0F0"/>
            </a:solidFill>
          </a:endParaRPr>
        </a:p>
      </dgm:t>
    </dgm:pt>
    <dgm:pt modelId="{793F5975-E33F-44DA-8FD8-BCA18DC1AC73}" type="sibTrans" cxnId="{955F7F21-BFC4-4A21-9D55-D4F77FDDE8E1}">
      <dgm:prSet/>
      <dgm:spPr/>
      <dgm:t>
        <a:bodyPr/>
        <a:lstStyle/>
        <a:p>
          <a:endParaRPr lang="en-IN">
            <a:solidFill>
              <a:srgbClr val="00B0F0"/>
            </a:solidFill>
          </a:endParaRPr>
        </a:p>
      </dgm:t>
    </dgm:pt>
    <dgm:pt modelId="{CC61FE89-B400-451A-BF86-549F59D0BEEF}" type="pres">
      <dgm:prSet presAssocID="{D887B2C0-8028-4EA5-A161-FB77DB21CFED}" presName="Name0" presStyleCnt="0">
        <dgm:presLayoutVars>
          <dgm:dir/>
          <dgm:animLvl val="lvl"/>
          <dgm:resizeHandles val="exact"/>
        </dgm:presLayoutVars>
      </dgm:prSet>
      <dgm:spPr/>
    </dgm:pt>
    <dgm:pt modelId="{628A7E98-92DE-45B4-BFE0-544501C5F991}" type="pres">
      <dgm:prSet presAssocID="{B7B8C029-A63B-4BFB-BCF9-05C07CAE6EA3}" presName="boxAndChildren" presStyleCnt="0"/>
      <dgm:spPr/>
    </dgm:pt>
    <dgm:pt modelId="{7851C87F-1682-4636-B17D-B4D6EC4619DC}" type="pres">
      <dgm:prSet presAssocID="{B7B8C029-A63B-4BFB-BCF9-05C07CAE6EA3}" presName="parentTextBox" presStyleLbl="node1" presStyleIdx="0" presStyleCnt="3" custScaleY="67907" custLinFactNeighborX="8001" custLinFactNeighborY="12401"/>
      <dgm:spPr/>
    </dgm:pt>
    <dgm:pt modelId="{396CE2AA-92B5-466E-9F00-107A27807822}" type="pres">
      <dgm:prSet presAssocID="{F161C631-5AB8-44C6-9E90-703F20CAB291}" presName="sp" presStyleCnt="0"/>
      <dgm:spPr/>
    </dgm:pt>
    <dgm:pt modelId="{ED9F4FF2-70F8-4490-8245-5A9400D6C276}" type="pres">
      <dgm:prSet presAssocID="{6FC1324D-BF26-43F6-A988-6CD1684552D0}" presName="arrowAndChildren" presStyleCnt="0"/>
      <dgm:spPr/>
    </dgm:pt>
    <dgm:pt modelId="{7FE3CD19-A3F7-4145-9662-381522A03A05}" type="pres">
      <dgm:prSet presAssocID="{6FC1324D-BF26-43F6-A988-6CD1684552D0}" presName="parentTextArrow" presStyleLbl="node1" presStyleIdx="1" presStyleCnt="3"/>
      <dgm:spPr/>
    </dgm:pt>
    <dgm:pt modelId="{6D5C7374-304D-45D4-A56B-960A6D3423A0}" type="pres">
      <dgm:prSet presAssocID="{56A18C78-463B-41C0-B1C3-BEBE08964168}" presName="sp" presStyleCnt="0"/>
      <dgm:spPr/>
    </dgm:pt>
    <dgm:pt modelId="{502EAB38-6EB5-49F6-9240-67D22E69F179}" type="pres">
      <dgm:prSet presAssocID="{2CAA02EE-38CC-4D49-8AFE-0EB8B67FAC6D}" presName="arrowAndChildren" presStyleCnt="0"/>
      <dgm:spPr/>
    </dgm:pt>
    <dgm:pt modelId="{EEF40689-167C-4DC3-9229-537942812F02}" type="pres">
      <dgm:prSet presAssocID="{2CAA02EE-38CC-4D49-8AFE-0EB8B67FAC6D}" presName="parentTextArrow" presStyleLbl="node1" presStyleIdx="2" presStyleCnt="3"/>
      <dgm:spPr/>
    </dgm:pt>
  </dgm:ptLst>
  <dgm:cxnLst>
    <dgm:cxn modelId="{43BCA513-49CE-4F22-B692-F30F9569C060}" type="presOf" srcId="{D887B2C0-8028-4EA5-A161-FB77DB21CFED}" destId="{CC61FE89-B400-451A-BF86-549F59D0BEEF}" srcOrd="0" destOrd="0" presId="urn:microsoft.com/office/officeart/2005/8/layout/process4"/>
    <dgm:cxn modelId="{955F7F21-BFC4-4A21-9D55-D4F77FDDE8E1}" srcId="{D887B2C0-8028-4EA5-A161-FB77DB21CFED}" destId="{B7B8C029-A63B-4BFB-BCF9-05C07CAE6EA3}" srcOrd="2" destOrd="0" parTransId="{133631D0-FFE8-456A-9428-31D2F5C2B69B}" sibTransId="{793F5975-E33F-44DA-8FD8-BCA18DC1AC73}"/>
    <dgm:cxn modelId="{0D0A415E-5473-41A3-9E68-C0BEFB5A4483}" srcId="{D887B2C0-8028-4EA5-A161-FB77DB21CFED}" destId="{2CAA02EE-38CC-4D49-8AFE-0EB8B67FAC6D}" srcOrd="0" destOrd="0" parTransId="{D47BFF81-16C2-4A64-BD35-20B96793CC11}" sibTransId="{56A18C78-463B-41C0-B1C3-BEBE08964168}"/>
    <dgm:cxn modelId="{5391725E-A095-4945-9CF1-EF5B5108DAB6}" type="presOf" srcId="{2CAA02EE-38CC-4D49-8AFE-0EB8B67FAC6D}" destId="{EEF40689-167C-4DC3-9229-537942812F02}" srcOrd="0" destOrd="0" presId="urn:microsoft.com/office/officeart/2005/8/layout/process4"/>
    <dgm:cxn modelId="{79BA2342-A680-45CD-82EB-0702928E3005}" type="presOf" srcId="{B7B8C029-A63B-4BFB-BCF9-05C07CAE6EA3}" destId="{7851C87F-1682-4636-B17D-B4D6EC4619DC}" srcOrd="0" destOrd="0" presId="urn:microsoft.com/office/officeart/2005/8/layout/process4"/>
    <dgm:cxn modelId="{0A7A068D-CDE8-467E-B321-40F36C3CA26A}" srcId="{D887B2C0-8028-4EA5-A161-FB77DB21CFED}" destId="{6FC1324D-BF26-43F6-A988-6CD1684552D0}" srcOrd="1" destOrd="0" parTransId="{E208FA32-2091-495E-B4C2-6B80008F9CAD}" sibTransId="{F161C631-5AB8-44C6-9E90-703F20CAB291}"/>
    <dgm:cxn modelId="{9CBD1ED2-DB3D-418C-9ED2-43EB3BCC5EDB}" type="presOf" srcId="{6FC1324D-BF26-43F6-A988-6CD1684552D0}" destId="{7FE3CD19-A3F7-4145-9662-381522A03A05}" srcOrd="0" destOrd="0" presId="urn:microsoft.com/office/officeart/2005/8/layout/process4"/>
    <dgm:cxn modelId="{16FFFAA2-7AF5-4952-9F10-6917887A5202}" type="presParOf" srcId="{CC61FE89-B400-451A-BF86-549F59D0BEEF}" destId="{628A7E98-92DE-45B4-BFE0-544501C5F991}" srcOrd="0" destOrd="0" presId="urn:microsoft.com/office/officeart/2005/8/layout/process4"/>
    <dgm:cxn modelId="{A6D033E9-BF32-4A0F-8A48-F37DC94FD7A4}" type="presParOf" srcId="{628A7E98-92DE-45B4-BFE0-544501C5F991}" destId="{7851C87F-1682-4636-B17D-B4D6EC4619DC}" srcOrd="0" destOrd="0" presId="urn:microsoft.com/office/officeart/2005/8/layout/process4"/>
    <dgm:cxn modelId="{D28C8234-D1F4-44D1-BA21-F41CB6EF54D9}" type="presParOf" srcId="{CC61FE89-B400-451A-BF86-549F59D0BEEF}" destId="{396CE2AA-92B5-466E-9F00-107A27807822}" srcOrd="1" destOrd="0" presId="urn:microsoft.com/office/officeart/2005/8/layout/process4"/>
    <dgm:cxn modelId="{69AE4CBA-D8AE-49EE-8723-7BF77340A5FC}" type="presParOf" srcId="{CC61FE89-B400-451A-BF86-549F59D0BEEF}" destId="{ED9F4FF2-70F8-4490-8245-5A9400D6C276}" srcOrd="2" destOrd="0" presId="urn:microsoft.com/office/officeart/2005/8/layout/process4"/>
    <dgm:cxn modelId="{3EFEAE48-7869-48CC-A6C2-EDE71FD79032}" type="presParOf" srcId="{ED9F4FF2-70F8-4490-8245-5A9400D6C276}" destId="{7FE3CD19-A3F7-4145-9662-381522A03A05}" srcOrd="0" destOrd="0" presId="urn:microsoft.com/office/officeart/2005/8/layout/process4"/>
    <dgm:cxn modelId="{8DEA99EF-2011-491A-9347-BFFBCC151EC6}" type="presParOf" srcId="{CC61FE89-B400-451A-BF86-549F59D0BEEF}" destId="{6D5C7374-304D-45D4-A56B-960A6D3423A0}" srcOrd="3" destOrd="0" presId="urn:microsoft.com/office/officeart/2005/8/layout/process4"/>
    <dgm:cxn modelId="{1DAA13D1-8E06-4F9A-A909-9962135C59C5}" type="presParOf" srcId="{CC61FE89-B400-451A-BF86-549F59D0BEEF}" destId="{502EAB38-6EB5-49F6-9240-67D22E69F179}" srcOrd="4" destOrd="0" presId="urn:microsoft.com/office/officeart/2005/8/layout/process4"/>
    <dgm:cxn modelId="{50823047-2503-4C59-B0FC-B96105BF0924}" type="presParOf" srcId="{502EAB38-6EB5-49F6-9240-67D22E69F179}" destId="{EEF40689-167C-4DC3-9229-537942812F02}"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4F5693-6F0C-4256-A09F-77E37161F899}"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B56F920C-09AE-48C1-8F7F-41D2D5318DD9}">
      <dgm:prSet phldrT="[Text]" custT="1"/>
      <dgm:spPr/>
      <dgm:t>
        <a:bodyPr/>
        <a:lstStyle/>
        <a:p>
          <a:pPr rtl="0"/>
          <a:r>
            <a:rPr lang="en-US" sz="1800" b="1" i="0" u="none" strike="noStrike" dirty="0">
              <a:solidFill>
                <a:schemeClr val="tx2"/>
              </a:solidFill>
              <a:effectLst/>
              <a:latin typeface="+mj-lt"/>
            </a:rPr>
            <a:t>Author, Journal, Vol., Year</a:t>
          </a:r>
          <a:endParaRPr lang="en-US" sz="1800" dirty="0">
            <a:solidFill>
              <a:schemeClr val="tx2"/>
            </a:solidFill>
          </a:endParaRPr>
        </a:p>
      </dgm:t>
    </dgm:pt>
    <dgm:pt modelId="{688621A9-845A-459A-B1A1-D4F40859FD72}" type="parTrans" cxnId="{60B182F3-3634-4A11-986B-26B9BF786263}">
      <dgm:prSet/>
      <dgm:spPr/>
      <dgm:t>
        <a:bodyPr/>
        <a:lstStyle/>
        <a:p>
          <a:endParaRPr lang="en-US"/>
        </a:p>
      </dgm:t>
    </dgm:pt>
    <dgm:pt modelId="{98259AB5-184F-42DE-BAFE-797CB1DCAAE3}" type="sibTrans" cxnId="{60B182F3-3634-4A11-986B-26B9BF786263}">
      <dgm:prSet/>
      <dgm:spPr/>
      <dgm:t>
        <a:bodyPr/>
        <a:lstStyle/>
        <a:p>
          <a:endParaRPr lang="en-US"/>
        </a:p>
      </dgm:t>
    </dgm:pt>
    <dgm:pt modelId="{3B6CC121-1C70-415F-8AED-209C3E55BC8D}">
      <dgm:prSet phldrT="[Text]" custT="1"/>
      <dgm:spPr/>
      <dgm:t>
        <a:bodyPr/>
        <a:lstStyle/>
        <a:p>
          <a:pPr algn="l" rtl="0"/>
          <a:r>
            <a:rPr lang="en-IN" sz="1800" dirty="0">
              <a:latin typeface="Times New Roman" panose="02020603050405020304" pitchFamily="18" charset="0"/>
              <a:cs typeface="Times New Roman" panose="02020603050405020304" pitchFamily="18" charset="0"/>
            </a:rPr>
            <a:t>Md. </a:t>
          </a:r>
          <a:r>
            <a:rPr lang="en-IN" sz="1800" dirty="0" err="1">
              <a:latin typeface="Times New Roman" panose="02020603050405020304" pitchFamily="18" charset="0"/>
              <a:cs typeface="Times New Roman" panose="02020603050405020304" pitchFamily="18" charset="0"/>
            </a:rPr>
            <a:t>Masudur</a:t>
          </a:r>
          <a:r>
            <a:rPr lang="en-IN" sz="1800" dirty="0">
              <a:latin typeface="Times New Roman" panose="02020603050405020304" pitchFamily="18" charset="0"/>
              <a:cs typeface="Times New Roman" panose="02020603050405020304" pitchFamily="18" charset="0"/>
            </a:rPr>
            <a:t> Rahman, Md. </a:t>
          </a:r>
          <a:r>
            <a:rPr lang="en-IN" sz="1800" dirty="0" err="1">
              <a:latin typeface="Times New Roman" panose="02020603050405020304" pitchFamily="18" charset="0"/>
              <a:cs typeface="Times New Roman" panose="02020603050405020304" pitchFamily="18" charset="0"/>
            </a:rPr>
            <a:t>Mozaffor</a:t>
          </a:r>
          <a:r>
            <a:rPr lang="en-IN" sz="1800" dirty="0">
              <a:latin typeface="Times New Roman" panose="02020603050405020304" pitchFamily="18" charset="0"/>
              <a:cs typeface="Times New Roman" panose="02020603050405020304" pitchFamily="18" charset="0"/>
            </a:rPr>
            <a:t> Hossain, </a:t>
          </a:r>
          <a:r>
            <a:rPr lang="en-IN" sz="1800" dirty="0" err="1">
              <a:latin typeface="Times New Roman" panose="02020603050405020304" pitchFamily="18" charset="0"/>
              <a:cs typeface="Times New Roman" panose="02020603050405020304" pitchFamily="18" charset="0"/>
            </a:rPr>
            <a:t>Kallol</a:t>
          </a:r>
          <a:r>
            <a:rPr lang="en-IN" sz="1800" dirty="0">
              <a:latin typeface="Times New Roman" panose="02020603050405020304" pitchFamily="18" charset="0"/>
              <a:cs typeface="Times New Roman" panose="02020603050405020304" pitchFamily="18" charset="0"/>
            </a:rPr>
            <a:t> Krishna </a:t>
          </a:r>
          <a:r>
            <a:rPr lang="en-IN" sz="1800" dirty="0" err="1">
              <a:latin typeface="Times New Roman" panose="02020603050405020304" pitchFamily="18" charset="0"/>
              <a:cs typeface="Times New Roman" panose="02020603050405020304" pitchFamily="18" charset="0"/>
            </a:rPr>
            <a:t>Karmakar</a:t>
          </a:r>
          <a:r>
            <a:rPr lang="en-IN" sz="1800" dirty="0">
              <a:latin typeface="Times New Roman" panose="02020603050405020304" pitchFamily="18" charset="0"/>
              <a:cs typeface="Times New Roman" panose="02020603050405020304" pitchFamily="18" charset="0"/>
            </a:rPr>
            <a:t>, IEEE International Advanced Computing Conference, 2013.</a:t>
          </a:r>
          <a:endParaRPr lang="en-US" sz="1800" dirty="0">
            <a:latin typeface="Times New Roman" panose="02020603050405020304" pitchFamily="18" charset="0"/>
            <a:cs typeface="Times New Roman" panose="02020603050405020304" pitchFamily="18" charset="0"/>
          </a:endParaRPr>
        </a:p>
      </dgm:t>
    </dgm:pt>
    <dgm:pt modelId="{0945EFFB-B265-486D-A340-BA8C009823D8}" type="parTrans" cxnId="{A52FCFB6-CE23-4D7F-AE6C-90CFA6D45482}">
      <dgm:prSet/>
      <dgm:spPr/>
      <dgm:t>
        <a:bodyPr/>
        <a:lstStyle/>
        <a:p>
          <a:endParaRPr lang="en-US"/>
        </a:p>
      </dgm:t>
    </dgm:pt>
    <dgm:pt modelId="{1BA71DF7-6ADF-4B93-92D9-6D601CE0AA9D}" type="sibTrans" cxnId="{A52FCFB6-CE23-4D7F-AE6C-90CFA6D45482}">
      <dgm:prSet/>
      <dgm:spPr/>
      <dgm:t>
        <a:bodyPr/>
        <a:lstStyle/>
        <a:p>
          <a:endParaRPr lang="en-US"/>
        </a:p>
      </dgm:t>
    </dgm:pt>
    <dgm:pt modelId="{20A3823E-C350-41C1-B9B2-B335414E854D}">
      <dgm:prSet phldrT="[Text]" custT="1"/>
      <dgm:spPr/>
      <dgm:t>
        <a:bodyPr/>
        <a:lstStyle/>
        <a:p>
          <a:pPr rtl="0"/>
          <a:r>
            <a:rPr lang="en-US" sz="1800" b="1" i="0" u="none" strike="noStrike" dirty="0">
              <a:solidFill>
                <a:schemeClr val="tx1"/>
              </a:solidFill>
              <a:effectLst/>
              <a:latin typeface="+mj-lt"/>
            </a:rPr>
            <a:t>Title of the Paper</a:t>
          </a:r>
          <a:endParaRPr lang="en-US" sz="1800" dirty="0">
            <a:solidFill>
              <a:schemeClr val="tx1"/>
            </a:solidFill>
          </a:endParaRPr>
        </a:p>
      </dgm:t>
    </dgm:pt>
    <dgm:pt modelId="{FB8A19EB-37F1-4ABC-A2BB-D17C3D6D4F98}" type="parTrans" cxnId="{0E0CCE2E-E6F1-468A-99A0-B92EE4DDCB7E}">
      <dgm:prSet/>
      <dgm:spPr/>
      <dgm:t>
        <a:bodyPr/>
        <a:lstStyle/>
        <a:p>
          <a:endParaRPr lang="en-US"/>
        </a:p>
      </dgm:t>
    </dgm:pt>
    <dgm:pt modelId="{15CD1772-C406-4D4C-B87C-6B1A494DDFD5}" type="sibTrans" cxnId="{0E0CCE2E-E6F1-468A-99A0-B92EE4DDCB7E}">
      <dgm:prSet/>
      <dgm:spPr/>
      <dgm:t>
        <a:bodyPr/>
        <a:lstStyle/>
        <a:p>
          <a:endParaRPr lang="en-US"/>
        </a:p>
      </dgm:t>
    </dgm:pt>
    <dgm:pt modelId="{F7F17961-B022-40D9-9276-CD2545744FE6}">
      <dgm:prSet phldrT="[Text]" custT="1"/>
      <dgm:spPr/>
      <dgm:t>
        <a:bodyPr/>
        <a:lstStyle/>
        <a:p>
          <a:pPr algn="l" rtl="0"/>
          <a:r>
            <a:rPr lang="en-IN" sz="2000" dirty="0">
              <a:latin typeface="Times New Roman" panose="02020603050405020304" pitchFamily="18" charset="0"/>
              <a:cs typeface="Times New Roman" panose="02020603050405020304" pitchFamily="18" charset="0"/>
            </a:rPr>
            <a:t>Π shaped </a:t>
          </a:r>
          <a:r>
            <a:rPr lang="en-IN" sz="2000" dirty="0" err="1">
              <a:latin typeface="Times New Roman" panose="02020603050405020304" pitchFamily="18" charset="0"/>
              <a:cs typeface="Times New Roman" panose="02020603050405020304" pitchFamily="18" charset="0"/>
            </a:rPr>
            <a:t>microstrip</a:t>
          </a:r>
          <a:r>
            <a:rPr lang="en-IN" sz="2000" dirty="0">
              <a:latin typeface="Times New Roman" panose="02020603050405020304" pitchFamily="18" charset="0"/>
              <a:cs typeface="Times New Roman" panose="02020603050405020304" pitchFamily="18" charset="0"/>
            </a:rPr>
            <a:t> antenna design for WiMAX, </a:t>
          </a:r>
          <a:r>
            <a:rPr lang="en-IN" sz="2000" dirty="0" err="1">
              <a:latin typeface="Times New Roman" panose="02020603050405020304" pitchFamily="18" charset="0"/>
              <a:cs typeface="Times New Roman" panose="02020603050405020304" pitchFamily="18" charset="0"/>
            </a:rPr>
            <a:t>WiFi</a:t>
          </a:r>
          <a:r>
            <a:rPr lang="en-IN" sz="2000" dirty="0">
              <a:latin typeface="Times New Roman" panose="02020603050405020304" pitchFamily="18" charset="0"/>
              <a:cs typeface="Times New Roman" panose="02020603050405020304" pitchFamily="18" charset="0"/>
            </a:rPr>
            <a:t> and biomedical application at 2.45 GHz</a:t>
          </a:r>
          <a:endParaRPr lang="en-US" sz="2000" dirty="0">
            <a:latin typeface="Times New Roman" panose="02020603050405020304" pitchFamily="18" charset="0"/>
            <a:cs typeface="Times New Roman" panose="02020603050405020304" pitchFamily="18" charset="0"/>
          </a:endParaRPr>
        </a:p>
      </dgm:t>
    </dgm:pt>
    <dgm:pt modelId="{227CA8A0-FF22-4861-87A1-8348D2F70B88}" type="parTrans" cxnId="{CECBA363-5936-4341-8263-E57085DB5965}">
      <dgm:prSet/>
      <dgm:spPr/>
      <dgm:t>
        <a:bodyPr/>
        <a:lstStyle/>
        <a:p>
          <a:endParaRPr lang="en-US"/>
        </a:p>
      </dgm:t>
    </dgm:pt>
    <dgm:pt modelId="{9C4A18CD-BECB-488B-8360-2E50150A16B5}" type="sibTrans" cxnId="{CECBA363-5936-4341-8263-E57085DB5965}">
      <dgm:prSet/>
      <dgm:spPr/>
      <dgm:t>
        <a:bodyPr/>
        <a:lstStyle/>
        <a:p>
          <a:endParaRPr lang="en-US"/>
        </a:p>
      </dgm:t>
    </dgm:pt>
    <dgm:pt modelId="{98FCD950-58CF-4D82-82D3-33F2A3486EBC}">
      <dgm:prSet phldrT="[Text]" custT="1"/>
      <dgm:spPr/>
      <dgm:t>
        <a:bodyPr/>
        <a:lstStyle/>
        <a:p>
          <a:pPr rtl="0"/>
          <a:r>
            <a:rPr lang="en-US" sz="1800" b="1" i="0" u="none" strike="noStrike" dirty="0">
              <a:solidFill>
                <a:schemeClr val="tx2"/>
              </a:solidFill>
              <a:effectLst/>
              <a:latin typeface="+mj-lt"/>
            </a:rPr>
            <a:t>Inference</a:t>
          </a:r>
        </a:p>
      </dgm:t>
    </dgm:pt>
    <dgm:pt modelId="{34CCE479-BF0B-4C4C-9B7B-564E442E8AB3}" type="parTrans" cxnId="{F2DD5C8B-F029-47F5-B9BC-42B1BE90B8FB}">
      <dgm:prSet/>
      <dgm:spPr/>
      <dgm:t>
        <a:bodyPr/>
        <a:lstStyle/>
        <a:p>
          <a:endParaRPr lang="en-US"/>
        </a:p>
      </dgm:t>
    </dgm:pt>
    <dgm:pt modelId="{7DC39BA8-4776-4FA4-8936-6E2E5DE833ED}" type="sibTrans" cxnId="{F2DD5C8B-F029-47F5-B9BC-42B1BE90B8FB}">
      <dgm:prSet/>
      <dgm:spPr/>
      <dgm:t>
        <a:bodyPr/>
        <a:lstStyle/>
        <a:p>
          <a:endParaRPr lang="en-US"/>
        </a:p>
      </dgm:t>
    </dgm:pt>
    <dgm:pt modelId="{A5B9CA4E-0BF8-4814-9F39-2BC874102B75}">
      <dgm:prSet phldrT="[Text]" custT="1"/>
      <dgm:spPr/>
      <dgm:t>
        <a:bodyPr/>
        <a:lstStyle/>
        <a:p>
          <a:pPr algn="l"/>
          <a:r>
            <a:rPr lang="en-US" sz="2000" b="0" i="0" u="none" strike="noStrike" dirty="0">
              <a:effectLst/>
              <a:latin typeface="Times New Roman" panose="02020603050405020304" pitchFamily="18" charset="0"/>
              <a:cs typeface="Times New Roman" panose="02020603050405020304" pitchFamily="18" charset="0"/>
            </a:rPr>
            <a:t>The designed antenna operates in 2.3, 2.4 and 2.45 GH</a:t>
          </a:r>
          <a:r>
            <a:rPr lang="en-US" sz="1800" b="0" i="0" u="none" strike="noStrike" dirty="0">
              <a:effectLst/>
              <a:latin typeface="+mn-lt"/>
            </a:rPr>
            <a:t>z</a:t>
          </a:r>
        </a:p>
        <a:p>
          <a:pPr algn="l"/>
          <a:endParaRPr lang="en-US" sz="1750" dirty="0">
            <a:latin typeface="+mn-lt"/>
          </a:endParaRPr>
        </a:p>
      </dgm:t>
    </dgm:pt>
    <dgm:pt modelId="{8A029BF8-4692-45BB-96E4-CA392D300BAF}" type="parTrans" cxnId="{1D9DD6BE-B504-492C-AE1B-BA8B61079E85}">
      <dgm:prSet/>
      <dgm:spPr/>
      <dgm:t>
        <a:bodyPr/>
        <a:lstStyle/>
        <a:p>
          <a:endParaRPr lang="en-US"/>
        </a:p>
      </dgm:t>
    </dgm:pt>
    <dgm:pt modelId="{C48CC441-C5C5-46BA-93AB-93EDE0CD292E}" type="sibTrans" cxnId="{1D9DD6BE-B504-492C-AE1B-BA8B61079E85}">
      <dgm:prSet/>
      <dgm:spPr/>
      <dgm:t>
        <a:bodyPr/>
        <a:lstStyle/>
        <a:p>
          <a:endParaRPr lang="en-US"/>
        </a:p>
      </dgm:t>
    </dgm:pt>
    <dgm:pt modelId="{8B5291AC-5AAE-4BA1-8686-CF06CAC25001}">
      <dgm:prSet phldrT="[Text]" custT="1"/>
      <dgm:spPr/>
      <dgm:t>
        <a:bodyPr/>
        <a:lstStyle/>
        <a:p>
          <a:pPr rtl="0"/>
          <a:r>
            <a:rPr lang="en-US" sz="1800" b="1" i="0" u="none" strike="noStrike" dirty="0">
              <a:solidFill>
                <a:schemeClr val="tx2"/>
              </a:solidFill>
              <a:effectLst/>
              <a:latin typeface="+mj-lt"/>
            </a:rPr>
            <a:t>Research Gaps</a:t>
          </a:r>
        </a:p>
      </dgm:t>
    </dgm:pt>
    <dgm:pt modelId="{25542CFF-EBED-4C19-B068-8E7DE86049A6}" type="parTrans" cxnId="{F273E7FE-A970-47B3-8947-6D0A6082C6CD}">
      <dgm:prSet/>
      <dgm:spPr/>
      <dgm:t>
        <a:bodyPr/>
        <a:lstStyle/>
        <a:p>
          <a:endParaRPr lang="en-US"/>
        </a:p>
      </dgm:t>
    </dgm:pt>
    <dgm:pt modelId="{A4419E7C-6B07-4A3C-BEC2-602C0D0DA45F}" type="sibTrans" cxnId="{F273E7FE-A970-47B3-8947-6D0A6082C6CD}">
      <dgm:prSet/>
      <dgm:spPr/>
      <dgm:t>
        <a:bodyPr/>
        <a:lstStyle/>
        <a:p>
          <a:endParaRPr lang="en-US"/>
        </a:p>
      </dgm:t>
    </dgm:pt>
    <dgm:pt modelId="{8D355054-7366-4EEE-884B-BC82674F6D2A}">
      <dgm:prSet phldrT="[Text]" custT="1"/>
      <dgm:spPr/>
      <dgm:t>
        <a:bodyPr/>
        <a:lstStyle/>
        <a:p>
          <a:pPr algn="l"/>
          <a:r>
            <a:rPr lang="en-US" sz="1800" dirty="0">
              <a:latin typeface="+mn-lt"/>
            </a:rPr>
            <a:t>Only </a:t>
          </a:r>
          <a:r>
            <a:rPr lang="en-IN" sz="2000" dirty="0">
              <a:latin typeface="Times New Roman" panose="02020603050405020304" pitchFamily="18" charset="0"/>
              <a:cs typeface="Times New Roman" panose="02020603050405020304" pitchFamily="18" charset="0"/>
            </a:rPr>
            <a:t>Π shaped antenna is designed </a:t>
          </a:r>
          <a:endParaRPr lang="en-US" sz="1800" dirty="0">
            <a:latin typeface="+mn-lt"/>
          </a:endParaRPr>
        </a:p>
      </dgm:t>
    </dgm:pt>
    <dgm:pt modelId="{510B3745-60C9-425A-98BD-4B63B88CC756}" type="parTrans" cxnId="{A040C6EE-0412-4A7A-BE2E-217AF6099C1B}">
      <dgm:prSet/>
      <dgm:spPr/>
      <dgm:t>
        <a:bodyPr/>
        <a:lstStyle/>
        <a:p>
          <a:endParaRPr lang="en-US"/>
        </a:p>
      </dgm:t>
    </dgm:pt>
    <dgm:pt modelId="{9398AE2F-4358-45DC-8B13-A59371E7BB60}" type="sibTrans" cxnId="{A040C6EE-0412-4A7A-BE2E-217AF6099C1B}">
      <dgm:prSet/>
      <dgm:spPr/>
      <dgm:t>
        <a:bodyPr/>
        <a:lstStyle/>
        <a:p>
          <a:endParaRPr lang="en-US"/>
        </a:p>
      </dgm:t>
    </dgm:pt>
    <dgm:pt modelId="{AA60316B-17A1-4799-813F-A30453B05FE3}">
      <dgm:prSet phldrT="[Text]" custT="1"/>
      <dgm:spPr/>
      <dgm:t>
        <a:bodyPr/>
        <a:lstStyle/>
        <a:p>
          <a:pPr rtl="0"/>
          <a:r>
            <a:rPr lang="en-US" sz="1800" b="1" i="0" u="none" strike="noStrike" dirty="0">
              <a:solidFill>
                <a:schemeClr val="tx1"/>
              </a:solidFill>
              <a:effectLst/>
              <a:latin typeface="+mj-lt"/>
            </a:rPr>
            <a:t>Relevance with the present work</a:t>
          </a:r>
        </a:p>
      </dgm:t>
    </dgm:pt>
    <dgm:pt modelId="{977F7588-B449-4228-AC35-EDF8E879D31C}" type="parTrans" cxnId="{D2C63E30-3786-467E-8222-DA345749E1F6}">
      <dgm:prSet/>
      <dgm:spPr/>
      <dgm:t>
        <a:bodyPr/>
        <a:lstStyle/>
        <a:p>
          <a:endParaRPr lang="en-US"/>
        </a:p>
      </dgm:t>
    </dgm:pt>
    <dgm:pt modelId="{C506B4EE-26AC-4C20-AAF0-27452B544477}" type="sibTrans" cxnId="{D2C63E30-3786-467E-8222-DA345749E1F6}">
      <dgm:prSet/>
      <dgm:spPr/>
      <dgm:t>
        <a:bodyPr/>
        <a:lstStyle/>
        <a:p>
          <a:endParaRPr lang="en-US"/>
        </a:p>
      </dgm:t>
    </dgm:pt>
    <dgm:pt modelId="{46126589-DB6B-4564-AA4F-ED1CEE6C4F4F}">
      <dgm:prSet phldrT="[Text]" custT="1"/>
      <dgm:spPr/>
      <dgm:t>
        <a:bodyPr/>
        <a:lstStyle/>
        <a:p>
          <a:pPr algn="l"/>
          <a:r>
            <a:rPr lang="en-US" sz="2000" dirty="0">
              <a:latin typeface="Times New Roman" panose="02020603050405020304" pitchFamily="18" charset="0"/>
              <a:cs typeface="Times New Roman" panose="02020603050405020304" pitchFamily="18" charset="0"/>
            </a:rPr>
            <a:t>Using this concept other shaped antennas can be designed</a:t>
          </a:r>
        </a:p>
      </dgm:t>
    </dgm:pt>
    <dgm:pt modelId="{3CEB33DC-C5EE-4EC9-AF16-0729BE0FD78A}" type="parTrans" cxnId="{DA981EE5-D150-44AD-9A15-4DBED71B02A0}">
      <dgm:prSet/>
      <dgm:spPr/>
      <dgm:t>
        <a:bodyPr/>
        <a:lstStyle/>
        <a:p>
          <a:endParaRPr lang="en-US"/>
        </a:p>
      </dgm:t>
    </dgm:pt>
    <dgm:pt modelId="{DD34CC76-A727-46AB-8066-64A347501530}" type="sibTrans" cxnId="{DA981EE5-D150-44AD-9A15-4DBED71B02A0}">
      <dgm:prSet/>
      <dgm:spPr/>
      <dgm:t>
        <a:bodyPr/>
        <a:lstStyle/>
        <a:p>
          <a:endParaRPr lang="en-US"/>
        </a:p>
      </dgm:t>
    </dgm:pt>
    <dgm:pt modelId="{D5B38A53-A469-48B1-B2C0-47614F45528C}" type="pres">
      <dgm:prSet presAssocID="{FA4F5693-6F0C-4256-A09F-77E37161F899}" presName="Name0" presStyleCnt="0">
        <dgm:presLayoutVars>
          <dgm:chMax val="7"/>
          <dgm:chPref val="5"/>
          <dgm:dir/>
          <dgm:animOne val="branch"/>
          <dgm:animLvl val="lvl"/>
        </dgm:presLayoutVars>
      </dgm:prSet>
      <dgm:spPr/>
    </dgm:pt>
    <dgm:pt modelId="{D88140CE-7E1F-4873-8CF7-95B116CA4881}" type="pres">
      <dgm:prSet presAssocID="{AA60316B-17A1-4799-813F-A30453B05FE3}" presName="ChildAccent5" presStyleCnt="0"/>
      <dgm:spPr/>
    </dgm:pt>
    <dgm:pt modelId="{E27F994B-B4B2-4B2D-AABB-05DEA39CEE3B}" type="pres">
      <dgm:prSet presAssocID="{AA60316B-17A1-4799-813F-A30453B05FE3}" presName="ChildAccent" presStyleLbl="alignImgPlace1" presStyleIdx="0" presStyleCnt="5" custScaleY="42258" custLinFactNeighborX="593" custLinFactNeighborY="-28244"/>
      <dgm:spPr/>
    </dgm:pt>
    <dgm:pt modelId="{F9C0DB78-4DF6-4F02-9325-A0F938DBF456}" type="pres">
      <dgm:prSet presAssocID="{AA60316B-17A1-4799-813F-A30453B05FE3}" presName="Child5" presStyleLbl="revTx" presStyleIdx="0" presStyleCnt="0">
        <dgm:presLayoutVars>
          <dgm:chMax val="0"/>
          <dgm:chPref val="0"/>
          <dgm:bulletEnabled val="1"/>
        </dgm:presLayoutVars>
      </dgm:prSet>
      <dgm:spPr/>
    </dgm:pt>
    <dgm:pt modelId="{0F369253-436D-4E70-A5DA-2973CB597488}" type="pres">
      <dgm:prSet presAssocID="{AA60316B-17A1-4799-813F-A30453B05FE3}" presName="Parent5" presStyleLbl="node1" presStyleIdx="0" presStyleCnt="5">
        <dgm:presLayoutVars>
          <dgm:chMax val="2"/>
          <dgm:chPref val="1"/>
          <dgm:bulletEnabled val="1"/>
        </dgm:presLayoutVars>
      </dgm:prSet>
      <dgm:spPr/>
    </dgm:pt>
    <dgm:pt modelId="{84BAB7F5-0550-42CC-9C7F-66D567FED905}" type="pres">
      <dgm:prSet presAssocID="{8B5291AC-5AAE-4BA1-8686-CF06CAC25001}" presName="ChildAccent4" presStyleCnt="0"/>
      <dgm:spPr/>
    </dgm:pt>
    <dgm:pt modelId="{092ECD6F-35F8-4211-A272-2DCE8186DBB4}" type="pres">
      <dgm:prSet presAssocID="{8B5291AC-5AAE-4BA1-8686-CF06CAC25001}" presName="ChildAccent" presStyleLbl="alignImgPlace1" presStyleIdx="1" presStyleCnt="5" custScaleY="59338" custLinFactNeighborX="-964" custLinFactNeighborY="-21859"/>
      <dgm:spPr/>
    </dgm:pt>
    <dgm:pt modelId="{14EFA57F-7FB1-42F0-AD48-C0C387EE116C}" type="pres">
      <dgm:prSet presAssocID="{8B5291AC-5AAE-4BA1-8686-CF06CAC25001}" presName="Child4" presStyleLbl="revTx" presStyleIdx="0" presStyleCnt="0">
        <dgm:presLayoutVars>
          <dgm:chMax val="0"/>
          <dgm:chPref val="0"/>
          <dgm:bulletEnabled val="1"/>
        </dgm:presLayoutVars>
      </dgm:prSet>
      <dgm:spPr/>
    </dgm:pt>
    <dgm:pt modelId="{67027248-6D9A-49CA-8838-45C4BDB6AD25}" type="pres">
      <dgm:prSet presAssocID="{8B5291AC-5AAE-4BA1-8686-CF06CAC25001}" presName="Parent4" presStyleLbl="node1" presStyleIdx="1" presStyleCnt="5" custLinFactNeighborX="-2513" custLinFactNeighborY="-4607">
        <dgm:presLayoutVars>
          <dgm:chMax val="2"/>
          <dgm:chPref val="1"/>
          <dgm:bulletEnabled val="1"/>
        </dgm:presLayoutVars>
      </dgm:prSet>
      <dgm:spPr/>
    </dgm:pt>
    <dgm:pt modelId="{E21AE640-9DE6-4C6A-BE26-C3A1266E9FF0}" type="pres">
      <dgm:prSet presAssocID="{98FCD950-58CF-4D82-82D3-33F2A3486EBC}" presName="ChildAccent3" presStyleCnt="0"/>
      <dgm:spPr/>
    </dgm:pt>
    <dgm:pt modelId="{7452A738-D4CC-4F87-A430-92DDB034EBD1}" type="pres">
      <dgm:prSet presAssocID="{98FCD950-58CF-4D82-82D3-33F2A3486EBC}" presName="ChildAccent" presStyleLbl="alignImgPlace1" presStyleIdx="2" presStyleCnt="5" custScaleY="83988" custLinFactNeighborX="-125" custLinFactNeighborY="-29989"/>
      <dgm:spPr/>
    </dgm:pt>
    <dgm:pt modelId="{FBE78E35-AC6B-4674-B869-57133978AA1D}" type="pres">
      <dgm:prSet presAssocID="{98FCD950-58CF-4D82-82D3-33F2A3486EBC}" presName="Child3" presStyleLbl="revTx" presStyleIdx="0" presStyleCnt="0">
        <dgm:presLayoutVars>
          <dgm:chMax val="0"/>
          <dgm:chPref val="0"/>
          <dgm:bulletEnabled val="1"/>
        </dgm:presLayoutVars>
      </dgm:prSet>
      <dgm:spPr/>
    </dgm:pt>
    <dgm:pt modelId="{38B6CE29-62EA-421B-8E6B-9D6C32B4D6BC}" type="pres">
      <dgm:prSet presAssocID="{98FCD950-58CF-4D82-82D3-33F2A3486EBC}" presName="Parent3" presStyleLbl="node1" presStyleIdx="2" presStyleCnt="5">
        <dgm:presLayoutVars>
          <dgm:chMax val="2"/>
          <dgm:chPref val="1"/>
          <dgm:bulletEnabled val="1"/>
        </dgm:presLayoutVars>
      </dgm:prSet>
      <dgm:spPr/>
    </dgm:pt>
    <dgm:pt modelId="{1DF039DD-F330-41BD-A767-B1B274684DC0}" type="pres">
      <dgm:prSet presAssocID="{20A3823E-C350-41C1-B9B2-B335414E854D}" presName="ChildAccent2" presStyleCnt="0"/>
      <dgm:spPr/>
    </dgm:pt>
    <dgm:pt modelId="{F1BB0F6B-CD64-4F41-9E62-1079EB614357}" type="pres">
      <dgm:prSet presAssocID="{20A3823E-C350-41C1-B9B2-B335414E854D}" presName="ChildAccent" presStyleLbl="alignImgPlace1" presStyleIdx="3" presStyleCnt="5" custScaleX="105712" custScaleY="72718" custLinFactNeighborX="-5371" custLinFactNeighborY="-14805"/>
      <dgm:spPr/>
    </dgm:pt>
    <dgm:pt modelId="{F7B62FC0-63BE-4485-BBB1-D642F407D3EA}" type="pres">
      <dgm:prSet presAssocID="{20A3823E-C350-41C1-B9B2-B335414E854D}" presName="Child2" presStyleLbl="revTx" presStyleIdx="0" presStyleCnt="0">
        <dgm:presLayoutVars>
          <dgm:chMax val="0"/>
          <dgm:chPref val="0"/>
          <dgm:bulletEnabled val="1"/>
        </dgm:presLayoutVars>
      </dgm:prSet>
      <dgm:spPr/>
    </dgm:pt>
    <dgm:pt modelId="{1A03FE09-BABA-460D-9134-F6A526D8F74D}" type="pres">
      <dgm:prSet presAssocID="{20A3823E-C350-41C1-B9B2-B335414E854D}" presName="Parent2" presStyleLbl="node1" presStyleIdx="3" presStyleCnt="5" custLinFactNeighborX="-3336" custLinFactNeighborY="-6001">
        <dgm:presLayoutVars>
          <dgm:chMax val="2"/>
          <dgm:chPref val="1"/>
          <dgm:bulletEnabled val="1"/>
        </dgm:presLayoutVars>
      </dgm:prSet>
      <dgm:spPr/>
    </dgm:pt>
    <dgm:pt modelId="{06F7E4F3-6E77-4E8E-8F3F-087562B50342}" type="pres">
      <dgm:prSet presAssocID="{B56F920C-09AE-48C1-8F7F-41D2D5318DD9}" presName="ChildAccent1" presStyleCnt="0"/>
      <dgm:spPr/>
    </dgm:pt>
    <dgm:pt modelId="{256C558B-2738-4546-A3BC-C8450168E918}" type="pres">
      <dgm:prSet presAssocID="{B56F920C-09AE-48C1-8F7F-41D2D5318DD9}" presName="ChildAccent" presStyleLbl="alignImgPlace1" presStyleIdx="4" presStyleCnt="5" custScaleX="101603" custScaleY="90118" custLinFactNeighborX="-9301" custLinFactNeighborY="-4601"/>
      <dgm:spPr/>
    </dgm:pt>
    <dgm:pt modelId="{4F647DEC-9B83-4C62-B2F6-21A034CAB5CE}" type="pres">
      <dgm:prSet presAssocID="{B56F920C-09AE-48C1-8F7F-41D2D5318DD9}" presName="Child1" presStyleLbl="revTx" presStyleIdx="0" presStyleCnt="0">
        <dgm:presLayoutVars>
          <dgm:chMax val="0"/>
          <dgm:chPref val="0"/>
          <dgm:bulletEnabled val="1"/>
        </dgm:presLayoutVars>
      </dgm:prSet>
      <dgm:spPr/>
    </dgm:pt>
    <dgm:pt modelId="{91AA36D8-66BC-4FBF-98A1-B9E03208FA27}" type="pres">
      <dgm:prSet presAssocID="{B56F920C-09AE-48C1-8F7F-41D2D5318DD9}" presName="Parent1" presStyleLbl="node1" presStyleIdx="4" presStyleCnt="5" custScaleX="106197" custScaleY="131994" custLinFactNeighborX="-1907" custLinFactNeighborY="-16504">
        <dgm:presLayoutVars>
          <dgm:chMax val="2"/>
          <dgm:chPref val="1"/>
          <dgm:bulletEnabled val="1"/>
        </dgm:presLayoutVars>
      </dgm:prSet>
      <dgm:spPr/>
    </dgm:pt>
  </dgm:ptLst>
  <dgm:cxnLst>
    <dgm:cxn modelId="{226D8E03-FE60-4C23-8D26-759F0BAB2E5C}" type="presOf" srcId="{8B5291AC-5AAE-4BA1-8686-CF06CAC25001}" destId="{67027248-6D9A-49CA-8838-45C4BDB6AD25}" srcOrd="0" destOrd="0" presId="urn:microsoft.com/office/officeart/2011/layout/InterconnectedBlockProcess"/>
    <dgm:cxn modelId="{29D93813-53A5-44D7-B53A-4B25B4AF9255}" type="presOf" srcId="{AA60316B-17A1-4799-813F-A30453B05FE3}" destId="{0F369253-436D-4E70-A5DA-2973CB597488}" srcOrd="0" destOrd="0" presId="urn:microsoft.com/office/officeart/2011/layout/InterconnectedBlockProcess"/>
    <dgm:cxn modelId="{CFBC0318-AE04-4718-8CA6-36A6071966EC}" type="presOf" srcId="{8D355054-7366-4EEE-884B-BC82674F6D2A}" destId="{092ECD6F-35F8-4211-A272-2DCE8186DBB4}" srcOrd="0" destOrd="0" presId="urn:microsoft.com/office/officeart/2011/layout/InterconnectedBlockProcess"/>
    <dgm:cxn modelId="{9BF34819-5B2F-4B79-8D60-2153A990F135}" type="presOf" srcId="{3B6CC121-1C70-415F-8AED-209C3E55BC8D}" destId="{4F647DEC-9B83-4C62-B2F6-21A034CAB5CE}" srcOrd="1" destOrd="0" presId="urn:microsoft.com/office/officeart/2011/layout/InterconnectedBlockProcess"/>
    <dgm:cxn modelId="{91B6261B-0178-4F3F-AF8E-AD1A0A10527C}" type="presOf" srcId="{F7F17961-B022-40D9-9276-CD2545744FE6}" destId="{F1BB0F6B-CD64-4F41-9E62-1079EB614357}" srcOrd="0" destOrd="0" presId="urn:microsoft.com/office/officeart/2011/layout/InterconnectedBlockProcess"/>
    <dgm:cxn modelId="{4634602D-D3B3-4B04-AB4D-E16F067C3EF4}" type="presOf" srcId="{A5B9CA4E-0BF8-4814-9F39-2BC874102B75}" destId="{7452A738-D4CC-4F87-A430-92DDB034EBD1}" srcOrd="0" destOrd="0" presId="urn:microsoft.com/office/officeart/2011/layout/InterconnectedBlockProcess"/>
    <dgm:cxn modelId="{0E0CCE2E-E6F1-468A-99A0-B92EE4DDCB7E}" srcId="{FA4F5693-6F0C-4256-A09F-77E37161F899}" destId="{20A3823E-C350-41C1-B9B2-B335414E854D}" srcOrd="1" destOrd="0" parTransId="{FB8A19EB-37F1-4ABC-A2BB-D17C3D6D4F98}" sibTransId="{15CD1772-C406-4D4C-B87C-6B1A494DDFD5}"/>
    <dgm:cxn modelId="{D2C63E30-3786-467E-8222-DA345749E1F6}" srcId="{FA4F5693-6F0C-4256-A09F-77E37161F899}" destId="{AA60316B-17A1-4799-813F-A30453B05FE3}" srcOrd="4" destOrd="0" parTransId="{977F7588-B449-4228-AC35-EDF8E879D31C}" sibTransId="{C506B4EE-26AC-4C20-AAF0-27452B544477}"/>
    <dgm:cxn modelId="{5D79E731-D60E-4C35-BC04-92EDF12FD44F}" type="presOf" srcId="{8D355054-7366-4EEE-884B-BC82674F6D2A}" destId="{14EFA57F-7FB1-42F0-AD48-C0C387EE116C}" srcOrd="1" destOrd="0" presId="urn:microsoft.com/office/officeart/2011/layout/InterconnectedBlockProcess"/>
    <dgm:cxn modelId="{B06F7D62-E829-4B29-981A-9E69BD3B8712}" type="presOf" srcId="{46126589-DB6B-4564-AA4F-ED1CEE6C4F4F}" destId="{E27F994B-B4B2-4B2D-AABB-05DEA39CEE3B}" srcOrd="0" destOrd="0" presId="urn:microsoft.com/office/officeart/2011/layout/InterconnectedBlockProcess"/>
    <dgm:cxn modelId="{CECBA363-5936-4341-8263-E57085DB5965}" srcId="{20A3823E-C350-41C1-B9B2-B335414E854D}" destId="{F7F17961-B022-40D9-9276-CD2545744FE6}" srcOrd="0" destOrd="0" parTransId="{227CA8A0-FF22-4861-87A1-8348D2F70B88}" sibTransId="{9C4A18CD-BECB-488B-8360-2E50150A16B5}"/>
    <dgm:cxn modelId="{4714836B-CEB6-49C0-916D-54AC8A400D12}" type="presOf" srcId="{A5B9CA4E-0BF8-4814-9F39-2BC874102B75}" destId="{FBE78E35-AC6B-4674-B869-57133978AA1D}" srcOrd="1" destOrd="0" presId="urn:microsoft.com/office/officeart/2011/layout/InterconnectedBlockProcess"/>
    <dgm:cxn modelId="{FCA36B4E-056B-44DD-A520-3AC345AAA002}" type="presOf" srcId="{98FCD950-58CF-4D82-82D3-33F2A3486EBC}" destId="{38B6CE29-62EA-421B-8E6B-9D6C32B4D6BC}" srcOrd="0" destOrd="0" presId="urn:microsoft.com/office/officeart/2011/layout/InterconnectedBlockProcess"/>
    <dgm:cxn modelId="{F2DD5C8B-F029-47F5-B9BC-42B1BE90B8FB}" srcId="{FA4F5693-6F0C-4256-A09F-77E37161F899}" destId="{98FCD950-58CF-4D82-82D3-33F2A3486EBC}" srcOrd="2" destOrd="0" parTransId="{34CCE479-BF0B-4C4C-9B7B-564E442E8AB3}" sibTransId="{7DC39BA8-4776-4FA4-8936-6E2E5DE833ED}"/>
    <dgm:cxn modelId="{E432A68B-2334-450B-B8CE-302BC6C7F155}" type="presOf" srcId="{B56F920C-09AE-48C1-8F7F-41D2D5318DD9}" destId="{91AA36D8-66BC-4FBF-98A1-B9E03208FA27}" srcOrd="0" destOrd="0" presId="urn:microsoft.com/office/officeart/2011/layout/InterconnectedBlockProcess"/>
    <dgm:cxn modelId="{AC3C99AA-6889-4150-ABC5-5CB1C8DCBFB7}" type="presOf" srcId="{20A3823E-C350-41C1-B9B2-B335414E854D}" destId="{1A03FE09-BABA-460D-9134-F6A526D8F74D}" srcOrd="0" destOrd="0" presId="urn:microsoft.com/office/officeart/2011/layout/InterconnectedBlockProcess"/>
    <dgm:cxn modelId="{5D1A56B1-0CDA-404D-9F47-1FBB7DAE8210}" type="presOf" srcId="{3B6CC121-1C70-415F-8AED-209C3E55BC8D}" destId="{256C558B-2738-4546-A3BC-C8450168E918}" srcOrd="0" destOrd="0" presId="urn:microsoft.com/office/officeart/2011/layout/InterconnectedBlockProcess"/>
    <dgm:cxn modelId="{23196FB2-779E-4C44-A7CB-27EB5654F9B8}" type="presOf" srcId="{FA4F5693-6F0C-4256-A09F-77E37161F899}" destId="{D5B38A53-A469-48B1-B2C0-47614F45528C}" srcOrd="0" destOrd="0" presId="urn:microsoft.com/office/officeart/2011/layout/InterconnectedBlockProcess"/>
    <dgm:cxn modelId="{8EDFB3B4-B044-4C06-92E2-91DB9EE0996B}" type="presOf" srcId="{F7F17961-B022-40D9-9276-CD2545744FE6}" destId="{F7B62FC0-63BE-4485-BBB1-D642F407D3EA}" srcOrd="1" destOrd="0" presId="urn:microsoft.com/office/officeart/2011/layout/InterconnectedBlockProcess"/>
    <dgm:cxn modelId="{A52FCFB6-CE23-4D7F-AE6C-90CFA6D45482}" srcId="{B56F920C-09AE-48C1-8F7F-41D2D5318DD9}" destId="{3B6CC121-1C70-415F-8AED-209C3E55BC8D}" srcOrd="0" destOrd="0" parTransId="{0945EFFB-B265-486D-A340-BA8C009823D8}" sibTransId="{1BA71DF7-6ADF-4B93-92D9-6D601CE0AA9D}"/>
    <dgm:cxn modelId="{1D9DD6BE-B504-492C-AE1B-BA8B61079E85}" srcId="{98FCD950-58CF-4D82-82D3-33F2A3486EBC}" destId="{A5B9CA4E-0BF8-4814-9F39-2BC874102B75}" srcOrd="0" destOrd="0" parTransId="{8A029BF8-4692-45BB-96E4-CA392D300BAF}" sibTransId="{C48CC441-C5C5-46BA-93AB-93EDE0CD292E}"/>
    <dgm:cxn modelId="{BF59DFC4-19A8-452A-9555-AC0F4A003C2D}" type="presOf" srcId="{46126589-DB6B-4564-AA4F-ED1CEE6C4F4F}" destId="{F9C0DB78-4DF6-4F02-9325-A0F938DBF456}" srcOrd="1" destOrd="0" presId="urn:microsoft.com/office/officeart/2011/layout/InterconnectedBlockProcess"/>
    <dgm:cxn modelId="{DA981EE5-D150-44AD-9A15-4DBED71B02A0}" srcId="{AA60316B-17A1-4799-813F-A30453B05FE3}" destId="{46126589-DB6B-4564-AA4F-ED1CEE6C4F4F}" srcOrd="0" destOrd="0" parTransId="{3CEB33DC-C5EE-4EC9-AF16-0729BE0FD78A}" sibTransId="{DD34CC76-A727-46AB-8066-64A347501530}"/>
    <dgm:cxn modelId="{A040C6EE-0412-4A7A-BE2E-217AF6099C1B}" srcId="{8B5291AC-5AAE-4BA1-8686-CF06CAC25001}" destId="{8D355054-7366-4EEE-884B-BC82674F6D2A}" srcOrd="0" destOrd="0" parTransId="{510B3745-60C9-425A-98BD-4B63B88CC756}" sibTransId="{9398AE2F-4358-45DC-8B13-A59371E7BB60}"/>
    <dgm:cxn modelId="{60B182F3-3634-4A11-986B-26B9BF786263}" srcId="{FA4F5693-6F0C-4256-A09F-77E37161F899}" destId="{B56F920C-09AE-48C1-8F7F-41D2D5318DD9}" srcOrd="0" destOrd="0" parTransId="{688621A9-845A-459A-B1A1-D4F40859FD72}" sibTransId="{98259AB5-184F-42DE-BAFE-797CB1DCAAE3}"/>
    <dgm:cxn modelId="{F273E7FE-A970-47B3-8947-6D0A6082C6CD}" srcId="{FA4F5693-6F0C-4256-A09F-77E37161F899}" destId="{8B5291AC-5AAE-4BA1-8686-CF06CAC25001}" srcOrd="3" destOrd="0" parTransId="{25542CFF-EBED-4C19-B068-8E7DE86049A6}" sibTransId="{A4419E7C-6B07-4A3C-BEC2-602C0D0DA45F}"/>
    <dgm:cxn modelId="{9BB97046-8A35-49AC-B1B7-86040D0FEB2D}" type="presParOf" srcId="{D5B38A53-A469-48B1-B2C0-47614F45528C}" destId="{D88140CE-7E1F-4873-8CF7-95B116CA4881}" srcOrd="0" destOrd="0" presId="urn:microsoft.com/office/officeart/2011/layout/InterconnectedBlockProcess"/>
    <dgm:cxn modelId="{CD37B818-8723-4FBA-9028-D1491637A12F}" type="presParOf" srcId="{D88140CE-7E1F-4873-8CF7-95B116CA4881}" destId="{E27F994B-B4B2-4B2D-AABB-05DEA39CEE3B}" srcOrd="0" destOrd="0" presId="urn:microsoft.com/office/officeart/2011/layout/InterconnectedBlockProcess"/>
    <dgm:cxn modelId="{BC59B931-E546-4697-9407-F24726843D0E}" type="presParOf" srcId="{D5B38A53-A469-48B1-B2C0-47614F45528C}" destId="{F9C0DB78-4DF6-4F02-9325-A0F938DBF456}" srcOrd="1" destOrd="0" presId="urn:microsoft.com/office/officeart/2011/layout/InterconnectedBlockProcess"/>
    <dgm:cxn modelId="{DF249E6F-9E6F-489B-AB0C-A486980D28B4}" type="presParOf" srcId="{D5B38A53-A469-48B1-B2C0-47614F45528C}" destId="{0F369253-436D-4E70-A5DA-2973CB597488}" srcOrd="2" destOrd="0" presId="urn:microsoft.com/office/officeart/2011/layout/InterconnectedBlockProcess"/>
    <dgm:cxn modelId="{1A691877-61D0-4A44-9E11-E3196A56B37C}" type="presParOf" srcId="{D5B38A53-A469-48B1-B2C0-47614F45528C}" destId="{84BAB7F5-0550-42CC-9C7F-66D567FED905}" srcOrd="3" destOrd="0" presId="urn:microsoft.com/office/officeart/2011/layout/InterconnectedBlockProcess"/>
    <dgm:cxn modelId="{AB973CE1-1353-4EA5-9030-A5FF49372CE7}" type="presParOf" srcId="{84BAB7F5-0550-42CC-9C7F-66D567FED905}" destId="{092ECD6F-35F8-4211-A272-2DCE8186DBB4}" srcOrd="0" destOrd="0" presId="urn:microsoft.com/office/officeart/2011/layout/InterconnectedBlockProcess"/>
    <dgm:cxn modelId="{54841EEF-CF68-436B-ACD3-7D3CA7ACEDDB}" type="presParOf" srcId="{D5B38A53-A469-48B1-B2C0-47614F45528C}" destId="{14EFA57F-7FB1-42F0-AD48-C0C387EE116C}" srcOrd="4" destOrd="0" presId="urn:microsoft.com/office/officeart/2011/layout/InterconnectedBlockProcess"/>
    <dgm:cxn modelId="{0BEF6F72-08B3-497D-A213-2100CB823E17}" type="presParOf" srcId="{D5B38A53-A469-48B1-B2C0-47614F45528C}" destId="{67027248-6D9A-49CA-8838-45C4BDB6AD25}" srcOrd="5" destOrd="0" presId="urn:microsoft.com/office/officeart/2011/layout/InterconnectedBlockProcess"/>
    <dgm:cxn modelId="{E9555B5F-03E8-4995-BE5D-92EDDD8BA53D}" type="presParOf" srcId="{D5B38A53-A469-48B1-B2C0-47614F45528C}" destId="{E21AE640-9DE6-4C6A-BE26-C3A1266E9FF0}" srcOrd="6" destOrd="0" presId="urn:microsoft.com/office/officeart/2011/layout/InterconnectedBlockProcess"/>
    <dgm:cxn modelId="{089B4DA7-6E13-4EB7-897F-345B7303D9B3}" type="presParOf" srcId="{E21AE640-9DE6-4C6A-BE26-C3A1266E9FF0}" destId="{7452A738-D4CC-4F87-A430-92DDB034EBD1}" srcOrd="0" destOrd="0" presId="urn:microsoft.com/office/officeart/2011/layout/InterconnectedBlockProcess"/>
    <dgm:cxn modelId="{115F9E96-3FC3-4223-BC5B-14210B2F1C49}" type="presParOf" srcId="{D5B38A53-A469-48B1-B2C0-47614F45528C}" destId="{FBE78E35-AC6B-4674-B869-57133978AA1D}" srcOrd="7" destOrd="0" presId="urn:microsoft.com/office/officeart/2011/layout/InterconnectedBlockProcess"/>
    <dgm:cxn modelId="{6905BE86-0679-4E8D-8583-FBEF3B6B0215}" type="presParOf" srcId="{D5B38A53-A469-48B1-B2C0-47614F45528C}" destId="{38B6CE29-62EA-421B-8E6B-9D6C32B4D6BC}" srcOrd="8" destOrd="0" presId="urn:microsoft.com/office/officeart/2011/layout/InterconnectedBlockProcess"/>
    <dgm:cxn modelId="{CA1F11F3-FF1D-472D-8459-B8D088C7BCF6}" type="presParOf" srcId="{D5B38A53-A469-48B1-B2C0-47614F45528C}" destId="{1DF039DD-F330-41BD-A767-B1B274684DC0}" srcOrd="9" destOrd="0" presId="urn:microsoft.com/office/officeart/2011/layout/InterconnectedBlockProcess"/>
    <dgm:cxn modelId="{708D29E7-CEFF-4468-9ECA-DDD92CAD5126}" type="presParOf" srcId="{1DF039DD-F330-41BD-A767-B1B274684DC0}" destId="{F1BB0F6B-CD64-4F41-9E62-1079EB614357}" srcOrd="0" destOrd="0" presId="urn:microsoft.com/office/officeart/2011/layout/InterconnectedBlockProcess"/>
    <dgm:cxn modelId="{7D72108C-ADA1-4356-98D3-0E2A744F0182}" type="presParOf" srcId="{D5B38A53-A469-48B1-B2C0-47614F45528C}" destId="{F7B62FC0-63BE-4485-BBB1-D642F407D3EA}" srcOrd="10" destOrd="0" presId="urn:microsoft.com/office/officeart/2011/layout/InterconnectedBlockProcess"/>
    <dgm:cxn modelId="{74DA3BB7-BDDD-40DD-9E2B-83E5C1597172}" type="presParOf" srcId="{D5B38A53-A469-48B1-B2C0-47614F45528C}" destId="{1A03FE09-BABA-460D-9134-F6A526D8F74D}" srcOrd="11" destOrd="0" presId="urn:microsoft.com/office/officeart/2011/layout/InterconnectedBlockProcess"/>
    <dgm:cxn modelId="{1DA35FC2-C0C6-4EE9-AD56-C85A07428112}" type="presParOf" srcId="{D5B38A53-A469-48B1-B2C0-47614F45528C}" destId="{06F7E4F3-6E77-4E8E-8F3F-087562B50342}" srcOrd="12" destOrd="0" presId="urn:microsoft.com/office/officeart/2011/layout/InterconnectedBlockProcess"/>
    <dgm:cxn modelId="{76419396-D5F4-4C94-B256-EF68F5E32E35}" type="presParOf" srcId="{06F7E4F3-6E77-4E8E-8F3F-087562B50342}" destId="{256C558B-2738-4546-A3BC-C8450168E918}" srcOrd="0" destOrd="0" presId="urn:microsoft.com/office/officeart/2011/layout/InterconnectedBlockProcess"/>
    <dgm:cxn modelId="{16705F3C-DB6D-474A-A742-32ED10F0BF75}" type="presParOf" srcId="{D5B38A53-A469-48B1-B2C0-47614F45528C}" destId="{4F647DEC-9B83-4C62-B2F6-21A034CAB5CE}" srcOrd="13" destOrd="0" presId="urn:microsoft.com/office/officeart/2011/layout/InterconnectedBlockProcess"/>
    <dgm:cxn modelId="{E611C953-F41C-4D04-A52E-FDE138B07F4A}" type="presParOf" srcId="{D5B38A53-A469-48B1-B2C0-47614F45528C}" destId="{91AA36D8-66BC-4FBF-98A1-B9E03208FA27}" srcOrd="14" destOrd="0" presId="urn:microsoft.com/office/officeart/2011/layout/Interconnected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DA410-23F3-4ADF-8E72-D128F9B01907}">
      <dsp:nvSpPr>
        <dsp:cNvPr id="0" name=""/>
        <dsp:cNvSpPr/>
      </dsp:nvSpPr>
      <dsp:spPr>
        <a:xfrm>
          <a:off x="0" y="3143341"/>
          <a:ext cx="10560611" cy="103171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IN" sz="1900" b="1" kern="1200" dirty="0">
              <a:solidFill>
                <a:schemeClr val="tx1"/>
              </a:solidFill>
            </a:rPr>
            <a:t>Focus Your Topic Narrowly and Select Papers Accordingly</a:t>
          </a:r>
          <a:endParaRPr lang="en-IN" sz="1900" kern="1200" dirty="0">
            <a:solidFill>
              <a:schemeClr val="tx1"/>
            </a:solidFill>
          </a:endParaRPr>
        </a:p>
      </dsp:txBody>
      <dsp:txXfrm>
        <a:off x="0" y="3143341"/>
        <a:ext cx="10560611" cy="557126"/>
      </dsp:txXfrm>
    </dsp:sp>
    <dsp:sp modelId="{D5C94A91-C51C-4BC5-AD94-5C20BEDD56E3}">
      <dsp:nvSpPr>
        <dsp:cNvPr id="0" name=""/>
        <dsp:cNvSpPr/>
      </dsp:nvSpPr>
      <dsp:spPr>
        <a:xfrm>
          <a:off x="5156" y="3679833"/>
          <a:ext cx="3516766" cy="474588"/>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IN" sz="2700" kern="1200" dirty="0"/>
            <a:t>1. What interests you?</a:t>
          </a:r>
        </a:p>
      </dsp:txBody>
      <dsp:txXfrm>
        <a:off x="5156" y="3679833"/>
        <a:ext cx="3516766" cy="474588"/>
      </dsp:txXfrm>
    </dsp:sp>
    <dsp:sp modelId="{8706CEF9-D71A-4D03-8EC9-B864E4740EB8}">
      <dsp:nvSpPr>
        <dsp:cNvPr id="0" name=""/>
        <dsp:cNvSpPr/>
      </dsp:nvSpPr>
      <dsp:spPr>
        <a:xfrm>
          <a:off x="3521922" y="3679833"/>
          <a:ext cx="3516766" cy="474588"/>
        </a:xfrm>
        <a:prstGeom prst="rect">
          <a:avLst/>
        </a:prstGeom>
        <a:solidFill>
          <a:schemeClr val="accent5">
            <a:tint val="40000"/>
            <a:alpha val="90000"/>
            <a:hueOff val="-978448"/>
            <a:satOff val="-3574"/>
            <a:lumOff val="-1577"/>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IN" sz="1800" kern="1200" dirty="0"/>
            <a:t>2.What interests others?</a:t>
          </a:r>
        </a:p>
      </dsp:txBody>
      <dsp:txXfrm>
        <a:off x="3521922" y="3679833"/>
        <a:ext cx="3516766" cy="474588"/>
      </dsp:txXfrm>
    </dsp:sp>
    <dsp:sp modelId="{464AC235-BAE3-498B-8F4B-E59F9A937119}">
      <dsp:nvSpPr>
        <dsp:cNvPr id="0" name=""/>
        <dsp:cNvSpPr/>
      </dsp:nvSpPr>
      <dsp:spPr>
        <a:xfrm>
          <a:off x="7038689" y="3679833"/>
          <a:ext cx="3516766" cy="474588"/>
        </a:xfrm>
        <a:prstGeom prst="rect">
          <a:avLst/>
        </a:prstGeom>
        <a:solidFill>
          <a:schemeClr val="accent5">
            <a:tint val="40000"/>
            <a:alpha val="90000"/>
            <a:hueOff val="-1956896"/>
            <a:satOff val="-7149"/>
            <a:lumOff val="-3155"/>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IN" sz="1800" kern="1200" dirty="0"/>
            <a:t>3. What time span of research will you consider?</a:t>
          </a:r>
        </a:p>
      </dsp:txBody>
      <dsp:txXfrm>
        <a:off x="7038689" y="3679833"/>
        <a:ext cx="3516766" cy="474588"/>
      </dsp:txXfrm>
    </dsp:sp>
    <dsp:sp modelId="{3774F3A7-FEB7-4DCB-B799-DE8598627CCA}">
      <dsp:nvSpPr>
        <dsp:cNvPr id="0" name=""/>
        <dsp:cNvSpPr/>
      </dsp:nvSpPr>
      <dsp:spPr>
        <a:xfrm rot="10800000">
          <a:off x="0" y="1554442"/>
          <a:ext cx="10560611" cy="1586777"/>
        </a:xfrm>
        <a:prstGeom prst="upArrowCallout">
          <a:avLst/>
        </a:prstGeom>
        <a:solidFill>
          <a:schemeClr val="accent5">
            <a:hueOff val="-3689968"/>
            <a:satOff val="31819"/>
            <a:lumOff val="-29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IN" sz="1900" b="1" kern="1200" dirty="0">
              <a:solidFill>
                <a:schemeClr val="tx2"/>
              </a:solidFill>
            </a:rPr>
            <a:t>Review the literature</a:t>
          </a:r>
        </a:p>
      </dsp:txBody>
      <dsp:txXfrm rot="-10800000">
        <a:off x="0" y="1554442"/>
        <a:ext cx="10560611" cy="556958"/>
      </dsp:txXfrm>
    </dsp:sp>
    <dsp:sp modelId="{0370C00B-4053-44E7-95A9-3FAEEA731879}">
      <dsp:nvSpPr>
        <dsp:cNvPr id="0" name=""/>
        <dsp:cNvSpPr/>
      </dsp:nvSpPr>
      <dsp:spPr>
        <a:xfrm flipH="1">
          <a:off x="0" y="2152365"/>
          <a:ext cx="3800514" cy="474446"/>
        </a:xfrm>
        <a:prstGeom prst="rect">
          <a:avLst/>
        </a:prstGeom>
        <a:solidFill>
          <a:schemeClr val="accent5">
            <a:tint val="40000"/>
            <a:alpha val="90000"/>
            <a:hueOff val="-2935344"/>
            <a:satOff val="-10723"/>
            <a:lumOff val="-4732"/>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IN" sz="2000" kern="1200" dirty="0"/>
            <a:t>1. Keywords – database  search</a:t>
          </a:r>
        </a:p>
      </dsp:txBody>
      <dsp:txXfrm>
        <a:off x="0" y="2152365"/>
        <a:ext cx="3800514" cy="474446"/>
      </dsp:txXfrm>
    </dsp:sp>
    <dsp:sp modelId="{8A80FFF9-3732-48EC-BA96-9D8916B7E534}">
      <dsp:nvSpPr>
        <dsp:cNvPr id="0" name=""/>
        <dsp:cNvSpPr/>
      </dsp:nvSpPr>
      <dsp:spPr>
        <a:xfrm flipH="1">
          <a:off x="3804047" y="2128998"/>
          <a:ext cx="3784158" cy="474446"/>
        </a:xfrm>
        <a:prstGeom prst="rect">
          <a:avLst/>
        </a:prstGeom>
        <a:solidFill>
          <a:schemeClr val="accent5">
            <a:tint val="40000"/>
            <a:alpha val="90000"/>
            <a:hueOff val="-3913792"/>
            <a:satOff val="-14297"/>
            <a:lumOff val="-631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IN" sz="2000" kern="1200" dirty="0"/>
            <a:t>2. reference lists and reviews </a:t>
          </a:r>
        </a:p>
      </dsp:txBody>
      <dsp:txXfrm>
        <a:off x="3804047" y="2128998"/>
        <a:ext cx="3784158" cy="474446"/>
      </dsp:txXfrm>
    </dsp:sp>
    <dsp:sp modelId="{2DFBF6F8-05A5-4889-9DE6-2AF1789CB3C8}">
      <dsp:nvSpPr>
        <dsp:cNvPr id="0" name=""/>
        <dsp:cNvSpPr/>
      </dsp:nvSpPr>
      <dsp:spPr>
        <a:xfrm>
          <a:off x="7588205" y="2128998"/>
          <a:ext cx="2968873" cy="474446"/>
        </a:xfrm>
        <a:prstGeom prst="rect">
          <a:avLst/>
        </a:prstGeom>
        <a:solidFill>
          <a:schemeClr val="accent5">
            <a:tint val="40000"/>
            <a:alpha val="90000"/>
            <a:hueOff val="-4892240"/>
            <a:satOff val="-17871"/>
            <a:lumOff val="-7887"/>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IN" sz="1800" kern="1200" dirty="0"/>
            <a:t>3. studies contrary to your point of view</a:t>
          </a:r>
        </a:p>
      </dsp:txBody>
      <dsp:txXfrm>
        <a:off x="7588205" y="2128998"/>
        <a:ext cx="2968873" cy="474446"/>
      </dsp:txXfrm>
    </dsp:sp>
    <dsp:sp modelId="{E31540E3-DA47-4EFF-B423-CFA3F73A0D35}">
      <dsp:nvSpPr>
        <dsp:cNvPr id="0" name=""/>
        <dsp:cNvSpPr/>
      </dsp:nvSpPr>
      <dsp:spPr>
        <a:xfrm rot="10800000">
          <a:off x="0" y="0"/>
          <a:ext cx="10560611" cy="1586777"/>
        </a:xfrm>
        <a:prstGeom prst="upArrowCallout">
          <a:avLst/>
        </a:prstGeom>
        <a:solidFill>
          <a:schemeClr val="accent5">
            <a:hueOff val="-7379937"/>
            <a:satOff val="63637"/>
            <a:lumOff val="-588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2"/>
              </a:solidFill>
            </a:rPr>
            <a:t>Find a working topic</a:t>
          </a:r>
        </a:p>
      </dsp:txBody>
      <dsp:txXfrm rot="-10800000">
        <a:off x="0" y="0"/>
        <a:ext cx="10560611" cy="556958"/>
      </dsp:txXfrm>
    </dsp:sp>
    <dsp:sp modelId="{0C7A34D1-7466-467D-B683-D69B316DA155}">
      <dsp:nvSpPr>
        <dsp:cNvPr id="0" name=""/>
        <dsp:cNvSpPr/>
      </dsp:nvSpPr>
      <dsp:spPr>
        <a:xfrm>
          <a:off x="0" y="539914"/>
          <a:ext cx="5280305" cy="474446"/>
        </a:xfrm>
        <a:prstGeom prst="rect">
          <a:avLst/>
        </a:prstGeom>
        <a:solidFill>
          <a:schemeClr val="accent5">
            <a:tint val="40000"/>
            <a:alpha val="90000"/>
            <a:hueOff val="-5870688"/>
            <a:satOff val="-21446"/>
            <a:lumOff val="-9465"/>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IN" sz="2400" kern="1200" dirty="0"/>
            <a:t>1. What interests you</a:t>
          </a:r>
        </a:p>
      </dsp:txBody>
      <dsp:txXfrm>
        <a:off x="0" y="539914"/>
        <a:ext cx="5280305" cy="474446"/>
      </dsp:txXfrm>
    </dsp:sp>
    <dsp:sp modelId="{DC2632BB-6846-4873-9E8E-6B800ABD4244}">
      <dsp:nvSpPr>
        <dsp:cNvPr id="0" name=""/>
        <dsp:cNvSpPr/>
      </dsp:nvSpPr>
      <dsp:spPr>
        <a:xfrm>
          <a:off x="5280305" y="539914"/>
          <a:ext cx="5280305" cy="474446"/>
        </a:xfrm>
        <a:prstGeom prst="rect">
          <a:avLst/>
        </a:prstGeom>
        <a:solidFill>
          <a:schemeClr val="accent5">
            <a:tint val="40000"/>
            <a:alpha val="90000"/>
            <a:hueOff val="-6849136"/>
            <a:satOff val="-25020"/>
            <a:lumOff val="-11042"/>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IN" sz="2400" kern="1200" dirty="0"/>
            <a:t>2. What is fertile ground for study</a:t>
          </a:r>
        </a:p>
      </dsp:txBody>
      <dsp:txXfrm>
        <a:off x="5280305" y="539914"/>
        <a:ext cx="5280305" cy="4744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C87F-1682-4636-B17D-B4D6EC4619DC}">
      <dsp:nvSpPr>
        <dsp:cNvPr id="0" name=""/>
        <dsp:cNvSpPr/>
      </dsp:nvSpPr>
      <dsp:spPr>
        <a:xfrm>
          <a:off x="0" y="3615233"/>
          <a:ext cx="10392593" cy="489223"/>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1"/>
              </a:solidFill>
            </a:rPr>
            <a:t>Develop a Working Thesis</a:t>
          </a:r>
          <a:endParaRPr lang="en-IN" sz="2200" kern="1200" dirty="0">
            <a:solidFill>
              <a:schemeClr val="tx1"/>
            </a:solidFill>
          </a:endParaRPr>
        </a:p>
      </dsp:txBody>
      <dsp:txXfrm>
        <a:off x="0" y="3615233"/>
        <a:ext cx="10392593" cy="489223"/>
      </dsp:txXfrm>
    </dsp:sp>
    <dsp:sp modelId="{3774F3A7-FEB7-4DCB-B799-DE8598627CCA}">
      <dsp:nvSpPr>
        <dsp:cNvPr id="0" name=""/>
        <dsp:cNvSpPr/>
      </dsp:nvSpPr>
      <dsp:spPr>
        <a:xfrm rot="10800000" flipH="1">
          <a:off x="0" y="1487207"/>
          <a:ext cx="10392593" cy="2125205"/>
        </a:xfrm>
        <a:prstGeom prst="upArrowCallout">
          <a:avLst/>
        </a:prstGeom>
        <a:solidFill>
          <a:schemeClr val="accent5">
            <a:hueOff val="-3689968"/>
            <a:satOff val="31819"/>
            <a:lumOff val="-29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2"/>
              </a:solidFill>
            </a:rPr>
            <a:t>Organize the Selected Papers By Looking For Patterns and By Developing Subtopics</a:t>
          </a:r>
          <a:endParaRPr lang="en-IN" sz="2200" kern="1200" dirty="0">
            <a:solidFill>
              <a:schemeClr val="tx2"/>
            </a:solidFill>
          </a:endParaRPr>
        </a:p>
      </dsp:txBody>
      <dsp:txXfrm rot="-10800000">
        <a:off x="0" y="1487207"/>
        <a:ext cx="10392593" cy="745946"/>
      </dsp:txXfrm>
    </dsp:sp>
    <dsp:sp modelId="{0370C00B-4053-44E7-95A9-3FAEEA731879}">
      <dsp:nvSpPr>
        <dsp:cNvPr id="0" name=""/>
        <dsp:cNvSpPr/>
      </dsp:nvSpPr>
      <dsp:spPr>
        <a:xfrm flipH="1">
          <a:off x="0" y="2343841"/>
          <a:ext cx="2664959" cy="453899"/>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IN" sz="2100" kern="1200" dirty="0">
              <a:solidFill>
                <a:schemeClr val="tx1"/>
              </a:solidFill>
            </a:rPr>
            <a:t>1. Common Findings. </a:t>
          </a:r>
        </a:p>
      </dsp:txBody>
      <dsp:txXfrm>
        <a:off x="0" y="2343841"/>
        <a:ext cx="2664959" cy="453899"/>
      </dsp:txXfrm>
    </dsp:sp>
    <dsp:sp modelId="{3CC0AFB5-6470-4762-9E49-F4FE4DF728FF}">
      <dsp:nvSpPr>
        <dsp:cNvPr id="0" name=""/>
        <dsp:cNvSpPr/>
      </dsp:nvSpPr>
      <dsp:spPr>
        <a:xfrm>
          <a:off x="2650161" y="2343841"/>
          <a:ext cx="3861700" cy="453899"/>
        </a:xfrm>
        <a:prstGeom prst="rect">
          <a:avLst/>
        </a:prstGeom>
        <a:solidFill>
          <a:schemeClr val="accent5">
            <a:tint val="40000"/>
            <a:alpha val="90000"/>
            <a:hueOff val="-856142"/>
            <a:satOff val="-3128"/>
            <a:lumOff val="-138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IN" sz="2100" kern="1200" dirty="0">
              <a:solidFill>
                <a:schemeClr val="tx1"/>
              </a:solidFill>
            </a:rPr>
            <a:t>2.Two or three important trends </a:t>
          </a:r>
        </a:p>
      </dsp:txBody>
      <dsp:txXfrm>
        <a:off x="2650161" y="2343841"/>
        <a:ext cx="3861700" cy="453899"/>
      </dsp:txXfrm>
    </dsp:sp>
    <dsp:sp modelId="{8180C045-37F3-452C-B0EF-42B92712A53A}">
      <dsp:nvSpPr>
        <dsp:cNvPr id="0" name=""/>
        <dsp:cNvSpPr/>
      </dsp:nvSpPr>
      <dsp:spPr>
        <a:xfrm>
          <a:off x="6528776" y="2340455"/>
          <a:ext cx="3861700" cy="453899"/>
        </a:xfrm>
        <a:prstGeom prst="rect">
          <a:avLst/>
        </a:prstGeom>
        <a:solidFill>
          <a:schemeClr val="accent5">
            <a:tint val="40000"/>
            <a:alpha val="90000"/>
            <a:hueOff val="-1712284"/>
            <a:satOff val="-6255"/>
            <a:lumOff val="-276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IN" sz="2100" kern="1200" dirty="0">
              <a:solidFill>
                <a:schemeClr val="tx1"/>
              </a:solidFill>
            </a:rPr>
            <a:t>3. The most inﬂuential theories</a:t>
          </a:r>
        </a:p>
      </dsp:txBody>
      <dsp:txXfrm>
        <a:off x="6528776" y="2340455"/>
        <a:ext cx="3861700" cy="453899"/>
      </dsp:txXfrm>
    </dsp:sp>
    <dsp:sp modelId="{E31540E3-DA47-4EFF-B423-CFA3F73A0D35}">
      <dsp:nvSpPr>
        <dsp:cNvPr id="0" name=""/>
        <dsp:cNvSpPr/>
      </dsp:nvSpPr>
      <dsp:spPr>
        <a:xfrm rot="10800000">
          <a:off x="0" y="92"/>
          <a:ext cx="10392593" cy="1518057"/>
        </a:xfrm>
        <a:prstGeom prst="upArrowCallout">
          <a:avLst/>
        </a:prstGeom>
        <a:solidFill>
          <a:schemeClr val="accent5">
            <a:hueOff val="-7379937"/>
            <a:satOff val="63637"/>
            <a:lumOff val="-588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2"/>
              </a:solidFill>
            </a:rPr>
            <a:t>Read the Selected Articles Thoroughly and Evaluate Them</a:t>
          </a:r>
        </a:p>
      </dsp:txBody>
      <dsp:txXfrm rot="-10800000">
        <a:off x="0" y="92"/>
        <a:ext cx="10392593" cy="532838"/>
      </dsp:txXfrm>
    </dsp:sp>
    <dsp:sp modelId="{0C7A34D1-7466-467D-B683-D69B316DA155}">
      <dsp:nvSpPr>
        <dsp:cNvPr id="0" name=""/>
        <dsp:cNvSpPr/>
      </dsp:nvSpPr>
      <dsp:spPr>
        <a:xfrm>
          <a:off x="5074" y="533629"/>
          <a:ext cx="1730407" cy="453899"/>
        </a:xfrm>
        <a:prstGeom prst="rect">
          <a:avLst/>
        </a:prstGeom>
        <a:solidFill>
          <a:schemeClr val="accent5">
            <a:tint val="40000"/>
            <a:alpha val="90000"/>
            <a:hueOff val="-2568426"/>
            <a:satOff val="-9382"/>
            <a:lumOff val="-4141"/>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1. assumptions</a:t>
          </a:r>
        </a:p>
      </dsp:txBody>
      <dsp:txXfrm>
        <a:off x="5074" y="533629"/>
        <a:ext cx="1730407" cy="453899"/>
      </dsp:txXfrm>
    </dsp:sp>
    <dsp:sp modelId="{DC2632BB-6846-4873-9E8E-6B800ABD4244}">
      <dsp:nvSpPr>
        <dsp:cNvPr id="0" name=""/>
        <dsp:cNvSpPr/>
      </dsp:nvSpPr>
      <dsp:spPr>
        <a:xfrm>
          <a:off x="1735481" y="533629"/>
          <a:ext cx="1730407" cy="453899"/>
        </a:xfrm>
        <a:prstGeom prst="rect">
          <a:avLst/>
        </a:prstGeom>
        <a:solidFill>
          <a:schemeClr val="accent5">
            <a:tint val="40000"/>
            <a:alpha val="90000"/>
            <a:hueOff val="-3424568"/>
            <a:satOff val="-12510"/>
            <a:lumOff val="-5521"/>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2. methodologies</a:t>
          </a:r>
          <a:r>
            <a:rPr lang="en-IN" sz="1600" kern="1200" dirty="0">
              <a:solidFill>
                <a:srgbClr val="00B0F0"/>
              </a:solidFill>
            </a:rPr>
            <a:t> </a:t>
          </a:r>
        </a:p>
      </dsp:txBody>
      <dsp:txXfrm>
        <a:off x="1735481" y="533629"/>
        <a:ext cx="1730407" cy="453899"/>
      </dsp:txXfrm>
    </dsp:sp>
    <dsp:sp modelId="{9BCAF8EB-1F3D-4B92-8A4E-C3D5B90B5350}">
      <dsp:nvSpPr>
        <dsp:cNvPr id="0" name=""/>
        <dsp:cNvSpPr/>
      </dsp:nvSpPr>
      <dsp:spPr>
        <a:xfrm>
          <a:off x="3465889" y="533629"/>
          <a:ext cx="1730407" cy="453899"/>
        </a:xfrm>
        <a:prstGeom prst="rect">
          <a:avLst/>
        </a:prstGeom>
        <a:solidFill>
          <a:schemeClr val="accent5">
            <a:tint val="40000"/>
            <a:alpha val="90000"/>
            <a:hueOff val="-4280710"/>
            <a:satOff val="-15638"/>
            <a:lumOff val="-6901"/>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3. Evaluate and synthesize </a:t>
          </a:r>
        </a:p>
      </dsp:txBody>
      <dsp:txXfrm>
        <a:off x="3465889" y="533629"/>
        <a:ext cx="1730407" cy="453899"/>
      </dsp:txXfrm>
    </dsp:sp>
    <dsp:sp modelId="{C1E7016B-F217-4A6B-BD2C-ED63D75DDCDA}">
      <dsp:nvSpPr>
        <dsp:cNvPr id="0" name=""/>
        <dsp:cNvSpPr/>
      </dsp:nvSpPr>
      <dsp:spPr>
        <a:xfrm>
          <a:off x="5196296" y="533629"/>
          <a:ext cx="1730407" cy="453899"/>
        </a:xfrm>
        <a:prstGeom prst="rect">
          <a:avLst/>
        </a:prstGeom>
        <a:solidFill>
          <a:schemeClr val="accent5">
            <a:tint val="40000"/>
            <a:alpha val="90000"/>
            <a:hueOff val="-5136852"/>
            <a:satOff val="-18765"/>
            <a:lumOff val="-8281"/>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4. Note experts in the ﬁeld</a:t>
          </a:r>
        </a:p>
      </dsp:txBody>
      <dsp:txXfrm>
        <a:off x="5196296" y="533629"/>
        <a:ext cx="1730407" cy="453899"/>
      </dsp:txXfrm>
    </dsp:sp>
    <dsp:sp modelId="{994BADE2-8EFE-4A16-839D-3529CE5CCFC3}">
      <dsp:nvSpPr>
        <dsp:cNvPr id="0" name=""/>
        <dsp:cNvSpPr/>
      </dsp:nvSpPr>
      <dsp:spPr>
        <a:xfrm>
          <a:off x="6926703" y="533629"/>
          <a:ext cx="1730407" cy="453899"/>
        </a:xfrm>
        <a:prstGeom prst="rect">
          <a:avLst/>
        </a:prstGeom>
        <a:solidFill>
          <a:schemeClr val="accent5">
            <a:tint val="40000"/>
            <a:alpha val="90000"/>
            <a:hueOff val="-5992994"/>
            <a:satOff val="-21892"/>
            <a:lumOff val="-9662"/>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5. Note conﬂicts </a:t>
          </a:r>
        </a:p>
      </dsp:txBody>
      <dsp:txXfrm>
        <a:off x="6926703" y="533629"/>
        <a:ext cx="1730407" cy="453899"/>
      </dsp:txXfrm>
    </dsp:sp>
    <dsp:sp modelId="{BB962DC0-6F47-4737-9D97-13A5DB121645}">
      <dsp:nvSpPr>
        <dsp:cNvPr id="0" name=""/>
        <dsp:cNvSpPr/>
      </dsp:nvSpPr>
      <dsp:spPr>
        <a:xfrm>
          <a:off x="8657111" y="533629"/>
          <a:ext cx="1730407" cy="453899"/>
        </a:xfrm>
        <a:prstGeom prst="rect">
          <a:avLst/>
        </a:prstGeom>
        <a:solidFill>
          <a:schemeClr val="accent5">
            <a:tint val="40000"/>
            <a:alpha val="90000"/>
            <a:hueOff val="-6849136"/>
            <a:satOff val="-25020"/>
            <a:lumOff val="-11042"/>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6. Note Popularity </a:t>
          </a:r>
        </a:p>
      </dsp:txBody>
      <dsp:txXfrm>
        <a:off x="8657111" y="533629"/>
        <a:ext cx="1730407" cy="4538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C87F-1682-4636-B17D-B4D6EC4619DC}">
      <dsp:nvSpPr>
        <dsp:cNvPr id="0" name=""/>
        <dsp:cNvSpPr/>
      </dsp:nvSpPr>
      <dsp:spPr>
        <a:xfrm>
          <a:off x="0" y="3238504"/>
          <a:ext cx="10752633" cy="72072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1"/>
              </a:solidFill>
            </a:rPr>
            <a:t>Look At What You Have Written; Focus On Analysis, Not Description</a:t>
          </a:r>
          <a:endParaRPr lang="en-IN" sz="2200" kern="1200" dirty="0">
            <a:solidFill>
              <a:schemeClr val="tx1"/>
            </a:solidFill>
          </a:endParaRPr>
        </a:p>
      </dsp:txBody>
      <dsp:txXfrm>
        <a:off x="0" y="3238504"/>
        <a:ext cx="10752633" cy="720720"/>
      </dsp:txXfrm>
    </dsp:sp>
    <dsp:sp modelId="{7FE3CD19-A3F7-4145-9662-381522A03A05}">
      <dsp:nvSpPr>
        <dsp:cNvPr id="0" name=""/>
        <dsp:cNvSpPr/>
      </dsp:nvSpPr>
      <dsp:spPr>
        <a:xfrm rot="10800000">
          <a:off x="0" y="1619252"/>
          <a:ext cx="10752633" cy="1632333"/>
        </a:xfrm>
        <a:prstGeom prst="upArrowCallout">
          <a:avLst/>
        </a:prstGeom>
        <a:solidFill>
          <a:schemeClr val="accent5">
            <a:hueOff val="-3689968"/>
            <a:satOff val="31819"/>
            <a:lumOff val="-29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2"/>
              </a:solidFill>
            </a:rPr>
            <a:t>Write the Body of the Paper</a:t>
          </a:r>
          <a:endParaRPr lang="en-IN" sz="2200" kern="1200" dirty="0">
            <a:solidFill>
              <a:schemeClr val="tx2"/>
            </a:solidFill>
          </a:endParaRPr>
        </a:p>
      </dsp:txBody>
      <dsp:txXfrm rot="10800000">
        <a:off x="0" y="1619252"/>
        <a:ext cx="10752633" cy="1060641"/>
      </dsp:txXfrm>
    </dsp:sp>
    <dsp:sp modelId="{EEF40689-167C-4DC3-9229-537942812F02}">
      <dsp:nvSpPr>
        <dsp:cNvPr id="0" name=""/>
        <dsp:cNvSpPr/>
      </dsp:nvSpPr>
      <dsp:spPr>
        <a:xfrm rot="10800000">
          <a:off x="0" y="2838"/>
          <a:ext cx="10752633" cy="1632333"/>
        </a:xfrm>
        <a:prstGeom prst="upArrowCallout">
          <a:avLst/>
        </a:prstGeom>
        <a:solidFill>
          <a:schemeClr val="accent5">
            <a:hueOff val="-7379937"/>
            <a:satOff val="63637"/>
            <a:lumOff val="-588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2"/>
              </a:solidFill>
            </a:rPr>
            <a:t>Organize Your Own Paper Based on the Findings From Steps 4 &amp; 5</a:t>
          </a:r>
        </a:p>
      </dsp:txBody>
      <dsp:txXfrm rot="10800000">
        <a:off x="0" y="2838"/>
        <a:ext cx="10752633" cy="10606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7F994B-B4B2-4B2D-AABB-05DEA39CEE3B}">
      <dsp:nvSpPr>
        <dsp:cNvPr id="0" name=""/>
        <dsp:cNvSpPr/>
      </dsp:nvSpPr>
      <dsp:spPr>
        <a:xfrm>
          <a:off x="7774769" y="1509719"/>
          <a:ext cx="1680196" cy="1803233"/>
        </a:xfrm>
        <a:prstGeom prst="wedgeRectCallout">
          <a:avLst>
            <a:gd name="adj1" fmla="val 0"/>
            <a:gd name="adj2" fmla="val 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Using this concept other shaped antennas can be designed</a:t>
          </a:r>
        </a:p>
      </dsp:txBody>
      <dsp:txXfrm>
        <a:off x="7988047" y="1509719"/>
        <a:ext cx="1466917" cy="1803233"/>
      </dsp:txXfrm>
    </dsp:sp>
    <dsp:sp modelId="{0F369253-436D-4E70-A5DA-2973CB597488}">
      <dsp:nvSpPr>
        <dsp:cNvPr id="0" name=""/>
        <dsp:cNvSpPr/>
      </dsp:nvSpPr>
      <dsp:spPr>
        <a:xfrm>
          <a:off x="7764805" y="416164"/>
          <a:ext cx="1680196" cy="106680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rtl="0">
            <a:lnSpc>
              <a:spcPct val="90000"/>
            </a:lnSpc>
            <a:spcBef>
              <a:spcPct val="0"/>
            </a:spcBef>
            <a:spcAft>
              <a:spcPct val="35000"/>
            </a:spcAft>
            <a:buNone/>
          </a:pPr>
          <a:r>
            <a:rPr lang="en-US" sz="1800" b="1" i="0" u="none" strike="noStrike" kern="1200" dirty="0">
              <a:solidFill>
                <a:schemeClr val="tx1"/>
              </a:solidFill>
              <a:effectLst/>
              <a:latin typeface="+mj-lt"/>
            </a:rPr>
            <a:t>Relevance with the present work</a:t>
          </a:r>
        </a:p>
      </dsp:txBody>
      <dsp:txXfrm>
        <a:off x="7764805" y="416164"/>
        <a:ext cx="1680196" cy="1066800"/>
      </dsp:txXfrm>
    </dsp:sp>
    <dsp:sp modelId="{092ECD6F-35F8-4211-A272-2DCE8186DBB4}">
      <dsp:nvSpPr>
        <dsp:cNvPr id="0" name=""/>
        <dsp:cNvSpPr/>
      </dsp:nvSpPr>
      <dsp:spPr>
        <a:xfrm>
          <a:off x="6072610" y="1421836"/>
          <a:ext cx="1680196" cy="2373816"/>
        </a:xfrm>
        <a:prstGeom prst="wedgeRectCallout">
          <a:avLst>
            <a:gd name="adj1" fmla="val 62500"/>
            <a:gd name="adj2" fmla="val 20830"/>
          </a:avLst>
        </a:prstGeom>
        <a:solidFill>
          <a:schemeClr val="accent1">
            <a:tint val="50000"/>
            <a:hueOff val="-213635"/>
            <a:satOff val="10749"/>
            <a:lumOff val="48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800100">
            <a:lnSpc>
              <a:spcPct val="90000"/>
            </a:lnSpc>
            <a:spcBef>
              <a:spcPct val="0"/>
            </a:spcBef>
            <a:spcAft>
              <a:spcPct val="35000"/>
            </a:spcAft>
            <a:buNone/>
          </a:pPr>
          <a:r>
            <a:rPr lang="en-US" sz="1800" kern="1200" dirty="0">
              <a:latin typeface="+mn-lt"/>
            </a:rPr>
            <a:t>Only </a:t>
          </a:r>
          <a:r>
            <a:rPr lang="en-IN" sz="2000" kern="1200" dirty="0">
              <a:latin typeface="Times New Roman" panose="02020603050405020304" pitchFamily="18" charset="0"/>
              <a:cs typeface="Times New Roman" panose="02020603050405020304" pitchFamily="18" charset="0"/>
            </a:rPr>
            <a:t>Π shaped antenna is designed </a:t>
          </a:r>
          <a:endParaRPr lang="en-US" sz="1800" kern="1200" dirty="0">
            <a:latin typeface="+mn-lt"/>
          </a:endParaRPr>
        </a:p>
      </dsp:txBody>
      <dsp:txXfrm>
        <a:off x="6285888" y="1421836"/>
        <a:ext cx="1466917" cy="2373816"/>
      </dsp:txXfrm>
    </dsp:sp>
    <dsp:sp modelId="{67027248-6D9A-49CA-8838-45C4BDB6AD25}">
      <dsp:nvSpPr>
        <dsp:cNvPr id="0" name=""/>
        <dsp:cNvSpPr/>
      </dsp:nvSpPr>
      <dsp:spPr>
        <a:xfrm>
          <a:off x="6046584" y="506509"/>
          <a:ext cx="1680196" cy="93345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rtl="0">
            <a:lnSpc>
              <a:spcPct val="90000"/>
            </a:lnSpc>
            <a:spcBef>
              <a:spcPct val="0"/>
            </a:spcBef>
            <a:spcAft>
              <a:spcPct val="35000"/>
            </a:spcAft>
            <a:buNone/>
          </a:pPr>
          <a:r>
            <a:rPr lang="en-US" sz="1800" b="1" i="0" u="none" strike="noStrike" kern="1200" dirty="0">
              <a:solidFill>
                <a:schemeClr val="tx2"/>
              </a:solidFill>
              <a:effectLst/>
              <a:latin typeface="+mj-lt"/>
            </a:rPr>
            <a:t>Research Gaps</a:t>
          </a:r>
        </a:p>
      </dsp:txBody>
      <dsp:txXfrm>
        <a:off x="6046584" y="506509"/>
        <a:ext cx="1680196" cy="933450"/>
      </dsp:txXfrm>
    </dsp:sp>
    <dsp:sp modelId="{7452A738-D4CC-4F87-A430-92DDB034EBD1}">
      <dsp:nvSpPr>
        <dsp:cNvPr id="0" name=""/>
        <dsp:cNvSpPr/>
      </dsp:nvSpPr>
      <dsp:spPr>
        <a:xfrm>
          <a:off x="4406511" y="662162"/>
          <a:ext cx="1680196" cy="3135943"/>
        </a:xfrm>
        <a:prstGeom prst="wedgeRectCallout">
          <a:avLst>
            <a:gd name="adj1" fmla="val 62500"/>
            <a:gd name="adj2" fmla="val 20830"/>
          </a:avLst>
        </a:prstGeom>
        <a:solidFill>
          <a:schemeClr val="accent1">
            <a:tint val="50000"/>
            <a:hueOff val="-427269"/>
            <a:satOff val="21498"/>
            <a:lumOff val="96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l" defTabSz="889000">
            <a:lnSpc>
              <a:spcPct val="90000"/>
            </a:lnSpc>
            <a:spcBef>
              <a:spcPct val="0"/>
            </a:spcBef>
            <a:spcAft>
              <a:spcPct val="35000"/>
            </a:spcAft>
            <a:buNone/>
          </a:pPr>
          <a:r>
            <a:rPr lang="en-US" sz="2000" b="0" i="0" u="none" strike="noStrike" kern="1200" dirty="0">
              <a:effectLst/>
              <a:latin typeface="Times New Roman" panose="02020603050405020304" pitchFamily="18" charset="0"/>
              <a:cs typeface="Times New Roman" panose="02020603050405020304" pitchFamily="18" charset="0"/>
            </a:rPr>
            <a:t>The designed antenna operates in 2.3, 2.4 and 2.45 GH</a:t>
          </a:r>
          <a:r>
            <a:rPr lang="en-US" sz="1800" b="0" i="0" u="none" strike="noStrike" kern="1200" dirty="0">
              <a:effectLst/>
              <a:latin typeface="+mn-lt"/>
            </a:rPr>
            <a:t>z</a:t>
          </a:r>
        </a:p>
        <a:p>
          <a:pPr marL="0" lvl="0" indent="0" algn="l" defTabSz="889000">
            <a:lnSpc>
              <a:spcPct val="90000"/>
            </a:lnSpc>
            <a:spcBef>
              <a:spcPct val="0"/>
            </a:spcBef>
            <a:spcAft>
              <a:spcPct val="35000"/>
            </a:spcAft>
            <a:buNone/>
          </a:pPr>
          <a:endParaRPr lang="en-US" sz="1750" kern="1200" dirty="0">
            <a:latin typeface="+mn-lt"/>
          </a:endParaRPr>
        </a:p>
      </dsp:txBody>
      <dsp:txXfrm>
        <a:off x="4619789" y="662162"/>
        <a:ext cx="1466917" cy="3135943"/>
      </dsp:txXfrm>
    </dsp:sp>
    <dsp:sp modelId="{38B6CE29-62EA-421B-8E6B-9D6C32B4D6BC}">
      <dsp:nvSpPr>
        <dsp:cNvPr id="0" name=""/>
        <dsp:cNvSpPr/>
      </dsp:nvSpPr>
      <dsp:spPr>
        <a:xfrm>
          <a:off x="4408611" y="687131"/>
          <a:ext cx="1680196" cy="80010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rtl="0">
            <a:lnSpc>
              <a:spcPct val="90000"/>
            </a:lnSpc>
            <a:spcBef>
              <a:spcPct val="0"/>
            </a:spcBef>
            <a:spcAft>
              <a:spcPct val="35000"/>
            </a:spcAft>
            <a:buNone/>
          </a:pPr>
          <a:r>
            <a:rPr lang="en-US" sz="1800" b="1" i="0" u="none" strike="noStrike" kern="1200" dirty="0">
              <a:solidFill>
                <a:schemeClr val="tx2"/>
              </a:solidFill>
              <a:effectLst/>
              <a:latin typeface="+mj-lt"/>
            </a:rPr>
            <a:t>Inference</a:t>
          </a:r>
        </a:p>
      </dsp:txBody>
      <dsp:txXfrm>
        <a:off x="4408611" y="687131"/>
        <a:ext cx="1680196" cy="800100"/>
      </dsp:txXfrm>
    </dsp:sp>
    <dsp:sp modelId="{F1BB0F6B-CD64-4F41-9E62-1079EB614357}">
      <dsp:nvSpPr>
        <dsp:cNvPr id="0" name=""/>
        <dsp:cNvSpPr/>
      </dsp:nvSpPr>
      <dsp:spPr>
        <a:xfrm>
          <a:off x="2590185" y="1442606"/>
          <a:ext cx="1776169" cy="2521205"/>
        </a:xfrm>
        <a:prstGeom prst="wedgeRectCallout">
          <a:avLst>
            <a:gd name="adj1" fmla="val 62500"/>
            <a:gd name="adj2" fmla="val 20830"/>
          </a:avLst>
        </a:prstGeom>
        <a:solidFill>
          <a:schemeClr val="accent1">
            <a:tint val="50000"/>
            <a:hueOff val="-640904"/>
            <a:satOff val="32247"/>
            <a:lumOff val="14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l" defTabSz="889000" rtl="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Π shaped </a:t>
          </a:r>
          <a:r>
            <a:rPr lang="en-IN" sz="2000" kern="1200" dirty="0" err="1">
              <a:latin typeface="Times New Roman" panose="02020603050405020304" pitchFamily="18" charset="0"/>
              <a:cs typeface="Times New Roman" panose="02020603050405020304" pitchFamily="18" charset="0"/>
            </a:rPr>
            <a:t>microstrip</a:t>
          </a:r>
          <a:r>
            <a:rPr lang="en-IN" sz="2000" kern="1200" dirty="0">
              <a:latin typeface="Times New Roman" panose="02020603050405020304" pitchFamily="18" charset="0"/>
              <a:cs typeface="Times New Roman" panose="02020603050405020304" pitchFamily="18" charset="0"/>
            </a:rPr>
            <a:t> antenna design for WiMAX, </a:t>
          </a:r>
          <a:r>
            <a:rPr lang="en-IN" sz="2000" kern="1200" dirty="0" err="1">
              <a:latin typeface="Times New Roman" panose="02020603050405020304" pitchFamily="18" charset="0"/>
              <a:cs typeface="Times New Roman" panose="02020603050405020304" pitchFamily="18" charset="0"/>
            </a:rPr>
            <a:t>WiFi</a:t>
          </a:r>
          <a:r>
            <a:rPr lang="en-IN" sz="2000" kern="1200" dirty="0">
              <a:latin typeface="Times New Roman" panose="02020603050405020304" pitchFamily="18" charset="0"/>
              <a:cs typeface="Times New Roman" panose="02020603050405020304" pitchFamily="18" charset="0"/>
            </a:rPr>
            <a:t> and biomedical application at 2.45 GHz</a:t>
          </a:r>
          <a:endParaRPr lang="en-US" sz="2000" kern="1200" dirty="0">
            <a:latin typeface="Times New Roman" panose="02020603050405020304" pitchFamily="18" charset="0"/>
            <a:cs typeface="Times New Roman" panose="02020603050405020304" pitchFamily="18" charset="0"/>
          </a:endParaRPr>
        </a:p>
      </dsp:txBody>
      <dsp:txXfrm>
        <a:off x="2815646" y="1442606"/>
        <a:ext cx="1550708" cy="2521205"/>
      </dsp:txXfrm>
    </dsp:sp>
    <dsp:sp modelId="{1A03FE09-BABA-460D-9134-F6A526D8F74D}">
      <dsp:nvSpPr>
        <dsp:cNvPr id="0" name=""/>
        <dsp:cNvSpPr/>
      </dsp:nvSpPr>
      <dsp:spPr>
        <a:xfrm>
          <a:off x="2672363" y="776202"/>
          <a:ext cx="1680196" cy="66675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rtl="0">
            <a:lnSpc>
              <a:spcPct val="90000"/>
            </a:lnSpc>
            <a:spcBef>
              <a:spcPct val="0"/>
            </a:spcBef>
            <a:spcAft>
              <a:spcPct val="35000"/>
            </a:spcAft>
            <a:buNone/>
          </a:pPr>
          <a:r>
            <a:rPr lang="en-US" sz="1800" b="1" i="0" u="none" strike="noStrike" kern="1200" dirty="0">
              <a:solidFill>
                <a:schemeClr val="tx1"/>
              </a:solidFill>
              <a:effectLst/>
              <a:latin typeface="+mj-lt"/>
            </a:rPr>
            <a:t>Title of the Paper</a:t>
          </a:r>
          <a:endParaRPr lang="en-US" sz="1800" kern="1200" dirty="0">
            <a:solidFill>
              <a:schemeClr val="tx1"/>
            </a:solidFill>
          </a:endParaRPr>
        </a:p>
      </dsp:txBody>
      <dsp:txXfrm>
        <a:off x="2672363" y="776202"/>
        <a:ext cx="1680196" cy="666750"/>
      </dsp:txXfrm>
    </dsp:sp>
    <dsp:sp modelId="{256C558B-2738-4546-A3BC-C8450168E918}">
      <dsp:nvSpPr>
        <dsp:cNvPr id="0" name=""/>
        <dsp:cNvSpPr/>
      </dsp:nvSpPr>
      <dsp:spPr>
        <a:xfrm>
          <a:off x="878477" y="1493845"/>
          <a:ext cx="1707129" cy="2884136"/>
        </a:xfrm>
        <a:prstGeom prst="wedgeRectCallout">
          <a:avLst>
            <a:gd name="adj1" fmla="val 62500"/>
            <a:gd name="adj2" fmla="val 20830"/>
          </a:avLst>
        </a:prstGeom>
        <a:solidFill>
          <a:schemeClr val="accent1">
            <a:tint val="50000"/>
            <a:hueOff val="-854539"/>
            <a:satOff val="42996"/>
            <a:lumOff val="192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800100" rtl="0">
            <a:lnSpc>
              <a:spcPct val="90000"/>
            </a:lnSpc>
            <a:spcBef>
              <a:spcPct val="0"/>
            </a:spcBef>
            <a:spcAft>
              <a:spcPct val="35000"/>
            </a:spcAft>
            <a:buNone/>
          </a:pPr>
          <a:r>
            <a:rPr lang="en-IN" sz="1800" kern="1200" dirty="0">
              <a:latin typeface="Times New Roman" panose="02020603050405020304" pitchFamily="18" charset="0"/>
              <a:cs typeface="Times New Roman" panose="02020603050405020304" pitchFamily="18" charset="0"/>
            </a:rPr>
            <a:t>Md. </a:t>
          </a:r>
          <a:r>
            <a:rPr lang="en-IN" sz="1800" kern="1200" dirty="0" err="1">
              <a:latin typeface="Times New Roman" panose="02020603050405020304" pitchFamily="18" charset="0"/>
              <a:cs typeface="Times New Roman" panose="02020603050405020304" pitchFamily="18" charset="0"/>
            </a:rPr>
            <a:t>Masudur</a:t>
          </a:r>
          <a:r>
            <a:rPr lang="en-IN" sz="1800" kern="1200" dirty="0">
              <a:latin typeface="Times New Roman" panose="02020603050405020304" pitchFamily="18" charset="0"/>
              <a:cs typeface="Times New Roman" panose="02020603050405020304" pitchFamily="18" charset="0"/>
            </a:rPr>
            <a:t> Rahman, Md. </a:t>
          </a:r>
          <a:r>
            <a:rPr lang="en-IN" sz="1800" kern="1200" dirty="0" err="1">
              <a:latin typeface="Times New Roman" panose="02020603050405020304" pitchFamily="18" charset="0"/>
              <a:cs typeface="Times New Roman" panose="02020603050405020304" pitchFamily="18" charset="0"/>
            </a:rPr>
            <a:t>Mozaffor</a:t>
          </a:r>
          <a:r>
            <a:rPr lang="en-IN" sz="1800" kern="1200" dirty="0">
              <a:latin typeface="Times New Roman" panose="02020603050405020304" pitchFamily="18" charset="0"/>
              <a:cs typeface="Times New Roman" panose="02020603050405020304" pitchFamily="18" charset="0"/>
            </a:rPr>
            <a:t> Hossain, </a:t>
          </a:r>
          <a:r>
            <a:rPr lang="en-IN" sz="1800" kern="1200" dirty="0" err="1">
              <a:latin typeface="Times New Roman" panose="02020603050405020304" pitchFamily="18" charset="0"/>
              <a:cs typeface="Times New Roman" panose="02020603050405020304" pitchFamily="18" charset="0"/>
            </a:rPr>
            <a:t>Kallol</a:t>
          </a:r>
          <a:r>
            <a:rPr lang="en-IN" sz="1800" kern="1200" dirty="0">
              <a:latin typeface="Times New Roman" panose="02020603050405020304" pitchFamily="18" charset="0"/>
              <a:cs typeface="Times New Roman" panose="02020603050405020304" pitchFamily="18" charset="0"/>
            </a:rPr>
            <a:t> Krishna </a:t>
          </a:r>
          <a:r>
            <a:rPr lang="en-IN" sz="1800" kern="1200" dirty="0" err="1">
              <a:latin typeface="Times New Roman" panose="02020603050405020304" pitchFamily="18" charset="0"/>
              <a:cs typeface="Times New Roman" panose="02020603050405020304" pitchFamily="18" charset="0"/>
            </a:rPr>
            <a:t>Karmakar</a:t>
          </a:r>
          <a:r>
            <a:rPr lang="en-IN" sz="1800" kern="1200" dirty="0">
              <a:latin typeface="Times New Roman" panose="02020603050405020304" pitchFamily="18" charset="0"/>
              <a:cs typeface="Times New Roman" panose="02020603050405020304" pitchFamily="18" charset="0"/>
            </a:rPr>
            <a:t>, IEEE International Advanced Computing Conference, 2013.</a:t>
          </a:r>
          <a:endParaRPr lang="en-US" sz="1800" kern="1200" dirty="0">
            <a:latin typeface="Times New Roman" panose="02020603050405020304" pitchFamily="18" charset="0"/>
            <a:cs typeface="Times New Roman" panose="02020603050405020304" pitchFamily="18" charset="0"/>
          </a:endParaRPr>
        </a:p>
      </dsp:txBody>
      <dsp:txXfrm>
        <a:off x="1095174" y="1493845"/>
        <a:ext cx="1490432" cy="2884136"/>
      </dsp:txXfrm>
    </dsp:sp>
    <dsp:sp modelId="{91AA36D8-66BC-4FBF-98A1-B9E03208FA27}">
      <dsp:nvSpPr>
        <dsp:cNvPr id="0" name=""/>
        <dsp:cNvSpPr/>
      </dsp:nvSpPr>
      <dsp:spPr>
        <a:xfrm>
          <a:off x="964116" y="776203"/>
          <a:ext cx="1784317" cy="704055"/>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rtl="0">
            <a:lnSpc>
              <a:spcPct val="90000"/>
            </a:lnSpc>
            <a:spcBef>
              <a:spcPct val="0"/>
            </a:spcBef>
            <a:spcAft>
              <a:spcPct val="35000"/>
            </a:spcAft>
            <a:buNone/>
          </a:pPr>
          <a:r>
            <a:rPr lang="en-US" sz="1800" b="1" i="0" u="none" strike="noStrike" kern="1200" dirty="0">
              <a:solidFill>
                <a:schemeClr val="tx2"/>
              </a:solidFill>
              <a:effectLst/>
              <a:latin typeface="+mj-lt"/>
            </a:rPr>
            <a:t>Author, Journal, Vol., Year</a:t>
          </a:r>
          <a:endParaRPr lang="en-US" sz="1800" kern="1200" dirty="0">
            <a:solidFill>
              <a:schemeClr val="tx2"/>
            </a:solidFill>
          </a:endParaRPr>
        </a:p>
      </dsp:txBody>
      <dsp:txXfrm>
        <a:off x="964116" y="776203"/>
        <a:ext cx="1784317" cy="704055"/>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5F88E8-A384-43EF-AD47-7131EA31A48D}" type="datetimeFigureOut">
              <a:rPr lang="de-DE" smtClean="0"/>
              <a:pPr/>
              <a:t>12.12.2025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D75B27-EA39-4F13-BC45-9C0ECB6C1EEB}" type="slidenum">
              <a:rPr lang="de-DE" smtClean="0"/>
              <a:pPr/>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a:t>
            </a:fld>
            <a:endParaRPr lang="de-DE"/>
          </a:p>
        </p:txBody>
      </p:sp>
    </p:spTree>
    <p:extLst>
      <p:ext uri="{BB962C8B-B14F-4D97-AF65-F5344CB8AC3E}">
        <p14:creationId xmlns:p14="http://schemas.microsoft.com/office/powerpoint/2010/main" val="350897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7</a:t>
            </a:fld>
            <a:endParaRPr lang="de-DE"/>
          </a:p>
        </p:txBody>
      </p:sp>
    </p:spTree>
    <p:extLst>
      <p:ext uri="{BB962C8B-B14F-4D97-AF65-F5344CB8AC3E}">
        <p14:creationId xmlns:p14="http://schemas.microsoft.com/office/powerpoint/2010/main" val="1867174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8</a:t>
            </a:fld>
            <a:endParaRPr lang="de-DE"/>
          </a:p>
        </p:txBody>
      </p:sp>
    </p:spTree>
    <p:extLst>
      <p:ext uri="{BB962C8B-B14F-4D97-AF65-F5344CB8AC3E}">
        <p14:creationId xmlns:p14="http://schemas.microsoft.com/office/powerpoint/2010/main" val="3537651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9</a:t>
            </a:fld>
            <a:endParaRPr lang="de-DE"/>
          </a:p>
        </p:txBody>
      </p:sp>
    </p:spTree>
    <p:extLst>
      <p:ext uri="{BB962C8B-B14F-4D97-AF65-F5344CB8AC3E}">
        <p14:creationId xmlns:p14="http://schemas.microsoft.com/office/powerpoint/2010/main" val="3483966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10</a:t>
            </a:fld>
            <a:endParaRPr lang="de-DE"/>
          </a:p>
        </p:txBody>
      </p:sp>
    </p:spTree>
    <p:extLst>
      <p:ext uri="{BB962C8B-B14F-4D97-AF65-F5344CB8AC3E}">
        <p14:creationId xmlns:p14="http://schemas.microsoft.com/office/powerpoint/2010/main" val="146138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11</a:t>
            </a:fld>
            <a:endParaRPr lang="de-DE"/>
          </a:p>
        </p:txBody>
      </p:sp>
    </p:spTree>
    <p:extLst>
      <p:ext uri="{BB962C8B-B14F-4D97-AF65-F5344CB8AC3E}">
        <p14:creationId xmlns:p14="http://schemas.microsoft.com/office/powerpoint/2010/main" val="2746459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12</a:t>
            </a:fld>
            <a:endParaRPr lang="de-DE"/>
          </a:p>
        </p:txBody>
      </p:sp>
    </p:spTree>
    <p:extLst>
      <p:ext uri="{BB962C8B-B14F-4D97-AF65-F5344CB8AC3E}">
        <p14:creationId xmlns:p14="http://schemas.microsoft.com/office/powerpoint/2010/main" val="183309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14</a:t>
            </a:fld>
            <a:endParaRPr lang="de-DE"/>
          </a:p>
        </p:txBody>
      </p:sp>
    </p:spTree>
    <p:extLst>
      <p:ext uri="{BB962C8B-B14F-4D97-AF65-F5344CB8AC3E}">
        <p14:creationId xmlns:p14="http://schemas.microsoft.com/office/powerpoint/2010/main" val="1867174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15</a:t>
            </a:fld>
            <a:endParaRPr lang="de-DE"/>
          </a:p>
        </p:txBody>
      </p:sp>
    </p:spTree>
    <p:extLst>
      <p:ext uri="{BB962C8B-B14F-4D97-AF65-F5344CB8AC3E}">
        <p14:creationId xmlns:p14="http://schemas.microsoft.com/office/powerpoint/2010/main" val="3537651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16</a:t>
            </a:fld>
            <a:endParaRPr lang="de-DE"/>
          </a:p>
        </p:txBody>
      </p:sp>
    </p:spTree>
    <p:extLst>
      <p:ext uri="{BB962C8B-B14F-4D97-AF65-F5344CB8AC3E}">
        <p14:creationId xmlns:p14="http://schemas.microsoft.com/office/powerpoint/2010/main" val="3483966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17</a:t>
            </a:fld>
            <a:endParaRPr lang="de-DE"/>
          </a:p>
        </p:txBody>
      </p:sp>
    </p:spTree>
    <p:extLst>
      <p:ext uri="{BB962C8B-B14F-4D97-AF65-F5344CB8AC3E}">
        <p14:creationId xmlns:p14="http://schemas.microsoft.com/office/powerpoint/2010/main" val="179177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18</a:t>
            </a:fld>
            <a:endParaRPr lang="de-DE"/>
          </a:p>
        </p:txBody>
      </p:sp>
    </p:spTree>
    <p:extLst>
      <p:ext uri="{BB962C8B-B14F-4D97-AF65-F5344CB8AC3E}">
        <p14:creationId xmlns:p14="http://schemas.microsoft.com/office/powerpoint/2010/main" val="403305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19</a:t>
            </a:fld>
            <a:endParaRPr lang="de-DE"/>
          </a:p>
        </p:txBody>
      </p:sp>
    </p:spTree>
    <p:extLst>
      <p:ext uri="{BB962C8B-B14F-4D97-AF65-F5344CB8AC3E}">
        <p14:creationId xmlns:p14="http://schemas.microsoft.com/office/powerpoint/2010/main" val="459110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20</a:t>
            </a:fld>
            <a:endParaRPr lang="de-DE"/>
          </a:p>
        </p:txBody>
      </p:sp>
    </p:spTree>
    <p:extLst>
      <p:ext uri="{BB962C8B-B14F-4D97-AF65-F5344CB8AC3E}">
        <p14:creationId xmlns:p14="http://schemas.microsoft.com/office/powerpoint/2010/main" val="4199584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21</a:t>
            </a:fld>
            <a:endParaRPr lang="de-DE"/>
          </a:p>
        </p:txBody>
      </p:sp>
    </p:spTree>
    <p:extLst>
      <p:ext uri="{BB962C8B-B14F-4D97-AF65-F5344CB8AC3E}">
        <p14:creationId xmlns:p14="http://schemas.microsoft.com/office/powerpoint/2010/main" val="3091281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22</a:t>
            </a:fld>
            <a:endParaRPr lang="de-DE"/>
          </a:p>
        </p:txBody>
      </p:sp>
    </p:spTree>
    <p:extLst>
      <p:ext uri="{BB962C8B-B14F-4D97-AF65-F5344CB8AC3E}">
        <p14:creationId xmlns:p14="http://schemas.microsoft.com/office/powerpoint/2010/main" val="34437448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23</a:t>
            </a:fld>
            <a:endParaRPr lang="de-DE"/>
          </a:p>
        </p:txBody>
      </p:sp>
    </p:spTree>
    <p:extLst>
      <p:ext uri="{BB962C8B-B14F-4D97-AF65-F5344CB8AC3E}">
        <p14:creationId xmlns:p14="http://schemas.microsoft.com/office/powerpoint/2010/main" val="2026359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24</a:t>
            </a:fld>
            <a:endParaRPr lang="de-DE"/>
          </a:p>
        </p:txBody>
      </p:sp>
    </p:spTree>
    <p:extLst>
      <p:ext uri="{BB962C8B-B14F-4D97-AF65-F5344CB8AC3E}">
        <p14:creationId xmlns:p14="http://schemas.microsoft.com/office/powerpoint/2010/main" val="1591140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4267E9C8-B806-D386-85A6-1C13F621DF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C1D32BE5-44B5-4A89-E093-D6B9712D53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a:p>
        </p:txBody>
      </p:sp>
      <p:sp>
        <p:nvSpPr>
          <p:cNvPr id="71684" name="Slide Number Placeholder 3">
            <a:extLst>
              <a:ext uri="{FF2B5EF4-FFF2-40B4-BE49-F238E27FC236}">
                <a16:creationId xmlns:a16="http://schemas.microsoft.com/office/drawing/2014/main" id="{9E1779B5-47F8-F7A3-90F8-5C301304CD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CF95BF7-7807-41AF-BF47-436C12DD9A87}" type="slidenum">
              <a:rPr lang="en-IN" altLang="en-US"/>
              <a:pPr/>
              <a:t>26</a:t>
            </a:fld>
            <a:endParaRPr lang="en-I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71F63319-9B4D-A054-7C21-FFF675E41B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69EEDEE3-56E9-BD1B-0F4B-707F53375B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a:p>
        </p:txBody>
      </p:sp>
      <p:sp>
        <p:nvSpPr>
          <p:cNvPr id="72708" name="Slide Number Placeholder 3">
            <a:extLst>
              <a:ext uri="{FF2B5EF4-FFF2-40B4-BE49-F238E27FC236}">
                <a16:creationId xmlns:a16="http://schemas.microsoft.com/office/drawing/2014/main" id="{0B3EEE54-A898-9C62-A1E1-FC804E30EA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36CD7F-56A7-4C93-9990-80502432A858}" type="slidenum">
              <a:rPr lang="en-IN" altLang="en-US"/>
              <a:pPr/>
              <a:t>27</a:t>
            </a:fld>
            <a:endParaRPr lang="en-I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6B595FDB-2F0C-A771-AF0B-57E4A2A873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8E1ADB58-08E3-89DA-E7AE-60E7E2C862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a:p>
        </p:txBody>
      </p:sp>
      <p:sp>
        <p:nvSpPr>
          <p:cNvPr id="73732" name="Slide Number Placeholder 3">
            <a:extLst>
              <a:ext uri="{FF2B5EF4-FFF2-40B4-BE49-F238E27FC236}">
                <a16:creationId xmlns:a16="http://schemas.microsoft.com/office/drawing/2014/main" id="{B665DF2F-2C18-E36A-C13F-605F388516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BEC7541-BED8-489D-823C-3B07FFB3B7F3}" type="slidenum">
              <a:rPr lang="en-IN" altLang="en-US"/>
              <a:pPr/>
              <a:t>29</a:t>
            </a:fld>
            <a:endParaRPr lang="en-I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BF5F85E-0387-9B3F-B7B3-D8D5C531ECD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71F7D4E-93A4-4391-9C1C-90314DFBDF31}" type="slidenum">
              <a:rPr lang="en-US" altLang="en-US">
                <a:latin typeface="Arial" panose="020B0604020202020204" pitchFamily="34" charset="0"/>
                <a:ea typeface="ＭＳ Ｐゴシック" panose="020B0600070205080204" pitchFamily="34" charset="-128"/>
              </a:rPr>
              <a:pPr>
                <a:spcBef>
                  <a:spcPct val="0"/>
                </a:spcBef>
              </a:pPr>
              <a:t>32</a:t>
            </a:fld>
            <a:endParaRPr lang="en-US" altLang="en-US">
              <a:latin typeface="Arial" panose="020B0604020202020204" pitchFamily="34" charset="0"/>
              <a:ea typeface="ＭＳ Ｐゴシック" panose="020B0600070205080204" pitchFamily="34" charset="-128"/>
            </a:endParaRPr>
          </a:p>
        </p:txBody>
      </p:sp>
      <p:sp>
        <p:nvSpPr>
          <p:cNvPr id="74755" name="Rectangle 2">
            <a:extLst>
              <a:ext uri="{FF2B5EF4-FFF2-40B4-BE49-F238E27FC236}">
                <a16:creationId xmlns:a16="http://schemas.microsoft.com/office/drawing/2014/main" id="{41557E43-C656-FB2F-AD44-8BC49731BB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a:extLst>
              <a:ext uri="{FF2B5EF4-FFF2-40B4-BE49-F238E27FC236}">
                <a16:creationId xmlns:a16="http://schemas.microsoft.com/office/drawing/2014/main" id="{639CF0D5-338E-54AB-C2A4-7D9E96CB8BE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4DF4CD78-9931-634F-08D9-E491BFEBC60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4106319-79DB-4C29-A87E-E746849FB13D}" type="slidenum">
              <a:rPr lang="en-US" altLang="en-US">
                <a:latin typeface="Arial" panose="020B0604020202020204" pitchFamily="34" charset="0"/>
                <a:ea typeface="ＭＳ Ｐゴシック" panose="020B0600070205080204" pitchFamily="34" charset="-128"/>
              </a:rPr>
              <a:pPr>
                <a:spcBef>
                  <a:spcPct val="0"/>
                </a:spcBef>
              </a:pPr>
              <a:t>33</a:t>
            </a:fld>
            <a:endParaRPr lang="en-US" altLang="en-US">
              <a:latin typeface="Arial" panose="020B0604020202020204" pitchFamily="34" charset="0"/>
              <a:ea typeface="ＭＳ Ｐゴシック" panose="020B0600070205080204" pitchFamily="34" charset="-128"/>
            </a:endParaRPr>
          </a:p>
        </p:txBody>
      </p:sp>
      <p:sp>
        <p:nvSpPr>
          <p:cNvPr id="75779" name="Rectangle 2">
            <a:extLst>
              <a:ext uri="{FF2B5EF4-FFF2-40B4-BE49-F238E27FC236}">
                <a16:creationId xmlns:a16="http://schemas.microsoft.com/office/drawing/2014/main" id="{F6092CBB-4C98-5D03-7984-D1043904B72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a:extLst>
              <a:ext uri="{FF2B5EF4-FFF2-40B4-BE49-F238E27FC236}">
                <a16:creationId xmlns:a16="http://schemas.microsoft.com/office/drawing/2014/main" id="{936A161D-30CA-BE0D-E5C3-568BB5F3428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BF5A43E8-0229-9437-C7F4-176BD22312F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BB2C9B2-B317-4670-A3B8-551D5F96DACA}" type="slidenum">
              <a:rPr lang="en-US" altLang="en-US">
                <a:latin typeface="Arial" panose="020B0604020202020204" pitchFamily="34" charset="0"/>
                <a:ea typeface="ＭＳ Ｐゴシック" panose="020B0600070205080204" pitchFamily="34" charset="-128"/>
              </a:rPr>
              <a:pPr>
                <a:spcBef>
                  <a:spcPct val="0"/>
                </a:spcBef>
              </a:pPr>
              <a:t>34</a:t>
            </a:fld>
            <a:endParaRPr lang="en-US" altLang="en-US">
              <a:latin typeface="Arial" panose="020B0604020202020204" pitchFamily="34" charset="0"/>
              <a:ea typeface="ＭＳ Ｐゴシック" panose="020B0600070205080204" pitchFamily="34" charset="-128"/>
            </a:endParaRPr>
          </a:p>
        </p:txBody>
      </p:sp>
      <p:sp>
        <p:nvSpPr>
          <p:cNvPr id="76803" name="Rectangle 2">
            <a:extLst>
              <a:ext uri="{FF2B5EF4-FFF2-40B4-BE49-F238E27FC236}">
                <a16:creationId xmlns:a16="http://schemas.microsoft.com/office/drawing/2014/main" id="{C2FCB34A-AA54-1D29-FD47-6FAF434ABA9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a:extLst>
              <a:ext uri="{FF2B5EF4-FFF2-40B4-BE49-F238E27FC236}">
                <a16:creationId xmlns:a16="http://schemas.microsoft.com/office/drawing/2014/main" id="{8EB33E27-7273-DE32-000B-27EEADFFF35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BD9AD0AC-BFBE-AC58-861D-711DB318C97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21FD54F-997E-470E-A394-5199C751BCFA}" type="slidenum">
              <a:rPr lang="en-US" altLang="en-US">
                <a:latin typeface="Arial" panose="020B0604020202020204" pitchFamily="34" charset="0"/>
                <a:ea typeface="ＭＳ Ｐゴシック" panose="020B0600070205080204" pitchFamily="34" charset="-128"/>
              </a:rPr>
              <a:pPr>
                <a:spcBef>
                  <a:spcPct val="0"/>
                </a:spcBef>
              </a:pPr>
              <a:t>35</a:t>
            </a:fld>
            <a:endParaRPr lang="en-US" altLang="en-US">
              <a:latin typeface="Arial" panose="020B0604020202020204" pitchFamily="34" charset="0"/>
              <a:ea typeface="ＭＳ Ｐゴシック" panose="020B0600070205080204" pitchFamily="34" charset="-128"/>
            </a:endParaRPr>
          </a:p>
        </p:txBody>
      </p:sp>
      <p:sp>
        <p:nvSpPr>
          <p:cNvPr id="77827" name="Rectangle 2">
            <a:extLst>
              <a:ext uri="{FF2B5EF4-FFF2-40B4-BE49-F238E27FC236}">
                <a16:creationId xmlns:a16="http://schemas.microsoft.com/office/drawing/2014/main" id="{DDF8CE16-CE1C-FF05-BC0B-31BB43921EC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a:extLst>
              <a:ext uri="{FF2B5EF4-FFF2-40B4-BE49-F238E27FC236}">
                <a16:creationId xmlns:a16="http://schemas.microsoft.com/office/drawing/2014/main" id="{73DDB2C8-4950-7461-0A49-1DD5BFD28B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A698A6EA-6F87-7DA2-C828-24B7A25E68E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DE0A9EA-1AFB-49BA-A2AA-3867DACBE146}" type="slidenum">
              <a:rPr lang="en-US" altLang="en-US">
                <a:latin typeface="Arial" panose="020B0604020202020204" pitchFamily="34" charset="0"/>
                <a:ea typeface="ＭＳ Ｐゴシック" panose="020B0600070205080204" pitchFamily="34" charset="-128"/>
              </a:rPr>
              <a:pPr>
                <a:spcBef>
                  <a:spcPct val="0"/>
                </a:spcBef>
              </a:pPr>
              <a:t>36</a:t>
            </a:fld>
            <a:endParaRPr lang="en-US" altLang="en-US">
              <a:latin typeface="Arial" panose="020B0604020202020204" pitchFamily="34" charset="0"/>
              <a:ea typeface="ＭＳ Ｐゴシック" panose="020B0600070205080204" pitchFamily="34" charset="-128"/>
            </a:endParaRPr>
          </a:p>
        </p:txBody>
      </p:sp>
      <p:sp>
        <p:nvSpPr>
          <p:cNvPr id="78851" name="Rectangle 2">
            <a:extLst>
              <a:ext uri="{FF2B5EF4-FFF2-40B4-BE49-F238E27FC236}">
                <a16:creationId xmlns:a16="http://schemas.microsoft.com/office/drawing/2014/main" id="{F437D912-221C-E578-ED71-DB07F48EBE9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2" name="Rectangle 3">
            <a:extLst>
              <a:ext uri="{FF2B5EF4-FFF2-40B4-BE49-F238E27FC236}">
                <a16:creationId xmlns:a16="http://schemas.microsoft.com/office/drawing/2014/main" id="{32E4A672-97C5-06B7-4F48-488AE291BC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37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38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257526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39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27784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E69C1-1A3E-2E5C-5B92-E82278D9E929}"/>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C751AC56-559E-C8C1-97BD-771BFE05BC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40</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C963EFD4-0758-4EFE-B792-57B4D62CC2E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0316BBB4-2186-2245-A5D3-414130DFD30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401726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83DF-7151-DB73-2EEE-47653438AF64}"/>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7C6510A2-7899-0861-2308-6B70766B58B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41</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F908E06A-8D3C-71DE-33CA-9E583F58825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78D5F834-88BC-AF79-ADB2-E78F371FC6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74293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40C93-C78C-A904-A844-0A066CDE3C67}"/>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96BD9DE9-E7A4-4E63-E75A-0336EE4FC14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42</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08919E68-44C0-85F9-6795-9FDF7136790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3513EAF7-15F1-1C27-E4FD-27FD84BC169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3566985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39104-FB24-090C-CABA-8058EBE48E3A}"/>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26C170E0-02BB-B72F-16CF-1D571B3313A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43</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9E2D6414-21AB-7967-3898-DF5EC8D8D65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2ACA6F6F-5333-C556-AF1E-E255ECD3D73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934500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331D3-A9CB-2A73-3781-E8186CF47E21}"/>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E1B2802B-E0B0-A147-9204-50C11C10762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44</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90E3A4CA-A770-6C3D-03DA-43E5071FE34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E980FF5E-B778-9AB8-5363-42A8C0F71A3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432012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D4F9B-473F-BA47-E71A-B98F1D4FCF5E}"/>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27A7E03D-57CE-E4C5-9884-FA82148FACA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45</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3DD25B45-7AC9-8D48-33E3-09B58B3A533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412F97A8-4019-3767-E439-AE6685C94B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64529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46</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648442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51463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95640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49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862002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50</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87194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51</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937967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52</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536041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53</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672398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54</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157583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55</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505400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56</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307823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228351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205354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59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545161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60</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0142798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61</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944456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62</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763260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63</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205144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64</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404140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65</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432168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66</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535953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504690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280603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69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1434561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70</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856075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71</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011456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72</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872753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73</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424015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74</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537244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75</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354288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76</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663620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343049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618001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79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171354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80</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463781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81</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957440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82</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674004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83</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391835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84</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1621320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85</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08829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D88B-1C33-2538-79E2-4D0ECA688336}"/>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1701A9BD-9F2B-EC2B-32CD-8BF84705C8E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86</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3D54642B-B1C7-E3D8-614E-A90A7F5C11A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08CBAE97-53CB-2C66-0294-F8C4193FB36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855282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C92E-C778-358D-3DFA-12CF01B06CD2}"/>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C15A2E12-E786-7797-E81A-C02C0F36631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B0035A27-E228-B369-9ACC-E74BAC5C945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54785D87-3D1C-DE53-DC96-5A705947DC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407664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79584184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89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029391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90</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9737550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8D825-B393-B91D-458F-5DCBBB6B5B07}"/>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957F0968-7E63-B190-6321-AC6715A82D9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91</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995B8841-F055-43AE-9791-7C34C9DE249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FD067D50-C0EF-51C6-25DE-5BF018B2E3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597972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921C6E1-536A-0BB0-D893-E8D2A69DC9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92</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17659063-E166-07EF-4C4F-3319512928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8939A64-725B-0FD2-F51E-BBB1BFD6E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9838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1A2C8-BBC7-08B6-9099-563B79EB85A4}"/>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72B6427A-5547-6E66-5CE3-C2A3629A7EE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93</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09CFA7AD-8DFE-7181-86A5-9C1A7297257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36E8E9F2-0F32-E759-6462-4816A3D02A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89365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566CE-9BAA-9495-E13E-DB501E12FD5B}"/>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337352D6-1333-5039-870B-56B269E578F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94</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4A22FA65-0992-624A-A46A-6E65AED1F5D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AFD7EEA9-A83F-81EF-70C8-8BD9988700C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927163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5824-2BC8-5684-2118-196487019671}"/>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21D5EA9B-C058-42F9-4A28-EEEB35E65A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95</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86D2790B-8C11-08BA-B0D8-397A9D50656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7E8D2F48-DB7F-131A-C4A6-E62AF2B1CF8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5833414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5631E-A64D-8A90-E948-13BFE3C3D952}"/>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BBD6E873-D101-D6AA-EA57-FFDF0E5E16B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96</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9281937B-0189-3DDB-9C55-88FDAF34AD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279E4A17-CD0E-D85D-5D18-096F0482EB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763364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12E15-4D7C-0BCA-85D8-57CD823131BE}"/>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59A89379-447F-0E98-2FC7-03A7D98AA89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97</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7F83E7FB-9F75-D3B1-6405-A979C7BE78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6B1871E8-F7D3-E621-3CD7-0DE626C8868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05809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32E30-75AB-27C3-0714-1DE13E27212B}"/>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1BD8F98F-9177-F9ED-E836-290BB19454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98</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550FAD71-9994-D412-1131-90FA2F9AD7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3DD41522-2462-B296-7224-5744A803F9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7924732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D1A-A8CB-305B-F5D9-DB8BBE69DF1C}"/>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075A2BAC-4F97-F22B-C29B-E99BDD00F3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02C46E-2C52-46E8-B17C-B9E8D6D234EC}" type="slidenum">
              <a:rPr lang="en-US" altLang="en-US">
                <a:latin typeface="Arial" panose="020B0604020202020204" pitchFamily="34" charset="0"/>
                <a:ea typeface="ＭＳ Ｐゴシック" panose="020B0600070205080204" pitchFamily="34" charset="-128"/>
              </a:rPr>
              <a:pPr>
                <a:spcBef>
                  <a:spcPct val="0"/>
                </a:spcBef>
              </a:pPr>
              <a:t>99</a:t>
            </a:fld>
            <a:endParaRPr lang="en-US" altLang="en-US">
              <a:latin typeface="Arial" panose="020B0604020202020204" pitchFamily="34" charset="0"/>
              <a:ea typeface="ＭＳ Ｐゴシック" panose="020B0600070205080204" pitchFamily="34" charset="-128"/>
            </a:endParaRPr>
          </a:p>
        </p:txBody>
      </p:sp>
      <p:sp>
        <p:nvSpPr>
          <p:cNvPr id="79875" name="Rectangle 2">
            <a:extLst>
              <a:ext uri="{FF2B5EF4-FFF2-40B4-BE49-F238E27FC236}">
                <a16:creationId xmlns:a16="http://schemas.microsoft.com/office/drawing/2014/main" id="{62D64F4C-CCCE-8B25-5C4A-3B498B52F26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FD4663D8-0496-F235-E826-DB44EC95E8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951063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a:solidFill>
                  <a:schemeClr val="tx2"/>
                </a:solidFill>
                <a:effectLst>
                  <a:outerShdw dist="12700" dir="16200000" algn="t" rotWithShape="0">
                    <a:prstClr val="black">
                      <a:alpha val="40000"/>
                    </a:prstClr>
                  </a:outerShdw>
                </a:effectLst>
              </a:defRPr>
            </a:lvl1pPr>
          </a:lstStyle>
          <a:p>
            <a:r>
              <a:rPr lang="de-DE" dirty="0"/>
              <a:t>The </a:t>
            </a:r>
            <a:r>
              <a:rPr lang="de-DE" dirty="0" err="1"/>
              <a:t>Presentation</a:t>
            </a:r>
            <a:r>
              <a:rPr lang="de-DE" dirty="0"/>
              <a:t> Title</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11" name="Grafik 10" descr="arrow_next.png">
            <a:hlinkClick r:id="" action="ppaction://hlinkshowjump?jump=nextslide"/>
          </p:cNvPr>
          <p:cNvPicPr>
            <a:picLocks noChangeAspect="1"/>
          </p:cNvPicPr>
          <p:nvPr userDrawn="1"/>
        </p:nvPicPr>
        <p:blipFill>
          <a:blip r:embed="rId3" cstate="print"/>
          <a:stretch>
            <a:fillRect/>
          </a:stretch>
        </p:blipFill>
        <p:spPr>
          <a:xfrm>
            <a:off x="11228255" y="6191789"/>
            <a:ext cx="469900" cy="352425"/>
          </a:xfrm>
          <a:prstGeom prst="rect">
            <a:avLst/>
          </a:prstGeom>
        </p:spPr>
      </p:pic>
      <p:sp>
        <p:nvSpPr>
          <p:cNvPr id="13"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4" name="Grafik 23"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5" name="Grafik 24"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7CDB903-31BF-870B-0AFD-3C4F2BEC52F6}"/>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4F82ADD7-B33F-A479-D28E-987732E81A62}"/>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47F82A50-18B8-892F-10BD-5E578EAC9442}"/>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6BBF0FE4-B8A2-FA82-1C84-49AEE592301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2">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4" y="1556792"/>
            <a:ext cx="10561173" cy="1872208"/>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815414" y="3717032"/>
            <a:ext cx="1056117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5071FD52-D2F1-253E-52E1-FD4165240DA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6505E69-2BB7-6F99-AF66-A7ABBFC03F15}"/>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FD2380AE-6804-EF1E-F7D9-CB524288E624}"/>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5B06F30F-99E4-C74F-DD0A-4A22A813D17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3">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9"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1" name="Bildplatzhalter 2" descr="Click For Your Pic"/>
          <p:cNvSpPr>
            <a:spLocks noGrp="1"/>
          </p:cNvSpPr>
          <p:nvPr>
            <p:ph type="pic" idx="14" hasCustomPrompt="1"/>
          </p:nvPr>
        </p:nvSpPr>
        <p:spPr>
          <a:xfrm>
            <a:off x="4511824"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2" name="Bildplatzhalter 2" descr="Click For Your Pic"/>
          <p:cNvSpPr>
            <a:spLocks noGrp="1"/>
          </p:cNvSpPr>
          <p:nvPr>
            <p:ph type="pic" idx="15" hasCustomPrompt="1"/>
          </p:nvPr>
        </p:nvSpPr>
        <p:spPr>
          <a:xfrm>
            <a:off x="8208235"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3" name="Inhaltsplatzhalter 2"/>
          <p:cNvSpPr>
            <a:spLocks noGrp="1"/>
          </p:cNvSpPr>
          <p:nvPr>
            <p:ph idx="16" hasCustomPrompt="1"/>
          </p:nvPr>
        </p:nvSpPr>
        <p:spPr>
          <a:xfrm>
            <a:off x="4511824"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4" name="Inhaltsplatzhalter 2"/>
          <p:cNvSpPr>
            <a:spLocks noGrp="1"/>
          </p:cNvSpPr>
          <p:nvPr>
            <p:ph idx="17" hasCustomPrompt="1"/>
          </p:nvPr>
        </p:nvSpPr>
        <p:spPr>
          <a:xfrm>
            <a:off x="8208235"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6" name="Grafik 25" descr="arrow_back.png">
            <a:hlinkClick r:id="" action="ppaction://hlinkshowjump?jump=previousslide"/>
          </p:cNvPr>
          <p:cNvPicPr>
            <a:picLocks noChangeAspect="1"/>
          </p:cNvPicPr>
          <p:nvPr userDrawn="1"/>
        </p:nvPicPr>
        <p:blipFill>
          <a:blip r:embed="rId4" cstate="print"/>
          <a:stretch>
            <a:fillRect/>
          </a:stretch>
        </p:blipFill>
        <p:spPr>
          <a:xfrm>
            <a:off x="10228781" y="6209233"/>
            <a:ext cx="469900" cy="352425"/>
          </a:xfrm>
          <a:prstGeom prst="rect">
            <a:avLst/>
          </a:prstGeom>
        </p:spPr>
      </p:pic>
      <p:pic>
        <p:nvPicPr>
          <p:cNvPr id="27" name="Grafik 26"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3C98A9B-3A53-7144-E746-A6E95A5AE5FE}"/>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46B43EE-567F-1629-657A-21737C297731}"/>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0A9304C1-D815-5A20-D440-833129FB0BD8}"/>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B4CA40D1-35DD-5147-AD5E-23851123B75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4">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25" name="Inhaltsplatzhalter 2"/>
          <p:cNvSpPr>
            <a:spLocks noGrp="1"/>
          </p:cNvSpPr>
          <p:nvPr>
            <p:ph idx="20" hasCustomPrompt="1"/>
          </p:nvPr>
        </p:nvSpPr>
        <p:spPr>
          <a:xfrm>
            <a:off x="4559829" y="1700808"/>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7"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8" name="Bildplatzhalter 2" descr="Click For Your Pic"/>
          <p:cNvSpPr>
            <a:spLocks noGrp="1"/>
          </p:cNvSpPr>
          <p:nvPr>
            <p:ph type="pic" idx="22" hasCustomPrompt="1"/>
          </p:nvPr>
        </p:nvSpPr>
        <p:spPr>
          <a:xfrm>
            <a:off x="815413" y="2924944"/>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9" name="Bildplatzhalter 2" descr="Click For Your Pic"/>
          <p:cNvSpPr>
            <a:spLocks noGrp="1"/>
          </p:cNvSpPr>
          <p:nvPr>
            <p:ph type="pic" idx="23" hasCustomPrompt="1"/>
          </p:nvPr>
        </p:nvSpPr>
        <p:spPr>
          <a:xfrm>
            <a:off x="815413" y="4221088"/>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30" name="Inhaltsplatzhalter 2"/>
          <p:cNvSpPr>
            <a:spLocks noGrp="1"/>
          </p:cNvSpPr>
          <p:nvPr>
            <p:ph idx="24" hasCustomPrompt="1"/>
          </p:nvPr>
        </p:nvSpPr>
        <p:spPr>
          <a:xfrm>
            <a:off x="4559829" y="2996952"/>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31" name="Inhaltsplatzhalter 2"/>
          <p:cNvSpPr>
            <a:spLocks noGrp="1"/>
          </p:cNvSpPr>
          <p:nvPr>
            <p:ph idx="25" hasCustomPrompt="1"/>
          </p:nvPr>
        </p:nvSpPr>
        <p:spPr>
          <a:xfrm>
            <a:off x="4559829" y="4293096"/>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1" name="Grafik 20"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2" name="Grafik 21"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4FA0949-25BF-34C9-6EB4-3CC77CC7EA22}"/>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C8E22099-7698-0E9F-4E97-D7EB03B5FDE4}"/>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AE93DDEA-97C7-A2CB-013E-BF00D52B49A6}"/>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CB38F0F-D434-741C-B26C-82F03ACD79C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5">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Bildplatzhalter 2" descr="Click For Your Pic"/>
          <p:cNvSpPr>
            <a:spLocks noGrp="1"/>
          </p:cNvSpPr>
          <p:nvPr>
            <p:ph type="pic" idx="13" hasCustomPrompt="1"/>
          </p:nvPr>
        </p:nvSpPr>
        <p:spPr>
          <a:xfrm>
            <a:off x="6672064" y="1628800"/>
            <a:ext cx="4704523" cy="3384376"/>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218314"/>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4" name="Group 3">
            <a:extLst>
              <a:ext uri="{FF2B5EF4-FFF2-40B4-BE49-F238E27FC236}">
                <a16:creationId xmlns:a16="http://schemas.microsoft.com/office/drawing/2014/main" id="{9E8AC236-0F34-6D2B-A71C-E4072B6284B0}"/>
              </a:ext>
            </a:extLst>
          </p:cNvPr>
          <p:cNvGrpSpPr/>
          <p:nvPr userDrawn="1"/>
        </p:nvGrpSpPr>
        <p:grpSpPr>
          <a:xfrm>
            <a:off x="323697" y="5737453"/>
            <a:ext cx="9633103" cy="983432"/>
            <a:chOff x="323697" y="5737453"/>
            <a:chExt cx="9633103" cy="983432"/>
          </a:xfrm>
        </p:grpSpPr>
        <p:sp>
          <p:nvSpPr>
            <p:cNvPr id="19" name="Fußzeilenplatzhalter 4"/>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20" name="Fußzeilenplatzhalter 4"/>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3" name="Picture 2">
              <a:extLst>
                <a:ext uri="{FF2B5EF4-FFF2-40B4-BE49-F238E27FC236}">
                  <a16:creationId xmlns:a16="http://schemas.microsoft.com/office/drawing/2014/main" id="{13ED4484-FC4E-B90F-3460-A3B1613EC1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1" name="Bildplatzhalter 2" descr="Click For Your Pic"/>
          <p:cNvSpPr>
            <a:spLocks noGrp="1"/>
          </p:cNvSpPr>
          <p:nvPr>
            <p:ph type="pic" idx="14" hasCustomPrompt="1"/>
          </p:nvPr>
        </p:nvSpPr>
        <p:spPr>
          <a:xfrm>
            <a:off x="815413" y="1628800"/>
            <a:ext cx="4704523" cy="1800200"/>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12" name="Inhaltsplatzhalter 2"/>
          <p:cNvSpPr>
            <a:spLocks noGrp="1"/>
          </p:cNvSpPr>
          <p:nvPr>
            <p:ph idx="1" hasCustomPrompt="1"/>
          </p:nvPr>
        </p:nvSpPr>
        <p:spPr>
          <a:xfrm>
            <a:off x="815413" y="3717032"/>
            <a:ext cx="470452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3" name="Grafik 22" descr="arrow_back.png">
            <a:hlinkClick r:id="" action="ppaction://hlinkshowjump?jump=previousslide"/>
          </p:cNvPr>
          <p:cNvPicPr>
            <a:picLocks noChangeAspect="1"/>
          </p:cNvPicPr>
          <p:nvPr userDrawn="1"/>
        </p:nvPicPr>
        <p:blipFill>
          <a:blip r:embed="rId4" cstate="print"/>
          <a:stretch>
            <a:fillRect/>
          </a:stretch>
        </p:blipFill>
        <p:spPr>
          <a:xfrm>
            <a:off x="10264510" y="6199306"/>
            <a:ext cx="469900" cy="352425"/>
          </a:xfrm>
          <a:prstGeom prst="rect">
            <a:avLst/>
          </a:prstGeom>
        </p:spPr>
      </p:pic>
      <p:pic>
        <p:nvPicPr>
          <p:cNvPr id="24" name="Grafik 23"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D5FF1FC-ED78-4184-56E8-FB008544C1C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F3AF1B90-D214-545D-4885-BD8E0D9ED428}"/>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746556FE-6CBB-695B-0B28-E1B93B1954A5}"/>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EF66894-DD0D-2AA2-F63B-74FB98FE6A4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baseline="0">
                <a:solidFill>
                  <a:schemeClr val="tx2"/>
                </a:solidFill>
                <a:effectLst>
                  <a:outerShdw dist="12700" dir="16200000" algn="t" rotWithShape="0">
                    <a:prstClr val="black">
                      <a:alpha val="40000"/>
                    </a:prstClr>
                  </a:outerShdw>
                </a:effectLst>
              </a:defRPr>
            </a:lvl1pPr>
          </a:lstStyle>
          <a:p>
            <a:r>
              <a:rPr lang="de-DE" dirty="0"/>
              <a:t>Thanks!</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6" name="Grafik 5" descr="arrow_back.png">
            <a:hlinkClick r:id="" action="ppaction://hlinkshowjump?jump=previousslide"/>
          </p:cNvPr>
          <p:cNvPicPr>
            <a:picLocks noChangeAspect="1"/>
          </p:cNvPicPr>
          <p:nvPr userDrawn="1"/>
        </p:nvPicPr>
        <p:blipFill>
          <a:blip r:embed="rId3" cstate="print"/>
          <a:stretch>
            <a:fillRect/>
          </a:stretch>
        </p:blipFill>
        <p:spPr>
          <a:xfrm>
            <a:off x="10247595" y="6192394"/>
            <a:ext cx="469900" cy="352425"/>
          </a:xfrm>
          <a:prstGeom prst="rect">
            <a:avLst/>
          </a:prstGeom>
        </p:spPr>
      </p:pic>
      <p:pic>
        <p:nvPicPr>
          <p:cNvPr id="8" name="Grafik 7" descr="arrow_next.png">
            <a:hlinkClick r:id="" action="ppaction://hlinkshowjump?jump=endshow"/>
          </p:cNvPr>
          <p:cNvPicPr>
            <a:picLocks noChangeAspect="1"/>
          </p:cNvPicPr>
          <p:nvPr userDrawn="1"/>
        </p:nvPicPr>
        <p:blipFill>
          <a:blip r:embed="rId4" cstate="print"/>
          <a:stretch>
            <a:fillRect/>
          </a:stretch>
        </p:blipFill>
        <p:spPr>
          <a:xfrm>
            <a:off x="11228255" y="6191789"/>
            <a:ext cx="469900" cy="352425"/>
          </a:xfrm>
          <a:prstGeom prst="rect">
            <a:avLst/>
          </a:prstGeom>
        </p:spPr>
      </p:pic>
      <p:sp>
        <p:nvSpPr>
          <p:cNvPr id="10"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gi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25A2E9-89E1-4605-85B7-FCAC8D801E55}" type="datetime1">
              <a:rPr lang="de-DE" smtClean="0"/>
              <a:pPr/>
              <a:t>12.12.2025</a:t>
            </a:fld>
            <a:endParaRPr lang="de-DE"/>
          </a:p>
        </p:txBody>
      </p:sp>
      <p:sp>
        <p:nvSpPr>
          <p:cNvPr id="5" name="Fußzeilenplatzhalt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E49DB-545E-46CA-A06F-217AEC04D591}" type="slidenum">
              <a:rPr lang="de-DE" smtClean="0"/>
              <a:pPr/>
              <a:t>‹#›</a:t>
            </a:fld>
            <a:endParaRPr lang="de-DE"/>
          </a:p>
        </p:txBody>
      </p:sp>
      <p:pic>
        <p:nvPicPr>
          <p:cNvPr id="7" name="Grafik 6" descr="light-001.gif"/>
          <p:cNvPicPr>
            <a:picLocks noChangeAspect="1"/>
          </p:cNvPicPr>
          <p:nvPr/>
        </p:nvPicPr>
        <p:blipFill>
          <a:blip r:embed="rId10" cstate="print"/>
          <a:stretch>
            <a:fillRect/>
          </a:stretch>
        </p:blipFill>
        <p:spPr>
          <a:xfrm>
            <a:off x="2" y="3107532"/>
            <a:ext cx="12191997" cy="3750467"/>
          </a:xfrm>
          <a:prstGeom prst="rect">
            <a:avLst/>
          </a:prstGeom>
        </p:spPr>
      </p:pic>
      <p:sp>
        <p:nvSpPr>
          <p:cNvPr id="10" name="Foliennummernplatzhalter 5"/>
          <p:cNvSpPr txBox="1">
            <a:spLocks/>
          </p:cNvSpPr>
          <p:nvPr userDrawn="1"/>
        </p:nvSpPr>
        <p:spPr>
          <a:xfrm>
            <a:off x="10416480" y="6221836"/>
            <a:ext cx="732565" cy="365125"/>
          </a:xfrm>
          <a:prstGeom prst="rect">
            <a:avLst/>
          </a:prstGeom>
        </p:spPr>
        <p:txBody>
          <a:bodyPr anchor="t" anchorCtr="0"/>
          <a:lstStyle>
            <a:lvl1pPr algn="l">
              <a:defRPr sz="1400" b="1">
                <a:solidFill>
                  <a:schemeClr val="accent5"/>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2FE49DB-545E-46CA-A06F-217AEC04D591}" type="slidenum">
              <a:rPr kumimoji="0" lang="de-DE" sz="1400" b="1" i="0" u="none" strike="noStrike" kern="1200" cap="none" spc="0" normalizeH="0" baseline="0" noProof="0" smtClean="0">
                <a:ln>
                  <a:noFill/>
                </a:ln>
                <a:solidFill>
                  <a:schemeClr val="accent5"/>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1400" b="1" i="0" u="none" strike="noStrike" kern="1200" cap="none" spc="0" normalizeH="0" baseline="0" noProof="0" dirty="0">
              <a:ln>
                <a:noFill/>
              </a:ln>
              <a:solidFill>
                <a:schemeClr val="accent5"/>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3" r:id="rId4"/>
    <p:sldLayoutId id="2147483665" r:id="rId5"/>
    <p:sldLayoutId id="2147483662" r:id="rId6"/>
    <p:sldLayoutId id="2147483666" r:id="rId7"/>
    <p:sldLayoutId id="2147483667" r:id="rId8"/>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ieee.org/"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DB67E-0A6A-B517-55E6-8E9B8B702138}"/>
              </a:ext>
            </a:extLst>
          </p:cNvPr>
          <p:cNvSpPr>
            <a:spLocks noGrp="1"/>
          </p:cNvSpPr>
          <p:nvPr>
            <p:ph idx="10"/>
          </p:nvPr>
        </p:nvSpPr>
        <p:spPr/>
        <p:txBody>
          <a:bodyPr/>
          <a:lstStyle/>
          <a:p>
            <a:r>
              <a:rPr lang="en-US" sz="6000" dirty="0"/>
              <a:t>Research Fundamentals</a:t>
            </a:r>
          </a:p>
          <a:p>
            <a:r>
              <a:rPr lang="en-US" sz="6600" dirty="0"/>
              <a:t>Unit – II: Research Process Model [10 </a:t>
            </a:r>
            <a:r>
              <a:rPr lang="en-US" sz="6600" dirty="0" err="1"/>
              <a:t>hrs</a:t>
            </a:r>
            <a:r>
              <a:rPr lang="en-US" sz="6600" dirty="0"/>
              <a:t>]</a:t>
            </a:r>
          </a:p>
        </p:txBody>
      </p:sp>
      <p:sp>
        <p:nvSpPr>
          <p:cNvPr id="6" name="Subtitle 5">
            <a:extLst>
              <a:ext uri="{FF2B5EF4-FFF2-40B4-BE49-F238E27FC236}">
                <a16:creationId xmlns:a16="http://schemas.microsoft.com/office/drawing/2014/main" id="{DE7E267D-54A9-4D25-8EDE-F68785916741}"/>
              </a:ext>
            </a:extLst>
          </p:cNvPr>
          <p:cNvSpPr>
            <a:spLocks noGrp="1"/>
          </p:cNvSpPr>
          <p:nvPr>
            <p:ph type="subTitle" idx="1"/>
          </p:nvPr>
        </p:nvSpPr>
        <p:spPr/>
        <p:txBody>
          <a:bodyPr/>
          <a:lstStyle/>
          <a:p>
            <a:endParaRPr 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t>Unit 2: Research Process Model</a:t>
            </a:r>
          </a:p>
        </p:txBody>
      </p:sp>
      <p:sp>
        <p:nvSpPr>
          <p:cNvPr id="13" name="Inhaltsplatzhalter 3"/>
          <p:cNvSpPr>
            <a:spLocks noGrp="1"/>
          </p:cNvSpPr>
          <p:nvPr>
            <p:ph idx="1"/>
          </p:nvPr>
        </p:nvSpPr>
        <p:spPr>
          <a:xfrm>
            <a:off x="815414" y="1340768"/>
            <a:ext cx="10033115" cy="3960440"/>
          </a:xfrm>
        </p:spPr>
        <p:txBody>
          <a:bodyPr/>
          <a:lstStyle/>
          <a:p>
            <a:pPr indent="0"/>
            <a:r>
              <a:rPr lang="de-DE" sz="2400" b="1" dirty="0"/>
              <a:t>Contents</a:t>
            </a:r>
            <a:r>
              <a:rPr lang="de-DE" sz="2400" dirty="0"/>
              <a:t>	</a:t>
            </a:r>
          </a:p>
          <a:p>
            <a:pPr marL="162900" indent="-342900">
              <a:buFont typeface="+mj-lt"/>
              <a:buAutoNum type="arabicPeriod"/>
            </a:pPr>
            <a:r>
              <a:rPr lang="de-DE" sz="2400" b="1" dirty="0"/>
              <a:t>Personal Experiences and Motivation</a:t>
            </a:r>
          </a:p>
          <a:p>
            <a:pPr marL="162900" indent="-342900">
              <a:buFont typeface="+mj-lt"/>
              <a:buAutoNum type="arabicPeriod"/>
            </a:pPr>
            <a:r>
              <a:rPr lang="de-DE" sz="2400" b="1" dirty="0"/>
              <a:t>Literature Review</a:t>
            </a:r>
          </a:p>
          <a:p>
            <a:pPr marL="905850" lvl="1" indent="-342900">
              <a:buFont typeface="+mj-lt"/>
              <a:buAutoNum type="arabicPeriod"/>
            </a:pPr>
            <a:r>
              <a:rPr lang="de-DE" sz="2400" dirty="0"/>
              <a:t>Purpose and objectives of a literature review</a:t>
            </a:r>
          </a:p>
          <a:p>
            <a:pPr marL="905850" lvl="1" indent="-342900">
              <a:buFont typeface="+mj-lt"/>
              <a:buAutoNum type="arabicPeriod"/>
            </a:pPr>
            <a:r>
              <a:rPr lang="de-DE" sz="2400" dirty="0"/>
              <a:t>Literature resources</a:t>
            </a:r>
          </a:p>
          <a:p>
            <a:pPr marL="905850" lvl="1" indent="-342900">
              <a:buFont typeface="+mj-lt"/>
              <a:buAutoNum type="arabicPeriod"/>
            </a:pPr>
            <a:r>
              <a:rPr lang="de-DE" sz="2400" dirty="0"/>
              <a:t>Conducting a literature review</a:t>
            </a:r>
          </a:p>
          <a:p>
            <a:pPr marL="905850" lvl="1" indent="-342900">
              <a:buFont typeface="+mj-lt"/>
              <a:buAutoNum type="arabicPeriod"/>
            </a:pPr>
            <a:r>
              <a:rPr lang="de-DE" sz="2400" dirty="0"/>
              <a:t>Citation and its types</a:t>
            </a:r>
          </a:p>
          <a:p>
            <a:pPr marL="905850" lvl="1" indent="-342900">
              <a:buFont typeface="+mj-lt"/>
              <a:buAutoNum type="arabicPeriod"/>
            </a:pPr>
            <a:r>
              <a:rPr lang="de-DE" sz="2400" dirty="0"/>
              <a:t>Bibliographic Details and Referencing Systems</a:t>
            </a:r>
          </a:p>
          <a:p>
            <a:pPr marL="905850" lvl="1" indent="-342900">
              <a:buFont typeface="+mj-lt"/>
              <a:buAutoNum type="arabicPeriod"/>
            </a:pPr>
            <a:r>
              <a:rPr lang="de-DE" sz="2400" dirty="0"/>
              <a:t>Plagiarism</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t>Unit 2: Research Process Model</a:t>
            </a:r>
          </a:p>
        </p:txBody>
      </p:sp>
      <p:sp>
        <p:nvSpPr>
          <p:cNvPr id="13" name="Inhaltsplatzhalter 3"/>
          <p:cNvSpPr>
            <a:spLocks noGrp="1"/>
          </p:cNvSpPr>
          <p:nvPr>
            <p:ph idx="1"/>
          </p:nvPr>
        </p:nvSpPr>
        <p:spPr>
          <a:xfrm>
            <a:off x="815414" y="1340768"/>
            <a:ext cx="10033115" cy="3960440"/>
          </a:xfrm>
        </p:spPr>
        <p:txBody>
          <a:bodyPr/>
          <a:lstStyle/>
          <a:p>
            <a:pPr indent="0"/>
            <a:r>
              <a:rPr lang="de-DE" sz="2400" b="1" dirty="0"/>
              <a:t>Contents</a:t>
            </a:r>
            <a:r>
              <a:rPr lang="de-DE" sz="2400" dirty="0"/>
              <a:t>	</a:t>
            </a:r>
          </a:p>
          <a:p>
            <a:pPr indent="0"/>
            <a:r>
              <a:rPr lang="de-DE" sz="2400" b="1" dirty="0"/>
              <a:t>3. Research Question</a:t>
            </a:r>
          </a:p>
          <a:p>
            <a:pPr indent="0"/>
            <a:r>
              <a:rPr lang="de-DE" sz="2400" b="1" dirty="0"/>
              <a:t>4. Conceptual framework</a:t>
            </a:r>
          </a:p>
          <a:p>
            <a:pPr indent="0"/>
            <a:r>
              <a:rPr lang="de-DE" sz="2400" b="1" dirty="0"/>
              <a:t>5. Strategies</a:t>
            </a:r>
          </a:p>
          <a:p>
            <a:pPr marL="905850" lvl="1" indent="-342900">
              <a:buFont typeface="+mj-lt"/>
              <a:buAutoNum type="arabicPeriod"/>
            </a:pPr>
            <a:r>
              <a:rPr lang="de-DE" sz="2400" dirty="0"/>
              <a:t>Survey</a:t>
            </a:r>
          </a:p>
          <a:p>
            <a:pPr marL="905850" lvl="1" indent="-342900">
              <a:buFont typeface="+mj-lt"/>
              <a:buAutoNum type="arabicPeriod"/>
            </a:pPr>
            <a:r>
              <a:rPr lang="de-DE" sz="2400" dirty="0"/>
              <a:t>Design and Creation</a:t>
            </a:r>
          </a:p>
          <a:p>
            <a:pPr marL="905850" lvl="1" indent="-342900">
              <a:buFont typeface="+mj-lt"/>
              <a:buAutoNum type="arabicPeriod"/>
            </a:pPr>
            <a:r>
              <a:rPr lang="de-DE" sz="2400" dirty="0"/>
              <a:t>Experiment</a:t>
            </a:r>
          </a:p>
          <a:p>
            <a:pPr marL="905850" lvl="1" indent="-342900">
              <a:buFont typeface="+mj-lt"/>
              <a:buAutoNum type="arabicPeriod"/>
            </a:pPr>
            <a:r>
              <a:rPr lang="de-DE" sz="2400" dirty="0"/>
              <a:t>Case Study</a:t>
            </a:r>
          </a:p>
          <a:p>
            <a:pPr marL="905850" lvl="1" indent="-342900">
              <a:buFont typeface="+mj-lt"/>
              <a:buAutoNum type="arabicPeriod"/>
            </a:pPr>
            <a:r>
              <a:rPr lang="de-DE" sz="2400" dirty="0"/>
              <a:t>Action Research </a:t>
            </a:r>
          </a:p>
          <a:p>
            <a:pPr marL="905850" lvl="1" indent="-342900">
              <a:buFont typeface="+mj-lt"/>
              <a:buAutoNum type="arabicPeriod"/>
            </a:pPr>
            <a:r>
              <a:rPr lang="de-DE" sz="2400" dirty="0"/>
              <a:t>Ethnography</a:t>
            </a:r>
          </a:p>
        </p:txBody>
      </p:sp>
    </p:spTree>
    <p:extLst>
      <p:ext uri="{BB962C8B-B14F-4D97-AF65-F5344CB8AC3E}">
        <p14:creationId xmlns:p14="http://schemas.microsoft.com/office/powerpoint/2010/main" val="258156587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t>Unit 2: Research Process Model</a:t>
            </a:r>
          </a:p>
        </p:txBody>
      </p:sp>
      <p:sp>
        <p:nvSpPr>
          <p:cNvPr id="13" name="Inhaltsplatzhalter 3"/>
          <p:cNvSpPr>
            <a:spLocks noGrp="1"/>
          </p:cNvSpPr>
          <p:nvPr>
            <p:ph idx="1"/>
          </p:nvPr>
        </p:nvSpPr>
        <p:spPr>
          <a:xfrm>
            <a:off x="815414" y="1340768"/>
            <a:ext cx="10033115" cy="3960440"/>
          </a:xfrm>
        </p:spPr>
        <p:txBody>
          <a:bodyPr/>
          <a:lstStyle/>
          <a:p>
            <a:pPr indent="0"/>
            <a:r>
              <a:rPr lang="de-DE" sz="2400" b="1" dirty="0"/>
              <a:t>Contents</a:t>
            </a:r>
            <a:r>
              <a:rPr lang="de-DE" sz="2400" dirty="0"/>
              <a:t>	</a:t>
            </a:r>
          </a:p>
          <a:p>
            <a:pPr indent="0"/>
            <a:r>
              <a:rPr lang="de-DE" sz="2400" b="1" dirty="0"/>
              <a:t>6. Data Generation Methods</a:t>
            </a:r>
          </a:p>
          <a:p>
            <a:pPr marL="905850" lvl="1" indent="-342900">
              <a:buFont typeface="+mj-lt"/>
              <a:buAutoNum type="arabicPeriod"/>
            </a:pPr>
            <a:r>
              <a:rPr lang="de-DE" sz="2400" dirty="0"/>
              <a:t>Interview</a:t>
            </a:r>
          </a:p>
          <a:p>
            <a:pPr marL="905850" lvl="1" indent="-342900">
              <a:buFont typeface="+mj-lt"/>
              <a:buAutoNum type="arabicPeriod"/>
            </a:pPr>
            <a:r>
              <a:rPr lang="de-DE" sz="2400" dirty="0"/>
              <a:t>Observations</a:t>
            </a:r>
          </a:p>
          <a:p>
            <a:pPr marL="905850" lvl="1" indent="-342900">
              <a:buFont typeface="+mj-lt"/>
              <a:buAutoNum type="arabicPeriod"/>
            </a:pPr>
            <a:r>
              <a:rPr lang="de-DE" sz="2400" dirty="0"/>
              <a:t>Questionnaire</a:t>
            </a:r>
          </a:p>
          <a:p>
            <a:pPr marL="905850" lvl="1" indent="-342900">
              <a:buFont typeface="+mj-lt"/>
              <a:buAutoNum type="arabicPeriod"/>
            </a:pPr>
            <a:r>
              <a:rPr lang="de-DE" sz="2400" dirty="0"/>
              <a:t>Documents</a:t>
            </a:r>
          </a:p>
          <a:p>
            <a:pPr marL="905850" lvl="1" indent="-342900">
              <a:buFont typeface="+mj-lt"/>
              <a:buAutoNum type="arabicPeriod"/>
            </a:pPr>
            <a:r>
              <a:rPr lang="de-DE" sz="2400" dirty="0"/>
              <a:t>Types of triangulation in a research project</a:t>
            </a:r>
            <a:endParaRPr lang="de-DE" sz="2400" b="1" dirty="0"/>
          </a:p>
          <a:p>
            <a:pPr indent="0"/>
            <a:r>
              <a:rPr lang="de-DE" sz="2400" b="1" dirty="0"/>
              <a:t>7. Data Analysis</a:t>
            </a:r>
          </a:p>
          <a:p>
            <a:pPr marL="905850" lvl="1" indent="-342900">
              <a:buFont typeface="+mj-lt"/>
              <a:buAutoNum type="arabicPeriod"/>
            </a:pPr>
            <a:r>
              <a:rPr lang="de-DE" sz="2400" dirty="0"/>
              <a:t>Quantitative and </a:t>
            </a:r>
          </a:p>
          <a:p>
            <a:pPr marL="905850" lvl="1" indent="-342900">
              <a:buFont typeface="+mj-lt"/>
              <a:buAutoNum type="arabicPeriod"/>
            </a:pPr>
            <a:r>
              <a:rPr lang="de-DE" sz="2400" dirty="0"/>
              <a:t>Qualitative data analysis</a:t>
            </a:r>
          </a:p>
        </p:txBody>
      </p:sp>
    </p:spTree>
    <p:extLst>
      <p:ext uri="{BB962C8B-B14F-4D97-AF65-F5344CB8AC3E}">
        <p14:creationId xmlns:p14="http://schemas.microsoft.com/office/powerpoint/2010/main" val="73422050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Personal Experiences and Motivation</a:t>
            </a:r>
          </a:p>
        </p:txBody>
      </p:sp>
      <p:sp>
        <p:nvSpPr>
          <p:cNvPr id="13" name="Inhaltsplatzhalter 3"/>
          <p:cNvSpPr>
            <a:spLocks noGrp="1"/>
          </p:cNvSpPr>
          <p:nvPr>
            <p:ph idx="1"/>
          </p:nvPr>
        </p:nvSpPr>
        <p:spPr>
          <a:xfrm>
            <a:off x="815414" y="1340768"/>
            <a:ext cx="10033115" cy="4248472"/>
          </a:xfrm>
        </p:spPr>
        <p:txBody>
          <a:bodyPr/>
          <a:lstStyle/>
          <a:p>
            <a:pPr marL="457200" indent="-457200">
              <a:buFont typeface="Arial" panose="020B0604020202020204" pitchFamily="34" charset="0"/>
              <a:buChar char="•"/>
            </a:pPr>
            <a:r>
              <a:rPr lang="en-US" sz="3200" dirty="0"/>
              <a:t>Journey to Research</a:t>
            </a:r>
          </a:p>
          <a:p>
            <a:pPr marL="457200" indent="-457200">
              <a:buFont typeface="Arial" panose="020B0604020202020204" pitchFamily="34" charset="0"/>
              <a:buChar char="•"/>
            </a:pPr>
            <a:r>
              <a:rPr lang="en-US" sz="3200" dirty="0"/>
              <a:t>Overcoming Challenges</a:t>
            </a:r>
          </a:p>
          <a:p>
            <a:pPr marL="457200" indent="-457200">
              <a:buFont typeface="Arial" panose="020B0604020202020204" pitchFamily="34" charset="0"/>
              <a:buChar char="•"/>
            </a:pPr>
            <a:r>
              <a:rPr lang="en-US" sz="3200" dirty="0"/>
              <a:t>Mentorship and Collaboration</a:t>
            </a:r>
          </a:p>
          <a:p>
            <a:pPr marL="457200" indent="-457200">
              <a:buFont typeface="Arial" panose="020B0604020202020204" pitchFamily="34" charset="0"/>
              <a:buChar char="•"/>
            </a:pPr>
            <a:r>
              <a:rPr lang="en-US" sz="3200" dirty="0"/>
              <a:t>Ethics and Integrity in Research</a:t>
            </a:r>
          </a:p>
          <a:p>
            <a:pPr marL="457200" indent="-457200">
              <a:buFont typeface="Arial" panose="020B0604020202020204" pitchFamily="34" charset="0"/>
              <a:buChar char="•"/>
            </a:pPr>
            <a:r>
              <a:rPr lang="en-US" sz="3200" dirty="0"/>
              <a:t>Lifelong Learning and Adaptability</a:t>
            </a:r>
          </a:p>
          <a:p>
            <a:pPr marL="457200" indent="-457200">
              <a:buFont typeface="Arial" panose="020B0604020202020204" pitchFamily="34" charset="0"/>
              <a:buChar char="•"/>
            </a:pPr>
            <a:r>
              <a:rPr lang="en-US" sz="3200" dirty="0"/>
              <a:t>Balancing Passion and Practicality</a:t>
            </a:r>
          </a:p>
          <a:p>
            <a:pPr marL="457200" indent="-457200">
              <a:buFont typeface="Arial" panose="020B0604020202020204" pitchFamily="34" charset="0"/>
              <a:buChar char="•"/>
            </a:pPr>
            <a:r>
              <a:rPr lang="en-US" sz="3200" dirty="0"/>
              <a:t>Work-Life Balance in Research</a:t>
            </a:r>
          </a:p>
          <a:p>
            <a:pPr marL="457200" indent="-457200">
              <a:buFont typeface="Arial" panose="020B0604020202020204" pitchFamily="34" charset="0"/>
              <a:buChar char="•"/>
            </a:pPr>
            <a:r>
              <a:rPr lang="en-US" sz="3200" dirty="0"/>
              <a:t>Impact of Research on Society</a:t>
            </a:r>
          </a:p>
        </p:txBody>
      </p:sp>
    </p:spTree>
    <p:extLst>
      <p:ext uri="{BB962C8B-B14F-4D97-AF65-F5344CB8AC3E}">
        <p14:creationId xmlns:p14="http://schemas.microsoft.com/office/powerpoint/2010/main" val="13414122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Literature Review</a:t>
            </a:r>
          </a:p>
        </p:txBody>
      </p:sp>
      <p:sp>
        <p:nvSpPr>
          <p:cNvPr id="13" name="Inhaltsplatzhalter 3"/>
          <p:cNvSpPr>
            <a:spLocks noGrp="1"/>
          </p:cNvSpPr>
          <p:nvPr>
            <p:ph idx="1"/>
          </p:nvPr>
        </p:nvSpPr>
        <p:spPr>
          <a:xfrm>
            <a:off x="815414" y="1340768"/>
            <a:ext cx="10033115" cy="3960440"/>
          </a:xfrm>
        </p:spPr>
        <p:txBody>
          <a:bodyPr/>
          <a:lstStyle/>
          <a:p>
            <a:pPr marR="0" lvl="0" indent="0" fontAlgn="base">
              <a:lnSpc>
                <a:spcPct val="103000"/>
              </a:lnSpc>
              <a:spcBef>
                <a:spcPts val="0"/>
              </a:spcBef>
              <a:spcAft>
                <a:spcPts val="2725"/>
              </a:spcAft>
              <a:buClr>
                <a:srgbClr val="2DA2BF"/>
              </a:buClr>
              <a:buSzPts val="1650"/>
            </a:pPr>
            <a:r>
              <a:rPr lang="en-US" sz="3600"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The review of the literature is defined as a broad, comprehensive, in-depth, systematic, and critical review of scholarly publications, unpublished scholarly print materials, audiovisual materials, and personal communications.</a:t>
            </a:r>
          </a:p>
          <a:p>
            <a:pPr marL="6350" marR="69850" indent="-6350" algn="r">
              <a:lnSpc>
                <a:spcPct val="107000"/>
              </a:lnSpc>
              <a:spcBef>
                <a:spcPts val="0"/>
              </a:spcBef>
              <a:spcAft>
                <a:spcPts val="20"/>
              </a:spcAft>
            </a:pPr>
            <a:endParaRPr lang="en-US" sz="2800" b="1" kern="100" dirty="0">
              <a:solidFill>
                <a:srgbClr val="000000"/>
              </a:solidFill>
              <a:effectLst/>
              <a:latin typeface="+mj-lt"/>
              <a:ea typeface="Calibri" panose="020F0502020204030204" pitchFamily="34" charset="0"/>
            </a:endParaRPr>
          </a:p>
        </p:txBody>
      </p:sp>
    </p:spTree>
    <p:extLst>
      <p:ext uri="{BB962C8B-B14F-4D97-AF65-F5344CB8AC3E}">
        <p14:creationId xmlns:p14="http://schemas.microsoft.com/office/powerpoint/2010/main" val="16975154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sz="4000" dirty="0"/>
              <a:t>Purpose</a:t>
            </a:r>
            <a:r>
              <a:rPr lang="en-US" sz="4000" b="0" dirty="0"/>
              <a:t> and objectives of a literature review</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The purpose of a literature review is to gain an understanding of the existing research and debates relevant to a particular topic or area of study and to present that knowledge in the form of a written report.</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Conducting a literature review helps you build your knowledge in your field. You’ll learn about important concepts, research methods, and experimental techniques that are used in your field. You’ll also gain insight into how researchers apply the concepts you’re learning in your unit to real-world problems.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Another great benefit of literature reviews is that as you read, you’ll get a better understanding of how research findings are presented and discussed in your particular discipline. If you pay attention to what you read and try to achieve a similar style, you’ll become more successful at writing for your discipline.</a:t>
            </a:r>
          </a:p>
        </p:txBody>
      </p:sp>
    </p:spTree>
    <p:extLst>
      <p:ext uri="{BB962C8B-B14F-4D97-AF65-F5344CB8AC3E}">
        <p14:creationId xmlns:p14="http://schemas.microsoft.com/office/powerpoint/2010/main" val="95886689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sz="4000" b="0" dirty="0"/>
              <a:t>Purpose and </a:t>
            </a:r>
            <a:r>
              <a:rPr lang="en-US" sz="4000" dirty="0"/>
              <a:t>objectives </a:t>
            </a:r>
            <a:r>
              <a:rPr lang="en-US" sz="4000" b="0" dirty="0"/>
              <a:t>of a literature review</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Establishing Context</a:t>
            </a:r>
            <a:r>
              <a:rPr lang="en-US" sz="2200" kern="100" dirty="0">
                <a:solidFill>
                  <a:srgbClr val="000000"/>
                </a:solidFill>
                <a:effectLst/>
                <a:latin typeface="Calibri" panose="020F0502020204030204" pitchFamily="34" charset="0"/>
                <a:ea typeface="Calibri" panose="020F0502020204030204" pitchFamily="34" charset="0"/>
              </a:rPr>
              <a:t>: A literature review summarizes and synthesizes existing knowledge on a topic, providing context for research and understanding the subject’s historical development and current state.</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Identifying Gaps</a:t>
            </a:r>
            <a:r>
              <a:rPr lang="en-US" sz="2200" kern="100" dirty="0">
                <a:solidFill>
                  <a:srgbClr val="000000"/>
                </a:solidFill>
                <a:effectLst/>
                <a:latin typeface="Calibri" panose="020F0502020204030204" pitchFamily="34" charset="0"/>
                <a:ea typeface="Calibri" panose="020F0502020204030204" pitchFamily="34" charset="0"/>
              </a:rPr>
              <a:t>: A literature review critically examines existing literature to identify gaps, contradictions, or limitations in current research. These gaps can serve as a foundation for researchers to develop their research questions and hypotheses.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Informing Research Questions/Hypotheses</a:t>
            </a:r>
            <a:r>
              <a:rPr lang="en-US" sz="2200" kern="100" dirty="0">
                <a:solidFill>
                  <a:srgbClr val="000000"/>
                </a:solidFill>
                <a:effectLst/>
                <a:latin typeface="Calibri" panose="020F0502020204030204" pitchFamily="34" charset="0"/>
                <a:ea typeface="Calibri" panose="020F0502020204030204" pitchFamily="34" charset="0"/>
              </a:rPr>
              <a:t>: Literature reviews often precede the formulation of research questions or hypotheses. They help researchers refine their focus and ensure that their study addresses relevant and meaningful issues within the field.</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Methodological Guidance</a:t>
            </a:r>
            <a:r>
              <a:rPr lang="en-US" sz="2200" kern="100" dirty="0">
                <a:solidFill>
                  <a:srgbClr val="000000"/>
                </a:solidFill>
                <a:effectLst/>
                <a:latin typeface="Calibri" panose="020F0502020204030204" pitchFamily="34" charset="0"/>
                <a:ea typeface="Calibri" panose="020F0502020204030204" pitchFamily="34" charset="0"/>
              </a:rPr>
              <a:t>: A literature review can inform the choice of research methods and methodologies by reviewing how previous studies were conducted. Researchers can learn from the strengths and weaknesses of prior research to design their own studies effectively.</a:t>
            </a:r>
          </a:p>
        </p:txBody>
      </p:sp>
    </p:spTree>
    <p:extLst>
      <p:ext uri="{BB962C8B-B14F-4D97-AF65-F5344CB8AC3E}">
        <p14:creationId xmlns:p14="http://schemas.microsoft.com/office/powerpoint/2010/main" val="41960407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sz="4000" b="0" dirty="0"/>
              <a:t>Purpose and </a:t>
            </a:r>
            <a:r>
              <a:rPr lang="en-US" sz="4000" dirty="0"/>
              <a:t>objectives </a:t>
            </a:r>
            <a:r>
              <a:rPr lang="en-US" sz="4000" b="0" dirty="0"/>
              <a:t>of a literature review</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Theory Building: </a:t>
            </a:r>
            <a:r>
              <a:rPr lang="en-US" sz="2400" kern="100" dirty="0">
                <a:solidFill>
                  <a:srgbClr val="000000"/>
                </a:solidFill>
                <a:effectLst/>
                <a:latin typeface="Calibri" panose="020F0502020204030204" pitchFamily="34" charset="0"/>
                <a:ea typeface="Calibri" panose="020F0502020204030204" pitchFamily="34" charset="0"/>
              </a:rPr>
              <a:t>Literature reviews assist in theory building by examining and comparing different theories and conceptual frameworks within a field. Researchers can identify which theories are most relevant to their research and build on or adapt these theories as needed.</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Enhancing Credibility: </a:t>
            </a:r>
            <a:r>
              <a:rPr lang="en-US" sz="2400" kern="100" dirty="0">
                <a:solidFill>
                  <a:srgbClr val="000000"/>
                </a:solidFill>
                <a:effectLst/>
                <a:latin typeface="Calibri" panose="020F0502020204030204" pitchFamily="34" charset="0"/>
                <a:ea typeface="Calibri" panose="020F0502020204030204" pitchFamily="34" charset="0"/>
              </a:rPr>
              <a:t>Including a comprehensive literature review in a research paper or thesis enhances its credibility. It demonstrates that the research is grounded in existing knowledge and that the researcher is aware of the relevant literature.</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Guiding</a:t>
            </a:r>
            <a:r>
              <a:rPr lang="en-US" sz="2400" kern="100" dirty="0">
                <a:solidFill>
                  <a:srgbClr val="000000"/>
                </a:solidFill>
                <a:effectLst/>
                <a:latin typeface="Calibri" panose="020F0502020204030204" pitchFamily="34" charset="0"/>
                <a:ea typeface="Calibri" panose="020F0502020204030204" pitchFamily="34" charset="0"/>
              </a:rPr>
              <a:t> </a:t>
            </a:r>
            <a:r>
              <a:rPr lang="en-US" sz="2400" b="1" kern="100" dirty="0">
                <a:solidFill>
                  <a:srgbClr val="000000"/>
                </a:solidFill>
                <a:effectLst/>
                <a:latin typeface="Calibri" panose="020F0502020204030204" pitchFamily="34" charset="0"/>
                <a:ea typeface="Calibri" panose="020F0502020204030204" pitchFamily="34" charset="0"/>
              </a:rPr>
              <a:t>Future Research: </a:t>
            </a:r>
            <a:r>
              <a:rPr lang="en-US" sz="2400" kern="100" dirty="0">
                <a:solidFill>
                  <a:srgbClr val="000000"/>
                </a:solidFill>
                <a:effectLst/>
                <a:latin typeface="Calibri" panose="020F0502020204030204" pitchFamily="34" charset="0"/>
                <a:ea typeface="Calibri" panose="020F0502020204030204" pitchFamily="34" charset="0"/>
              </a:rPr>
              <a:t>Literature reviews often conclude by suggesting directions for future research. Researchers can propose research questions, hypotheses, or areas of investigation that emerge from the gaps and limitations identified in the existing literature.</a:t>
            </a:r>
          </a:p>
        </p:txBody>
      </p:sp>
    </p:spTree>
    <p:extLst>
      <p:ext uri="{BB962C8B-B14F-4D97-AF65-F5344CB8AC3E}">
        <p14:creationId xmlns:p14="http://schemas.microsoft.com/office/powerpoint/2010/main" val="177518188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sz="4000" b="0" dirty="0"/>
              <a:t>Literature resources</a:t>
            </a: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400" kern="100" dirty="0">
                <a:solidFill>
                  <a:srgbClr val="000000"/>
                </a:solidFill>
                <a:effectLst/>
                <a:latin typeface="Calibri" panose="020F0502020204030204" pitchFamily="34" charset="0"/>
                <a:ea typeface="Calibri" panose="020F0502020204030204" pitchFamily="34" charset="0"/>
              </a:rPr>
              <a:t>When conducting a literature review, researchers utilize a variety of resources to gather relevant information and ensure a comprehensive understanding of the topic. Here are some key literature resources commonly used:</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Academic Journals: </a:t>
            </a:r>
            <a:r>
              <a:rPr lang="en-US" sz="2400" kern="100" dirty="0">
                <a:solidFill>
                  <a:srgbClr val="000000"/>
                </a:solidFill>
                <a:effectLst/>
                <a:latin typeface="Calibri" panose="020F0502020204030204" pitchFamily="34" charset="0"/>
                <a:ea typeface="Calibri" panose="020F0502020204030204" pitchFamily="34" charset="0"/>
              </a:rPr>
              <a:t>Peer-reviewed journals are primary sources for up-to-date research findings. Examples include journals like Nature (Springer), Elsevier, The Lancet, Journal of Applied Psychology, etc.). They are also available through academic databases such as PubMed, JSTOR, IEEE Xplore, and others. </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Books and Book Chapters</a:t>
            </a:r>
            <a:r>
              <a:rPr lang="en-US" sz="2400" kern="100" dirty="0">
                <a:solidFill>
                  <a:srgbClr val="000000"/>
                </a:solidFill>
                <a:effectLst/>
                <a:latin typeface="Calibri" panose="020F0502020204030204" pitchFamily="34" charset="0"/>
                <a:ea typeface="Calibri" panose="020F0502020204030204" pitchFamily="34" charset="0"/>
              </a:rPr>
              <a:t>: Scholarly books provide in-depth coverage of specific topics. Edited volumes may contain chapters by different authors, offering multiple perspectives on a topic</a:t>
            </a:r>
            <a:r>
              <a:rPr lang="en-US" sz="2400" b="1" kern="100" dirty="0">
                <a:solidFill>
                  <a:srgbClr val="000000"/>
                </a:solidFill>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186529759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sz="4000" b="0" dirty="0"/>
              <a:t>Literature resources</a:t>
            </a: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Conference Proceedings: </a:t>
            </a:r>
            <a:r>
              <a:rPr lang="en-US" sz="2400" kern="100" dirty="0">
                <a:solidFill>
                  <a:srgbClr val="000000"/>
                </a:solidFill>
                <a:effectLst/>
                <a:latin typeface="Calibri" panose="020F0502020204030204" pitchFamily="34" charset="0"/>
                <a:ea typeface="Calibri" panose="020F0502020204030204" pitchFamily="34" charset="0"/>
              </a:rPr>
              <a:t>Papers presented at academic and professional conferences. Often contain cutting-edge research and preliminary findings.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Theses and Dissertations: </a:t>
            </a:r>
            <a:r>
              <a:rPr lang="en-US" sz="2400" kern="100" dirty="0">
                <a:solidFill>
                  <a:srgbClr val="000000"/>
                </a:solidFill>
                <a:effectLst/>
                <a:latin typeface="Calibri" panose="020F0502020204030204" pitchFamily="34" charset="0"/>
                <a:ea typeface="Calibri" panose="020F0502020204030204" pitchFamily="34" charset="0"/>
              </a:rPr>
              <a:t>Extensive research projects completed for advanced degrees. Available through university libraries and databases like ProQuest Dissertations &amp; Theses. </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Government and Organizational Reports: </a:t>
            </a:r>
            <a:r>
              <a:rPr lang="en-US" sz="2400" kern="100" dirty="0">
                <a:solidFill>
                  <a:srgbClr val="000000"/>
                </a:solidFill>
                <a:effectLst/>
                <a:latin typeface="Calibri" panose="020F0502020204030204" pitchFamily="34" charset="0"/>
                <a:ea typeface="Calibri" panose="020F0502020204030204" pitchFamily="34" charset="0"/>
              </a:rPr>
              <a:t>Publications by governmental bodies, NGOs, and other organizations. Examples include reports from the World Health Organization (WHO), Centers for Disease Control and Prevention (CDC), and others.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Online Databases and Digital Libraries: </a:t>
            </a:r>
            <a:r>
              <a:rPr lang="en-US" sz="2400" kern="100" dirty="0">
                <a:solidFill>
                  <a:srgbClr val="000000"/>
                </a:solidFill>
                <a:effectLst/>
                <a:latin typeface="Calibri" panose="020F0502020204030204" pitchFamily="34" charset="0"/>
                <a:ea typeface="Calibri" panose="020F0502020204030204" pitchFamily="34" charset="0"/>
              </a:rPr>
              <a:t>Aggregated collections of academic papers, articles, and other resources. Examples include Google Scholar, Scopus, Web of Science, and ResearchGate.</a:t>
            </a:r>
          </a:p>
        </p:txBody>
      </p:sp>
    </p:spTree>
    <p:extLst>
      <p:ext uri="{BB962C8B-B14F-4D97-AF65-F5344CB8AC3E}">
        <p14:creationId xmlns:p14="http://schemas.microsoft.com/office/powerpoint/2010/main" val="20539637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sz="4000" b="0" dirty="0"/>
              <a:t>Conducting a literature review</a:t>
            </a:r>
            <a:br>
              <a:rPr lang="en-US" sz="4000" b="0" dirty="0"/>
            </a:br>
            <a:endParaRPr lang="de-DE" b="0"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800" kern="100" dirty="0">
                <a:solidFill>
                  <a:srgbClr val="000000"/>
                </a:solidFill>
                <a:effectLst/>
                <a:latin typeface="Calibri" panose="020F0502020204030204" pitchFamily="34" charset="0"/>
                <a:ea typeface="Calibri" panose="020F0502020204030204" pitchFamily="34" charset="0"/>
              </a:rPr>
              <a:t>A literature review should not just be a summary of each source. That would be more like an annotated bibliography; </a:t>
            </a:r>
            <a:r>
              <a:rPr lang="en-US" sz="2800" kern="100" dirty="0">
                <a:solidFill>
                  <a:srgbClr val="000000"/>
                </a:solidFill>
                <a:latin typeface="Calibri" panose="020F0502020204030204" pitchFamily="34" charset="0"/>
                <a:ea typeface="Calibri" panose="020F0502020204030204" pitchFamily="34" charset="0"/>
              </a:rPr>
              <a:t>i</a:t>
            </a:r>
            <a:r>
              <a:rPr lang="en-US" sz="2800" kern="100" dirty="0">
                <a:solidFill>
                  <a:srgbClr val="000000"/>
                </a:solidFill>
                <a:effectLst/>
                <a:latin typeface="Calibri" panose="020F0502020204030204" pitchFamily="34" charset="0"/>
                <a:ea typeface="Calibri" panose="020F0502020204030204" pitchFamily="34" charset="0"/>
              </a:rPr>
              <a:t>nstead, you need to:</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C</a:t>
            </a:r>
            <a:r>
              <a:rPr lang="en-US" sz="2800" kern="100" dirty="0">
                <a:solidFill>
                  <a:srgbClr val="000000"/>
                </a:solidFill>
                <a:effectLst/>
                <a:latin typeface="Calibri" panose="020F0502020204030204" pitchFamily="34" charset="0"/>
                <a:ea typeface="Calibri" panose="020F0502020204030204" pitchFamily="34" charset="0"/>
              </a:rPr>
              <a:t>ompare and contrast each source to other relevant literature on the topic</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C</a:t>
            </a:r>
            <a:r>
              <a:rPr lang="en-US" sz="2800" kern="100" dirty="0">
                <a:solidFill>
                  <a:srgbClr val="000000"/>
                </a:solidFill>
                <a:effectLst/>
                <a:latin typeface="Calibri" panose="020F0502020204030204" pitchFamily="34" charset="0"/>
                <a:ea typeface="Calibri" panose="020F0502020204030204" pitchFamily="34" charset="0"/>
              </a:rPr>
              <a:t>ritically evaluate each source</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I</a:t>
            </a:r>
            <a:r>
              <a:rPr lang="en-US" sz="2800" kern="100" dirty="0">
                <a:solidFill>
                  <a:srgbClr val="000000"/>
                </a:solidFill>
                <a:effectLst/>
                <a:latin typeface="Calibri" panose="020F0502020204030204" pitchFamily="34" charset="0"/>
                <a:ea typeface="Calibri" panose="020F0502020204030204" pitchFamily="34" charset="0"/>
              </a:rPr>
              <a:t>ndicate how each source contributes to the body of knowledge about the topic</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Integrate your discussion of the sources into your argument about the state of knowledge on the topic</a:t>
            </a:r>
          </a:p>
        </p:txBody>
      </p:sp>
    </p:spTree>
    <p:extLst>
      <p:ext uri="{BB962C8B-B14F-4D97-AF65-F5344CB8AC3E}">
        <p14:creationId xmlns:p14="http://schemas.microsoft.com/office/powerpoint/2010/main" val="321218799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t>Literature Review</a:t>
            </a:r>
          </a:p>
        </p:txBody>
      </p:sp>
      <p:sp>
        <p:nvSpPr>
          <p:cNvPr id="13" name="Inhaltsplatzhalter 3"/>
          <p:cNvSpPr>
            <a:spLocks noGrp="1"/>
          </p:cNvSpPr>
          <p:nvPr>
            <p:ph idx="1"/>
          </p:nvPr>
        </p:nvSpPr>
        <p:spPr>
          <a:xfrm>
            <a:off x="815414" y="1340768"/>
            <a:ext cx="10033115" cy="3960440"/>
          </a:xfrm>
        </p:spPr>
        <p:txBody>
          <a:bodyPr/>
          <a:lstStyle/>
          <a:p>
            <a:pPr marR="0" lvl="0" indent="0" fontAlgn="base">
              <a:lnSpc>
                <a:spcPct val="103000"/>
              </a:lnSpc>
              <a:spcBef>
                <a:spcPts val="0"/>
              </a:spcBef>
              <a:spcAft>
                <a:spcPts val="2725"/>
              </a:spcAft>
              <a:buClr>
                <a:srgbClr val="2DA2BF"/>
              </a:buClr>
              <a:buSzPts val="1650"/>
            </a:pPr>
            <a:r>
              <a:rPr lang="en-US" sz="3600"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The review of the literature is defined as a broad, comprehensive, in-depth, systematic, and critical review of scholarly publications, unpublished scholarly print materials, audiovisual materials, and personal communications.</a:t>
            </a:r>
          </a:p>
          <a:p>
            <a:pPr marL="6350" marR="69850" indent="-6350" algn="r">
              <a:lnSpc>
                <a:spcPct val="107000"/>
              </a:lnSpc>
              <a:spcBef>
                <a:spcPts val="0"/>
              </a:spcBef>
              <a:spcAft>
                <a:spcPts val="20"/>
              </a:spcAft>
            </a:pPr>
            <a:endParaRPr lang="en-US" sz="2800" b="1" kern="100" dirty="0">
              <a:solidFill>
                <a:srgbClr val="000000"/>
              </a:solidFill>
              <a:effectLst/>
              <a:latin typeface="+mj-lt"/>
              <a:ea typeface="Calibri" panose="020F0502020204030204" pitchFamily="34" charset="0"/>
            </a:endParaRPr>
          </a:p>
        </p:txBody>
      </p:sp>
    </p:spTree>
    <p:extLst>
      <p:ext uri="{BB962C8B-B14F-4D97-AF65-F5344CB8AC3E}">
        <p14:creationId xmlns:p14="http://schemas.microsoft.com/office/powerpoint/2010/main" val="39335195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dirty="0"/>
              <a:t>Purpose</a:t>
            </a:r>
            <a:r>
              <a:rPr lang="en-US" sz="4000" b="0" dirty="0"/>
              <a:t> and objectives of a literature review</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The purpose of a literature review is to gain an understanding of the existing research and debates relevant to a particular topic or area of study and to present that knowledge in the form of a written report.</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Conducting a literature review helps you build your knowledge in your field. You’ll learn about important concepts, research methods, and experimental techniques that are used in your field. You’ll also gain insight into how researchers apply the concepts you’re learning in your unit to real-world problems.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Another great benefit of literature reviews is that as you read, you’ll get a better understanding of how research findings are presented and discussed in your particular discipline. If you pay attention to what you read and try to achieve a similar style, you’ll become more successful at writing for your discipline.</a:t>
            </a:r>
          </a:p>
        </p:txBody>
      </p:sp>
    </p:spTree>
    <p:extLst>
      <p:ext uri="{BB962C8B-B14F-4D97-AF65-F5344CB8AC3E}">
        <p14:creationId xmlns:p14="http://schemas.microsoft.com/office/powerpoint/2010/main" val="292087003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b="0" dirty="0"/>
              <a:t>Purpose and </a:t>
            </a:r>
            <a:r>
              <a:rPr lang="en-US" sz="4000" dirty="0"/>
              <a:t>objectives </a:t>
            </a:r>
            <a:r>
              <a:rPr lang="en-US" sz="4000" b="0" dirty="0"/>
              <a:t>of a literature review</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Establishing Context</a:t>
            </a:r>
            <a:r>
              <a:rPr lang="en-US" sz="2200" kern="100" dirty="0">
                <a:solidFill>
                  <a:srgbClr val="000000"/>
                </a:solidFill>
                <a:effectLst/>
                <a:latin typeface="Calibri" panose="020F0502020204030204" pitchFamily="34" charset="0"/>
                <a:ea typeface="Calibri" panose="020F0502020204030204" pitchFamily="34" charset="0"/>
              </a:rPr>
              <a:t>: A literature review summarizes and synthesizes existing knowledge on a topic, providing context for research and understanding the subject’s historical development and current state.</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Identifying Gaps</a:t>
            </a:r>
            <a:r>
              <a:rPr lang="en-US" sz="2200" kern="100" dirty="0">
                <a:solidFill>
                  <a:srgbClr val="000000"/>
                </a:solidFill>
                <a:effectLst/>
                <a:latin typeface="Calibri" panose="020F0502020204030204" pitchFamily="34" charset="0"/>
                <a:ea typeface="Calibri" panose="020F0502020204030204" pitchFamily="34" charset="0"/>
              </a:rPr>
              <a:t>: A literature review critically examines existing literature to identify gaps, contradictions, or limitations in current research. These gaps can serve as a foundation for researchers to develop their research questions and hypotheses.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Informing Research Questions/Hypotheses</a:t>
            </a:r>
            <a:r>
              <a:rPr lang="en-US" sz="2200" kern="100" dirty="0">
                <a:solidFill>
                  <a:srgbClr val="000000"/>
                </a:solidFill>
                <a:effectLst/>
                <a:latin typeface="Calibri" panose="020F0502020204030204" pitchFamily="34" charset="0"/>
                <a:ea typeface="Calibri" panose="020F0502020204030204" pitchFamily="34" charset="0"/>
              </a:rPr>
              <a:t>: Literature reviews often precede the formulation of research questions or hypotheses. They help researchers refine their focus and ensure that their study addresses relevant and meaningful issues within the field.</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Methodological Guidance</a:t>
            </a:r>
            <a:r>
              <a:rPr lang="en-US" sz="2200" kern="100" dirty="0">
                <a:solidFill>
                  <a:srgbClr val="000000"/>
                </a:solidFill>
                <a:effectLst/>
                <a:latin typeface="Calibri" panose="020F0502020204030204" pitchFamily="34" charset="0"/>
                <a:ea typeface="Calibri" panose="020F0502020204030204" pitchFamily="34" charset="0"/>
              </a:rPr>
              <a:t>: A literature review can inform the choice of research methods and methodologies by reviewing how previous studies were conducted. Researchers can learn from the strengths and weaknesses of prior research to design their own studies effectively.</a:t>
            </a:r>
          </a:p>
        </p:txBody>
      </p:sp>
    </p:spTree>
    <p:extLst>
      <p:ext uri="{BB962C8B-B14F-4D97-AF65-F5344CB8AC3E}">
        <p14:creationId xmlns:p14="http://schemas.microsoft.com/office/powerpoint/2010/main" val="139400516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b="0" dirty="0"/>
              <a:t>Purpose and </a:t>
            </a:r>
            <a:r>
              <a:rPr lang="en-US" sz="4000" dirty="0"/>
              <a:t>objectives </a:t>
            </a:r>
            <a:r>
              <a:rPr lang="en-US" sz="4000" b="0" dirty="0"/>
              <a:t>of a literature review</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Theory Building: </a:t>
            </a:r>
            <a:r>
              <a:rPr lang="en-US" sz="2400" kern="100" dirty="0">
                <a:solidFill>
                  <a:srgbClr val="000000"/>
                </a:solidFill>
                <a:effectLst/>
                <a:latin typeface="Calibri" panose="020F0502020204030204" pitchFamily="34" charset="0"/>
                <a:ea typeface="Calibri" panose="020F0502020204030204" pitchFamily="34" charset="0"/>
              </a:rPr>
              <a:t>Literature reviews assist in theory building by examining and comparing different theories and conceptual frameworks within a field. Researchers can identify which theories are most relevant to their research and build on or adapt these theories as needed.</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Enhancing Credibility: </a:t>
            </a:r>
            <a:r>
              <a:rPr lang="en-US" sz="2400" kern="100" dirty="0">
                <a:solidFill>
                  <a:srgbClr val="000000"/>
                </a:solidFill>
                <a:effectLst/>
                <a:latin typeface="Calibri" panose="020F0502020204030204" pitchFamily="34" charset="0"/>
                <a:ea typeface="Calibri" panose="020F0502020204030204" pitchFamily="34" charset="0"/>
              </a:rPr>
              <a:t>Including a comprehensive literature review in a research paper or thesis enhances its credibility. It demonstrates that the research is grounded in existing knowledge and that the researcher is aware of the relevant literature.</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Guiding</a:t>
            </a:r>
            <a:r>
              <a:rPr lang="en-US" sz="2400" kern="100" dirty="0">
                <a:solidFill>
                  <a:srgbClr val="000000"/>
                </a:solidFill>
                <a:effectLst/>
                <a:latin typeface="Calibri" panose="020F0502020204030204" pitchFamily="34" charset="0"/>
                <a:ea typeface="Calibri" panose="020F0502020204030204" pitchFamily="34" charset="0"/>
              </a:rPr>
              <a:t> </a:t>
            </a:r>
            <a:r>
              <a:rPr lang="en-US" sz="2400" b="1" kern="100" dirty="0">
                <a:solidFill>
                  <a:srgbClr val="000000"/>
                </a:solidFill>
                <a:effectLst/>
                <a:latin typeface="Calibri" panose="020F0502020204030204" pitchFamily="34" charset="0"/>
                <a:ea typeface="Calibri" panose="020F0502020204030204" pitchFamily="34" charset="0"/>
              </a:rPr>
              <a:t>Future Research: </a:t>
            </a:r>
            <a:r>
              <a:rPr lang="en-US" sz="2400" kern="100" dirty="0">
                <a:solidFill>
                  <a:srgbClr val="000000"/>
                </a:solidFill>
                <a:effectLst/>
                <a:latin typeface="Calibri" panose="020F0502020204030204" pitchFamily="34" charset="0"/>
                <a:ea typeface="Calibri" panose="020F0502020204030204" pitchFamily="34" charset="0"/>
              </a:rPr>
              <a:t>Literature reviews often conclude by suggesting directions for future research. Researchers can propose research questions, hypotheses, or areas of investigation that emerge from the gaps and limitations identified in the existing literature.</a:t>
            </a:r>
          </a:p>
        </p:txBody>
      </p:sp>
    </p:spTree>
    <p:extLst>
      <p:ext uri="{BB962C8B-B14F-4D97-AF65-F5344CB8AC3E}">
        <p14:creationId xmlns:p14="http://schemas.microsoft.com/office/powerpoint/2010/main" val="34897557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b="0" dirty="0"/>
              <a:t>Expectations of Scholars</a:t>
            </a:r>
            <a:endParaRPr lang="de-DE" b="0" dirty="0"/>
          </a:p>
        </p:txBody>
      </p:sp>
      <p:sp>
        <p:nvSpPr>
          <p:cNvPr id="13" name="Inhaltsplatzhalter 3"/>
          <p:cNvSpPr>
            <a:spLocks noGrp="1"/>
          </p:cNvSpPr>
          <p:nvPr>
            <p:ph idx="1"/>
          </p:nvPr>
        </p:nvSpPr>
        <p:spPr>
          <a:xfrm>
            <a:off x="815414" y="1340768"/>
            <a:ext cx="10753194" cy="4248472"/>
          </a:xfrm>
        </p:spPr>
        <p:txBody>
          <a:bodyPr/>
          <a:lstStyle/>
          <a:p>
            <a:pPr eaLnBrk="1" hangingPunct="1">
              <a:lnSpc>
                <a:spcPct val="90000"/>
              </a:lnSpc>
            </a:pPr>
            <a:r>
              <a:rPr lang="en-US" altLang="en-US" sz="2800" dirty="0">
                <a:latin typeface="Times New Roman" panose="02020603050405020304" pitchFamily="18" charset="0"/>
                <a:cs typeface="Times New Roman" panose="02020603050405020304" pitchFamily="18" charset="0"/>
              </a:rPr>
              <a:t>Each Scholar have different backgrounds</a:t>
            </a:r>
          </a:p>
          <a:p>
            <a:pPr lvl="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Not every scholar has done research</a:t>
            </a:r>
          </a:p>
          <a:p>
            <a:pPr lvl="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Not everyone has experience reading the literature</a:t>
            </a:r>
          </a:p>
          <a:p>
            <a:pPr indent="0" eaLnBrk="1" hangingPunct="1">
              <a:lnSpc>
                <a:spcPct val="90000"/>
              </a:lnSpc>
              <a:buSzPct val="80000"/>
            </a:pPr>
            <a:endParaRPr lang="en-US" altLang="en-US" sz="2800" dirty="0">
              <a:latin typeface="Times New Roman" panose="02020603050405020304" pitchFamily="18" charset="0"/>
              <a:cs typeface="Times New Roman" panose="02020603050405020304" pitchFamily="18" charset="0"/>
            </a:endParaRPr>
          </a:p>
          <a:p>
            <a:pPr indent="0" eaLnBrk="1" hangingPunct="1">
              <a:lnSpc>
                <a:spcPct val="90000"/>
              </a:lnSpc>
              <a:buSzPct val="80000"/>
            </a:pPr>
            <a:r>
              <a:rPr lang="en-US" altLang="en-US" sz="2800" dirty="0">
                <a:latin typeface="Times New Roman" panose="02020603050405020304" pitchFamily="18" charset="0"/>
                <a:cs typeface="Times New Roman" panose="02020603050405020304" pitchFamily="18" charset="0"/>
              </a:rPr>
              <a:t>No problem.</a:t>
            </a:r>
          </a:p>
          <a:p>
            <a:pPr lvl="1">
              <a:lnSpc>
                <a:spcPct val="90000"/>
              </a:lnSpc>
              <a:buSzPct val="80000"/>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You are learning to ask questions</a:t>
            </a:r>
          </a:p>
          <a:p>
            <a:pPr lvl="2" algn="just">
              <a:lnSpc>
                <a:spcPct val="90000"/>
              </a:lnSpc>
              <a:buSzPct val="80000"/>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Do so! No one expects you to know everything. Your job is to learn to seek out answers</a:t>
            </a:r>
          </a:p>
          <a:p>
            <a:pPr lvl="2" algn="just">
              <a:lnSpc>
                <a:spcPct val="90000"/>
              </a:lnSpc>
              <a:buSzPct val="80000"/>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Knowing that information is out there can be empowering!</a:t>
            </a:r>
          </a:p>
          <a:p>
            <a:pPr lvl="1"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09456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a:xfrm>
            <a:off x="721078" y="313565"/>
            <a:ext cx="10561173" cy="864096"/>
          </a:xfrm>
        </p:spPr>
        <p:txBody>
          <a:bodyPr/>
          <a:lstStyle/>
          <a:p>
            <a:r>
              <a:rPr lang="en-US" sz="4000" b="0" dirty="0"/>
              <a:t>Expectations of Scholars</a:t>
            </a:r>
            <a:endParaRPr lang="de-DE" b="0" dirty="0"/>
          </a:p>
        </p:txBody>
      </p:sp>
      <p:sp>
        <p:nvSpPr>
          <p:cNvPr id="13" name="Inhaltsplatzhalter 3"/>
          <p:cNvSpPr>
            <a:spLocks noGrp="1"/>
          </p:cNvSpPr>
          <p:nvPr>
            <p:ph idx="1"/>
          </p:nvPr>
        </p:nvSpPr>
        <p:spPr>
          <a:xfrm>
            <a:off x="721078" y="997573"/>
            <a:ext cx="9305647" cy="4248472"/>
          </a:xfrm>
        </p:spPr>
        <p:txBody>
          <a:bodyPr/>
          <a:lstStyle/>
          <a:p>
            <a:pPr indent="0" eaLnBrk="1" hangingPunct="1">
              <a:lnSpc>
                <a:spcPct val="90000"/>
              </a:lnSpc>
            </a:pPr>
            <a:r>
              <a:rPr lang="en-US" altLang="en-US" sz="2800" b="1" dirty="0">
                <a:latin typeface="Times New Roman" panose="02020603050405020304" pitchFamily="18" charset="0"/>
                <a:cs typeface="Times New Roman" panose="02020603050405020304" pitchFamily="18" charset="0"/>
              </a:rPr>
              <a:t>What it IS NOT:</a:t>
            </a:r>
          </a:p>
          <a:p>
            <a:pPr marL="457200" indent="-457200" eaLnBrk="1" hangingPunct="1">
              <a:lnSpc>
                <a:spcPct val="9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A literary review describing and evaluating a specific book, poem, play, etc.</a:t>
            </a:r>
          </a:p>
          <a:p>
            <a:pPr marL="457200" indent="-457200" eaLnBrk="1" hangingPunct="1">
              <a:lnSpc>
                <a:spcPct val="9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An exhaustive, alphabetical list of every work consulted in your research, nor a list of references cited</a:t>
            </a:r>
          </a:p>
          <a:p>
            <a:pPr marL="457200" indent="-457200" eaLnBrk="1" hangingPunct="1">
              <a:lnSpc>
                <a:spcPct val="9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An annotated bibliography listing references and adding brief notes about the value of each source</a:t>
            </a:r>
          </a:p>
          <a:p>
            <a:pPr marL="457200" indent="-457200" eaLnBrk="1" hangingPunct="1">
              <a:lnSpc>
                <a:spcPct val="9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Common knowledge: i.e., handily summarized in Wikipedia, Easy to find, If you just Google it, you overlooked something.</a:t>
            </a:r>
          </a:p>
          <a:p>
            <a:pPr marL="457200" indent="-457200" eaLnBrk="1" hangingPunct="1">
              <a:lnSpc>
                <a:spcPct val="9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Available freely online (mostly): - This distinction can be transparent on campus: the “free” internet vs. library subscriptions</a:t>
            </a:r>
          </a:p>
          <a:p>
            <a:pPr marL="457200" indent="-457200" eaLnBrk="1" hangingPunct="1">
              <a:lnSpc>
                <a:spcPct val="90000"/>
              </a:lnSpc>
              <a:buFont typeface="Wingdings" panose="05000000000000000000" pitchFamily="2" charset="2"/>
              <a:buChar char="§"/>
            </a:pPr>
            <a:endParaRPr lang="en-US" altLang="en-US" sz="2800" dirty="0">
              <a:latin typeface="Times New Roman" panose="02020603050405020304" pitchFamily="18" charset="0"/>
              <a:cs typeface="Times New Roman" panose="02020603050405020304" pitchFamily="18" charset="0"/>
            </a:endParaRPr>
          </a:p>
          <a:p>
            <a:pPr indent="0" eaLnBrk="1" hangingPunct="1">
              <a:lnSpc>
                <a:spcPct val="90000"/>
              </a:lnSpc>
            </a:pPr>
            <a:endParaRPr lang="en-US" altLang="en-US" sz="2800" dirty="0">
              <a:latin typeface="Times New Roman" panose="02020603050405020304" pitchFamily="18" charset="0"/>
              <a:cs typeface="Times New Roman" panose="02020603050405020304" pitchFamily="18" charset="0"/>
            </a:endParaRPr>
          </a:p>
          <a:p>
            <a:pPr eaLnBrk="1" hangingPunct="1">
              <a:lnSpc>
                <a:spcPct val="90000"/>
              </a:lnSpc>
            </a:pPr>
            <a:endParaRPr lang="en-US" altLang="en-US" sz="2800" dirty="0">
              <a:latin typeface="Times New Roman" panose="02020603050405020304" pitchFamily="18" charset="0"/>
              <a:cs typeface="Times New Roman" panose="02020603050405020304" pitchFamily="18" charset="0"/>
            </a:endParaRPr>
          </a:p>
          <a:p>
            <a:pPr eaLnBrk="1" hangingPunct="1">
              <a:lnSpc>
                <a:spcPct val="90000"/>
              </a:lnSpc>
            </a:pPr>
            <a:r>
              <a:rPr lang="en-US" altLang="en-US" sz="2800" dirty="0">
                <a:latin typeface="Times New Roman" panose="02020603050405020304" pitchFamily="18" charset="0"/>
                <a:cs typeface="Times New Roman" panose="02020603050405020304" pitchFamily="18" charset="0"/>
              </a:rPr>
              <a:t> </a:t>
            </a:r>
          </a:p>
          <a:p>
            <a:pPr eaLnBrk="1" hangingPunct="1">
              <a:lnSpc>
                <a:spcPct val="90000"/>
              </a:lnSpc>
            </a:pPr>
            <a:endParaRPr lang="en-US" altLang="en-US" sz="2800" dirty="0">
              <a:latin typeface="Times New Roman" panose="02020603050405020304" pitchFamily="18" charset="0"/>
              <a:cs typeface="Times New Roman" panose="02020603050405020304" pitchFamily="18" charset="0"/>
            </a:endParaRPr>
          </a:p>
        </p:txBody>
      </p:sp>
      <p:pic>
        <p:nvPicPr>
          <p:cNvPr id="2" name="Picture 30" descr="jphyschembcover.jpg">
            <a:extLst>
              <a:ext uri="{FF2B5EF4-FFF2-40B4-BE49-F238E27FC236}">
                <a16:creationId xmlns:a16="http://schemas.microsoft.com/office/drawing/2014/main" id="{D01D9CAC-0801-F304-A126-01965E6418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97401" y="2037533"/>
            <a:ext cx="1880395" cy="249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8">
            <a:extLst>
              <a:ext uri="{FF2B5EF4-FFF2-40B4-BE49-F238E27FC236}">
                <a16:creationId xmlns:a16="http://schemas.microsoft.com/office/drawing/2014/main" id="{6B396CE2-701B-5492-E5F7-C95487ECAC13}"/>
              </a:ext>
            </a:extLst>
          </p:cNvPr>
          <p:cNvSpPr>
            <a:spLocks noChangeArrowheads="1"/>
          </p:cNvSpPr>
          <p:nvPr/>
        </p:nvSpPr>
        <p:spPr bwMode="auto">
          <a:xfrm>
            <a:off x="10586805" y="2459037"/>
            <a:ext cx="157956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0" dirty="0">
                <a:solidFill>
                  <a:srgbClr val="FF0000"/>
                </a:solidFill>
                <a:latin typeface="Arial Black" panose="020B0A04020102020204" pitchFamily="34" charset="0"/>
              </a:rPr>
              <a:t>X</a:t>
            </a:r>
          </a:p>
        </p:txBody>
      </p:sp>
      <p:sp>
        <p:nvSpPr>
          <p:cNvPr id="5" name="TextBox 9">
            <a:extLst>
              <a:ext uri="{FF2B5EF4-FFF2-40B4-BE49-F238E27FC236}">
                <a16:creationId xmlns:a16="http://schemas.microsoft.com/office/drawing/2014/main" id="{3CC58DC2-9E4F-28F2-CFD7-F6C8794C3074}"/>
              </a:ext>
            </a:extLst>
          </p:cNvPr>
          <p:cNvSpPr txBox="1">
            <a:spLocks noChangeArrowheads="1"/>
          </p:cNvSpPr>
          <p:nvPr/>
        </p:nvSpPr>
        <p:spPr bwMode="auto">
          <a:xfrm>
            <a:off x="4367808" y="5389427"/>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eaLnBrk="1" hangingPunct="1">
              <a:spcBef>
                <a:spcPct val="0"/>
              </a:spcBef>
              <a:buFontTx/>
              <a:buNone/>
            </a:pPr>
            <a:r>
              <a:rPr lang="en-US" altLang="en-US" sz="1800" dirty="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extLst>
      <p:ext uri="{BB962C8B-B14F-4D97-AF65-F5344CB8AC3E}">
        <p14:creationId xmlns:p14="http://schemas.microsoft.com/office/powerpoint/2010/main" val="384901113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a:xfrm>
            <a:off x="721078" y="313565"/>
            <a:ext cx="10561173" cy="864096"/>
          </a:xfrm>
        </p:spPr>
        <p:txBody>
          <a:bodyPr/>
          <a:lstStyle/>
          <a:p>
            <a:r>
              <a:rPr lang="en-US" sz="4000" b="0" dirty="0"/>
              <a:t>Expectations of Scholars</a:t>
            </a:r>
            <a:endParaRPr lang="de-DE" b="0" dirty="0"/>
          </a:p>
        </p:txBody>
      </p:sp>
      <p:sp>
        <p:nvSpPr>
          <p:cNvPr id="13" name="Inhaltsplatzhalter 3"/>
          <p:cNvSpPr>
            <a:spLocks noGrp="1"/>
          </p:cNvSpPr>
          <p:nvPr>
            <p:ph idx="1"/>
          </p:nvPr>
        </p:nvSpPr>
        <p:spPr>
          <a:xfrm>
            <a:off x="721078" y="997573"/>
            <a:ext cx="9305647" cy="4248472"/>
          </a:xfrm>
        </p:spPr>
        <p:txBody>
          <a:bodyPr/>
          <a:lstStyle/>
          <a:p>
            <a:pPr indent="0" eaLnBrk="1" hangingPunct="1">
              <a:lnSpc>
                <a:spcPct val="90000"/>
              </a:lnSpc>
            </a:pPr>
            <a:r>
              <a:rPr lang="en-US" altLang="en-US" sz="2400" b="1" dirty="0">
                <a:latin typeface="Times New Roman" panose="02020603050405020304" pitchFamily="18" charset="0"/>
                <a:cs typeface="Times New Roman" panose="02020603050405020304" pitchFamily="18" charset="0"/>
              </a:rPr>
              <a:t>What it IS:</a:t>
            </a:r>
            <a:endParaRPr lang="en-US" altLang="en-US" sz="2400" dirty="0">
              <a:latin typeface="Times New Roman" panose="02020603050405020304" pitchFamily="18" charset="0"/>
              <a:cs typeface="Times New Roman" panose="02020603050405020304" pitchFamily="18" charset="0"/>
            </a:endParaRP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Identifies gaps in current knowledge.</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Avoids reinventing the wheel – i.e. it saves you wasting time researching something that’s already been done.</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Allows you to show that you are building on a foundation of existing knowledge and ideas – i.e. carrying on from where others have already reached.</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Identifies other people working in the same field. Knowing who’s already working in your area and getting in touch with them can be an invaluable source of knowledge and support.</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Demonstrates the depth of your knowledge about your research.</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Identifies the important works in your area and shows that you’ve read them.</a:t>
            </a:r>
          </a:p>
        </p:txBody>
      </p:sp>
      <p:pic>
        <p:nvPicPr>
          <p:cNvPr id="2" name="Picture 30" descr="jphyschembcover.jpg">
            <a:extLst>
              <a:ext uri="{FF2B5EF4-FFF2-40B4-BE49-F238E27FC236}">
                <a16:creationId xmlns:a16="http://schemas.microsoft.com/office/drawing/2014/main" id="{D01D9CAC-0801-F304-A126-01965E6418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97401" y="2037533"/>
            <a:ext cx="1880395" cy="249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3CC58DC2-9E4F-28F2-CFD7-F6C8794C3074}"/>
              </a:ext>
            </a:extLst>
          </p:cNvPr>
          <p:cNvSpPr txBox="1">
            <a:spLocks noChangeArrowheads="1"/>
          </p:cNvSpPr>
          <p:nvPr/>
        </p:nvSpPr>
        <p:spPr bwMode="auto">
          <a:xfrm>
            <a:off x="4367808" y="5389427"/>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eaLnBrk="1" hangingPunct="1">
              <a:spcBef>
                <a:spcPct val="0"/>
              </a:spcBef>
              <a:buFontTx/>
              <a:buNone/>
            </a:pPr>
            <a:r>
              <a:rPr lang="en-US" altLang="en-US" sz="1800" dirty="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extLst>
      <p:ext uri="{BB962C8B-B14F-4D97-AF65-F5344CB8AC3E}">
        <p14:creationId xmlns:p14="http://schemas.microsoft.com/office/powerpoint/2010/main" val="198528036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a:xfrm>
            <a:off x="721078" y="313565"/>
            <a:ext cx="10561173" cy="864096"/>
          </a:xfrm>
        </p:spPr>
        <p:txBody>
          <a:bodyPr/>
          <a:lstStyle/>
          <a:p>
            <a:r>
              <a:rPr lang="en-US" sz="4000" b="0" dirty="0"/>
              <a:t>Expectations of Scholars</a:t>
            </a:r>
            <a:endParaRPr lang="de-DE" b="0" dirty="0"/>
          </a:p>
        </p:txBody>
      </p:sp>
      <p:sp>
        <p:nvSpPr>
          <p:cNvPr id="13" name="Inhaltsplatzhalter 3"/>
          <p:cNvSpPr>
            <a:spLocks noGrp="1"/>
          </p:cNvSpPr>
          <p:nvPr>
            <p:ph idx="1"/>
          </p:nvPr>
        </p:nvSpPr>
        <p:spPr>
          <a:xfrm>
            <a:off x="721078" y="997573"/>
            <a:ext cx="9305647" cy="4248472"/>
          </a:xfrm>
        </p:spPr>
        <p:txBody>
          <a:bodyPr/>
          <a:lstStyle/>
          <a:p>
            <a:pPr indent="0" eaLnBrk="1" hangingPunct="1">
              <a:lnSpc>
                <a:spcPct val="90000"/>
              </a:lnSpc>
            </a:pPr>
            <a:r>
              <a:rPr lang="en-US" altLang="en-US" sz="2400" b="1" dirty="0">
                <a:latin typeface="Times New Roman" panose="02020603050405020304" pitchFamily="18" charset="0"/>
                <a:cs typeface="Times New Roman" panose="02020603050405020304" pitchFamily="18" charset="0"/>
              </a:rPr>
              <a:t>What it IS:</a:t>
            </a:r>
            <a:endParaRPr lang="en-US" altLang="en-US" sz="2400" dirty="0">
              <a:latin typeface="Times New Roman" panose="02020603050405020304" pitchFamily="18" charset="0"/>
              <a:cs typeface="Times New Roman" panose="02020603050405020304" pitchFamily="18" charset="0"/>
            </a:endParaRP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Provides an intellectual context for your own work, and enables you to position your project in relation to others in the field.</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Identifies opposing views.</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Puts your own work in perspective – are you doing something completely new, revisiting an old controversy in the light of new evidence, </a:t>
            </a:r>
            <a:r>
              <a:rPr lang="en-US" altLang="en-US" sz="2400" dirty="0" err="1">
                <a:latin typeface="Times New Roman" panose="02020603050405020304" pitchFamily="18" charset="0"/>
                <a:cs typeface="Times New Roman" panose="02020603050405020304" pitchFamily="18" charset="0"/>
              </a:rPr>
              <a:t>etc</a:t>
            </a:r>
            <a:r>
              <a:rPr lang="en-US" altLang="en-US" sz="2400" dirty="0">
                <a:latin typeface="Times New Roman" panose="02020603050405020304" pitchFamily="18" charset="0"/>
                <a:cs typeface="Times New Roman" panose="02020603050405020304" pitchFamily="18" charset="0"/>
              </a:rPr>
              <a:t>?</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Demonstrates your research skills – i.e. you not only know about work in your area, you also know how to access it.</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Identifies information and ideas that may be relevant to your project.</a:t>
            </a:r>
          </a:p>
          <a:p>
            <a:pPr marL="457200" indent="-4572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Identifies methods that may be relevant to your project.</a:t>
            </a:r>
          </a:p>
          <a:p>
            <a:pPr marL="457200" indent="-457200" eaLnBrk="1" hangingPunct="1">
              <a:lnSpc>
                <a:spcPct val="90000"/>
              </a:lnSpc>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p:txBody>
      </p:sp>
      <p:pic>
        <p:nvPicPr>
          <p:cNvPr id="2" name="Picture 30" descr="jphyschembcover.jpg">
            <a:extLst>
              <a:ext uri="{FF2B5EF4-FFF2-40B4-BE49-F238E27FC236}">
                <a16:creationId xmlns:a16="http://schemas.microsoft.com/office/drawing/2014/main" id="{D01D9CAC-0801-F304-A126-01965E6418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97401" y="2037533"/>
            <a:ext cx="1880395" cy="249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3CC58DC2-9E4F-28F2-CFD7-F6C8794C3074}"/>
              </a:ext>
            </a:extLst>
          </p:cNvPr>
          <p:cNvSpPr txBox="1">
            <a:spLocks noChangeArrowheads="1"/>
          </p:cNvSpPr>
          <p:nvPr/>
        </p:nvSpPr>
        <p:spPr bwMode="auto">
          <a:xfrm>
            <a:off x="4367808" y="5389427"/>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eaLnBrk="1" hangingPunct="1">
              <a:spcBef>
                <a:spcPct val="0"/>
              </a:spcBef>
              <a:buFontTx/>
              <a:buNone/>
            </a:pPr>
            <a:r>
              <a:rPr lang="en-US" altLang="en-US" sz="1800" dirty="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extLst>
      <p:ext uri="{BB962C8B-B14F-4D97-AF65-F5344CB8AC3E}">
        <p14:creationId xmlns:p14="http://schemas.microsoft.com/office/powerpoint/2010/main" val="22706312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DCDE8FA-097B-862E-871D-5D3FD0346724}"/>
              </a:ext>
            </a:extLst>
          </p:cNvPr>
          <p:cNvSpPr>
            <a:spLocks noGrp="1"/>
          </p:cNvSpPr>
          <p:nvPr>
            <p:ph type="ctrTitle"/>
          </p:nvPr>
        </p:nvSpPr>
        <p:spPr/>
        <p:txBody>
          <a:bodyPr/>
          <a:lstStyle/>
          <a:p>
            <a:r>
              <a:rPr lang="en-US" sz="2800" dirty="0"/>
              <a:t>Relationship of Review of Literature to Theory, Research, Education and Practice</a:t>
            </a:r>
          </a:p>
        </p:txBody>
      </p:sp>
      <p:sp>
        <p:nvSpPr>
          <p:cNvPr id="9" name="Oval 4">
            <a:extLst>
              <a:ext uri="{FF2B5EF4-FFF2-40B4-BE49-F238E27FC236}">
                <a16:creationId xmlns:a16="http://schemas.microsoft.com/office/drawing/2014/main" id="{8D226F15-58C1-9BDB-BE07-AE7DC71C08B7}"/>
              </a:ext>
            </a:extLst>
          </p:cNvPr>
          <p:cNvSpPr>
            <a:spLocks noChangeArrowheads="1"/>
          </p:cNvSpPr>
          <p:nvPr/>
        </p:nvSpPr>
        <p:spPr bwMode="auto">
          <a:xfrm>
            <a:off x="4151784" y="1244376"/>
            <a:ext cx="3241675" cy="3095625"/>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IN" altLang="en-US" sz="2800">
              <a:latin typeface="Tahoma" panose="020B0604030504040204" pitchFamily="34" charset="0"/>
              <a:cs typeface="Times New Roman" panose="02020603050405020304" pitchFamily="18" charset="0"/>
            </a:endParaRPr>
          </a:p>
        </p:txBody>
      </p:sp>
      <p:sp>
        <p:nvSpPr>
          <p:cNvPr id="10" name="Oval 5">
            <a:extLst>
              <a:ext uri="{FF2B5EF4-FFF2-40B4-BE49-F238E27FC236}">
                <a16:creationId xmlns:a16="http://schemas.microsoft.com/office/drawing/2014/main" id="{2EE0006B-730A-9597-C43C-5EEAD52EFF47}"/>
              </a:ext>
            </a:extLst>
          </p:cNvPr>
          <p:cNvSpPr>
            <a:spLocks noChangeArrowheads="1"/>
          </p:cNvSpPr>
          <p:nvPr/>
        </p:nvSpPr>
        <p:spPr bwMode="auto">
          <a:xfrm>
            <a:off x="6498967" y="3068413"/>
            <a:ext cx="2808288" cy="273685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IN" altLang="en-US" sz="2800">
              <a:latin typeface="Tahoma" panose="020B0604030504040204" pitchFamily="34" charset="0"/>
              <a:cs typeface="Times New Roman" panose="02020603050405020304" pitchFamily="18" charset="0"/>
            </a:endParaRPr>
          </a:p>
        </p:txBody>
      </p:sp>
      <p:sp>
        <p:nvSpPr>
          <p:cNvPr id="11" name="Oval 6">
            <a:extLst>
              <a:ext uri="{FF2B5EF4-FFF2-40B4-BE49-F238E27FC236}">
                <a16:creationId xmlns:a16="http://schemas.microsoft.com/office/drawing/2014/main" id="{41606DA8-9930-ADA8-5A89-AF54E99E150F}"/>
              </a:ext>
            </a:extLst>
          </p:cNvPr>
          <p:cNvSpPr>
            <a:spLocks noChangeArrowheads="1"/>
          </p:cNvSpPr>
          <p:nvPr/>
        </p:nvSpPr>
        <p:spPr bwMode="auto">
          <a:xfrm>
            <a:off x="4440709" y="2097412"/>
            <a:ext cx="3024188" cy="3527425"/>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IN" altLang="en-US" sz="2800">
              <a:latin typeface="Tahoma" panose="020B0604030504040204" pitchFamily="34" charset="0"/>
              <a:cs typeface="Times New Roman" panose="02020603050405020304" pitchFamily="18" charset="0"/>
            </a:endParaRPr>
          </a:p>
        </p:txBody>
      </p:sp>
      <p:sp>
        <p:nvSpPr>
          <p:cNvPr id="12" name="Oval 7">
            <a:extLst>
              <a:ext uri="{FF2B5EF4-FFF2-40B4-BE49-F238E27FC236}">
                <a16:creationId xmlns:a16="http://schemas.microsoft.com/office/drawing/2014/main" id="{89054048-A097-B70A-E852-D3F9D5CEC5A0}"/>
              </a:ext>
            </a:extLst>
          </p:cNvPr>
          <p:cNvSpPr>
            <a:spLocks noChangeArrowheads="1"/>
          </p:cNvSpPr>
          <p:nvPr/>
        </p:nvSpPr>
        <p:spPr bwMode="auto">
          <a:xfrm>
            <a:off x="2496022" y="3044602"/>
            <a:ext cx="2808287" cy="2760662"/>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IN" altLang="en-US" sz="2800">
              <a:latin typeface="Tahoma" panose="020B0604030504040204" pitchFamily="34" charset="0"/>
              <a:cs typeface="Times New Roman" panose="02020603050405020304" pitchFamily="18" charset="0"/>
            </a:endParaRPr>
          </a:p>
        </p:txBody>
      </p:sp>
      <p:sp>
        <p:nvSpPr>
          <p:cNvPr id="14" name="Text Box 8">
            <a:extLst>
              <a:ext uri="{FF2B5EF4-FFF2-40B4-BE49-F238E27FC236}">
                <a16:creationId xmlns:a16="http://schemas.microsoft.com/office/drawing/2014/main" id="{F2067812-FF47-4639-E556-AACDB11FE121}"/>
              </a:ext>
            </a:extLst>
          </p:cNvPr>
          <p:cNvSpPr txBox="1">
            <a:spLocks noChangeArrowheads="1"/>
          </p:cNvSpPr>
          <p:nvPr/>
        </p:nvSpPr>
        <p:spPr bwMode="auto">
          <a:xfrm>
            <a:off x="4369272" y="1460276"/>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400" b="1">
                <a:latin typeface="Tahoma" panose="020B0604030504040204" pitchFamily="34" charset="0"/>
                <a:cs typeface="Times New Roman" panose="02020603050405020304" pitchFamily="18" charset="0"/>
              </a:rPr>
              <a:t>Research</a:t>
            </a:r>
          </a:p>
        </p:txBody>
      </p:sp>
      <p:sp>
        <p:nvSpPr>
          <p:cNvPr id="15" name="Text Box 9">
            <a:extLst>
              <a:ext uri="{FF2B5EF4-FFF2-40B4-BE49-F238E27FC236}">
                <a16:creationId xmlns:a16="http://schemas.microsoft.com/office/drawing/2014/main" id="{5638A5E9-7BAA-5707-501E-65CB09F147A1}"/>
              </a:ext>
            </a:extLst>
          </p:cNvPr>
          <p:cNvSpPr txBox="1">
            <a:spLocks noChangeArrowheads="1"/>
          </p:cNvSpPr>
          <p:nvPr/>
        </p:nvSpPr>
        <p:spPr bwMode="auto">
          <a:xfrm>
            <a:off x="7464897" y="3979638"/>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400" b="1">
                <a:latin typeface="Tahoma" panose="020B0604030504040204" pitchFamily="34" charset="0"/>
                <a:cs typeface="Times New Roman" panose="02020603050405020304" pitchFamily="18" charset="0"/>
              </a:rPr>
              <a:t>Practice</a:t>
            </a:r>
          </a:p>
        </p:txBody>
      </p:sp>
      <p:sp>
        <p:nvSpPr>
          <p:cNvPr id="16" name="Text Box 10">
            <a:extLst>
              <a:ext uri="{FF2B5EF4-FFF2-40B4-BE49-F238E27FC236}">
                <a16:creationId xmlns:a16="http://schemas.microsoft.com/office/drawing/2014/main" id="{F64211DA-5E23-394A-731F-2BB58DB505BD}"/>
              </a:ext>
            </a:extLst>
          </p:cNvPr>
          <p:cNvSpPr txBox="1">
            <a:spLocks noChangeArrowheads="1"/>
          </p:cNvSpPr>
          <p:nvPr/>
        </p:nvSpPr>
        <p:spPr bwMode="auto">
          <a:xfrm>
            <a:off x="2640484" y="3979638"/>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400" b="1">
                <a:latin typeface="Tahoma" panose="020B0604030504040204" pitchFamily="34" charset="0"/>
                <a:cs typeface="Times New Roman" panose="02020603050405020304" pitchFamily="18" charset="0"/>
              </a:rPr>
              <a:t>Education</a:t>
            </a:r>
          </a:p>
        </p:txBody>
      </p:sp>
      <p:sp>
        <p:nvSpPr>
          <p:cNvPr id="17" name="Text Box 11">
            <a:extLst>
              <a:ext uri="{FF2B5EF4-FFF2-40B4-BE49-F238E27FC236}">
                <a16:creationId xmlns:a16="http://schemas.microsoft.com/office/drawing/2014/main" id="{32933F91-7EFE-33AF-306E-D5AA5F2C81C0}"/>
              </a:ext>
            </a:extLst>
          </p:cNvPr>
          <p:cNvSpPr txBox="1">
            <a:spLocks noChangeArrowheads="1"/>
          </p:cNvSpPr>
          <p:nvPr/>
        </p:nvSpPr>
        <p:spPr bwMode="auto">
          <a:xfrm>
            <a:off x="5016972" y="5179788"/>
            <a:ext cx="1655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400" b="1">
                <a:latin typeface="Tahoma" panose="020B0604030504040204" pitchFamily="34" charset="0"/>
                <a:cs typeface="Times New Roman" panose="02020603050405020304" pitchFamily="18" charset="0"/>
              </a:rPr>
              <a:t>Theory</a:t>
            </a:r>
          </a:p>
        </p:txBody>
      </p:sp>
      <p:sp>
        <p:nvSpPr>
          <p:cNvPr id="18" name="Text Box 12">
            <a:extLst>
              <a:ext uri="{FF2B5EF4-FFF2-40B4-BE49-F238E27FC236}">
                <a16:creationId xmlns:a16="http://schemas.microsoft.com/office/drawing/2014/main" id="{D9EDB3CA-0595-BAD9-8819-8098151E7642}"/>
              </a:ext>
            </a:extLst>
          </p:cNvPr>
          <p:cNvSpPr txBox="1">
            <a:spLocks noChangeArrowheads="1"/>
          </p:cNvSpPr>
          <p:nvPr/>
        </p:nvSpPr>
        <p:spPr bwMode="auto">
          <a:xfrm>
            <a:off x="4729634" y="2684238"/>
            <a:ext cx="23034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400" b="1">
                <a:solidFill>
                  <a:srgbClr val="800000"/>
                </a:solidFill>
                <a:latin typeface="Tahoma" panose="020B0604030504040204" pitchFamily="34" charset="0"/>
                <a:cs typeface="Times New Roman" panose="02020603050405020304" pitchFamily="18" charset="0"/>
              </a:rPr>
              <a:t>Review of Literature</a:t>
            </a:r>
          </a:p>
        </p:txBody>
      </p:sp>
      <p:sp>
        <p:nvSpPr>
          <p:cNvPr id="19" name="Line 13">
            <a:extLst>
              <a:ext uri="{FF2B5EF4-FFF2-40B4-BE49-F238E27FC236}">
                <a16:creationId xmlns:a16="http://schemas.microsoft.com/office/drawing/2014/main" id="{433DD1B9-0681-3FB6-A9E2-0BF231189915}"/>
              </a:ext>
            </a:extLst>
          </p:cNvPr>
          <p:cNvSpPr>
            <a:spLocks noChangeShapeType="1"/>
          </p:cNvSpPr>
          <p:nvPr/>
        </p:nvSpPr>
        <p:spPr bwMode="auto">
          <a:xfrm>
            <a:off x="6456834" y="2323876"/>
            <a:ext cx="1512888" cy="1584325"/>
          </a:xfrm>
          <a:prstGeom prst="line">
            <a:avLst/>
          </a:prstGeom>
          <a:noFill/>
          <a:ln w="57150">
            <a:solidFill>
              <a:srgbClr val="00B0F0"/>
            </a:solidFill>
            <a:prstDash val="sys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 name="Line 15">
            <a:extLst>
              <a:ext uri="{FF2B5EF4-FFF2-40B4-BE49-F238E27FC236}">
                <a16:creationId xmlns:a16="http://schemas.microsoft.com/office/drawing/2014/main" id="{0FCB6741-BD66-36B6-93B6-F6C6A3945116}"/>
              </a:ext>
            </a:extLst>
          </p:cNvPr>
          <p:cNvSpPr>
            <a:spLocks noChangeShapeType="1"/>
          </p:cNvSpPr>
          <p:nvPr/>
        </p:nvSpPr>
        <p:spPr bwMode="auto">
          <a:xfrm flipH="1">
            <a:off x="3648547" y="2323876"/>
            <a:ext cx="1223962" cy="1584325"/>
          </a:xfrm>
          <a:prstGeom prst="line">
            <a:avLst/>
          </a:prstGeom>
          <a:noFill/>
          <a:ln w="57150">
            <a:solidFill>
              <a:srgbClr val="00B0F0"/>
            </a:solidFill>
            <a:prstDash val="sys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16">
            <a:extLst>
              <a:ext uri="{FF2B5EF4-FFF2-40B4-BE49-F238E27FC236}">
                <a16:creationId xmlns:a16="http://schemas.microsoft.com/office/drawing/2014/main" id="{4C3D23C0-FA84-C4D0-F3BC-12E030D82C2B}"/>
              </a:ext>
            </a:extLst>
          </p:cNvPr>
          <p:cNvSpPr>
            <a:spLocks noChangeShapeType="1"/>
          </p:cNvSpPr>
          <p:nvPr/>
        </p:nvSpPr>
        <p:spPr bwMode="auto">
          <a:xfrm>
            <a:off x="3577109" y="4627338"/>
            <a:ext cx="1944688" cy="504825"/>
          </a:xfrm>
          <a:prstGeom prst="line">
            <a:avLst/>
          </a:prstGeom>
          <a:noFill/>
          <a:ln w="57150">
            <a:solidFill>
              <a:srgbClr val="00B0F0"/>
            </a:solidFill>
            <a:prstDash val="sys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2" name="Line 17">
            <a:extLst>
              <a:ext uri="{FF2B5EF4-FFF2-40B4-BE49-F238E27FC236}">
                <a16:creationId xmlns:a16="http://schemas.microsoft.com/office/drawing/2014/main" id="{4CB5495C-810D-06E4-F1E8-D035D1624B47}"/>
              </a:ext>
            </a:extLst>
          </p:cNvPr>
          <p:cNvSpPr>
            <a:spLocks noChangeShapeType="1"/>
          </p:cNvSpPr>
          <p:nvPr/>
        </p:nvSpPr>
        <p:spPr bwMode="auto">
          <a:xfrm flipH="1">
            <a:off x="6096472" y="4555901"/>
            <a:ext cx="1873250" cy="576262"/>
          </a:xfrm>
          <a:prstGeom prst="line">
            <a:avLst/>
          </a:prstGeom>
          <a:noFill/>
          <a:ln w="57150">
            <a:solidFill>
              <a:srgbClr val="00B0F0"/>
            </a:solidFill>
            <a:prstDash val="sys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3" name="Line 18">
            <a:extLst>
              <a:ext uri="{FF2B5EF4-FFF2-40B4-BE49-F238E27FC236}">
                <a16:creationId xmlns:a16="http://schemas.microsoft.com/office/drawing/2014/main" id="{FE2F8D39-41FF-3F9A-D3D7-F42143985C08}"/>
              </a:ext>
            </a:extLst>
          </p:cNvPr>
          <p:cNvSpPr>
            <a:spLocks noChangeShapeType="1"/>
          </p:cNvSpPr>
          <p:nvPr/>
        </p:nvSpPr>
        <p:spPr bwMode="auto">
          <a:xfrm>
            <a:off x="5809134" y="3908201"/>
            <a:ext cx="0" cy="936625"/>
          </a:xfrm>
          <a:prstGeom prst="line">
            <a:avLst/>
          </a:prstGeom>
          <a:noFill/>
          <a:ln w="57150">
            <a:solidFill>
              <a:srgbClr val="00B0F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4" name="Line 19">
            <a:extLst>
              <a:ext uri="{FF2B5EF4-FFF2-40B4-BE49-F238E27FC236}">
                <a16:creationId xmlns:a16="http://schemas.microsoft.com/office/drawing/2014/main" id="{A1895F97-6A76-88D7-C8B5-255741D914C5}"/>
              </a:ext>
            </a:extLst>
          </p:cNvPr>
          <p:cNvSpPr>
            <a:spLocks noChangeShapeType="1"/>
          </p:cNvSpPr>
          <p:nvPr/>
        </p:nvSpPr>
        <p:spPr bwMode="auto">
          <a:xfrm flipV="1">
            <a:off x="5737697" y="1892076"/>
            <a:ext cx="0" cy="720725"/>
          </a:xfrm>
          <a:prstGeom prst="line">
            <a:avLst/>
          </a:prstGeom>
          <a:noFill/>
          <a:ln w="57150">
            <a:solidFill>
              <a:srgbClr val="00B0F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415694882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b="0" dirty="0"/>
              <a:t>Literature resources</a:t>
            </a: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400" kern="100" dirty="0">
                <a:solidFill>
                  <a:srgbClr val="000000"/>
                </a:solidFill>
                <a:effectLst/>
                <a:latin typeface="Calibri" panose="020F0502020204030204" pitchFamily="34" charset="0"/>
                <a:ea typeface="Calibri" panose="020F0502020204030204" pitchFamily="34" charset="0"/>
              </a:rPr>
              <a:t>When conducting a literature review, researchers utilize a variety of resources to gather relevant information and ensure a comprehensive understanding of the topic. Here are some key literature resources commonly used:</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Academic Journals: </a:t>
            </a:r>
            <a:r>
              <a:rPr lang="en-US" sz="2400" kern="100" dirty="0">
                <a:solidFill>
                  <a:srgbClr val="000000"/>
                </a:solidFill>
                <a:effectLst/>
                <a:latin typeface="Calibri" panose="020F0502020204030204" pitchFamily="34" charset="0"/>
                <a:ea typeface="Calibri" panose="020F0502020204030204" pitchFamily="34" charset="0"/>
              </a:rPr>
              <a:t>Peer-reviewed journals are primary sources for up-to-date research findings. Examples include journals like Nature (Springer), Elsevier, The Lancet, Journal of Applied Psychology, etc.). They are also available through academic databases such as PubMed, JSTOR, IEEE Xplore, and others. </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Books and Book Chapters</a:t>
            </a:r>
            <a:r>
              <a:rPr lang="en-US" sz="2400" kern="100" dirty="0">
                <a:solidFill>
                  <a:srgbClr val="000000"/>
                </a:solidFill>
                <a:effectLst/>
                <a:latin typeface="Calibri" panose="020F0502020204030204" pitchFamily="34" charset="0"/>
                <a:ea typeface="Calibri" panose="020F0502020204030204" pitchFamily="34" charset="0"/>
              </a:rPr>
              <a:t>: Scholarly books provide in-depth coverage of specific topics. Edited volumes may contain chapters by different authors, offering multiple perspectives on a topic</a:t>
            </a:r>
            <a:r>
              <a:rPr lang="en-US" sz="2400" b="1" kern="100" dirty="0">
                <a:solidFill>
                  <a:srgbClr val="000000"/>
                </a:solidFill>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6744471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b="0" dirty="0"/>
              <a:t>Literature resources</a:t>
            </a:r>
            <a:endParaRPr lang="de-DE" dirty="0"/>
          </a:p>
        </p:txBody>
      </p:sp>
      <p:sp>
        <p:nvSpPr>
          <p:cNvPr id="13" name="Inhaltsplatzhalter 3"/>
          <p:cNvSpPr>
            <a:spLocks noGrp="1"/>
          </p:cNvSpPr>
          <p:nvPr>
            <p:ph idx="1"/>
          </p:nvPr>
        </p:nvSpPr>
        <p:spPr>
          <a:xfrm>
            <a:off x="815414" y="1340768"/>
            <a:ext cx="10753194" cy="4248472"/>
          </a:xfrm>
        </p:spPr>
        <p:txBody>
          <a:bodyPr/>
          <a:lstStyle/>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Conference Proceedings: </a:t>
            </a:r>
            <a:r>
              <a:rPr lang="en-US" sz="2400" kern="100" dirty="0">
                <a:solidFill>
                  <a:srgbClr val="000000"/>
                </a:solidFill>
                <a:effectLst/>
                <a:latin typeface="Calibri" panose="020F0502020204030204" pitchFamily="34" charset="0"/>
                <a:ea typeface="Calibri" panose="020F0502020204030204" pitchFamily="34" charset="0"/>
              </a:rPr>
              <a:t>Papers presented at academic and professional conferences. Often contain cutting-edge research and preliminary findings.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Theses and Dissertations: </a:t>
            </a:r>
            <a:r>
              <a:rPr lang="en-US" sz="2400" kern="100" dirty="0">
                <a:solidFill>
                  <a:srgbClr val="000000"/>
                </a:solidFill>
                <a:effectLst/>
                <a:latin typeface="Calibri" panose="020F0502020204030204" pitchFamily="34" charset="0"/>
                <a:ea typeface="Calibri" panose="020F0502020204030204" pitchFamily="34" charset="0"/>
              </a:rPr>
              <a:t>Extensive research projects completed for advanced degrees. Available through university libraries and databases like ProQuest Dissertations &amp; Theses. </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Government and Organizational Reports: </a:t>
            </a:r>
            <a:r>
              <a:rPr lang="en-US" sz="2400" kern="100" dirty="0">
                <a:solidFill>
                  <a:srgbClr val="000000"/>
                </a:solidFill>
                <a:effectLst/>
                <a:latin typeface="Calibri" panose="020F0502020204030204" pitchFamily="34" charset="0"/>
                <a:ea typeface="Calibri" panose="020F0502020204030204" pitchFamily="34" charset="0"/>
              </a:rPr>
              <a:t>Publications by governmental bodies, NGOs, and other organizations. Examples include reports from the World Health Organization (WHO), Centers for Disease Control and Prevention (CDC), and others.</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400" b="1" kern="100" dirty="0">
                <a:solidFill>
                  <a:srgbClr val="000000"/>
                </a:solidFill>
                <a:effectLst/>
                <a:latin typeface="Calibri" panose="020F0502020204030204" pitchFamily="34" charset="0"/>
                <a:ea typeface="Calibri" panose="020F0502020204030204" pitchFamily="34" charset="0"/>
              </a:rPr>
              <a:t>Online Databases and Digital Libraries: </a:t>
            </a:r>
            <a:r>
              <a:rPr lang="en-US" sz="2400" kern="100" dirty="0">
                <a:solidFill>
                  <a:srgbClr val="000000"/>
                </a:solidFill>
                <a:effectLst/>
                <a:latin typeface="Calibri" panose="020F0502020204030204" pitchFamily="34" charset="0"/>
                <a:ea typeface="Calibri" panose="020F0502020204030204" pitchFamily="34" charset="0"/>
              </a:rPr>
              <a:t>Aggregated collections of academic papers, articles, and other resources. Examples include Google Scholar, Scopus, Web of Science, and ResearchGate.</a:t>
            </a:r>
          </a:p>
        </p:txBody>
      </p:sp>
    </p:spTree>
    <p:extLst>
      <p:ext uri="{BB962C8B-B14F-4D97-AF65-F5344CB8AC3E}">
        <p14:creationId xmlns:p14="http://schemas.microsoft.com/office/powerpoint/2010/main" val="26767199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sz="4000" b="0" dirty="0"/>
              <a:t>Conducting a literature review</a:t>
            </a:r>
            <a:br>
              <a:rPr lang="en-US" sz="4000" b="0" dirty="0"/>
            </a:br>
            <a:endParaRPr lang="de-DE" b="0"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800" kern="100" dirty="0">
                <a:solidFill>
                  <a:srgbClr val="000000"/>
                </a:solidFill>
                <a:effectLst/>
                <a:latin typeface="Calibri" panose="020F0502020204030204" pitchFamily="34" charset="0"/>
                <a:ea typeface="Calibri" panose="020F0502020204030204" pitchFamily="34" charset="0"/>
              </a:rPr>
              <a:t>A literature review should not just be a summary of each source. That would be more like an annotated bibliography; </a:t>
            </a:r>
            <a:r>
              <a:rPr lang="en-US" sz="2800" kern="100" dirty="0">
                <a:solidFill>
                  <a:srgbClr val="000000"/>
                </a:solidFill>
                <a:latin typeface="Calibri" panose="020F0502020204030204" pitchFamily="34" charset="0"/>
                <a:ea typeface="Calibri" panose="020F0502020204030204" pitchFamily="34" charset="0"/>
              </a:rPr>
              <a:t>i</a:t>
            </a:r>
            <a:r>
              <a:rPr lang="en-US" sz="2800" kern="100" dirty="0">
                <a:solidFill>
                  <a:srgbClr val="000000"/>
                </a:solidFill>
                <a:effectLst/>
                <a:latin typeface="Calibri" panose="020F0502020204030204" pitchFamily="34" charset="0"/>
                <a:ea typeface="Calibri" panose="020F0502020204030204" pitchFamily="34" charset="0"/>
              </a:rPr>
              <a:t>nstead, you need to:</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C</a:t>
            </a:r>
            <a:r>
              <a:rPr lang="en-US" sz="2800" kern="100" dirty="0">
                <a:solidFill>
                  <a:srgbClr val="000000"/>
                </a:solidFill>
                <a:effectLst/>
                <a:latin typeface="Calibri" panose="020F0502020204030204" pitchFamily="34" charset="0"/>
                <a:ea typeface="Calibri" panose="020F0502020204030204" pitchFamily="34" charset="0"/>
              </a:rPr>
              <a:t>ompare and contrast each source to other relevant literature on the topic</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C</a:t>
            </a:r>
            <a:r>
              <a:rPr lang="en-US" sz="2800" kern="100" dirty="0">
                <a:solidFill>
                  <a:srgbClr val="000000"/>
                </a:solidFill>
                <a:effectLst/>
                <a:latin typeface="Calibri" panose="020F0502020204030204" pitchFamily="34" charset="0"/>
                <a:ea typeface="Calibri" panose="020F0502020204030204" pitchFamily="34" charset="0"/>
              </a:rPr>
              <a:t>ritically evaluate each source</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I</a:t>
            </a:r>
            <a:r>
              <a:rPr lang="en-US" sz="2800" kern="100" dirty="0">
                <a:solidFill>
                  <a:srgbClr val="000000"/>
                </a:solidFill>
                <a:effectLst/>
                <a:latin typeface="Calibri" panose="020F0502020204030204" pitchFamily="34" charset="0"/>
                <a:ea typeface="Calibri" panose="020F0502020204030204" pitchFamily="34" charset="0"/>
              </a:rPr>
              <a:t>ndicate how each source contributes to the body of knowledge about the topic</a:t>
            </a:r>
          </a:p>
          <a:p>
            <a:pPr marL="285750" indent="-285750"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Integrate your discussion of the sources into your argument about the state of knowledge on the topic</a:t>
            </a:r>
          </a:p>
        </p:txBody>
      </p:sp>
    </p:spTree>
    <p:extLst>
      <p:ext uri="{BB962C8B-B14F-4D97-AF65-F5344CB8AC3E}">
        <p14:creationId xmlns:p14="http://schemas.microsoft.com/office/powerpoint/2010/main" val="392032588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9E789B8-8C45-3F08-1443-B6C9137DD50E}"/>
              </a:ext>
            </a:extLst>
          </p:cNvPr>
          <p:cNvSpPr>
            <a:spLocks noGrp="1"/>
          </p:cNvSpPr>
          <p:nvPr>
            <p:ph type="ctrTitle"/>
          </p:nvPr>
        </p:nvSpPr>
        <p:spPr/>
        <p:txBody>
          <a:bodyPr/>
          <a:lstStyle/>
          <a:p>
            <a:r>
              <a:rPr lang="en-IN" altLang="en-US" sz="3600">
                <a:latin typeface="Times New Roman" panose="02020603050405020304" pitchFamily="18" charset="0"/>
                <a:cs typeface="Times New Roman" panose="02020603050405020304" pitchFamily="18" charset="0"/>
              </a:rPr>
              <a:t>Steps to Write Literature Review</a:t>
            </a:r>
          </a:p>
        </p:txBody>
      </p:sp>
      <p:graphicFrame>
        <p:nvGraphicFramePr>
          <p:cNvPr id="5" name="Content Placeholder 4">
            <a:extLst>
              <a:ext uri="{FF2B5EF4-FFF2-40B4-BE49-F238E27FC236}">
                <a16:creationId xmlns:a16="http://schemas.microsoft.com/office/drawing/2014/main" id="{14FAC392-F3CB-F66A-A4A4-BEF31EDB93DE}"/>
              </a:ext>
            </a:extLst>
          </p:cNvPr>
          <p:cNvGraphicFramePr>
            <a:graphicFrameLocks noGrp="1"/>
          </p:cNvGraphicFramePr>
          <p:nvPr>
            <p:ph idx="1"/>
          </p:nvPr>
        </p:nvGraphicFramePr>
        <p:xfrm>
          <a:off x="815975" y="1340768"/>
          <a:ext cx="10560612" cy="4175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460" name="Slide Number Placeholder 3">
            <a:extLst>
              <a:ext uri="{FF2B5EF4-FFF2-40B4-BE49-F238E27FC236}">
                <a16:creationId xmlns:a16="http://schemas.microsoft.com/office/drawing/2014/main" id="{E8F00E60-289E-1FD7-719C-37100C15FB5B}"/>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20F173E-E992-4EFF-A45B-159F02901C75}" type="slidenum">
              <a:rPr lang="es-ES" altLang="en-US" sz="1400"/>
              <a:pPr>
                <a:spcBef>
                  <a:spcPct val="0"/>
                </a:spcBef>
                <a:buFontTx/>
                <a:buNone/>
              </a:pPr>
              <a:t>25</a:t>
            </a:fld>
            <a:endParaRPr lang="es-ES" altLang="en-US" sz="1400"/>
          </a:p>
        </p:txBody>
      </p:sp>
      <p:sp>
        <p:nvSpPr>
          <p:cNvPr id="19461" name="Rectangle 5">
            <a:extLst>
              <a:ext uri="{FF2B5EF4-FFF2-40B4-BE49-F238E27FC236}">
                <a16:creationId xmlns:a16="http://schemas.microsoft.com/office/drawing/2014/main" id="{ADB298E3-F2F8-01BB-5268-A60B2AEF375C}"/>
              </a:ext>
            </a:extLst>
          </p:cNvPr>
          <p:cNvSpPr>
            <a:spLocks noChangeArrowheads="1"/>
          </p:cNvSpPr>
          <p:nvPr/>
        </p:nvSpPr>
        <p:spPr bwMode="auto">
          <a:xfrm>
            <a:off x="1775520" y="5516563"/>
            <a:ext cx="727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algn="ctr" eaLnBrk="1" hangingPunct="1">
              <a:spcBef>
                <a:spcPct val="0"/>
              </a:spcBef>
              <a:buFontTx/>
              <a:buNone/>
            </a:pPr>
            <a:r>
              <a:rPr lang="en-US" altLang="en-US" sz="1800">
                <a:solidFill>
                  <a:srgbClr val="FF0000"/>
                </a:solidFill>
                <a:latin typeface="Times New Roman" panose="02020603050405020304" pitchFamily="18" charset="0"/>
                <a:cs typeface="Times New Roman" panose="02020603050405020304" pitchFamily="18" charset="0"/>
              </a:rPr>
              <a:t>(Adapted from https://www.lib.uoguelph.ca)</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F313BAD-4C18-4092-3C5E-679DC3775294}"/>
              </a:ext>
            </a:extLst>
          </p:cNvPr>
          <p:cNvSpPr>
            <a:spLocks noGrp="1"/>
          </p:cNvSpPr>
          <p:nvPr>
            <p:ph type="ctrTitle"/>
          </p:nvPr>
        </p:nvSpPr>
        <p:spPr/>
        <p:txBody>
          <a:bodyPr/>
          <a:lstStyle/>
          <a:p>
            <a:r>
              <a:rPr lang="en-IN" altLang="en-US" sz="3600">
                <a:latin typeface="Times New Roman" panose="02020603050405020304" pitchFamily="18" charset="0"/>
                <a:cs typeface="Times New Roman" panose="02020603050405020304" pitchFamily="18" charset="0"/>
              </a:rPr>
              <a:t>Steps to Write Literature Review</a:t>
            </a:r>
          </a:p>
        </p:txBody>
      </p:sp>
      <p:graphicFrame>
        <p:nvGraphicFramePr>
          <p:cNvPr id="5" name="Content Placeholder 4">
            <a:extLst>
              <a:ext uri="{FF2B5EF4-FFF2-40B4-BE49-F238E27FC236}">
                <a16:creationId xmlns:a16="http://schemas.microsoft.com/office/drawing/2014/main" id="{9B48C621-6902-7AF5-1F88-331CA91FCB73}"/>
              </a:ext>
            </a:extLst>
          </p:cNvPr>
          <p:cNvGraphicFramePr>
            <a:graphicFrameLocks noGrp="1"/>
          </p:cNvGraphicFramePr>
          <p:nvPr>
            <p:ph idx="1"/>
          </p:nvPr>
        </p:nvGraphicFramePr>
        <p:xfrm>
          <a:off x="815975" y="1340768"/>
          <a:ext cx="10392593" cy="41044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484" name="Slide Number Placeholder 3">
            <a:extLst>
              <a:ext uri="{FF2B5EF4-FFF2-40B4-BE49-F238E27FC236}">
                <a16:creationId xmlns:a16="http://schemas.microsoft.com/office/drawing/2014/main" id="{E59240C8-AEF4-2452-1F69-A5834CBB26AC}"/>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F30B790-4C38-4B3F-8212-8D1D3223F4B2}" type="slidenum">
              <a:rPr lang="es-ES" altLang="en-US" sz="1400"/>
              <a:pPr>
                <a:spcBef>
                  <a:spcPct val="0"/>
                </a:spcBef>
                <a:buFontTx/>
                <a:buNone/>
              </a:pPr>
              <a:t>26</a:t>
            </a:fld>
            <a:endParaRPr lang="es-ES" altLang="en-US" sz="1400"/>
          </a:p>
        </p:txBody>
      </p:sp>
      <p:sp>
        <p:nvSpPr>
          <p:cNvPr id="20485" name="Rectangle 5">
            <a:extLst>
              <a:ext uri="{FF2B5EF4-FFF2-40B4-BE49-F238E27FC236}">
                <a16:creationId xmlns:a16="http://schemas.microsoft.com/office/drawing/2014/main" id="{CAA8EA3D-CBA2-7FB0-DB1F-DE40BD306F10}"/>
              </a:ext>
            </a:extLst>
          </p:cNvPr>
          <p:cNvSpPr>
            <a:spLocks noChangeArrowheads="1"/>
          </p:cNvSpPr>
          <p:nvPr/>
        </p:nvSpPr>
        <p:spPr bwMode="auto">
          <a:xfrm>
            <a:off x="2074862" y="5530900"/>
            <a:ext cx="727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algn="ctr" eaLnBrk="1" hangingPunct="1">
              <a:spcBef>
                <a:spcPct val="0"/>
              </a:spcBef>
              <a:buFontTx/>
              <a:buNone/>
            </a:pPr>
            <a:r>
              <a:rPr lang="en-US" altLang="en-US" sz="1800" dirty="0">
                <a:solidFill>
                  <a:srgbClr val="FF0000"/>
                </a:solidFill>
                <a:latin typeface="Times New Roman" panose="02020603050405020304" pitchFamily="18" charset="0"/>
                <a:cs typeface="Times New Roman" panose="02020603050405020304" pitchFamily="18" charset="0"/>
              </a:rPr>
              <a:t>(Adapted from https://www.lib.uoguelph.ca)</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9CC38F3-5FE3-545B-CAED-A931F5A80884}"/>
              </a:ext>
            </a:extLst>
          </p:cNvPr>
          <p:cNvSpPr>
            <a:spLocks noGrp="1"/>
          </p:cNvSpPr>
          <p:nvPr>
            <p:ph type="ctrTitle"/>
          </p:nvPr>
        </p:nvSpPr>
        <p:spPr/>
        <p:txBody>
          <a:bodyPr/>
          <a:lstStyle/>
          <a:p>
            <a:r>
              <a:rPr lang="en-IN" altLang="en-US" sz="3600">
                <a:latin typeface="Times New Roman" panose="02020603050405020304" pitchFamily="18" charset="0"/>
                <a:cs typeface="Times New Roman" panose="02020603050405020304" pitchFamily="18" charset="0"/>
              </a:rPr>
              <a:t>Steps to Write Literature Review</a:t>
            </a:r>
          </a:p>
        </p:txBody>
      </p:sp>
      <p:graphicFrame>
        <p:nvGraphicFramePr>
          <p:cNvPr id="5" name="Content Placeholder 4">
            <a:extLst>
              <a:ext uri="{FF2B5EF4-FFF2-40B4-BE49-F238E27FC236}">
                <a16:creationId xmlns:a16="http://schemas.microsoft.com/office/drawing/2014/main" id="{CE310B95-D3D2-AFD5-0D40-8B5C4FF12360}"/>
              </a:ext>
            </a:extLst>
          </p:cNvPr>
          <p:cNvGraphicFramePr>
            <a:graphicFrameLocks noGrp="1"/>
          </p:cNvGraphicFramePr>
          <p:nvPr>
            <p:ph idx="1"/>
          </p:nvPr>
        </p:nvGraphicFramePr>
        <p:xfrm>
          <a:off x="815975" y="1557338"/>
          <a:ext cx="10752633" cy="3959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508" name="Slide Number Placeholder 3">
            <a:extLst>
              <a:ext uri="{FF2B5EF4-FFF2-40B4-BE49-F238E27FC236}">
                <a16:creationId xmlns:a16="http://schemas.microsoft.com/office/drawing/2014/main" id="{6AE1E4EF-35C7-C918-F0D3-78AE520927B9}"/>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24FB48-197B-47FF-95FB-FE7EA2F2BCAD}" type="slidenum">
              <a:rPr lang="es-ES" altLang="en-US" sz="1400"/>
              <a:pPr>
                <a:spcBef>
                  <a:spcPct val="0"/>
                </a:spcBef>
                <a:buFontTx/>
                <a:buNone/>
              </a:pPr>
              <a:t>27</a:t>
            </a:fld>
            <a:endParaRPr lang="es-ES" altLang="en-US" sz="1400"/>
          </a:p>
        </p:txBody>
      </p:sp>
      <p:sp>
        <p:nvSpPr>
          <p:cNvPr id="21509" name="Rectangle 5">
            <a:extLst>
              <a:ext uri="{FF2B5EF4-FFF2-40B4-BE49-F238E27FC236}">
                <a16:creationId xmlns:a16="http://schemas.microsoft.com/office/drawing/2014/main" id="{A5EFA794-4605-82EB-0534-59EE8E33CD43}"/>
              </a:ext>
            </a:extLst>
          </p:cNvPr>
          <p:cNvSpPr>
            <a:spLocks noChangeArrowheads="1"/>
          </p:cNvSpPr>
          <p:nvPr/>
        </p:nvSpPr>
        <p:spPr bwMode="auto">
          <a:xfrm>
            <a:off x="2279650" y="6351589"/>
            <a:ext cx="727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algn="ctr" eaLnBrk="1" hangingPunct="1">
              <a:spcBef>
                <a:spcPct val="0"/>
              </a:spcBef>
              <a:buFontTx/>
              <a:buNone/>
            </a:pPr>
            <a:r>
              <a:rPr lang="en-US" altLang="en-US" sz="1800">
                <a:solidFill>
                  <a:srgbClr val="FF0000"/>
                </a:solidFill>
                <a:latin typeface="Times New Roman" panose="02020603050405020304" pitchFamily="18" charset="0"/>
                <a:cs typeface="Times New Roman" panose="02020603050405020304" pitchFamily="18" charset="0"/>
              </a:rPr>
              <a:t>(Adapted from https://www.lib.uoguelph.ca)</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E119770-9394-CD30-ADEA-5899CA631A61}"/>
              </a:ext>
            </a:extLst>
          </p:cNvPr>
          <p:cNvSpPr>
            <a:spLocks noGrp="1" noChangeArrowheads="1"/>
          </p:cNvSpPr>
          <p:nvPr>
            <p:ph type="ctrTitle"/>
          </p:nvPr>
        </p:nvSpPr>
        <p:spPr/>
        <p:txBody>
          <a:bodyPr>
            <a:noAutofit/>
          </a:bodyPr>
          <a:lstStyle/>
          <a:p>
            <a:pPr>
              <a:defRPr/>
            </a:pPr>
            <a:r>
              <a:rPr lang="en-US" sz="3600" dirty="0">
                <a:solidFill>
                  <a:schemeClr val="tx2">
                    <a:satMod val="130000"/>
                  </a:schemeClr>
                </a:solidFill>
                <a:latin typeface="Times New Roman" panose="02020603050405020304" pitchFamily="18" charset="0"/>
                <a:cs typeface="Times New Roman" panose="02020603050405020304" pitchFamily="18" charset="0"/>
              </a:rPr>
              <a:t>Digging Into the Literature</a:t>
            </a:r>
          </a:p>
        </p:txBody>
      </p:sp>
      <p:sp>
        <p:nvSpPr>
          <p:cNvPr id="22531" name="Rectangle 3">
            <a:extLst>
              <a:ext uri="{FF2B5EF4-FFF2-40B4-BE49-F238E27FC236}">
                <a16:creationId xmlns:a16="http://schemas.microsoft.com/office/drawing/2014/main" id="{004BD579-35BC-F9FD-CD85-C45663DA42C7}"/>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p:txBody>
      </p:sp>
      <p:sp>
        <p:nvSpPr>
          <p:cNvPr id="22541" name="Slide Number Placeholder 1">
            <a:extLst>
              <a:ext uri="{FF2B5EF4-FFF2-40B4-BE49-F238E27FC236}">
                <a16:creationId xmlns:a16="http://schemas.microsoft.com/office/drawing/2014/main" id="{DA968A31-361A-EB0D-94E6-BAA3A98395E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389E9DA-2304-46ED-BE64-76DDD5432F6E}" type="slidenum">
              <a:rPr lang="es-ES" altLang="en-US" sz="1400"/>
              <a:pPr>
                <a:spcBef>
                  <a:spcPct val="0"/>
                </a:spcBef>
                <a:buFontTx/>
                <a:buNone/>
              </a:pPr>
              <a:t>28</a:t>
            </a:fld>
            <a:endParaRPr lang="es-ES" altLang="en-US" sz="1400"/>
          </a:p>
        </p:txBody>
      </p:sp>
      <p:sp>
        <p:nvSpPr>
          <p:cNvPr id="22532" name="Rectangle 4">
            <a:extLst>
              <a:ext uri="{FF2B5EF4-FFF2-40B4-BE49-F238E27FC236}">
                <a16:creationId xmlns:a16="http://schemas.microsoft.com/office/drawing/2014/main" id="{108C3453-DCD2-F558-A958-73268FA37650}"/>
              </a:ext>
            </a:extLst>
          </p:cNvPr>
          <p:cNvSpPr>
            <a:spLocks noChangeArrowheads="1"/>
          </p:cNvSpPr>
          <p:nvPr/>
        </p:nvSpPr>
        <p:spPr bwMode="auto">
          <a:xfrm>
            <a:off x="2973451" y="3805238"/>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2533" name="Rectangle 5">
            <a:extLst>
              <a:ext uri="{FF2B5EF4-FFF2-40B4-BE49-F238E27FC236}">
                <a16:creationId xmlns:a16="http://schemas.microsoft.com/office/drawing/2014/main" id="{37A5D277-091F-E1FD-9426-0583A6F6A21F}"/>
              </a:ext>
            </a:extLst>
          </p:cNvPr>
          <p:cNvSpPr>
            <a:spLocks noChangeArrowheads="1"/>
          </p:cNvSpPr>
          <p:nvPr/>
        </p:nvSpPr>
        <p:spPr bwMode="auto">
          <a:xfrm>
            <a:off x="8112224" y="3805238"/>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2534" name="Rectangle 6">
            <a:extLst>
              <a:ext uri="{FF2B5EF4-FFF2-40B4-BE49-F238E27FC236}">
                <a16:creationId xmlns:a16="http://schemas.microsoft.com/office/drawing/2014/main" id="{15D4DB25-BFE0-B1DE-7F18-867139B3BE6E}"/>
              </a:ext>
            </a:extLst>
          </p:cNvPr>
          <p:cNvSpPr>
            <a:spLocks noChangeArrowheads="1"/>
          </p:cNvSpPr>
          <p:nvPr/>
        </p:nvSpPr>
        <p:spPr bwMode="auto">
          <a:xfrm>
            <a:off x="5620153" y="2534042"/>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2535" name="Text Box 8">
            <a:extLst>
              <a:ext uri="{FF2B5EF4-FFF2-40B4-BE49-F238E27FC236}">
                <a16:creationId xmlns:a16="http://schemas.microsoft.com/office/drawing/2014/main" id="{8737A8C6-3A08-DD40-6454-59B6435C2008}"/>
              </a:ext>
            </a:extLst>
          </p:cNvPr>
          <p:cNvSpPr txBox="1">
            <a:spLocks noChangeArrowheads="1"/>
          </p:cNvSpPr>
          <p:nvPr/>
        </p:nvSpPr>
        <p:spPr bwMode="auto">
          <a:xfrm>
            <a:off x="3508438" y="4348163"/>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A</a:t>
            </a:r>
          </a:p>
        </p:txBody>
      </p:sp>
      <p:sp>
        <p:nvSpPr>
          <p:cNvPr id="22536" name="Rectangle 12">
            <a:extLst>
              <a:ext uri="{FF2B5EF4-FFF2-40B4-BE49-F238E27FC236}">
                <a16:creationId xmlns:a16="http://schemas.microsoft.com/office/drawing/2014/main" id="{404E8976-D816-C208-B5EF-F21FE97C355A}"/>
              </a:ext>
            </a:extLst>
          </p:cNvPr>
          <p:cNvSpPr>
            <a:spLocks noChangeArrowheads="1"/>
          </p:cNvSpPr>
          <p:nvPr/>
        </p:nvSpPr>
        <p:spPr bwMode="auto">
          <a:xfrm>
            <a:off x="2895600" y="1524000"/>
            <a:ext cx="452438"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2537" name="Text Box 15">
            <a:extLst>
              <a:ext uri="{FF2B5EF4-FFF2-40B4-BE49-F238E27FC236}">
                <a16:creationId xmlns:a16="http://schemas.microsoft.com/office/drawing/2014/main" id="{3FB269E3-AA90-3F7F-9A64-C38678E9703F}"/>
              </a:ext>
            </a:extLst>
          </p:cNvPr>
          <p:cNvSpPr txBox="1">
            <a:spLocks noChangeArrowheads="1"/>
          </p:cNvSpPr>
          <p:nvPr/>
        </p:nvSpPr>
        <p:spPr bwMode="auto">
          <a:xfrm>
            <a:off x="3429000" y="1447801"/>
            <a:ext cx="3886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ea typeface="ＭＳ Ｐゴシック" panose="020B0600070205080204" pitchFamily="34" charset="-128"/>
              </a:rPr>
              <a:t>= Major works</a:t>
            </a:r>
          </a:p>
        </p:txBody>
      </p:sp>
      <p:sp>
        <p:nvSpPr>
          <p:cNvPr id="22538" name="Text Box 8">
            <a:extLst>
              <a:ext uri="{FF2B5EF4-FFF2-40B4-BE49-F238E27FC236}">
                <a16:creationId xmlns:a16="http://schemas.microsoft.com/office/drawing/2014/main" id="{7AEFFF64-CC12-F2AA-FAEC-CAA963752EC3}"/>
              </a:ext>
            </a:extLst>
          </p:cNvPr>
          <p:cNvSpPr txBox="1">
            <a:spLocks noChangeArrowheads="1"/>
          </p:cNvSpPr>
          <p:nvPr/>
        </p:nvSpPr>
        <p:spPr bwMode="auto">
          <a:xfrm>
            <a:off x="8645624" y="4110038"/>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C</a:t>
            </a:r>
          </a:p>
        </p:txBody>
      </p:sp>
      <p:sp>
        <p:nvSpPr>
          <p:cNvPr id="22539" name="Text Box 8">
            <a:extLst>
              <a:ext uri="{FF2B5EF4-FFF2-40B4-BE49-F238E27FC236}">
                <a16:creationId xmlns:a16="http://schemas.microsoft.com/office/drawing/2014/main" id="{45CC8825-CF58-BA32-F991-446F26722512}"/>
              </a:ext>
            </a:extLst>
          </p:cNvPr>
          <p:cNvSpPr txBox="1">
            <a:spLocks noChangeArrowheads="1"/>
          </p:cNvSpPr>
          <p:nvPr/>
        </p:nvSpPr>
        <p:spPr bwMode="auto">
          <a:xfrm>
            <a:off x="5984385" y="2851542"/>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dirty="0">
                <a:solidFill>
                  <a:schemeClr val="bg1"/>
                </a:solidFill>
                <a:ea typeface="ＭＳ Ｐゴシック" panose="020B0600070205080204" pitchFamily="34" charset="-128"/>
              </a:rPr>
              <a:t>B</a:t>
            </a:r>
          </a:p>
        </p:txBody>
      </p:sp>
      <p:sp>
        <p:nvSpPr>
          <p:cNvPr id="22540" name="TextBox 7">
            <a:extLst>
              <a:ext uri="{FF2B5EF4-FFF2-40B4-BE49-F238E27FC236}">
                <a16:creationId xmlns:a16="http://schemas.microsoft.com/office/drawing/2014/main" id="{D2EF5BD2-D5B5-D609-FE6F-8E86B9A240F0}"/>
              </a:ext>
            </a:extLst>
          </p:cNvPr>
          <p:cNvSpPr txBox="1">
            <a:spLocks noChangeArrowheads="1"/>
          </p:cNvSpPr>
          <p:nvPr/>
        </p:nvSpPr>
        <p:spPr bwMode="auto">
          <a:xfrm>
            <a:off x="2204547" y="5402654"/>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a:spcBef>
                <a:spcPct val="0"/>
              </a:spcBef>
              <a:buNone/>
            </a:pPr>
            <a:r>
              <a:rPr lang="en-US" altLang="en-US" sz="1800" dirty="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D8D1896-675D-3EB4-DC40-E68289ECBE47}"/>
              </a:ext>
            </a:extLst>
          </p:cNvPr>
          <p:cNvSpPr>
            <a:spLocks noGrp="1" noChangeArrowheads="1"/>
          </p:cNvSpPr>
          <p:nvPr>
            <p:ph type="ctrTitle"/>
          </p:nvPr>
        </p:nvSpPr>
        <p:spPr/>
        <p:txBody>
          <a:bodyPr>
            <a:noAutofit/>
          </a:bodyPr>
          <a:lstStyle/>
          <a:p>
            <a:pPr>
              <a:defRPr/>
            </a:pPr>
            <a:r>
              <a:rPr lang="en-US" sz="3600" dirty="0">
                <a:solidFill>
                  <a:schemeClr val="tx2">
                    <a:satMod val="130000"/>
                  </a:schemeClr>
                </a:solidFill>
                <a:latin typeface="Times New Roman" panose="02020603050405020304" pitchFamily="18" charset="0"/>
                <a:cs typeface="Times New Roman" panose="02020603050405020304" pitchFamily="18" charset="0"/>
              </a:rPr>
              <a:t>Digging Into the Literature</a:t>
            </a:r>
          </a:p>
        </p:txBody>
      </p:sp>
      <p:sp>
        <p:nvSpPr>
          <p:cNvPr id="23555" name="Rectangle 3">
            <a:extLst>
              <a:ext uri="{FF2B5EF4-FFF2-40B4-BE49-F238E27FC236}">
                <a16:creationId xmlns:a16="http://schemas.microsoft.com/office/drawing/2014/main" id="{B6DC42DF-67C3-F532-23F1-CF346672BAD0}"/>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p:txBody>
      </p:sp>
      <p:sp>
        <p:nvSpPr>
          <p:cNvPr id="23584" name="Slide Number Placeholder 1">
            <a:extLst>
              <a:ext uri="{FF2B5EF4-FFF2-40B4-BE49-F238E27FC236}">
                <a16:creationId xmlns:a16="http://schemas.microsoft.com/office/drawing/2014/main" id="{493DB581-19DA-BA33-2B40-64C21076C42F}"/>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8F2D94F-470D-4163-A950-4DF8115F343E}" type="slidenum">
              <a:rPr lang="es-ES" altLang="en-US" sz="1400"/>
              <a:pPr>
                <a:spcBef>
                  <a:spcPct val="0"/>
                </a:spcBef>
                <a:buFontTx/>
                <a:buNone/>
              </a:pPr>
              <a:t>29</a:t>
            </a:fld>
            <a:endParaRPr lang="es-ES" altLang="en-US" sz="1400"/>
          </a:p>
        </p:txBody>
      </p:sp>
      <p:sp>
        <p:nvSpPr>
          <p:cNvPr id="23556" name="Rectangle 4">
            <a:extLst>
              <a:ext uri="{FF2B5EF4-FFF2-40B4-BE49-F238E27FC236}">
                <a16:creationId xmlns:a16="http://schemas.microsoft.com/office/drawing/2014/main" id="{37FB8094-0A73-6A91-85B1-AF0D69C2ADC3}"/>
              </a:ext>
            </a:extLst>
          </p:cNvPr>
          <p:cNvSpPr>
            <a:spLocks noChangeArrowheads="1"/>
          </p:cNvSpPr>
          <p:nvPr/>
        </p:nvSpPr>
        <p:spPr bwMode="auto">
          <a:xfrm>
            <a:off x="3063875" y="4452938"/>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3557" name="Rectangle 5">
            <a:extLst>
              <a:ext uri="{FF2B5EF4-FFF2-40B4-BE49-F238E27FC236}">
                <a16:creationId xmlns:a16="http://schemas.microsoft.com/office/drawing/2014/main" id="{ED5DFB36-8024-B2FE-B43E-91BD9E9A9622}"/>
              </a:ext>
            </a:extLst>
          </p:cNvPr>
          <p:cNvSpPr>
            <a:spLocks noChangeArrowheads="1"/>
          </p:cNvSpPr>
          <p:nvPr/>
        </p:nvSpPr>
        <p:spPr bwMode="auto">
          <a:xfrm>
            <a:off x="8105775" y="4160838"/>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3558" name="Rectangle 6">
            <a:extLst>
              <a:ext uri="{FF2B5EF4-FFF2-40B4-BE49-F238E27FC236}">
                <a16:creationId xmlns:a16="http://schemas.microsoft.com/office/drawing/2014/main" id="{9ECD355B-18E3-BA9B-55C2-2BE06602B93E}"/>
              </a:ext>
            </a:extLst>
          </p:cNvPr>
          <p:cNvSpPr>
            <a:spLocks noChangeArrowheads="1"/>
          </p:cNvSpPr>
          <p:nvPr/>
        </p:nvSpPr>
        <p:spPr bwMode="auto">
          <a:xfrm>
            <a:off x="5362575" y="2941638"/>
            <a:ext cx="1600200" cy="11430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3559" name="Text Box 8">
            <a:extLst>
              <a:ext uri="{FF2B5EF4-FFF2-40B4-BE49-F238E27FC236}">
                <a16:creationId xmlns:a16="http://schemas.microsoft.com/office/drawing/2014/main" id="{D6D1488E-FFEA-CC7B-2805-001D219C7229}"/>
              </a:ext>
            </a:extLst>
          </p:cNvPr>
          <p:cNvSpPr txBox="1">
            <a:spLocks noChangeArrowheads="1"/>
          </p:cNvSpPr>
          <p:nvPr/>
        </p:nvSpPr>
        <p:spPr bwMode="auto">
          <a:xfrm>
            <a:off x="3609975" y="4770438"/>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A</a:t>
            </a:r>
          </a:p>
        </p:txBody>
      </p:sp>
      <p:sp>
        <p:nvSpPr>
          <p:cNvPr id="23560" name="Rectangle 12">
            <a:extLst>
              <a:ext uri="{FF2B5EF4-FFF2-40B4-BE49-F238E27FC236}">
                <a16:creationId xmlns:a16="http://schemas.microsoft.com/office/drawing/2014/main" id="{5D8BAD9D-463C-569E-CD57-A5CE6F3D8706}"/>
              </a:ext>
            </a:extLst>
          </p:cNvPr>
          <p:cNvSpPr>
            <a:spLocks noChangeArrowheads="1"/>
          </p:cNvSpPr>
          <p:nvPr/>
        </p:nvSpPr>
        <p:spPr bwMode="auto">
          <a:xfrm>
            <a:off x="2895600" y="1524000"/>
            <a:ext cx="452438"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3561" name="Text Box 15">
            <a:extLst>
              <a:ext uri="{FF2B5EF4-FFF2-40B4-BE49-F238E27FC236}">
                <a16:creationId xmlns:a16="http://schemas.microsoft.com/office/drawing/2014/main" id="{54553AA7-6205-E548-B515-AABC048A107F}"/>
              </a:ext>
            </a:extLst>
          </p:cNvPr>
          <p:cNvSpPr txBox="1">
            <a:spLocks noChangeArrowheads="1"/>
          </p:cNvSpPr>
          <p:nvPr/>
        </p:nvSpPr>
        <p:spPr bwMode="auto">
          <a:xfrm>
            <a:off x="3429000" y="1447801"/>
            <a:ext cx="3886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ea typeface="ＭＳ Ｐゴシック" panose="020B0600070205080204" pitchFamily="34" charset="-128"/>
              </a:rPr>
              <a:t>= Major works</a:t>
            </a:r>
          </a:p>
        </p:txBody>
      </p:sp>
      <p:sp>
        <p:nvSpPr>
          <p:cNvPr id="23562" name="Text Box 8">
            <a:extLst>
              <a:ext uri="{FF2B5EF4-FFF2-40B4-BE49-F238E27FC236}">
                <a16:creationId xmlns:a16="http://schemas.microsoft.com/office/drawing/2014/main" id="{F52C4DD4-437D-27B9-052B-43947085CB60}"/>
              </a:ext>
            </a:extLst>
          </p:cNvPr>
          <p:cNvSpPr txBox="1">
            <a:spLocks noChangeArrowheads="1"/>
          </p:cNvSpPr>
          <p:nvPr/>
        </p:nvSpPr>
        <p:spPr bwMode="auto">
          <a:xfrm>
            <a:off x="8639175" y="4465638"/>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C</a:t>
            </a:r>
          </a:p>
        </p:txBody>
      </p:sp>
      <p:sp>
        <p:nvSpPr>
          <p:cNvPr id="23563" name="Text Box 8">
            <a:extLst>
              <a:ext uri="{FF2B5EF4-FFF2-40B4-BE49-F238E27FC236}">
                <a16:creationId xmlns:a16="http://schemas.microsoft.com/office/drawing/2014/main" id="{BA631F29-0AC1-7CD1-ECC9-F1779ECDD2BA}"/>
              </a:ext>
            </a:extLst>
          </p:cNvPr>
          <p:cNvSpPr txBox="1">
            <a:spLocks noChangeArrowheads="1"/>
          </p:cNvSpPr>
          <p:nvPr/>
        </p:nvSpPr>
        <p:spPr bwMode="auto">
          <a:xfrm>
            <a:off x="5895975" y="3246438"/>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B</a:t>
            </a:r>
          </a:p>
        </p:txBody>
      </p:sp>
      <p:sp>
        <p:nvSpPr>
          <p:cNvPr id="12" name="Rectangle 12">
            <a:extLst>
              <a:ext uri="{FF2B5EF4-FFF2-40B4-BE49-F238E27FC236}">
                <a16:creationId xmlns:a16="http://schemas.microsoft.com/office/drawing/2014/main" id="{3E9D0394-4DDF-81AC-ABC4-CE2229CF5579}"/>
              </a:ext>
            </a:extLst>
          </p:cNvPr>
          <p:cNvSpPr>
            <a:spLocks noChangeArrowheads="1"/>
          </p:cNvSpPr>
          <p:nvPr/>
        </p:nvSpPr>
        <p:spPr bwMode="auto">
          <a:xfrm>
            <a:off x="2895600" y="2209800"/>
            <a:ext cx="452438" cy="3810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3565" name="Text Box 15">
            <a:extLst>
              <a:ext uri="{FF2B5EF4-FFF2-40B4-BE49-F238E27FC236}">
                <a16:creationId xmlns:a16="http://schemas.microsoft.com/office/drawing/2014/main" id="{1E4A6C07-DB5F-7DEE-4C62-8CFB70A0C5D5}"/>
              </a:ext>
            </a:extLst>
          </p:cNvPr>
          <p:cNvSpPr txBox="1">
            <a:spLocks noChangeArrowheads="1"/>
          </p:cNvSpPr>
          <p:nvPr/>
        </p:nvSpPr>
        <p:spPr bwMode="auto">
          <a:xfrm>
            <a:off x="3352800" y="2133601"/>
            <a:ext cx="6019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ea typeface="ＭＳ Ｐゴシック" panose="020B0600070205080204" pitchFamily="34" charset="-128"/>
              </a:rPr>
              <a:t> = Studies that rely on major works</a:t>
            </a:r>
          </a:p>
        </p:txBody>
      </p:sp>
      <p:sp>
        <p:nvSpPr>
          <p:cNvPr id="16" name="Rectangle 1040">
            <a:extLst>
              <a:ext uri="{FF2B5EF4-FFF2-40B4-BE49-F238E27FC236}">
                <a16:creationId xmlns:a16="http://schemas.microsoft.com/office/drawing/2014/main" id="{684AB238-7ABD-89B8-8FAA-5D561C681BD2}"/>
              </a:ext>
            </a:extLst>
          </p:cNvPr>
          <p:cNvSpPr>
            <a:spLocks noChangeArrowheads="1"/>
          </p:cNvSpPr>
          <p:nvPr/>
        </p:nvSpPr>
        <p:spPr bwMode="auto">
          <a:xfrm>
            <a:off x="2543175" y="3703638"/>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17" name="Rectangle 1041">
            <a:extLst>
              <a:ext uri="{FF2B5EF4-FFF2-40B4-BE49-F238E27FC236}">
                <a16:creationId xmlns:a16="http://schemas.microsoft.com/office/drawing/2014/main" id="{FFC74C2B-AE94-F6DF-EEB0-08768D7953CD}"/>
              </a:ext>
            </a:extLst>
          </p:cNvPr>
          <p:cNvSpPr>
            <a:spLocks noChangeArrowheads="1"/>
          </p:cNvSpPr>
          <p:nvPr/>
        </p:nvSpPr>
        <p:spPr bwMode="auto">
          <a:xfrm>
            <a:off x="9324975" y="3322638"/>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18" name="Rectangle 1042">
            <a:extLst>
              <a:ext uri="{FF2B5EF4-FFF2-40B4-BE49-F238E27FC236}">
                <a16:creationId xmlns:a16="http://schemas.microsoft.com/office/drawing/2014/main" id="{4C08217A-3238-1199-08AA-3B5F533056F8}"/>
              </a:ext>
            </a:extLst>
          </p:cNvPr>
          <p:cNvSpPr>
            <a:spLocks noChangeArrowheads="1"/>
          </p:cNvSpPr>
          <p:nvPr/>
        </p:nvSpPr>
        <p:spPr bwMode="auto">
          <a:xfrm>
            <a:off x="7038975" y="4084638"/>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19" name="Rectangle 1043">
            <a:extLst>
              <a:ext uri="{FF2B5EF4-FFF2-40B4-BE49-F238E27FC236}">
                <a16:creationId xmlns:a16="http://schemas.microsoft.com/office/drawing/2014/main" id="{BF032514-8D07-AF24-7A4A-349B283C2A5E}"/>
              </a:ext>
            </a:extLst>
          </p:cNvPr>
          <p:cNvSpPr>
            <a:spLocks noChangeArrowheads="1"/>
          </p:cNvSpPr>
          <p:nvPr/>
        </p:nvSpPr>
        <p:spPr bwMode="auto">
          <a:xfrm>
            <a:off x="7724775" y="2941638"/>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0" name="Rectangle 1044">
            <a:extLst>
              <a:ext uri="{FF2B5EF4-FFF2-40B4-BE49-F238E27FC236}">
                <a16:creationId xmlns:a16="http://schemas.microsoft.com/office/drawing/2014/main" id="{F9755992-1563-F8C6-4E45-54802368995A}"/>
              </a:ext>
            </a:extLst>
          </p:cNvPr>
          <p:cNvSpPr>
            <a:spLocks noChangeArrowheads="1"/>
          </p:cNvSpPr>
          <p:nvPr/>
        </p:nvSpPr>
        <p:spPr bwMode="auto">
          <a:xfrm>
            <a:off x="3838575" y="2789238"/>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1" name="Rectangle 1046">
            <a:extLst>
              <a:ext uri="{FF2B5EF4-FFF2-40B4-BE49-F238E27FC236}">
                <a16:creationId xmlns:a16="http://schemas.microsoft.com/office/drawing/2014/main" id="{B8005138-6B6F-30DF-3031-5FFE8285EEC8}"/>
              </a:ext>
            </a:extLst>
          </p:cNvPr>
          <p:cNvSpPr>
            <a:spLocks noChangeArrowheads="1"/>
          </p:cNvSpPr>
          <p:nvPr/>
        </p:nvSpPr>
        <p:spPr bwMode="auto">
          <a:xfrm>
            <a:off x="4919663" y="5265738"/>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3572" name="Line 1055">
            <a:extLst>
              <a:ext uri="{FF2B5EF4-FFF2-40B4-BE49-F238E27FC236}">
                <a16:creationId xmlns:a16="http://schemas.microsoft.com/office/drawing/2014/main" id="{93FEA0B8-01D6-2B9E-A532-EDEC95AC9263}"/>
              </a:ext>
            </a:extLst>
          </p:cNvPr>
          <p:cNvSpPr>
            <a:spLocks noChangeShapeType="1"/>
          </p:cNvSpPr>
          <p:nvPr/>
        </p:nvSpPr>
        <p:spPr bwMode="auto">
          <a:xfrm>
            <a:off x="3305175" y="4008438"/>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3" name="Line 1056">
            <a:extLst>
              <a:ext uri="{FF2B5EF4-FFF2-40B4-BE49-F238E27FC236}">
                <a16:creationId xmlns:a16="http://schemas.microsoft.com/office/drawing/2014/main" id="{743827FA-17A5-C1A7-EC62-9023DA99DACD}"/>
              </a:ext>
            </a:extLst>
          </p:cNvPr>
          <p:cNvSpPr>
            <a:spLocks noChangeShapeType="1"/>
          </p:cNvSpPr>
          <p:nvPr/>
        </p:nvSpPr>
        <p:spPr bwMode="auto">
          <a:xfrm flipH="1" flipV="1">
            <a:off x="4676775" y="5151438"/>
            <a:ext cx="242888" cy="284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4" name="Line 1057">
            <a:extLst>
              <a:ext uri="{FF2B5EF4-FFF2-40B4-BE49-F238E27FC236}">
                <a16:creationId xmlns:a16="http://schemas.microsoft.com/office/drawing/2014/main" id="{E1EDC8B3-35F9-9715-F041-029743D8BD29}"/>
              </a:ext>
            </a:extLst>
          </p:cNvPr>
          <p:cNvSpPr>
            <a:spLocks noChangeShapeType="1"/>
          </p:cNvSpPr>
          <p:nvPr/>
        </p:nvSpPr>
        <p:spPr bwMode="auto">
          <a:xfrm>
            <a:off x="4600575" y="3017838"/>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5" name="Line 1058">
            <a:extLst>
              <a:ext uri="{FF2B5EF4-FFF2-40B4-BE49-F238E27FC236}">
                <a16:creationId xmlns:a16="http://schemas.microsoft.com/office/drawing/2014/main" id="{09347415-31D6-15D7-DB59-A8C60FF42F9A}"/>
              </a:ext>
            </a:extLst>
          </p:cNvPr>
          <p:cNvSpPr>
            <a:spLocks noChangeShapeType="1"/>
          </p:cNvSpPr>
          <p:nvPr/>
        </p:nvSpPr>
        <p:spPr bwMode="auto">
          <a:xfrm>
            <a:off x="8181975" y="3475038"/>
            <a:ext cx="304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6" name="Line 1059">
            <a:extLst>
              <a:ext uri="{FF2B5EF4-FFF2-40B4-BE49-F238E27FC236}">
                <a16:creationId xmlns:a16="http://schemas.microsoft.com/office/drawing/2014/main" id="{C45A7FDF-1686-075C-A09C-58E00874EAA0}"/>
              </a:ext>
            </a:extLst>
          </p:cNvPr>
          <p:cNvSpPr>
            <a:spLocks noChangeShapeType="1"/>
          </p:cNvSpPr>
          <p:nvPr/>
        </p:nvSpPr>
        <p:spPr bwMode="auto">
          <a:xfrm flipH="1">
            <a:off x="6962775" y="3170238"/>
            <a:ext cx="7620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7" name="Line 1060">
            <a:extLst>
              <a:ext uri="{FF2B5EF4-FFF2-40B4-BE49-F238E27FC236}">
                <a16:creationId xmlns:a16="http://schemas.microsoft.com/office/drawing/2014/main" id="{68F567FF-FABF-5559-69A8-788918DB09F2}"/>
              </a:ext>
            </a:extLst>
          </p:cNvPr>
          <p:cNvSpPr>
            <a:spLocks noChangeShapeType="1"/>
          </p:cNvSpPr>
          <p:nvPr/>
        </p:nvSpPr>
        <p:spPr bwMode="auto">
          <a:xfrm flipH="1" flipV="1">
            <a:off x="6962775" y="3627438"/>
            <a:ext cx="228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8" name="Line 1061">
            <a:extLst>
              <a:ext uri="{FF2B5EF4-FFF2-40B4-BE49-F238E27FC236}">
                <a16:creationId xmlns:a16="http://schemas.microsoft.com/office/drawing/2014/main" id="{4CF3518F-0281-077D-0201-93478D50D690}"/>
              </a:ext>
            </a:extLst>
          </p:cNvPr>
          <p:cNvSpPr>
            <a:spLocks noChangeShapeType="1"/>
          </p:cNvSpPr>
          <p:nvPr/>
        </p:nvSpPr>
        <p:spPr bwMode="auto">
          <a:xfrm flipH="1">
            <a:off x="4676775" y="4389438"/>
            <a:ext cx="2362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9" name="Line 1064">
            <a:extLst>
              <a:ext uri="{FF2B5EF4-FFF2-40B4-BE49-F238E27FC236}">
                <a16:creationId xmlns:a16="http://schemas.microsoft.com/office/drawing/2014/main" id="{4E5C1192-10DF-CC20-C57F-047E05E45BE9}"/>
              </a:ext>
            </a:extLst>
          </p:cNvPr>
          <p:cNvSpPr>
            <a:spLocks noChangeShapeType="1"/>
          </p:cNvSpPr>
          <p:nvPr/>
        </p:nvSpPr>
        <p:spPr bwMode="auto">
          <a:xfrm flipH="1">
            <a:off x="8867775" y="3627438"/>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0" name="Line 1068">
            <a:extLst>
              <a:ext uri="{FF2B5EF4-FFF2-40B4-BE49-F238E27FC236}">
                <a16:creationId xmlns:a16="http://schemas.microsoft.com/office/drawing/2014/main" id="{C6068B3F-442C-25D5-A2E6-3B3E760D63B9}"/>
              </a:ext>
            </a:extLst>
          </p:cNvPr>
          <p:cNvSpPr>
            <a:spLocks noChangeShapeType="1"/>
          </p:cNvSpPr>
          <p:nvPr/>
        </p:nvSpPr>
        <p:spPr bwMode="auto">
          <a:xfrm flipV="1">
            <a:off x="5453063" y="4064000"/>
            <a:ext cx="260350" cy="12017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1" name="Line 1070">
            <a:extLst>
              <a:ext uri="{FF2B5EF4-FFF2-40B4-BE49-F238E27FC236}">
                <a16:creationId xmlns:a16="http://schemas.microsoft.com/office/drawing/2014/main" id="{0DF57F43-7403-1A71-79E4-7D099B711783}"/>
              </a:ext>
            </a:extLst>
          </p:cNvPr>
          <p:cNvSpPr>
            <a:spLocks noChangeShapeType="1"/>
          </p:cNvSpPr>
          <p:nvPr/>
        </p:nvSpPr>
        <p:spPr bwMode="auto">
          <a:xfrm flipH="1">
            <a:off x="4448175" y="3779838"/>
            <a:ext cx="914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2" name="Line 1071">
            <a:extLst>
              <a:ext uri="{FF2B5EF4-FFF2-40B4-BE49-F238E27FC236}">
                <a16:creationId xmlns:a16="http://schemas.microsoft.com/office/drawing/2014/main" id="{1796323B-7918-DDA3-0037-23DA69BA3177}"/>
              </a:ext>
            </a:extLst>
          </p:cNvPr>
          <p:cNvSpPr>
            <a:spLocks noChangeShapeType="1"/>
          </p:cNvSpPr>
          <p:nvPr/>
        </p:nvSpPr>
        <p:spPr bwMode="auto">
          <a:xfrm>
            <a:off x="7827963" y="4648200"/>
            <a:ext cx="401637"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CE3ADE9-DD29-3C6E-0B61-D33BECA0C0BA}"/>
              </a:ext>
            </a:extLst>
          </p:cNvPr>
          <p:cNvSpPr>
            <a:spLocks noGrp="1" noChangeArrowheads="1"/>
          </p:cNvSpPr>
          <p:nvPr>
            <p:ph type="ctrTitle"/>
          </p:nvPr>
        </p:nvSpPr>
        <p:spPr/>
        <p:txBody>
          <a:bodyPr>
            <a:noAutofit/>
          </a:bodyPr>
          <a:lstStyle/>
          <a:p>
            <a:pPr>
              <a:defRPr/>
            </a:pPr>
            <a:r>
              <a:rPr lang="en-US" sz="3200" dirty="0">
                <a:solidFill>
                  <a:schemeClr val="tx2">
                    <a:satMod val="130000"/>
                  </a:schemeClr>
                </a:solidFill>
                <a:latin typeface="Times New Roman" panose="02020603050405020304" pitchFamily="18" charset="0"/>
                <a:cs typeface="Times New Roman" panose="02020603050405020304" pitchFamily="18" charset="0"/>
              </a:rPr>
              <a:t>Digging Into the Literature</a:t>
            </a:r>
          </a:p>
        </p:txBody>
      </p:sp>
      <p:sp>
        <p:nvSpPr>
          <p:cNvPr id="24579" name="Rectangle 3">
            <a:extLst>
              <a:ext uri="{FF2B5EF4-FFF2-40B4-BE49-F238E27FC236}">
                <a16:creationId xmlns:a16="http://schemas.microsoft.com/office/drawing/2014/main" id="{95B48AAB-2151-0198-E757-2C4FE8D9AF7A}"/>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p:txBody>
      </p:sp>
      <p:sp>
        <p:nvSpPr>
          <p:cNvPr id="24614" name="Slide Number Placeholder 1">
            <a:extLst>
              <a:ext uri="{FF2B5EF4-FFF2-40B4-BE49-F238E27FC236}">
                <a16:creationId xmlns:a16="http://schemas.microsoft.com/office/drawing/2014/main" id="{01043C1D-5E07-472D-C52E-A70F61687B57}"/>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51CF8AC-99CE-4622-846B-FBBC1A9AFF0D}" type="slidenum">
              <a:rPr lang="es-ES" altLang="en-US" sz="1400"/>
              <a:pPr>
                <a:spcBef>
                  <a:spcPct val="0"/>
                </a:spcBef>
                <a:buFontTx/>
                <a:buNone/>
              </a:pPr>
              <a:t>30</a:t>
            </a:fld>
            <a:endParaRPr lang="es-ES" altLang="en-US" sz="1400"/>
          </a:p>
        </p:txBody>
      </p:sp>
      <p:sp>
        <p:nvSpPr>
          <p:cNvPr id="24580" name="Rectangle 4">
            <a:extLst>
              <a:ext uri="{FF2B5EF4-FFF2-40B4-BE49-F238E27FC236}">
                <a16:creationId xmlns:a16="http://schemas.microsoft.com/office/drawing/2014/main" id="{9D2597EE-A90F-7505-A7BC-818FAE3F7E22}"/>
              </a:ext>
            </a:extLst>
          </p:cNvPr>
          <p:cNvSpPr>
            <a:spLocks noChangeArrowheads="1"/>
          </p:cNvSpPr>
          <p:nvPr/>
        </p:nvSpPr>
        <p:spPr bwMode="auto">
          <a:xfrm>
            <a:off x="3037200" y="4071714"/>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4581" name="Rectangle 5">
            <a:extLst>
              <a:ext uri="{FF2B5EF4-FFF2-40B4-BE49-F238E27FC236}">
                <a16:creationId xmlns:a16="http://schemas.microsoft.com/office/drawing/2014/main" id="{7D31207C-31FA-60F4-44BB-409F1FEAC89B}"/>
              </a:ext>
            </a:extLst>
          </p:cNvPr>
          <p:cNvSpPr>
            <a:spLocks noChangeArrowheads="1"/>
          </p:cNvSpPr>
          <p:nvPr/>
        </p:nvSpPr>
        <p:spPr bwMode="auto">
          <a:xfrm>
            <a:off x="8066400" y="3766914"/>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4582" name="Rectangle 6">
            <a:extLst>
              <a:ext uri="{FF2B5EF4-FFF2-40B4-BE49-F238E27FC236}">
                <a16:creationId xmlns:a16="http://schemas.microsoft.com/office/drawing/2014/main" id="{263BE7F9-64E9-B7A2-3566-CB0418045D68}"/>
              </a:ext>
            </a:extLst>
          </p:cNvPr>
          <p:cNvSpPr>
            <a:spLocks noChangeArrowheads="1"/>
          </p:cNvSpPr>
          <p:nvPr/>
        </p:nvSpPr>
        <p:spPr bwMode="auto">
          <a:xfrm>
            <a:off x="5308913" y="2503264"/>
            <a:ext cx="16002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4583" name="Text Box 8">
            <a:extLst>
              <a:ext uri="{FF2B5EF4-FFF2-40B4-BE49-F238E27FC236}">
                <a16:creationId xmlns:a16="http://schemas.microsoft.com/office/drawing/2014/main" id="{B06B7C6D-EB62-3B7F-5CEB-86070A6CF0F1}"/>
              </a:ext>
            </a:extLst>
          </p:cNvPr>
          <p:cNvSpPr txBox="1">
            <a:spLocks noChangeArrowheads="1"/>
          </p:cNvSpPr>
          <p:nvPr/>
        </p:nvSpPr>
        <p:spPr bwMode="auto">
          <a:xfrm>
            <a:off x="3570600" y="4376514"/>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A</a:t>
            </a:r>
          </a:p>
        </p:txBody>
      </p:sp>
      <p:sp>
        <p:nvSpPr>
          <p:cNvPr id="24584" name="Rectangle 12">
            <a:extLst>
              <a:ext uri="{FF2B5EF4-FFF2-40B4-BE49-F238E27FC236}">
                <a16:creationId xmlns:a16="http://schemas.microsoft.com/office/drawing/2014/main" id="{F82D2956-7032-EB11-F95C-F074767C6199}"/>
              </a:ext>
            </a:extLst>
          </p:cNvPr>
          <p:cNvSpPr>
            <a:spLocks noChangeArrowheads="1"/>
          </p:cNvSpPr>
          <p:nvPr/>
        </p:nvSpPr>
        <p:spPr bwMode="auto">
          <a:xfrm>
            <a:off x="2799075" y="1206276"/>
            <a:ext cx="452438"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ea typeface="ＭＳ Ｐゴシック" panose="020B0600070205080204" pitchFamily="34" charset="-128"/>
            </a:endParaRPr>
          </a:p>
        </p:txBody>
      </p:sp>
      <p:sp>
        <p:nvSpPr>
          <p:cNvPr id="24585" name="Text Box 15">
            <a:extLst>
              <a:ext uri="{FF2B5EF4-FFF2-40B4-BE49-F238E27FC236}">
                <a16:creationId xmlns:a16="http://schemas.microsoft.com/office/drawing/2014/main" id="{2AAEA82B-683B-4881-DC12-AB42FF500F33}"/>
              </a:ext>
            </a:extLst>
          </p:cNvPr>
          <p:cNvSpPr txBox="1">
            <a:spLocks noChangeArrowheads="1"/>
          </p:cNvSpPr>
          <p:nvPr/>
        </p:nvSpPr>
        <p:spPr bwMode="auto">
          <a:xfrm>
            <a:off x="3332475" y="1130077"/>
            <a:ext cx="3886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ea typeface="ＭＳ Ｐゴシック" panose="020B0600070205080204" pitchFamily="34" charset="-128"/>
              </a:rPr>
              <a:t>= Major works</a:t>
            </a:r>
          </a:p>
        </p:txBody>
      </p:sp>
      <p:sp>
        <p:nvSpPr>
          <p:cNvPr id="24586" name="Text Box 8">
            <a:extLst>
              <a:ext uri="{FF2B5EF4-FFF2-40B4-BE49-F238E27FC236}">
                <a16:creationId xmlns:a16="http://schemas.microsoft.com/office/drawing/2014/main" id="{932ECBBA-683F-A2F9-EDF3-10A78E5FD0B3}"/>
              </a:ext>
            </a:extLst>
          </p:cNvPr>
          <p:cNvSpPr txBox="1">
            <a:spLocks noChangeArrowheads="1"/>
          </p:cNvSpPr>
          <p:nvPr/>
        </p:nvSpPr>
        <p:spPr bwMode="auto">
          <a:xfrm>
            <a:off x="8599800" y="4071714"/>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C</a:t>
            </a:r>
          </a:p>
        </p:txBody>
      </p:sp>
      <p:sp>
        <p:nvSpPr>
          <p:cNvPr id="24587" name="Text Box 8">
            <a:extLst>
              <a:ext uri="{FF2B5EF4-FFF2-40B4-BE49-F238E27FC236}">
                <a16:creationId xmlns:a16="http://schemas.microsoft.com/office/drawing/2014/main" id="{C618559A-73DF-138A-455B-80EAEFA2D286}"/>
              </a:ext>
            </a:extLst>
          </p:cNvPr>
          <p:cNvSpPr txBox="1">
            <a:spLocks noChangeArrowheads="1"/>
          </p:cNvSpPr>
          <p:nvPr/>
        </p:nvSpPr>
        <p:spPr bwMode="auto">
          <a:xfrm>
            <a:off x="5810563" y="2836639"/>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a:solidFill>
                  <a:schemeClr val="bg1"/>
                </a:solidFill>
                <a:ea typeface="ＭＳ Ｐゴシック" panose="020B0600070205080204" pitchFamily="34" charset="-128"/>
              </a:rPr>
              <a:t>B</a:t>
            </a:r>
          </a:p>
        </p:txBody>
      </p:sp>
      <p:sp>
        <p:nvSpPr>
          <p:cNvPr id="12" name="Rectangle 12">
            <a:extLst>
              <a:ext uri="{FF2B5EF4-FFF2-40B4-BE49-F238E27FC236}">
                <a16:creationId xmlns:a16="http://schemas.microsoft.com/office/drawing/2014/main" id="{3C4E4558-1E8E-1F3E-3AC4-AA6D6D7E6383}"/>
              </a:ext>
            </a:extLst>
          </p:cNvPr>
          <p:cNvSpPr>
            <a:spLocks noChangeArrowheads="1"/>
          </p:cNvSpPr>
          <p:nvPr/>
        </p:nvSpPr>
        <p:spPr bwMode="auto">
          <a:xfrm>
            <a:off x="2799075" y="1892076"/>
            <a:ext cx="452438" cy="3810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4589" name="Text Box 15">
            <a:extLst>
              <a:ext uri="{FF2B5EF4-FFF2-40B4-BE49-F238E27FC236}">
                <a16:creationId xmlns:a16="http://schemas.microsoft.com/office/drawing/2014/main" id="{CB38A2DE-0D58-A8B2-EF68-0C91850B0365}"/>
              </a:ext>
            </a:extLst>
          </p:cNvPr>
          <p:cNvSpPr txBox="1">
            <a:spLocks noChangeArrowheads="1"/>
          </p:cNvSpPr>
          <p:nvPr/>
        </p:nvSpPr>
        <p:spPr bwMode="auto">
          <a:xfrm>
            <a:off x="3256275" y="1815877"/>
            <a:ext cx="6019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ea typeface="ＭＳ Ｐゴシック" panose="020B0600070205080204" pitchFamily="34" charset="-128"/>
              </a:rPr>
              <a:t> = Studies that rely on major works</a:t>
            </a:r>
          </a:p>
        </p:txBody>
      </p:sp>
      <p:sp>
        <p:nvSpPr>
          <p:cNvPr id="16" name="Rectangle 1040">
            <a:extLst>
              <a:ext uri="{FF2B5EF4-FFF2-40B4-BE49-F238E27FC236}">
                <a16:creationId xmlns:a16="http://schemas.microsoft.com/office/drawing/2014/main" id="{DE4D1740-F3C1-E3C2-122A-2CEF8387936C}"/>
              </a:ext>
            </a:extLst>
          </p:cNvPr>
          <p:cNvSpPr>
            <a:spLocks noChangeArrowheads="1"/>
          </p:cNvSpPr>
          <p:nvPr/>
        </p:nvSpPr>
        <p:spPr bwMode="auto">
          <a:xfrm>
            <a:off x="2503800" y="3309714"/>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17" name="Rectangle 1041">
            <a:extLst>
              <a:ext uri="{FF2B5EF4-FFF2-40B4-BE49-F238E27FC236}">
                <a16:creationId xmlns:a16="http://schemas.microsoft.com/office/drawing/2014/main" id="{F38D5D39-22BE-7426-6B29-78A669C38C25}"/>
              </a:ext>
            </a:extLst>
          </p:cNvPr>
          <p:cNvSpPr>
            <a:spLocks noChangeArrowheads="1"/>
          </p:cNvSpPr>
          <p:nvPr/>
        </p:nvSpPr>
        <p:spPr bwMode="auto">
          <a:xfrm>
            <a:off x="9285600" y="2928714"/>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18" name="Rectangle 1042">
            <a:extLst>
              <a:ext uri="{FF2B5EF4-FFF2-40B4-BE49-F238E27FC236}">
                <a16:creationId xmlns:a16="http://schemas.microsoft.com/office/drawing/2014/main" id="{5A076C52-7D01-A2F4-7B7A-5A478F3F8F88}"/>
              </a:ext>
            </a:extLst>
          </p:cNvPr>
          <p:cNvSpPr>
            <a:spLocks noChangeArrowheads="1"/>
          </p:cNvSpPr>
          <p:nvPr/>
        </p:nvSpPr>
        <p:spPr bwMode="auto">
          <a:xfrm>
            <a:off x="6999600" y="3690714"/>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19" name="Rectangle 1043">
            <a:extLst>
              <a:ext uri="{FF2B5EF4-FFF2-40B4-BE49-F238E27FC236}">
                <a16:creationId xmlns:a16="http://schemas.microsoft.com/office/drawing/2014/main" id="{11C6E08D-3942-E9AA-CC62-FDAF4BE25D66}"/>
              </a:ext>
            </a:extLst>
          </p:cNvPr>
          <p:cNvSpPr>
            <a:spLocks noChangeArrowheads="1"/>
          </p:cNvSpPr>
          <p:nvPr/>
        </p:nvSpPr>
        <p:spPr bwMode="auto">
          <a:xfrm>
            <a:off x="7685400" y="2547714"/>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0" name="Rectangle 1044">
            <a:extLst>
              <a:ext uri="{FF2B5EF4-FFF2-40B4-BE49-F238E27FC236}">
                <a16:creationId xmlns:a16="http://schemas.microsoft.com/office/drawing/2014/main" id="{E5609730-9B0A-CD5A-0123-429CE5F90BF2}"/>
              </a:ext>
            </a:extLst>
          </p:cNvPr>
          <p:cNvSpPr>
            <a:spLocks noChangeArrowheads="1"/>
          </p:cNvSpPr>
          <p:nvPr/>
        </p:nvSpPr>
        <p:spPr bwMode="auto">
          <a:xfrm>
            <a:off x="3799200" y="2395314"/>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1" name="Rectangle 1046">
            <a:extLst>
              <a:ext uri="{FF2B5EF4-FFF2-40B4-BE49-F238E27FC236}">
                <a16:creationId xmlns:a16="http://schemas.microsoft.com/office/drawing/2014/main" id="{68D26259-F36B-4B8C-C608-69470B1CC206}"/>
              </a:ext>
            </a:extLst>
          </p:cNvPr>
          <p:cNvSpPr>
            <a:spLocks noChangeArrowheads="1"/>
          </p:cNvSpPr>
          <p:nvPr/>
        </p:nvSpPr>
        <p:spPr bwMode="auto">
          <a:xfrm>
            <a:off x="4789800" y="5138514"/>
            <a:ext cx="762000" cy="533400"/>
          </a:xfrm>
          <a:prstGeom prst="rect">
            <a:avLst/>
          </a:prstGeom>
          <a:solidFill>
            <a:schemeClr val="accent5">
              <a:lumMod val="40000"/>
              <a:lumOff val="6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4596" name="Line 1055">
            <a:extLst>
              <a:ext uri="{FF2B5EF4-FFF2-40B4-BE49-F238E27FC236}">
                <a16:creationId xmlns:a16="http://schemas.microsoft.com/office/drawing/2014/main" id="{A3537841-B558-6291-4B5D-D75BA224383B}"/>
              </a:ext>
            </a:extLst>
          </p:cNvPr>
          <p:cNvSpPr>
            <a:spLocks noChangeShapeType="1"/>
          </p:cNvSpPr>
          <p:nvPr/>
        </p:nvSpPr>
        <p:spPr bwMode="auto">
          <a:xfrm>
            <a:off x="3265800" y="3614514"/>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7" name="Line 1056">
            <a:extLst>
              <a:ext uri="{FF2B5EF4-FFF2-40B4-BE49-F238E27FC236}">
                <a16:creationId xmlns:a16="http://schemas.microsoft.com/office/drawing/2014/main" id="{A837108A-1DB7-F32C-F190-412DB814516C}"/>
              </a:ext>
            </a:extLst>
          </p:cNvPr>
          <p:cNvSpPr>
            <a:spLocks noChangeShapeType="1"/>
          </p:cNvSpPr>
          <p:nvPr/>
        </p:nvSpPr>
        <p:spPr bwMode="auto">
          <a:xfrm flipH="1" flipV="1">
            <a:off x="4637400" y="4757514"/>
            <a:ext cx="304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8" name="Line 1057">
            <a:extLst>
              <a:ext uri="{FF2B5EF4-FFF2-40B4-BE49-F238E27FC236}">
                <a16:creationId xmlns:a16="http://schemas.microsoft.com/office/drawing/2014/main" id="{8DDFEE48-36CC-9D5B-6B83-5A3D052C902B}"/>
              </a:ext>
            </a:extLst>
          </p:cNvPr>
          <p:cNvSpPr>
            <a:spLocks noChangeShapeType="1"/>
          </p:cNvSpPr>
          <p:nvPr/>
        </p:nvSpPr>
        <p:spPr bwMode="auto">
          <a:xfrm>
            <a:off x="4561200" y="2623914"/>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9" name="Line 1058">
            <a:extLst>
              <a:ext uri="{FF2B5EF4-FFF2-40B4-BE49-F238E27FC236}">
                <a16:creationId xmlns:a16="http://schemas.microsoft.com/office/drawing/2014/main" id="{056171ED-0195-3B2D-32F0-C51A3316F000}"/>
              </a:ext>
            </a:extLst>
          </p:cNvPr>
          <p:cNvSpPr>
            <a:spLocks noChangeShapeType="1"/>
          </p:cNvSpPr>
          <p:nvPr/>
        </p:nvSpPr>
        <p:spPr bwMode="auto">
          <a:xfrm>
            <a:off x="8142600" y="3081114"/>
            <a:ext cx="304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0" name="Line 1059">
            <a:extLst>
              <a:ext uri="{FF2B5EF4-FFF2-40B4-BE49-F238E27FC236}">
                <a16:creationId xmlns:a16="http://schemas.microsoft.com/office/drawing/2014/main" id="{DB9C22BB-A790-393D-CFF6-7D68CE37EA44}"/>
              </a:ext>
            </a:extLst>
          </p:cNvPr>
          <p:cNvSpPr>
            <a:spLocks noChangeShapeType="1"/>
          </p:cNvSpPr>
          <p:nvPr/>
        </p:nvSpPr>
        <p:spPr bwMode="auto">
          <a:xfrm flipH="1">
            <a:off x="6923400" y="2776314"/>
            <a:ext cx="7620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1" name="Line 1060">
            <a:extLst>
              <a:ext uri="{FF2B5EF4-FFF2-40B4-BE49-F238E27FC236}">
                <a16:creationId xmlns:a16="http://schemas.microsoft.com/office/drawing/2014/main" id="{37A7D6AE-407D-962A-6EDD-613D3A17CFB0}"/>
              </a:ext>
            </a:extLst>
          </p:cNvPr>
          <p:cNvSpPr>
            <a:spLocks noChangeShapeType="1"/>
          </p:cNvSpPr>
          <p:nvPr/>
        </p:nvSpPr>
        <p:spPr bwMode="auto">
          <a:xfrm flipH="1" flipV="1">
            <a:off x="6923400" y="3233514"/>
            <a:ext cx="228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2" name="Line 1061">
            <a:extLst>
              <a:ext uri="{FF2B5EF4-FFF2-40B4-BE49-F238E27FC236}">
                <a16:creationId xmlns:a16="http://schemas.microsoft.com/office/drawing/2014/main" id="{73057F83-5761-B45D-F0D8-B0F3943DA11D}"/>
              </a:ext>
            </a:extLst>
          </p:cNvPr>
          <p:cNvSpPr>
            <a:spLocks noChangeShapeType="1"/>
          </p:cNvSpPr>
          <p:nvPr/>
        </p:nvSpPr>
        <p:spPr bwMode="auto">
          <a:xfrm flipH="1">
            <a:off x="4637400" y="3995514"/>
            <a:ext cx="2362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3" name="Line 1064">
            <a:extLst>
              <a:ext uri="{FF2B5EF4-FFF2-40B4-BE49-F238E27FC236}">
                <a16:creationId xmlns:a16="http://schemas.microsoft.com/office/drawing/2014/main" id="{2CEFBF9B-7BC4-E73A-FF83-E3D6EFEEABEF}"/>
              </a:ext>
            </a:extLst>
          </p:cNvPr>
          <p:cNvSpPr>
            <a:spLocks noChangeShapeType="1"/>
          </p:cNvSpPr>
          <p:nvPr/>
        </p:nvSpPr>
        <p:spPr bwMode="auto">
          <a:xfrm flipH="1">
            <a:off x="8828400" y="3233514"/>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4" name="Line 1068">
            <a:extLst>
              <a:ext uri="{FF2B5EF4-FFF2-40B4-BE49-F238E27FC236}">
                <a16:creationId xmlns:a16="http://schemas.microsoft.com/office/drawing/2014/main" id="{CD1020E2-5E63-AFAB-6E5C-FE3CF061A3CB}"/>
              </a:ext>
            </a:extLst>
          </p:cNvPr>
          <p:cNvSpPr>
            <a:spLocks noChangeShapeType="1"/>
          </p:cNvSpPr>
          <p:nvPr/>
        </p:nvSpPr>
        <p:spPr bwMode="auto">
          <a:xfrm flipV="1">
            <a:off x="5323200" y="3766914"/>
            <a:ext cx="304800" cy="1371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5" name="Line 1070">
            <a:extLst>
              <a:ext uri="{FF2B5EF4-FFF2-40B4-BE49-F238E27FC236}">
                <a16:creationId xmlns:a16="http://schemas.microsoft.com/office/drawing/2014/main" id="{64C491B4-6534-B8BE-EA58-72112D72A0BB}"/>
              </a:ext>
            </a:extLst>
          </p:cNvPr>
          <p:cNvSpPr>
            <a:spLocks noChangeShapeType="1"/>
          </p:cNvSpPr>
          <p:nvPr/>
        </p:nvSpPr>
        <p:spPr bwMode="auto">
          <a:xfrm flipH="1">
            <a:off x="4408800" y="3385914"/>
            <a:ext cx="914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06" name="Line 1071">
            <a:extLst>
              <a:ext uri="{FF2B5EF4-FFF2-40B4-BE49-F238E27FC236}">
                <a16:creationId xmlns:a16="http://schemas.microsoft.com/office/drawing/2014/main" id="{9EE89715-EF5C-32D0-9FA3-731F41DE67B6}"/>
              </a:ext>
            </a:extLst>
          </p:cNvPr>
          <p:cNvSpPr>
            <a:spLocks noChangeShapeType="1"/>
          </p:cNvSpPr>
          <p:nvPr/>
        </p:nvSpPr>
        <p:spPr bwMode="auto">
          <a:xfrm>
            <a:off x="7761600" y="3919314"/>
            <a:ext cx="3048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Rectangle 6">
            <a:extLst>
              <a:ext uri="{FF2B5EF4-FFF2-40B4-BE49-F238E27FC236}">
                <a16:creationId xmlns:a16="http://schemas.microsoft.com/office/drawing/2014/main" id="{DC7EC570-3C60-6F06-EBED-8EF9DF3187E7}"/>
              </a:ext>
            </a:extLst>
          </p:cNvPr>
          <p:cNvSpPr>
            <a:spLocks noChangeArrowheads="1"/>
          </p:cNvSpPr>
          <p:nvPr/>
        </p:nvSpPr>
        <p:spPr bwMode="auto">
          <a:xfrm>
            <a:off x="6085200" y="4528914"/>
            <a:ext cx="1600200" cy="1219200"/>
          </a:xfrm>
          <a:prstGeom prst="rect">
            <a:avLst/>
          </a:prstGeom>
          <a:solidFill>
            <a:schemeClr val="accent3">
              <a:lumMod val="60000"/>
              <a:lumOff val="4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4608" name="Text Box 8">
            <a:extLst>
              <a:ext uri="{FF2B5EF4-FFF2-40B4-BE49-F238E27FC236}">
                <a16:creationId xmlns:a16="http://schemas.microsoft.com/office/drawing/2014/main" id="{63B4752A-B572-74DB-40E6-61E373ED216D}"/>
              </a:ext>
            </a:extLst>
          </p:cNvPr>
          <p:cNvSpPr txBox="1">
            <a:spLocks noChangeArrowheads="1"/>
          </p:cNvSpPr>
          <p:nvPr/>
        </p:nvSpPr>
        <p:spPr bwMode="auto">
          <a:xfrm>
            <a:off x="6085200" y="4929633"/>
            <a:ext cx="1600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dirty="0">
                <a:solidFill>
                  <a:schemeClr val="bg1"/>
                </a:solidFill>
                <a:ea typeface="ＭＳ Ｐゴシック" panose="020B0600070205080204" pitchFamily="34" charset="-128"/>
              </a:rPr>
              <a:t>New!</a:t>
            </a:r>
          </a:p>
        </p:txBody>
      </p:sp>
      <p:sp>
        <p:nvSpPr>
          <p:cNvPr id="37" name="Rectangle 12">
            <a:extLst>
              <a:ext uri="{FF2B5EF4-FFF2-40B4-BE49-F238E27FC236}">
                <a16:creationId xmlns:a16="http://schemas.microsoft.com/office/drawing/2014/main" id="{E562329D-BDBE-BB76-5EDC-20DE03288904}"/>
              </a:ext>
            </a:extLst>
          </p:cNvPr>
          <p:cNvSpPr>
            <a:spLocks noChangeArrowheads="1"/>
          </p:cNvSpPr>
          <p:nvPr/>
        </p:nvSpPr>
        <p:spPr bwMode="auto">
          <a:xfrm>
            <a:off x="6456675" y="1282476"/>
            <a:ext cx="452438" cy="381000"/>
          </a:xfrm>
          <a:prstGeom prst="rect">
            <a:avLst/>
          </a:prstGeom>
          <a:solidFill>
            <a:schemeClr val="accent3">
              <a:lumMod val="60000"/>
              <a:lumOff val="40000"/>
            </a:schemeClr>
          </a:solidFill>
          <a:ln w="9525">
            <a:solidFill>
              <a:schemeClr val="tx1"/>
            </a:solidFill>
            <a:miter lim="800000"/>
            <a:headEnd/>
            <a:tailEnd/>
          </a:ln>
        </p:spPr>
        <p:txBody>
          <a:bodyPr wrap="none" anchor="ctr"/>
          <a:lstStyle/>
          <a:p>
            <a:pPr eaLnBrk="1" hangingPunct="1">
              <a:defRPr/>
            </a:pPr>
            <a:endParaRPr lang="en-US">
              <a:latin typeface="Arial" charset="0"/>
              <a:ea typeface="ＭＳ Ｐゴシック" pitchFamily="-111" charset="-128"/>
            </a:endParaRPr>
          </a:p>
        </p:txBody>
      </p:sp>
      <p:sp>
        <p:nvSpPr>
          <p:cNvPr id="24610" name="Text Box 15">
            <a:extLst>
              <a:ext uri="{FF2B5EF4-FFF2-40B4-BE49-F238E27FC236}">
                <a16:creationId xmlns:a16="http://schemas.microsoft.com/office/drawing/2014/main" id="{2F948F6A-8EB9-B15F-4F13-D20BBDE8FE39}"/>
              </a:ext>
            </a:extLst>
          </p:cNvPr>
          <p:cNvSpPr txBox="1">
            <a:spLocks noChangeArrowheads="1"/>
          </p:cNvSpPr>
          <p:nvPr/>
        </p:nvSpPr>
        <p:spPr bwMode="auto">
          <a:xfrm>
            <a:off x="7024112" y="1267609"/>
            <a:ext cx="3886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ea typeface="ＭＳ Ｐゴシック" panose="020B0600070205080204" pitchFamily="34" charset="-128"/>
              </a:rPr>
              <a:t>= Something new!</a:t>
            </a:r>
          </a:p>
        </p:txBody>
      </p:sp>
      <p:sp>
        <p:nvSpPr>
          <p:cNvPr id="24611" name="Line 1060">
            <a:extLst>
              <a:ext uri="{FF2B5EF4-FFF2-40B4-BE49-F238E27FC236}">
                <a16:creationId xmlns:a16="http://schemas.microsoft.com/office/drawing/2014/main" id="{F0C29764-1430-4CB2-E740-56B428DBE029}"/>
              </a:ext>
            </a:extLst>
          </p:cNvPr>
          <p:cNvSpPr>
            <a:spLocks noChangeShapeType="1"/>
          </p:cNvSpPr>
          <p:nvPr/>
        </p:nvSpPr>
        <p:spPr bwMode="auto">
          <a:xfrm flipH="1">
            <a:off x="5551800" y="5214714"/>
            <a:ext cx="5334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12" name="Line 1060">
            <a:extLst>
              <a:ext uri="{FF2B5EF4-FFF2-40B4-BE49-F238E27FC236}">
                <a16:creationId xmlns:a16="http://schemas.microsoft.com/office/drawing/2014/main" id="{E34C255C-4B95-B3E5-C729-046D70530773}"/>
              </a:ext>
            </a:extLst>
          </p:cNvPr>
          <p:cNvSpPr>
            <a:spLocks noChangeShapeType="1"/>
          </p:cNvSpPr>
          <p:nvPr/>
        </p:nvSpPr>
        <p:spPr bwMode="auto">
          <a:xfrm flipH="1" flipV="1">
            <a:off x="6313800" y="3766914"/>
            <a:ext cx="2286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2AA59-44D8-CD7C-57BE-820AFB151DF1}"/>
              </a:ext>
            </a:extLst>
          </p:cNvPr>
          <p:cNvSpPr>
            <a:spLocks noGrp="1"/>
          </p:cNvSpPr>
          <p:nvPr>
            <p:ph type="ctrTitle"/>
          </p:nvPr>
        </p:nvSpPr>
        <p:spPr/>
        <p:txBody>
          <a:bodyPr/>
          <a:lstStyle/>
          <a:p>
            <a:pPr>
              <a:defRPr/>
            </a:pPr>
            <a:r>
              <a:rPr lang="en-US" sz="3600" dirty="0">
                <a:solidFill>
                  <a:schemeClr val="tx2">
                    <a:satMod val="130000"/>
                  </a:schemeClr>
                </a:solidFill>
                <a:latin typeface="Times New Roman" panose="02020603050405020304" pitchFamily="18" charset="0"/>
                <a:cs typeface="Times New Roman" panose="02020603050405020304" pitchFamily="18" charset="0"/>
              </a:rPr>
              <a:t>Digging Into the Literature – How?</a:t>
            </a:r>
          </a:p>
        </p:txBody>
      </p:sp>
      <p:graphicFrame>
        <p:nvGraphicFramePr>
          <p:cNvPr id="4" name="Content Placeholder 3">
            <a:extLst>
              <a:ext uri="{FF2B5EF4-FFF2-40B4-BE49-F238E27FC236}">
                <a16:creationId xmlns:a16="http://schemas.microsoft.com/office/drawing/2014/main" id="{4479F9EB-D389-2651-A909-F6ABCEA6B329}"/>
              </a:ext>
            </a:extLst>
          </p:cNvPr>
          <p:cNvGraphicFramePr>
            <a:graphicFrameLocks noGrp="1"/>
          </p:cNvGraphicFramePr>
          <p:nvPr>
            <p:ph idx="1"/>
          </p:nvPr>
        </p:nvGraphicFramePr>
        <p:xfrm>
          <a:off x="1193155" y="402782"/>
          <a:ext cx="10178061" cy="4727812"/>
        </p:xfrm>
        <a:graphic>
          <a:graphicData uri="http://schemas.openxmlformats.org/drawingml/2006/table">
            <a:tbl>
              <a:tblPr firstRow="1" bandRow="1">
                <a:tableStyleId>{5C22544A-7EE6-4342-B048-85BDC9FD1C3A}</a:tableStyleId>
              </a:tblPr>
              <a:tblGrid>
                <a:gridCol w="3947122">
                  <a:extLst>
                    <a:ext uri="{9D8B030D-6E8A-4147-A177-3AD203B41FA5}">
                      <a16:colId xmlns:a16="http://schemas.microsoft.com/office/drawing/2014/main" val="20000"/>
                    </a:ext>
                  </a:extLst>
                </a:gridCol>
                <a:gridCol w="6230939">
                  <a:extLst>
                    <a:ext uri="{9D8B030D-6E8A-4147-A177-3AD203B41FA5}">
                      <a16:colId xmlns:a16="http://schemas.microsoft.com/office/drawing/2014/main" val="20001"/>
                    </a:ext>
                  </a:extLst>
                </a:gridCol>
              </a:tblGrid>
              <a:tr h="582411">
                <a:tc>
                  <a:txBody>
                    <a:bodyPr/>
                    <a:lstStyle/>
                    <a:p>
                      <a:r>
                        <a:rPr lang="en-US" sz="2800" dirty="0">
                          <a:solidFill>
                            <a:srgbClr val="0099CC"/>
                          </a:solidFill>
                          <a:latin typeface="Times New Roman" panose="02020603050405020304" pitchFamily="18" charset="0"/>
                          <a:cs typeface="Times New Roman" panose="02020603050405020304" pitchFamily="18" charset="0"/>
                        </a:rPr>
                        <a:t>Aspect</a:t>
                      </a:r>
                    </a:p>
                  </a:txBody>
                  <a:tcPr marT="45727" marB="45727"/>
                </a:tc>
                <a:tc>
                  <a:txBody>
                    <a:bodyPr/>
                    <a:lstStyle/>
                    <a:p>
                      <a:r>
                        <a:rPr lang="en-US" sz="2800" dirty="0">
                          <a:solidFill>
                            <a:srgbClr val="0099CC"/>
                          </a:solidFill>
                          <a:latin typeface="Times New Roman" panose="02020603050405020304" pitchFamily="18" charset="0"/>
                          <a:cs typeface="Times New Roman" panose="02020603050405020304" pitchFamily="18" charset="0"/>
                        </a:rPr>
                        <a:t>How?</a:t>
                      </a:r>
                    </a:p>
                  </a:txBody>
                  <a:tcPr marT="45727" marB="45727"/>
                </a:tc>
                <a:extLst>
                  <a:ext uri="{0D108BD9-81ED-4DB2-BD59-A6C34878D82A}">
                    <a16:rowId xmlns:a16="http://schemas.microsoft.com/office/drawing/2014/main" val="10000"/>
                  </a:ext>
                </a:extLst>
              </a:tr>
              <a:tr h="1541678">
                <a:tc>
                  <a:txBody>
                    <a:bodyPr/>
                    <a:lstStyle/>
                    <a:p>
                      <a:r>
                        <a:rPr lang="en-US" sz="2400" dirty="0">
                          <a:latin typeface="Times New Roman" panose="02020603050405020304" pitchFamily="18" charset="0"/>
                          <a:cs typeface="Times New Roman" panose="02020603050405020304" pitchFamily="18" charset="0"/>
                        </a:rPr>
                        <a:t>Major works</a:t>
                      </a:r>
                    </a:p>
                  </a:txBody>
                  <a:tcPr marT="45727" marB="45727"/>
                </a:tc>
                <a:tc>
                  <a:txBody>
                    <a:bodyPr/>
                    <a:lstStyle/>
                    <a:p>
                      <a:pPr>
                        <a:buFont typeface="Arial" pitchFamily="34" charset="0"/>
                        <a:buChar char="•"/>
                      </a:pPr>
                      <a:r>
                        <a:rPr lang="en-US" sz="2400" dirty="0">
                          <a:latin typeface="Times New Roman" panose="02020603050405020304" pitchFamily="18" charset="0"/>
                          <a:cs typeface="Times New Roman" panose="02020603050405020304" pitchFamily="18" charset="0"/>
                        </a:rPr>
                        <a:t>Literature databases</a:t>
                      </a:r>
                    </a:p>
                    <a:p>
                      <a:pPr>
                        <a:buFont typeface="Arial" pitchFamily="34" charset="0"/>
                        <a:buChar char="•"/>
                      </a:pPr>
                      <a:r>
                        <a:rPr lang="en-US" sz="2400" dirty="0">
                          <a:latin typeface="Times New Roman" panose="02020603050405020304" pitchFamily="18" charset="0"/>
                          <a:cs typeface="Times New Roman" panose="02020603050405020304" pitchFamily="18" charset="0"/>
                        </a:rPr>
                        <a:t>Colleague</a:t>
                      </a:r>
                      <a:r>
                        <a:rPr lang="en-US" sz="2400" baseline="0" dirty="0">
                          <a:latin typeface="Times New Roman" panose="02020603050405020304" pitchFamily="18" charset="0"/>
                          <a:cs typeface="Times New Roman" panose="02020603050405020304" pitchFamily="18" charset="0"/>
                        </a:rPr>
                        <a:t> recommendations</a:t>
                      </a:r>
                    </a:p>
                    <a:p>
                      <a:pPr>
                        <a:buFont typeface="Arial" pitchFamily="34" charset="0"/>
                        <a:buChar char="•"/>
                      </a:pPr>
                      <a:r>
                        <a:rPr lang="en-US" sz="2400" baseline="0" dirty="0">
                          <a:latin typeface="Times New Roman" panose="02020603050405020304" pitchFamily="18" charset="0"/>
                          <a:cs typeface="Times New Roman" panose="02020603050405020304" pitchFamily="18" charset="0"/>
                        </a:rPr>
                        <a:t>Cited work</a:t>
                      </a:r>
                      <a:endParaRPr lang="en-US" sz="2400" dirty="0">
                        <a:latin typeface="Times New Roman" panose="02020603050405020304" pitchFamily="18" charset="0"/>
                        <a:cs typeface="Times New Roman" panose="02020603050405020304" pitchFamily="18" charset="0"/>
                      </a:endParaRPr>
                    </a:p>
                  </a:txBody>
                  <a:tcPr marT="45727" marB="45727"/>
                </a:tc>
                <a:extLst>
                  <a:ext uri="{0D108BD9-81ED-4DB2-BD59-A6C34878D82A}">
                    <a16:rowId xmlns:a16="http://schemas.microsoft.com/office/drawing/2014/main" val="10001"/>
                  </a:ext>
                </a:extLst>
              </a:tr>
              <a:tr h="1541678">
                <a:tc>
                  <a:txBody>
                    <a:bodyPr/>
                    <a:lstStyle/>
                    <a:p>
                      <a:r>
                        <a:rPr lang="en-US" sz="2400" dirty="0">
                          <a:latin typeface="Times New Roman" panose="02020603050405020304" pitchFamily="18" charset="0"/>
                          <a:cs typeface="Times New Roman" panose="02020603050405020304" pitchFamily="18" charset="0"/>
                        </a:rPr>
                        <a:t>Related works</a:t>
                      </a:r>
                    </a:p>
                  </a:txBody>
                  <a:tcPr marT="45727" marB="45727"/>
                </a:tc>
                <a:tc>
                  <a:txBody>
                    <a:bodyPr/>
                    <a:lstStyle/>
                    <a:p>
                      <a:r>
                        <a:rPr lang="en-US" sz="2400" dirty="0">
                          <a:latin typeface="Times New Roman" panose="02020603050405020304" pitchFamily="18" charset="0"/>
                          <a:cs typeface="Times New Roman" panose="02020603050405020304" pitchFamily="18" charset="0"/>
                        </a:rPr>
                        <a:t>Citation</a:t>
                      </a:r>
                      <a:r>
                        <a:rPr lang="en-US" sz="2400" baseline="0" dirty="0">
                          <a:latin typeface="Times New Roman" panose="02020603050405020304" pitchFamily="18" charset="0"/>
                          <a:cs typeface="Times New Roman" panose="02020603050405020304" pitchFamily="18" charset="0"/>
                        </a:rPr>
                        <a:t> searching:</a:t>
                      </a:r>
                    </a:p>
                    <a:p>
                      <a:pPr>
                        <a:buFont typeface="Arial" pitchFamily="34" charset="0"/>
                        <a:buChar char="•"/>
                      </a:pPr>
                      <a:r>
                        <a:rPr lang="en-US" sz="2400" baseline="0" dirty="0">
                          <a:latin typeface="Times New Roman" panose="02020603050405020304" pitchFamily="18" charset="0"/>
                          <a:cs typeface="Times New Roman" panose="02020603050405020304" pitchFamily="18" charset="0"/>
                        </a:rPr>
                        <a:t>Web of Science</a:t>
                      </a:r>
                    </a:p>
                    <a:p>
                      <a:pPr>
                        <a:buFont typeface="Arial" pitchFamily="34" charset="0"/>
                        <a:buChar char="•"/>
                      </a:pPr>
                      <a:r>
                        <a:rPr lang="en-US" sz="2400" baseline="0" dirty="0">
                          <a:latin typeface="Times New Roman" panose="02020603050405020304" pitchFamily="18" charset="0"/>
                          <a:cs typeface="Times New Roman" panose="02020603050405020304" pitchFamily="18" charset="0"/>
                        </a:rPr>
                        <a:t>Google Scholar</a:t>
                      </a:r>
                      <a:endParaRPr lang="en-US" sz="2400" dirty="0">
                        <a:latin typeface="Times New Roman" panose="02020603050405020304" pitchFamily="18" charset="0"/>
                        <a:cs typeface="Times New Roman" panose="02020603050405020304" pitchFamily="18" charset="0"/>
                      </a:endParaRPr>
                    </a:p>
                  </a:txBody>
                  <a:tcPr marT="45727" marB="45727"/>
                </a:tc>
                <a:extLst>
                  <a:ext uri="{0D108BD9-81ED-4DB2-BD59-A6C34878D82A}">
                    <a16:rowId xmlns:a16="http://schemas.microsoft.com/office/drawing/2014/main" val="10002"/>
                  </a:ext>
                </a:extLst>
              </a:tr>
              <a:tr h="1062045">
                <a:tc>
                  <a:txBody>
                    <a:bodyPr/>
                    <a:lstStyle/>
                    <a:p>
                      <a:r>
                        <a:rPr lang="en-US" sz="2400" dirty="0">
                          <a:latin typeface="Times New Roman" panose="02020603050405020304" pitchFamily="18" charset="0"/>
                          <a:cs typeface="Times New Roman" panose="02020603050405020304" pitchFamily="18" charset="0"/>
                        </a:rPr>
                        <a:t>New information</a:t>
                      </a:r>
                    </a:p>
                  </a:txBody>
                  <a:tcPr marT="45727" marB="45727"/>
                </a:tc>
                <a:tc>
                  <a:txBody>
                    <a:bodyPr/>
                    <a:lstStyle/>
                    <a:p>
                      <a:pPr>
                        <a:buFont typeface="Arial" pitchFamily="34" charset="0"/>
                        <a:buChar char="•"/>
                      </a:pPr>
                      <a:r>
                        <a:rPr lang="en-US" sz="2400" dirty="0">
                          <a:latin typeface="Times New Roman" panose="02020603050405020304" pitchFamily="18" charset="0"/>
                          <a:cs typeface="Times New Roman" panose="02020603050405020304" pitchFamily="18" charset="0"/>
                        </a:rPr>
                        <a:t>Articles alerts/RSS feeds</a:t>
                      </a:r>
                    </a:p>
                    <a:p>
                      <a:pPr>
                        <a:buFont typeface="Arial" pitchFamily="34" charset="0"/>
                        <a:buChar char="•"/>
                      </a:pPr>
                      <a:r>
                        <a:rPr lang="en-US" sz="2400" baseline="0" dirty="0">
                          <a:latin typeface="Times New Roman" panose="02020603050405020304" pitchFamily="18" charset="0"/>
                          <a:cs typeface="Times New Roman" panose="02020603050405020304" pitchFamily="18" charset="0"/>
                        </a:rPr>
                        <a:t>Tables of Contents</a:t>
                      </a:r>
                      <a:endParaRPr lang="en-US" sz="2400" dirty="0">
                        <a:latin typeface="Times New Roman" panose="02020603050405020304" pitchFamily="18" charset="0"/>
                        <a:cs typeface="Times New Roman" panose="02020603050405020304" pitchFamily="18" charset="0"/>
                      </a:endParaRPr>
                    </a:p>
                  </a:txBody>
                  <a:tcPr marT="45727" marB="45727"/>
                </a:tc>
                <a:extLst>
                  <a:ext uri="{0D108BD9-81ED-4DB2-BD59-A6C34878D82A}">
                    <a16:rowId xmlns:a16="http://schemas.microsoft.com/office/drawing/2014/main" val="10003"/>
                  </a:ext>
                </a:extLst>
              </a:tr>
            </a:tbl>
          </a:graphicData>
        </a:graphic>
      </p:graphicFrame>
      <p:sp>
        <p:nvSpPr>
          <p:cNvPr id="25622" name="Slide Number Placeholder 2">
            <a:extLst>
              <a:ext uri="{FF2B5EF4-FFF2-40B4-BE49-F238E27FC236}">
                <a16:creationId xmlns:a16="http://schemas.microsoft.com/office/drawing/2014/main" id="{C1A6D7B5-210D-FF4E-5C52-F3836DF307E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3982644-1BC5-43FE-A8BF-43FAE740CF11}" type="slidenum">
              <a:rPr lang="es-ES" altLang="en-US" sz="1400"/>
              <a:pPr>
                <a:spcBef>
                  <a:spcPct val="0"/>
                </a:spcBef>
                <a:buFontTx/>
                <a:buNone/>
              </a:pPr>
              <a:t>31</a:t>
            </a:fld>
            <a:endParaRPr lang="es-ES" altLang="en-US" sz="1400"/>
          </a:p>
        </p:txBody>
      </p:sp>
      <p:sp>
        <p:nvSpPr>
          <p:cNvPr id="5" name="TextBox 4">
            <a:extLst>
              <a:ext uri="{FF2B5EF4-FFF2-40B4-BE49-F238E27FC236}">
                <a16:creationId xmlns:a16="http://schemas.microsoft.com/office/drawing/2014/main" id="{936817DD-3E9B-2162-72F8-119E7FD7AD73}"/>
              </a:ext>
            </a:extLst>
          </p:cNvPr>
          <p:cNvSpPr txBox="1"/>
          <p:nvPr/>
        </p:nvSpPr>
        <p:spPr>
          <a:xfrm>
            <a:off x="2662685" y="5130594"/>
            <a:ext cx="7239000" cy="523875"/>
          </a:xfrm>
          <a:prstGeom prst="rect">
            <a:avLst/>
          </a:prstGeom>
          <a:noFill/>
        </p:spPr>
        <p:txBody>
          <a:bodyPr>
            <a:spAutoFit/>
          </a:bodyPr>
          <a:lstStyle/>
          <a:p>
            <a:pPr>
              <a:defRPr/>
            </a:pPr>
            <a:r>
              <a:rPr lang="en-US" sz="2400" dirty="0">
                <a:latin typeface="Times New Roman" panose="02020603050405020304" pitchFamily="18" charset="0"/>
                <a:ea typeface="ＭＳ Ｐゴシック" pitchFamily="-111" charset="-128"/>
                <a:cs typeface="Times New Roman" panose="02020603050405020304" pitchFamily="18" charset="0"/>
              </a:rPr>
              <a:t>Put it all together, you have a literature review</a:t>
            </a:r>
            <a:r>
              <a:rPr lang="en-US" sz="2800" dirty="0">
                <a:ea typeface="ＭＳ Ｐゴシック" pitchFamily="-111" charset="-128"/>
              </a:rPr>
              <a:t>!</a:t>
            </a:r>
          </a:p>
        </p:txBody>
      </p:sp>
      <p:sp>
        <p:nvSpPr>
          <p:cNvPr id="25621" name="TextBox 7">
            <a:extLst>
              <a:ext uri="{FF2B5EF4-FFF2-40B4-BE49-F238E27FC236}">
                <a16:creationId xmlns:a16="http://schemas.microsoft.com/office/drawing/2014/main" id="{13E32B5D-F0F1-9CEB-FB64-5C55C86D5542}"/>
              </a:ext>
            </a:extLst>
          </p:cNvPr>
          <p:cNvSpPr txBox="1">
            <a:spLocks noChangeArrowheads="1"/>
          </p:cNvSpPr>
          <p:nvPr/>
        </p:nvSpPr>
        <p:spPr bwMode="auto">
          <a:xfrm>
            <a:off x="2135560" y="5559322"/>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a:spcBef>
                <a:spcPct val="0"/>
              </a:spcBef>
              <a:buNone/>
            </a:pPr>
            <a:r>
              <a:rPr lang="en-US" altLang="en-US" sz="180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ext Box 1031">
            <a:extLst>
              <a:ext uri="{FF2B5EF4-FFF2-40B4-BE49-F238E27FC236}">
                <a16:creationId xmlns:a16="http://schemas.microsoft.com/office/drawing/2014/main" id="{C9A3D657-2F00-36DE-C11F-68F2BBF03E20}"/>
              </a:ext>
            </a:extLst>
          </p:cNvPr>
          <p:cNvSpPr txBox="1">
            <a:spLocks noChangeArrowheads="1"/>
          </p:cNvSpPr>
          <p:nvPr/>
        </p:nvSpPr>
        <p:spPr bwMode="auto">
          <a:xfrm>
            <a:off x="2713484" y="2470398"/>
            <a:ext cx="2209800" cy="19812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Writing and revision</a:t>
            </a:r>
          </a:p>
        </p:txBody>
      </p:sp>
      <p:sp>
        <p:nvSpPr>
          <p:cNvPr id="13" name="Right Arrow 12">
            <a:extLst>
              <a:ext uri="{FF2B5EF4-FFF2-40B4-BE49-F238E27FC236}">
                <a16:creationId xmlns:a16="http://schemas.microsoft.com/office/drawing/2014/main" id="{2E44B79D-F7B2-BF2C-3D26-12F93CF7D0E3}"/>
              </a:ext>
            </a:extLst>
          </p:cNvPr>
          <p:cNvSpPr/>
          <p:nvPr/>
        </p:nvSpPr>
        <p:spPr>
          <a:xfrm rot="12933531">
            <a:off x="4826447" y="4002337"/>
            <a:ext cx="1168400" cy="358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628" name="Text Box 1029">
            <a:extLst>
              <a:ext uri="{FF2B5EF4-FFF2-40B4-BE49-F238E27FC236}">
                <a16:creationId xmlns:a16="http://schemas.microsoft.com/office/drawing/2014/main" id="{01F4F0E9-C964-0CE6-FF8E-01384C0E5D44}"/>
              </a:ext>
            </a:extLst>
          </p:cNvPr>
          <p:cNvSpPr txBox="1">
            <a:spLocks noChangeArrowheads="1"/>
          </p:cNvSpPr>
          <p:nvPr/>
        </p:nvSpPr>
        <p:spPr bwMode="auto">
          <a:xfrm>
            <a:off x="7928867" y="2201055"/>
            <a:ext cx="2286000" cy="762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200">
              <a:ea typeface="ＭＳ Ｐゴシック" panose="020B0600070205080204" pitchFamily="34" charset="-128"/>
            </a:endParaRPr>
          </a:p>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Ref Works</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 name="Right Arrow 8">
            <a:extLst>
              <a:ext uri="{FF2B5EF4-FFF2-40B4-BE49-F238E27FC236}">
                <a16:creationId xmlns:a16="http://schemas.microsoft.com/office/drawing/2014/main" id="{33F64FCF-DD72-DAF2-CA01-332680ED5B25}"/>
              </a:ext>
            </a:extLst>
          </p:cNvPr>
          <p:cNvSpPr/>
          <p:nvPr/>
        </p:nvSpPr>
        <p:spPr>
          <a:xfrm rot="1822748">
            <a:off x="6707634" y="2046537"/>
            <a:ext cx="1155700" cy="439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630" name="Text Box 1030">
            <a:extLst>
              <a:ext uri="{FF2B5EF4-FFF2-40B4-BE49-F238E27FC236}">
                <a16:creationId xmlns:a16="http://schemas.microsoft.com/office/drawing/2014/main" id="{B298A1D2-1576-5151-39B6-12B4A978CB88}"/>
              </a:ext>
            </a:extLst>
          </p:cNvPr>
          <p:cNvSpPr txBox="1">
            <a:spLocks noChangeArrowheads="1"/>
          </p:cNvSpPr>
          <p:nvPr/>
        </p:nvSpPr>
        <p:spPr bwMode="auto">
          <a:xfrm>
            <a:off x="5951984" y="3861048"/>
            <a:ext cx="3733800" cy="12954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Work with Articles and Brain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 name="Right Arrow 9">
            <a:extLst>
              <a:ext uri="{FF2B5EF4-FFF2-40B4-BE49-F238E27FC236}">
                <a16:creationId xmlns:a16="http://schemas.microsoft.com/office/drawing/2014/main" id="{65F61C22-4940-0715-D655-DDAFFA56FEC7}"/>
              </a:ext>
            </a:extLst>
          </p:cNvPr>
          <p:cNvSpPr/>
          <p:nvPr/>
        </p:nvSpPr>
        <p:spPr>
          <a:xfrm rot="5852185">
            <a:off x="5727353" y="2545804"/>
            <a:ext cx="1974850" cy="554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644" name="Slide Number Placeholder 1">
            <a:extLst>
              <a:ext uri="{FF2B5EF4-FFF2-40B4-BE49-F238E27FC236}">
                <a16:creationId xmlns:a16="http://schemas.microsoft.com/office/drawing/2014/main" id="{41BEA340-23D4-C8EF-FC0B-CFB874D4400A}"/>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A5827AF-BE07-41A1-BF4B-E7A56EEA25D9}" type="slidenum">
              <a:rPr lang="es-ES" altLang="en-US" sz="1400"/>
              <a:pPr>
                <a:spcBef>
                  <a:spcPct val="0"/>
                </a:spcBef>
                <a:buFontTx/>
                <a:buNone/>
              </a:pPr>
              <a:t>32</a:t>
            </a:fld>
            <a:endParaRPr lang="es-ES" altLang="en-US" sz="1400"/>
          </a:p>
        </p:txBody>
      </p:sp>
      <p:sp>
        <p:nvSpPr>
          <p:cNvPr id="26633" name="Text Box 1028">
            <a:extLst>
              <a:ext uri="{FF2B5EF4-FFF2-40B4-BE49-F238E27FC236}">
                <a16:creationId xmlns:a16="http://schemas.microsoft.com/office/drawing/2014/main" id="{88F79DAF-FD97-34E9-0653-C2DA3FDB795B}"/>
              </a:ext>
            </a:extLst>
          </p:cNvPr>
          <p:cNvSpPr txBox="1">
            <a:spLocks noChangeArrowheads="1"/>
          </p:cNvSpPr>
          <p:nvPr/>
        </p:nvSpPr>
        <p:spPr bwMode="auto">
          <a:xfrm>
            <a:off x="5609084" y="793998"/>
            <a:ext cx="3733800" cy="1143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Research and Collect Information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8" name="Right Arrow 7">
            <a:extLst>
              <a:ext uri="{FF2B5EF4-FFF2-40B4-BE49-F238E27FC236}">
                <a16:creationId xmlns:a16="http://schemas.microsoft.com/office/drawing/2014/main" id="{886F13FC-AD8C-A350-99EC-AA5D7C223988}"/>
              </a:ext>
            </a:extLst>
          </p:cNvPr>
          <p:cNvSpPr/>
          <p:nvPr/>
        </p:nvSpPr>
        <p:spPr>
          <a:xfrm rot="1042789">
            <a:off x="4499423" y="820986"/>
            <a:ext cx="1258887" cy="412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635" name="Text Box 1027">
            <a:extLst>
              <a:ext uri="{FF2B5EF4-FFF2-40B4-BE49-F238E27FC236}">
                <a16:creationId xmlns:a16="http://schemas.microsoft.com/office/drawing/2014/main" id="{1A161533-3643-740D-3F58-BA148995997F}"/>
              </a:ext>
            </a:extLst>
          </p:cNvPr>
          <p:cNvSpPr txBox="1">
            <a:spLocks noChangeArrowheads="1"/>
          </p:cNvSpPr>
          <p:nvPr/>
        </p:nvSpPr>
        <p:spPr bwMode="auto">
          <a:xfrm>
            <a:off x="2942084" y="565398"/>
            <a:ext cx="1676400" cy="9906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3600" b="1">
                <a:ea typeface="ＭＳ Ｐゴシック" panose="020B0600070205080204" pitchFamily="34" charset="-128"/>
              </a:rPr>
              <a:t>Topic</a:t>
            </a:r>
            <a:r>
              <a:rPr lang="en-US" altLang="en-US" sz="1200">
                <a:ea typeface="ＭＳ Ｐゴシック" panose="020B0600070205080204" pitchFamily="34" charset="-128"/>
              </a:rPr>
              <a:t>	</a:t>
            </a:r>
            <a:endParaRPr lang="en-US" altLang="en-US" sz="1800">
              <a:ea typeface="ＭＳ Ｐゴシック" panose="020B0600070205080204" pitchFamily="34" charset="-128"/>
            </a:endParaRPr>
          </a:p>
        </p:txBody>
      </p:sp>
      <p:sp>
        <p:nvSpPr>
          <p:cNvPr id="11" name="Right Arrow 10">
            <a:extLst>
              <a:ext uri="{FF2B5EF4-FFF2-40B4-BE49-F238E27FC236}">
                <a16:creationId xmlns:a16="http://schemas.microsoft.com/office/drawing/2014/main" id="{32F56737-2960-34BD-2638-708DCD7F4F41}"/>
              </a:ext>
            </a:extLst>
          </p:cNvPr>
          <p:cNvSpPr/>
          <p:nvPr/>
        </p:nvSpPr>
        <p:spPr>
          <a:xfrm rot="6549983">
            <a:off x="7882385" y="3280024"/>
            <a:ext cx="714375" cy="409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ight Arrow 11">
            <a:extLst>
              <a:ext uri="{FF2B5EF4-FFF2-40B4-BE49-F238E27FC236}">
                <a16:creationId xmlns:a16="http://schemas.microsoft.com/office/drawing/2014/main" id="{B68E9609-C646-0307-21F7-D34F3225560F}"/>
              </a:ext>
            </a:extLst>
          </p:cNvPr>
          <p:cNvSpPr/>
          <p:nvPr/>
        </p:nvSpPr>
        <p:spPr>
          <a:xfrm rot="14952650">
            <a:off x="8618985" y="3280024"/>
            <a:ext cx="711200" cy="409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ight Arrow 13">
            <a:extLst>
              <a:ext uri="{FF2B5EF4-FFF2-40B4-BE49-F238E27FC236}">
                <a16:creationId xmlns:a16="http://schemas.microsoft.com/office/drawing/2014/main" id="{EB131D11-F522-29B9-09EA-5524500B295F}"/>
              </a:ext>
            </a:extLst>
          </p:cNvPr>
          <p:cNvSpPr/>
          <p:nvPr/>
        </p:nvSpPr>
        <p:spPr>
          <a:xfrm rot="18623777">
            <a:off x="4689129" y="2193380"/>
            <a:ext cx="1241425" cy="360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7" name="Straight Arrow Connector 16">
            <a:extLst>
              <a:ext uri="{FF2B5EF4-FFF2-40B4-BE49-F238E27FC236}">
                <a16:creationId xmlns:a16="http://schemas.microsoft.com/office/drawing/2014/main" id="{62EA65A8-ECB6-A1B9-0A9B-859D62A0F10F}"/>
              </a:ext>
            </a:extLst>
          </p:cNvPr>
          <p:cNvCxnSpPr/>
          <p:nvPr/>
        </p:nvCxnSpPr>
        <p:spPr>
          <a:xfrm flipH="1" flipV="1">
            <a:off x="4389884" y="1555998"/>
            <a:ext cx="1557338" cy="230505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9E9E0EF-587D-F0CF-C492-0BA46E971F21}"/>
              </a:ext>
            </a:extLst>
          </p:cNvPr>
          <p:cNvCxnSpPr/>
          <p:nvPr/>
        </p:nvCxnSpPr>
        <p:spPr>
          <a:xfrm rot="5400000">
            <a:off x="2942084" y="1936998"/>
            <a:ext cx="914400" cy="15240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1201141-909D-1299-8AB2-E2DB75BB4BD1}"/>
              </a:ext>
            </a:extLst>
          </p:cNvPr>
          <p:cNvCxnSpPr>
            <a:endCxn id="26635" idx="2"/>
          </p:cNvCxnSpPr>
          <p:nvPr/>
        </p:nvCxnSpPr>
        <p:spPr>
          <a:xfrm rot="16200000" flipV="1">
            <a:off x="3437384" y="1898898"/>
            <a:ext cx="914400" cy="22860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CF77B76-9881-B0A6-4EC9-2C693C027F9D}"/>
              </a:ext>
            </a:extLst>
          </p:cNvPr>
          <p:cNvCxnSpPr/>
          <p:nvPr/>
        </p:nvCxnSpPr>
        <p:spPr>
          <a:xfrm>
            <a:off x="4618484" y="1327398"/>
            <a:ext cx="1638300" cy="253365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26643" name="TextBox 7">
            <a:extLst>
              <a:ext uri="{FF2B5EF4-FFF2-40B4-BE49-F238E27FC236}">
                <a16:creationId xmlns:a16="http://schemas.microsoft.com/office/drawing/2014/main" id="{586FF2D1-00BC-7CE4-EBBA-FE2E8BE7412F}"/>
              </a:ext>
            </a:extLst>
          </p:cNvPr>
          <p:cNvSpPr txBox="1">
            <a:spLocks noChangeArrowheads="1"/>
          </p:cNvSpPr>
          <p:nvPr/>
        </p:nvSpPr>
        <p:spPr bwMode="auto">
          <a:xfrm>
            <a:off x="2655192" y="5280191"/>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a:spcBef>
                <a:spcPct val="0"/>
              </a:spcBef>
              <a:buNone/>
            </a:pPr>
            <a:r>
              <a:rPr lang="en-US" altLang="en-US" sz="1800" dirty="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854CB166-9CBE-EC22-5D49-2DBAF7283DC8}"/>
              </a:ext>
            </a:extLst>
          </p:cNvPr>
          <p:cNvSpPr>
            <a:spLocks noGrp="1" noChangeArrowheads="1"/>
          </p:cNvSpPr>
          <p:nvPr>
            <p:ph type="ctrTitle"/>
          </p:nvPr>
        </p:nvSpPr>
        <p:spPr/>
        <p:txBody>
          <a:bodyPr/>
          <a:lstStyle/>
          <a:p>
            <a:pPr>
              <a:defRPr/>
            </a:pPr>
            <a:r>
              <a:rPr lang="en-US" sz="3600" dirty="0">
                <a:solidFill>
                  <a:schemeClr val="tx2">
                    <a:satMod val="130000"/>
                  </a:schemeClr>
                </a:solidFill>
                <a:latin typeface="Times New Roman" panose="02020603050405020304" pitchFamily="18" charset="0"/>
                <a:cs typeface="Times New Roman" panose="02020603050405020304" pitchFamily="18" charset="0"/>
              </a:rPr>
              <a:t>Overview of the Process</a:t>
            </a:r>
          </a:p>
        </p:txBody>
      </p:sp>
      <p:sp>
        <p:nvSpPr>
          <p:cNvPr id="27654" name="Slide Number Placeholder 1">
            <a:extLst>
              <a:ext uri="{FF2B5EF4-FFF2-40B4-BE49-F238E27FC236}">
                <a16:creationId xmlns:a16="http://schemas.microsoft.com/office/drawing/2014/main" id="{10AC1338-F1DE-934F-DCE8-9875387BDA8E}"/>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4E38616-B0B3-4709-A890-35410A64D981}" type="slidenum">
              <a:rPr lang="es-ES" altLang="en-US" sz="1400"/>
              <a:pPr>
                <a:spcBef>
                  <a:spcPct val="0"/>
                </a:spcBef>
                <a:buFontTx/>
                <a:buNone/>
              </a:pPr>
              <a:t>33</a:t>
            </a:fld>
            <a:endParaRPr lang="es-ES" altLang="en-US" sz="1400"/>
          </a:p>
        </p:txBody>
      </p:sp>
      <p:sp>
        <p:nvSpPr>
          <p:cNvPr id="27651" name="Text Box 1027">
            <a:extLst>
              <a:ext uri="{FF2B5EF4-FFF2-40B4-BE49-F238E27FC236}">
                <a16:creationId xmlns:a16="http://schemas.microsoft.com/office/drawing/2014/main" id="{90F104E0-46A8-1C4C-97BE-00C50BAE8FFF}"/>
              </a:ext>
            </a:extLst>
          </p:cNvPr>
          <p:cNvSpPr txBox="1">
            <a:spLocks noChangeArrowheads="1"/>
          </p:cNvSpPr>
          <p:nvPr/>
        </p:nvSpPr>
        <p:spPr bwMode="auto">
          <a:xfrm>
            <a:off x="1271464" y="686584"/>
            <a:ext cx="1676400" cy="9906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3600" b="1">
                <a:latin typeface="Times New Roman" panose="02020603050405020304" pitchFamily="18" charset="0"/>
                <a:ea typeface="ＭＳ Ｐゴシック" panose="020B0600070205080204" pitchFamily="34" charset="-128"/>
                <a:cs typeface="Times New Roman" panose="02020603050405020304" pitchFamily="18" charset="0"/>
              </a:rPr>
              <a:t>Topic</a:t>
            </a:r>
            <a:r>
              <a:rPr lang="en-US" altLang="en-US" sz="1200">
                <a:ea typeface="ＭＳ Ｐゴシック" panose="020B0600070205080204" pitchFamily="34" charset="-128"/>
                <a:cs typeface="Times New Roman" panose="02020603050405020304" pitchFamily="18" charset="0"/>
              </a:rPr>
              <a:t>	</a:t>
            </a:r>
            <a:endParaRPr lang="en-US" altLang="en-US" sz="1800">
              <a:ea typeface="ＭＳ Ｐゴシック" panose="020B0600070205080204" pitchFamily="34" charset="-128"/>
              <a:cs typeface="Times New Roman" panose="02020603050405020304" pitchFamily="18" charset="0"/>
            </a:endParaRPr>
          </a:p>
        </p:txBody>
      </p:sp>
      <p:sp>
        <p:nvSpPr>
          <p:cNvPr id="27652" name="TextBox 19">
            <a:extLst>
              <a:ext uri="{FF2B5EF4-FFF2-40B4-BE49-F238E27FC236}">
                <a16:creationId xmlns:a16="http://schemas.microsoft.com/office/drawing/2014/main" id="{962DB7EA-F30E-AF03-3107-DD472D5BCDC1}"/>
              </a:ext>
            </a:extLst>
          </p:cNvPr>
          <p:cNvSpPr txBox="1">
            <a:spLocks noChangeArrowheads="1"/>
          </p:cNvSpPr>
          <p:nvPr/>
        </p:nvSpPr>
        <p:spPr bwMode="auto">
          <a:xfrm>
            <a:off x="1271464" y="1844824"/>
            <a:ext cx="9793088"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
            </a:pPr>
            <a:r>
              <a:rPr lang="en-US" altLang="en-US" sz="3600" dirty="0">
                <a:latin typeface="Times New Roman" panose="02020603050405020304" pitchFamily="18" charset="0"/>
                <a:ea typeface="ＭＳ Ｐゴシック" panose="020B0600070205080204" pitchFamily="34" charset="-128"/>
                <a:cs typeface="Times New Roman" panose="02020603050405020304" pitchFamily="18" charset="0"/>
              </a:rPr>
              <a:t>Initial topic won’t be your final topic!</a:t>
            </a:r>
          </a:p>
          <a:p>
            <a:pPr>
              <a:spcBef>
                <a:spcPct val="0"/>
              </a:spcBef>
              <a:buFont typeface="Wingdings" panose="05000000000000000000" pitchFamily="2" charset="2"/>
              <a:buChar char="§"/>
            </a:pPr>
            <a:r>
              <a:rPr lang="en-US" altLang="en-US" sz="3600" dirty="0">
                <a:latin typeface="Times New Roman" panose="02020603050405020304" pitchFamily="18" charset="0"/>
                <a:ea typeface="ＭＳ Ｐゴシック" panose="020B0600070205080204" pitchFamily="34" charset="-128"/>
                <a:cs typeface="Times New Roman" panose="02020603050405020304" pitchFamily="18" charset="0"/>
              </a:rPr>
              <a:t>Choose, explore, focus</a:t>
            </a:r>
          </a:p>
          <a:p>
            <a:pPr>
              <a:spcBef>
                <a:spcPct val="0"/>
              </a:spcBef>
              <a:buFont typeface="Wingdings" panose="05000000000000000000" pitchFamily="2" charset="2"/>
              <a:buChar char="§"/>
            </a:pPr>
            <a:r>
              <a:rPr lang="en-US" altLang="en-US" sz="3600" dirty="0">
                <a:latin typeface="Times New Roman" panose="02020603050405020304" pitchFamily="18" charset="0"/>
                <a:ea typeface="ＭＳ Ｐゴシック" panose="020B0600070205080204" pitchFamily="34" charset="-128"/>
                <a:cs typeface="Times New Roman" panose="02020603050405020304" pitchFamily="18" charset="0"/>
              </a:rPr>
              <a:t>Refine as you go based on:</a:t>
            </a:r>
          </a:p>
          <a:p>
            <a:pPr lvl="1">
              <a:spcBef>
                <a:spcPct val="0"/>
              </a:spcBef>
              <a:buFont typeface="Wingdings" panose="05000000000000000000" pitchFamily="2" charset="2"/>
              <a:buChar char="§"/>
            </a:pPr>
            <a:r>
              <a:rPr lang="en-US" altLang="en-US" sz="3600" dirty="0">
                <a:latin typeface="Times New Roman" panose="02020603050405020304" pitchFamily="18" charset="0"/>
                <a:ea typeface="ＭＳ Ｐゴシック" panose="020B0600070205080204" pitchFamily="34" charset="-128"/>
                <a:cs typeface="Times New Roman" panose="02020603050405020304" pitchFamily="18" charset="0"/>
              </a:rPr>
              <a:t>Availability of research – too much? too little?</a:t>
            </a:r>
          </a:p>
          <a:p>
            <a:pPr lvl="1">
              <a:spcBef>
                <a:spcPct val="0"/>
              </a:spcBef>
              <a:buFont typeface="Wingdings" panose="05000000000000000000" pitchFamily="2" charset="2"/>
              <a:buChar char="§"/>
            </a:pPr>
            <a:r>
              <a:rPr lang="en-US" altLang="en-US" sz="3600" dirty="0">
                <a:latin typeface="Times New Roman" panose="02020603050405020304" pitchFamily="18" charset="0"/>
                <a:ea typeface="ＭＳ Ｐゴシック" panose="020B0600070205080204" pitchFamily="34" charset="-128"/>
                <a:cs typeface="Times New Roman" panose="02020603050405020304" pitchFamily="18" charset="0"/>
              </a:rPr>
              <a:t>Discovering new ideas</a:t>
            </a:r>
          </a:p>
          <a:p>
            <a:pPr lvl="1">
              <a:spcBef>
                <a:spcPct val="0"/>
              </a:spcBef>
              <a:buFont typeface="Wingdings" panose="05000000000000000000" pitchFamily="2" charset="2"/>
              <a:buChar char="§"/>
            </a:pPr>
            <a:r>
              <a:rPr lang="en-US" altLang="en-US" sz="3600" dirty="0">
                <a:latin typeface="Times New Roman" panose="02020603050405020304" pitchFamily="18" charset="0"/>
                <a:ea typeface="ＭＳ Ｐゴシック" panose="020B0600070205080204" pitchFamily="34" charset="-128"/>
                <a:cs typeface="Times New Roman" panose="02020603050405020304" pitchFamily="18" charset="0"/>
              </a:rPr>
              <a:t>Writing progress</a:t>
            </a:r>
          </a:p>
        </p:txBody>
      </p:sp>
      <p:sp>
        <p:nvSpPr>
          <p:cNvPr id="27653" name="TextBox 7">
            <a:extLst>
              <a:ext uri="{FF2B5EF4-FFF2-40B4-BE49-F238E27FC236}">
                <a16:creationId xmlns:a16="http://schemas.microsoft.com/office/drawing/2014/main" id="{E001F191-6415-4B72-56BF-C4D8A3FDD930}"/>
              </a:ext>
            </a:extLst>
          </p:cNvPr>
          <p:cNvSpPr txBox="1">
            <a:spLocks noChangeArrowheads="1"/>
          </p:cNvSpPr>
          <p:nvPr/>
        </p:nvSpPr>
        <p:spPr bwMode="auto">
          <a:xfrm>
            <a:off x="1787525" y="5428784"/>
            <a:ext cx="755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lvl="1" algn="just">
              <a:spcBef>
                <a:spcPct val="0"/>
              </a:spcBef>
              <a:buNone/>
            </a:pPr>
            <a:r>
              <a:rPr lang="en-US" altLang="en-US" sz="1800" dirty="0">
                <a:solidFill>
                  <a:srgbClr val="FF0000"/>
                </a:solidFill>
                <a:latin typeface="Times New Roman" panose="02020603050405020304" pitchFamily="18" charset="0"/>
                <a:cs typeface="Times New Roman" panose="02020603050405020304" pitchFamily="18" charset="0"/>
              </a:rPr>
              <a:t>(Adapted from Researching &amp; Writing a Literature Review, NCSU Libraries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80" name="Slide Number Placeholder 1">
            <a:extLst>
              <a:ext uri="{FF2B5EF4-FFF2-40B4-BE49-F238E27FC236}">
                <a16:creationId xmlns:a16="http://schemas.microsoft.com/office/drawing/2014/main" id="{478EC4A9-95A9-6D2F-AC62-A4E3B3A88D78}"/>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D598D93-90BA-4B07-AACF-90AD7FD7ED16}" type="slidenum">
              <a:rPr lang="es-ES" altLang="en-US" sz="1400"/>
              <a:pPr>
                <a:spcBef>
                  <a:spcPct val="0"/>
                </a:spcBef>
                <a:buFontTx/>
                <a:buNone/>
              </a:pPr>
              <a:t>34</a:t>
            </a:fld>
            <a:endParaRPr lang="es-ES" altLang="en-US" sz="1400"/>
          </a:p>
        </p:txBody>
      </p:sp>
      <p:sp>
        <p:nvSpPr>
          <p:cNvPr id="28675" name="Text Box 1028">
            <a:extLst>
              <a:ext uri="{FF2B5EF4-FFF2-40B4-BE49-F238E27FC236}">
                <a16:creationId xmlns:a16="http://schemas.microsoft.com/office/drawing/2014/main" id="{A464DEF9-32AF-1FC7-E8B0-81C81C434DC9}"/>
              </a:ext>
            </a:extLst>
          </p:cNvPr>
          <p:cNvSpPr txBox="1">
            <a:spLocks noChangeArrowheads="1"/>
          </p:cNvSpPr>
          <p:nvPr/>
        </p:nvSpPr>
        <p:spPr bwMode="auto">
          <a:xfrm>
            <a:off x="4446712" y="1431702"/>
            <a:ext cx="3733800" cy="1143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Research and Collect Information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8" name="Right Arrow 7">
            <a:extLst>
              <a:ext uri="{FF2B5EF4-FFF2-40B4-BE49-F238E27FC236}">
                <a16:creationId xmlns:a16="http://schemas.microsoft.com/office/drawing/2014/main" id="{C3743852-5E4F-D911-0045-83EE013B7889}"/>
              </a:ext>
            </a:extLst>
          </p:cNvPr>
          <p:cNvSpPr/>
          <p:nvPr/>
        </p:nvSpPr>
        <p:spPr>
          <a:xfrm rot="1042789">
            <a:off x="3260851" y="1452340"/>
            <a:ext cx="1258887" cy="412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677" name="Text Box 1027">
            <a:extLst>
              <a:ext uri="{FF2B5EF4-FFF2-40B4-BE49-F238E27FC236}">
                <a16:creationId xmlns:a16="http://schemas.microsoft.com/office/drawing/2014/main" id="{8108F0E0-0F7D-534F-CC0D-607FDECD9B34}"/>
              </a:ext>
            </a:extLst>
          </p:cNvPr>
          <p:cNvSpPr txBox="1">
            <a:spLocks noChangeArrowheads="1"/>
          </p:cNvSpPr>
          <p:nvPr/>
        </p:nvSpPr>
        <p:spPr bwMode="auto">
          <a:xfrm>
            <a:off x="1703512" y="1196752"/>
            <a:ext cx="1676400" cy="9906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Topic</a:t>
            </a:r>
            <a:r>
              <a:rPr lang="en-US" altLang="en-US" sz="1200">
                <a:ea typeface="ＭＳ Ｐゴシック" panose="020B0600070205080204" pitchFamily="34" charset="-128"/>
                <a:cs typeface="Times New Roman" panose="02020603050405020304" pitchFamily="18" charset="0"/>
              </a:rPr>
              <a:t>	</a:t>
            </a:r>
            <a:endParaRPr lang="en-US" altLang="en-US" sz="1800">
              <a:ea typeface="ＭＳ Ｐゴシック" panose="020B0600070205080204" pitchFamily="34" charset="-128"/>
              <a:cs typeface="Times New Roman" panose="02020603050405020304" pitchFamily="18" charset="0"/>
            </a:endParaRPr>
          </a:p>
        </p:txBody>
      </p:sp>
      <p:sp>
        <p:nvSpPr>
          <p:cNvPr id="28678" name="TextBox 19">
            <a:extLst>
              <a:ext uri="{FF2B5EF4-FFF2-40B4-BE49-F238E27FC236}">
                <a16:creationId xmlns:a16="http://schemas.microsoft.com/office/drawing/2014/main" id="{62737677-00B7-44DA-C6F4-40424DFAC1FE}"/>
              </a:ext>
            </a:extLst>
          </p:cNvPr>
          <p:cNvSpPr txBox="1">
            <a:spLocks noChangeArrowheads="1"/>
          </p:cNvSpPr>
          <p:nvPr/>
        </p:nvSpPr>
        <p:spPr bwMode="auto">
          <a:xfrm>
            <a:off x="865312" y="3711352"/>
            <a:ext cx="8153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 typeface="Wingdings" panose="05000000000000000000" pitchFamily="2" charset="2"/>
              <a:buChar char="§"/>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Search databases</a:t>
            </a:r>
          </a:p>
          <a:p>
            <a:pPr eaLnBrk="1" hangingPunct="1">
              <a:spcBef>
                <a:spcPct val="0"/>
              </a:spcBef>
              <a:buFont typeface="Wingdings" panose="05000000000000000000" pitchFamily="2" charset="2"/>
              <a:buChar char="§"/>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Find, evaluate, and select articles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1029">
            <a:extLst>
              <a:ext uri="{FF2B5EF4-FFF2-40B4-BE49-F238E27FC236}">
                <a16:creationId xmlns:a16="http://schemas.microsoft.com/office/drawing/2014/main" id="{606AF245-5D0C-B550-288C-25DEB2FA3818}"/>
              </a:ext>
            </a:extLst>
          </p:cNvPr>
          <p:cNvSpPr txBox="1">
            <a:spLocks noChangeArrowheads="1"/>
          </p:cNvSpPr>
          <p:nvPr/>
        </p:nvSpPr>
        <p:spPr bwMode="auto">
          <a:xfrm>
            <a:off x="7680176" y="2667000"/>
            <a:ext cx="2286000" cy="762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200">
              <a:ea typeface="ＭＳ Ｐゴシック" panose="020B0600070205080204" pitchFamily="34" charset="-128"/>
            </a:endParaRPr>
          </a:p>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Ref Works</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 name="Right Arrow 8">
            <a:extLst>
              <a:ext uri="{FF2B5EF4-FFF2-40B4-BE49-F238E27FC236}">
                <a16:creationId xmlns:a16="http://schemas.microsoft.com/office/drawing/2014/main" id="{11C23024-A722-C795-C1B7-C346B968B6EE}"/>
              </a:ext>
            </a:extLst>
          </p:cNvPr>
          <p:cNvSpPr/>
          <p:nvPr/>
        </p:nvSpPr>
        <p:spPr>
          <a:xfrm rot="1822748">
            <a:off x="6721326" y="2319339"/>
            <a:ext cx="1155700" cy="439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700" name="Text Box 1030">
            <a:extLst>
              <a:ext uri="{FF2B5EF4-FFF2-40B4-BE49-F238E27FC236}">
                <a16:creationId xmlns:a16="http://schemas.microsoft.com/office/drawing/2014/main" id="{DD76F2F9-803E-09F7-A811-A6546D2869AD}"/>
              </a:ext>
            </a:extLst>
          </p:cNvPr>
          <p:cNvSpPr txBox="1">
            <a:spLocks noChangeArrowheads="1"/>
          </p:cNvSpPr>
          <p:nvPr/>
        </p:nvSpPr>
        <p:spPr bwMode="auto">
          <a:xfrm>
            <a:off x="6207059" y="4038760"/>
            <a:ext cx="3733800" cy="12954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Work with Articles and Brain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 name="Right Arrow 9">
            <a:extLst>
              <a:ext uri="{FF2B5EF4-FFF2-40B4-BE49-F238E27FC236}">
                <a16:creationId xmlns:a16="http://schemas.microsoft.com/office/drawing/2014/main" id="{4DB01DC9-34BC-B019-7CFA-68520BFF0420}"/>
              </a:ext>
            </a:extLst>
          </p:cNvPr>
          <p:cNvSpPr/>
          <p:nvPr/>
        </p:nvSpPr>
        <p:spPr>
          <a:xfrm rot="5852185">
            <a:off x="5852964" y="2719388"/>
            <a:ext cx="1776413" cy="554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708" name="Slide Number Placeholder 1">
            <a:extLst>
              <a:ext uri="{FF2B5EF4-FFF2-40B4-BE49-F238E27FC236}">
                <a16:creationId xmlns:a16="http://schemas.microsoft.com/office/drawing/2014/main" id="{8D61B8A1-D788-E539-643A-30BDF068172F}"/>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08B5ACB-3E5A-4648-B679-AC51AE7C1544}" type="slidenum">
              <a:rPr lang="es-ES" altLang="en-US" sz="1400"/>
              <a:pPr>
                <a:spcBef>
                  <a:spcPct val="0"/>
                </a:spcBef>
                <a:buFontTx/>
                <a:buNone/>
              </a:pPr>
              <a:t>35</a:t>
            </a:fld>
            <a:endParaRPr lang="es-ES" altLang="en-US" sz="1400"/>
          </a:p>
        </p:txBody>
      </p:sp>
      <p:sp>
        <p:nvSpPr>
          <p:cNvPr id="29703" name="Text Box 1028">
            <a:extLst>
              <a:ext uri="{FF2B5EF4-FFF2-40B4-BE49-F238E27FC236}">
                <a16:creationId xmlns:a16="http://schemas.microsoft.com/office/drawing/2014/main" id="{380A5364-270D-56F1-3595-5C323710D615}"/>
              </a:ext>
            </a:extLst>
          </p:cNvPr>
          <p:cNvSpPr txBox="1">
            <a:spLocks noChangeArrowheads="1"/>
          </p:cNvSpPr>
          <p:nvPr/>
        </p:nvSpPr>
        <p:spPr bwMode="auto">
          <a:xfrm>
            <a:off x="5622776" y="1066800"/>
            <a:ext cx="3733800" cy="1143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Research and Collect Informatio</a:t>
            </a:r>
            <a:r>
              <a:rPr lang="en-US" altLang="en-US" sz="2800" b="1">
                <a:ea typeface="ＭＳ Ｐゴシック" panose="020B0600070205080204" pitchFamily="34" charset="-128"/>
                <a:cs typeface="Times New Roman" panose="02020603050405020304" pitchFamily="18" charset="0"/>
              </a:rPr>
              <a:t>n</a:t>
            </a:r>
            <a:endParaRPr lang="en-US" altLang="en-US" sz="2800">
              <a:ea typeface="ＭＳ Ｐゴシック" panose="020B0600070205080204" pitchFamily="34" charset="-128"/>
              <a:cs typeface="Times New Roman" panose="02020603050405020304" pitchFamily="18" charset="0"/>
            </a:endParaRPr>
          </a:p>
        </p:txBody>
      </p:sp>
      <p:sp>
        <p:nvSpPr>
          <p:cNvPr id="8" name="Right Arrow 7">
            <a:extLst>
              <a:ext uri="{FF2B5EF4-FFF2-40B4-BE49-F238E27FC236}">
                <a16:creationId xmlns:a16="http://schemas.microsoft.com/office/drawing/2014/main" id="{2073BE0A-EF79-9D7B-3FEF-21B4282ED546}"/>
              </a:ext>
            </a:extLst>
          </p:cNvPr>
          <p:cNvSpPr/>
          <p:nvPr/>
        </p:nvSpPr>
        <p:spPr>
          <a:xfrm rot="1042789">
            <a:off x="4513115" y="1093788"/>
            <a:ext cx="1258887" cy="412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705" name="Text Box 1027">
            <a:extLst>
              <a:ext uri="{FF2B5EF4-FFF2-40B4-BE49-F238E27FC236}">
                <a16:creationId xmlns:a16="http://schemas.microsoft.com/office/drawing/2014/main" id="{E7D83422-C162-DDD7-A62E-920C453DE91B}"/>
              </a:ext>
            </a:extLst>
          </p:cNvPr>
          <p:cNvSpPr txBox="1">
            <a:spLocks noChangeArrowheads="1"/>
          </p:cNvSpPr>
          <p:nvPr/>
        </p:nvSpPr>
        <p:spPr bwMode="auto">
          <a:xfrm>
            <a:off x="2803376" y="774700"/>
            <a:ext cx="1676400" cy="9906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Topic</a:t>
            </a:r>
            <a:r>
              <a:rPr lang="en-US" altLang="en-US" sz="1200">
                <a:ea typeface="ＭＳ Ｐゴシック" panose="020B0600070205080204" pitchFamily="34" charset="-128"/>
                <a:cs typeface="Times New Roman" panose="02020603050405020304" pitchFamily="18" charset="0"/>
              </a:rPr>
              <a:t>	</a:t>
            </a:r>
            <a:endParaRPr lang="en-US" altLang="en-US" sz="1800">
              <a:ea typeface="ＭＳ Ｐゴシック" panose="020B0600070205080204" pitchFamily="34" charset="-128"/>
              <a:cs typeface="Times New Roman" panose="02020603050405020304" pitchFamily="18" charset="0"/>
            </a:endParaRPr>
          </a:p>
        </p:txBody>
      </p:sp>
      <p:sp>
        <p:nvSpPr>
          <p:cNvPr id="39946" name="TextBox 19">
            <a:extLst>
              <a:ext uri="{FF2B5EF4-FFF2-40B4-BE49-F238E27FC236}">
                <a16:creationId xmlns:a16="http://schemas.microsoft.com/office/drawing/2014/main" id="{887FC7EF-9197-29E5-52DE-FE31F196E2E5}"/>
              </a:ext>
            </a:extLst>
          </p:cNvPr>
          <p:cNvSpPr txBox="1">
            <a:spLocks noChangeArrowheads="1"/>
          </p:cNvSpPr>
          <p:nvPr/>
        </p:nvSpPr>
        <p:spPr bwMode="auto">
          <a:xfrm>
            <a:off x="2127101" y="2478089"/>
            <a:ext cx="35814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271463" indent="-271463"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Save your work in a    citation mgr.</a:t>
            </a:r>
          </a:p>
          <a:p>
            <a:pPr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 Read, analyze, synthesize</a:t>
            </a:r>
          </a:p>
          <a:p>
            <a:pPr marL="271463" indent="-271463"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Develop your conceptual framework</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1029">
            <a:extLst>
              <a:ext uri="{FF2B5EF4-FFF2-40B4-BE49-F238E27FC236}">
                <a16:creationId xmlns:a16="http://schemas.microsoft.com/office/drawing/2014/main" id="{11FB53CB-586C-D867-46CC-419F72E42286}"/>
              </a:ext>
            </a:extLst>
          </p:cNvPr>
          <p:cNvSpPr txBox="1">
            <a:spLocks noChangeArrowheads="1"/>
          </p:cNvSpPr>
          <p:nvPr/>
        </p:nvSpPr>
        <p:spPr bwMode="auto">
          <a:xfrm>
            <a:off x="7778751" y="2812975"/>
            <a:ext cx="2286000" cy="762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200">
              <a:ea typeface="ＭＳ Ｐゴシック" panose="020B0600070205080204" pitchFamily="34" charset="-128"/>
            </a:endParaRPr>
          </a:p>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Ref Works</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 name="Right Arrow 8">
            <a:extLst>
              <a:ext uri="{FF2B5EF4-FFF2-40B4-BE49-F238E27FC236}">
                <a16:creationId xmlns:a16="http://schemas.microsoft.com/office/drawing/2014/main" id="{0B3B4A22-9D70-4E98-A64E-8816A6E2D123}"/>
              </a:ext>
            </a:extLst>
          </p:cNvPr>
          <p:cNvSpPr/>
          <p:nvPr/>
        </p:nvSpPr>
        <p:spPr>
          <a:xfrm rot="1822748">
            <a:off x="6819901" y="2465314"/>
            <a:ext cx="1155700" cy="439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724" name="Text Box 1030">
            <a:extLst>
              <a:ext uri="{FF2B5EF4-FFF2-40B4-BE49-F238E27FC236}">
                <a16:creationId xmlns:a16="http://schemas.microsoft.com/office/drawing/2014/main" id="{6EE7BACC-BBE9-5118-E38E-397B304B9D5C}"/>
              </a:ext>
            </a:extLst>
          </p:cNvPr>
          <p:cNvSpPr txBox="1">
            <a:spLocks noChangeArrowheads="1"/>
          </p:cNvSpPr>
          <p:nvPr/>
        </p:nvSpPr>
        <p:spPr bwMode="auto">
          <a:xfrm>
            <a:off x="5911851" y="4221088"/>
            <a:ext cx="3733800" cy="12954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Work with Articles and Brain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 name="Right Arrow 9">
            <a:extLst>
              <a:ext uri="{FF2B5EF4-FFF2-40B4-BE49-F238E27FC236}">
                <a16:creationId xmlns:a16="http://schemas.microsoft.com/office/drawing/2014/main" id="{2F1D4004-E3E2-88E2-530D-F62632073A27}"/>
              </a:ext>
            </a:extLst>
          </p:cNvPr>
          <p:cNvSpPr/>
          <p:nvPr/>
        </p:nvSpPr>
        <p:spPr>
          <a:xfrm rot="5852185">
            <a:off x="5838826" y="2965375"/>
            <a:ext cx="1976438" cy="554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735" name="Slide Number Placeholder 1">
            <a:extLst>
              <a:ext uri="{FF2B5EF4-FFF2-40B4-BE49-F238E27FC236}">
                <a16:creationId xmlns:a16="http://schemas.microsoft.com/office/drawing/2014/main" id="{DCDF2921-5A55-18AF-0ACB-27F16E20A9AF}"/>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F8DEBD2-D088-4760-A8D8-E15D8EC18690}" type="slidenum">
              <a:rPr lang="es-ES" altLang="en-US" sz="1400"/>
              <a:pPr>
                <a:spcBef>
                  <a:spcPct val="0"/>
                </a:spcBef>
                <a:buFontTx/>
                <a:buNone/>
              </a:pPr>
              <a:t>36</a:t>
            </a:fld>
            <a:endParaRPr lang="es-ES" altLang="en-US" sz="1400"/>
          </a:p>
        </p:txBody>
      </p:sp>
      <p:sp>
        <p:nvSpPr>
          <p:cNvPr id="30727" name="Text Box 1028">
            <a:extLst>
              <a:ext uri="{FF2B5EF4-FFF2-40B4-BE49-F238E27FC236}">
                <a16:creationId xmlns:a16="http://schemas.microsoft.com/office/drawing/2014/main" id="{2B8F9A8D-A89E-BEB3-E7D1-EC128DCBE257}"/>
              </a:ext>
            </a:extLst>
          </p:cNvPr>
          <p:cNvSpPr txBox="1">
            <a:spLocks noChangeArrowheads="1"/>
          </p:cNvSpPr>
          <p:nvPr/>
        </p:nvSpPr>
        <p:spPr bwMode="auto">
          <a:xfrm>
            <a:off x="5759451" y="1125463"/>
            <a:ext cx="3733800" cy="1143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Research and Collect Information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8" name="Right Arrow 7">
            <a:extLst>
              <a:ext uri="{FF2B5EF4-FFF2-40B4-BE49-F238E27FC236}">
                <a16:creationId xmlns:a16="http://schemas.microsoft.com/office/drawing/2014/main" id="{7EF22A1D-CF3E-79E6-1A62-D9560FC7E536}"/>
              </a:ext>
            </a:extLst>
          </p:cNvPr>
          <p:cNvSpPr/>
          <p:nvPr/>
        </p:nvSpPr>
        <p:spPr>
          <a:xfrm rot="1042789">
            <a:off x="4611690" y="1239763"/>
            <a:ext cx="1258887" cy="412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729" name="Text Box 1027">
            <a:extLst>
              <a:ext uri="{FF2B5EF4-FFF2-40B4-BE49-F238E27FC236}">
                <a16:creationId xmlns:a16="http://schemas.microsoft.com/office/drawing/2014/main" id="{2A8CC02B-13B1-7196-BA5E-61CC8E8F234B}"/>
              </a:ext>
            </a:extLst>
          </p:cNvPr>
          <p:cNvSpPr txBox="1">
            <a:spLocks noChangeArrowheads="1"/>
          </p:cNvSpPr>
          <p:nvPr/>
        </p:nvSpPr>
        <p:spPr bwMode="auto">
          <a:xfrm>
            <a:off x="3054351" y="984175"/>
            <a:ext cx="1676400" cy="9906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Topic</a:t>
            </a:r>
            <a:r>
              <a:rPr lang="en-US" altLang="en-US" sz="1200">
                <a:ea typeface="ＭＳ Ｐゴシック" panose="020B0600070205080204" pitchFamily="34" charset="-128"/>
                <a:cs typeface="Times New Roman" panose="02020603050405020304" pitchFamily="18" charset="0"/>
              </a:rPr>
              <a:t>	</a:t>
            </a:r>
            <a:endParaRPr lang="en-US" altLang="en-US" sz="1800">
              <a:ea typeface="ＭＳ Ｐゴシック" panose="020B0600070205080204" pitchFamily="34" charset="-128"/>
              <a:cs typeface="Times New Roman" panose="02020603050405020304" pitchFamily="18" charset="0"/>
            </a:endParaRPr>
          </a:p>
        </p:txBody>
      </p:sp>
      <p:sp>
        <p:nvSpPr>
          <p:cNvPr id="41994" name="TextBox 19">
            <a:extLst>
              <a:ext uri="{FF2B5EF4-FFF2-40B4-BE49-F238E27FC236}">
                <a16:creationId xmlns:a16="http://schemas.microsoft.com/office/drawing/2014/main" id="{1DD5A618-3BC3-272C-6160-4650E902BFF0}"/>
              </a:ext>
            </a:extLst>
          </p:cNvPr>
          <p:cNvSpPr txBox="1">
            <a:spLocks noChangeArrowheads="1"/>
          </p:cNvSpPr>
          <p:nvPr/>
        </p:nvSpPr>
        <p:spPr bwMode="auto">
          <a:xfrm>
            <a:off x="1393826" y="3193975"/>
            <a:ext cx="41735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Font typeface="Wingdings" panose="05000000000000000000" pitchFamily="2" charset="2"/>
              <a:buChar char="§"/>
              <a:defRPr/>
            </a:pPr>
            <a:r>
              <a:rPr lang="en-US" sz="2800" dirty="0">
                <a:latin typeface="Times New Roman" panose="02020603050405020304" pitchFamily="18" charset="0"/>
                <a:cs typeface="Times New Roman" panose="02020603050405020304" pitchFamily="18" charset="0"/>
              </a:rPr>
              <a:t>Refine topic?</a:t>
            </a:r>
          </a:p>
          <a:p>
            <a:pPr marL="185738" indent="-185738">
              <a:buFont typeface="Wingdings" panose="05000000000000000000" pitchFamily="2" charset="2"/>
              <a:buChar char="§"/>
              <a:defRPr/>
            </a:pPr>
            <a:r>
              <a:rPr lang="en-US" sz="2800" dirty="0">
                <a:latin typeface="Times New Roman" panose="02020603050405020304" pitchFamily="18" charset="0"/>
                <a:cs typeface="Times New Roman" panose="02020603050405020304" pitchFamily="18" charset="0"/>
              </a:rPr>
              <a:t>Use your citation manager to stay organized</a:t>
            </a:r>
          </a:p>
        </p:txBody>
      </p:sp>
      <p:sp>
        <p:nvSpPr>
          <p:cNvPr id="11" name="Right Arrow 10">
            <a:extLst>
              <a:ext uri="{FF2B5EF4-FFF2-40B4-BE49-F238E27FC236}">
                <a16:creationId xmlns:a16="http://schemas.microsoft.com/office/drawing/2014/main" id="{A5F1021D-7AD7-91B8-E1B1-2D3B8E3CCD0C}"/>
              </a:ext>
            </a:extLst>
          </p:cNvPr>
          <p:cNvSpPr/>
          <p:nvPr/>
        </p:nvSpPr>
        <p:spPr>
          <a:xfrm rot="6549983">
            <a:off x="8003383" y="3691657"/>
            <a:ext cx="700088" cy="409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ight Arrow 11">
            <a:extLst>
              <a:ext uri="{FF2B5EF4-FFF2-40B4-BE49-F238E27FC236}">
                <a16:creationId xmlns:a16="http://schemas.microsoft.com/office/drawing/2014/main" id="{3769BADD-AF43-73ED-4B09-02DE99FBA702}"/>
              </a:ext>
            </a:extLst>
          </p:cNvPr>
          <p:cNvSpPr/>
          <p:nvPr/>
        </p:nvSpPr>
        <p:spPr>
          <a:xfrm rot="14952650">
            <a:off x="8724902" y="3708326"/>
            <a:ext cx="730250" cy="409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3" name="Straight Arrow Connector 12">
            <a:extLst>
              <a:ext uri="{FF2B5EF4-FFF2-40B4-BE49-F238E27FC236}">
                <a16:creationId xmlns:a16="http://schemas.microsoft.com/office/drawing/2014/main" id="{86A18428-9B9C-7F83-AC54-86EC8E2F42AA}"/>
              </a:ext>
            </a:extLst>
          </p:cNvPr>
          <p:cNvCxnSpPr/>
          <p:nvPr/>
        </p:nvCxnSpPr>
        <p:spPr>
          <a:xfrm flipH="1" flipV="1">
            <a:off x="4502152" y="1974776"/>
            <a:ext cx="1546225" cy="2246313"/>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6CAF59-0F57-D475-58E6-0DA2DC041543}"/>
              </a:ext>
            </a:extLst>
          </p:cNvPr>
          <p:cNvCxnSpPr/>
          <p:nvPr/>
        </p:nvCxnSpPr>
        <p:spPr>
          <a:xfrm>
            <a:off x="4730751" y="1746176"/>
            <a:ext cx="1612900" cy="2474913"/>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 Box 1031">
            <a:extLst>
              <a:ext uri="{FF2B5EF4-FFF2-40B4-BE49-F238E27FC236}">
                <a16:creationId xmlns:a16="http://schemas.microsoft.com/office/drawing/2014/main" id="{8871AB2C-8F70-B2E4-9625-84CCF96B565F}"/>
              </a:ext>
            </a:extLst>
          </p:cNvPr>
          <p:cNvSpPr txBox="1">
            <a:spLocks noChangeArrowheads="1"/>
          </p:cNvSpPr>
          <p:nvPr/>
        </p:nvSpPr>
        <p:spPr bwMode="auto">
          <a:xfrm>
            <a:off x="2413000" y="2820988"/>
            <a:ext cx="2209800" cy="19812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3600" b="1">
                <a:latin typeface="Times New Roman" panose="02020603050405020304" pitchFamily="18" charset="0"/>
                <a:ea typeface="ＭＳ Ｐゴシック" panose="020B0600070205080204" pitchFamily="34" charset="-128"/>
                <a:cs typeface="Times New Roman" panose="02020603050405020304" pitchFamily="18" charset="0"/>
              </a:rPr>
              <a:t>Writing and revision</a:t>
            </a:r>
          </a:p>
        </p:txBody>
      </p:sp>
      <p:sp>
        <p:nvSpPr>
          <p:cNvPr id="13" name="Right Arrow 12">
            <a:extLst>
              <a:ext uri="{FF2B5EF4-FFF2-40B4-BE49-F238E27FC236}">
                <a16:creationId xmlns:a16="http://schemas.microsoft.com/office/drawing/2014/main" id="{6CF5B2A4-22CF-0BE3-DDD6-6735F94E3BE6}"/>
              </a:ext>
            </a:extLst>
          </p:cNvPr>
          <p:cNvSpPr/>
          <p:nvPr/>
        </p:nvSpPr>
        <p:spPr>
          <a:xfrm rot="12933531">
            <a:off x="4556126" y="4364039"/>
            <a:ext cx="1135063" cy="358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748" name="Text Box 1029">
            <a:extLst>
              <a:ext uri="{FF2B5EF4-FFF2-40B4-BE49-F238E27FC236}">
                <a16:creationId xmlns:a16="http://schemas.microsoft.com/office/drawing/2014/main" id="{8D718683-D0ED-D214-1140-3F0AE19E906A}"/>
              </a:ext>
            </a:extLst>
          </p:cNvPr>
          <p:cNvSpPr txBox="1">
            <a:spLocks noChangeArrowheads="1"/>
          </p:cNvSpPr>
          <p:nvPr/>
        </p:nvSpPr>
        <p:spPr bwMode="auto">
          <a:xfrm>
            <a:off x="7366000" y="2744788"/>
            <a:ext cx="2286000" cy="762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200">
              <a:ea typeface="ＭＳ Ｐゴシック" panose="020B0600070205080204" pitchFamily="34" charset="-128"/>
            </a:endParaRPr>
          </a:p>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Ref Works</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 name="Right Arrow 8">
            <a:extLst>
              <a:ext uri="{FF2B5EF4-FFF2-40B4-BE49-F238E27FC236}">
                <a16:creationId xmlns:a16="http://schemas.microsoft.com/office/drawing/2014/main" id="{34A5FB34-2CAC-B88E-2198-2D8ED11964A9}"/>
              </a:ext>
            </a:extLst>
          </p:cNvPr>
          <p:cNvSpPr/>
          <p:nvPr/>
        </p:nvSpPr>
        <p:spPr>
          <a:xfrm rot="1822748">
            <a:off x="6407150" y="2397127"/>
            <a:ext cx="1155700" cy="439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750" name="Text Box 1030">
            <a:extLst>
              <a:ext uri="{FF2B5EF4-FFF2-40B4-BE49-F238E27FC236}">
                <a16:creationId xmlns:a16="http://schemas.microsoft.com/office/drawing/2014/main" id="{8DA6F66A-A095-D5DC-05FA-D307CEB7812C}"/>
              </a:ext>
            </a:extLst>
          </p:cNvPr>
          <p:cNvSpPr txBox="1">
            <a:spLocks noChangeArrowheads="1"/>
          </p:cNvSpPr>
          <p:nvPr/>
        </p:nvSpPr>
        <p:spPr bwMode="auto">
          <a:xfrm>
            <a:off x="5613400" y="4100513"/>
            <a:ext cx="3733800" cy="12954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Work with Articles and Brain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 name="Right Arrow 9">
            <a:extLst>
              <a:ext uri="{FF2B5EF4-FFF2-40B4-BE49-F238E27FC236}">
                <a16:creationId xmlns:a16="http://schemas.microsoft.com/office/drawing/2014/main" id="{DE133D5F-5B46-06B7-BAED-6416F9129EDE}"/>
              </a:ext>
            </a:extLst>
          </p:cNvPr>
          <p:cNvSpPr/>
          <p:nvPr/>
        </p:nvSpPr>
        <p:spPr>
          <a:xfrm rot="5852185">
            <a:off x="5456238" y="2870201"/>
            <a:ext cx="1922463" cy="554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314" name="Rectangle 1026">
            <a:extLst>
              <a:ext uri="{FF2B5EF4-FFF2-40B4-BE49-F238E27FC236}">
                <a16:creationId xmlns:a16="http://schemas.microsoft.com/office/drawing/2014/main" id="{AE2785C6-512F-5DA7-BD09-BC08A82DF35E}"/>
              </a:ext>
            </a:extLst>
          </p:cNvPr>
          <p:cNvSpPr>
            <a:spLocks noGrp="1" noChangeArrowheads="1"/>
          </p:cNvSpPr>
          <p:nvPr>
            <p:ph type="ctrTitle"/>
          </p:nvPr>
        </p:nvSpPr>
        <p:spPr/>
        <p:txBody>
          <a:bodyPr/>
          <a:lstStyle/>
          <a:p>
            <a:pPr>
              <a:defRPr/>
            </a:pPr>
            <a:r>
              <a:rPr lang="en-US" sz="3600" dirty="0">
                <a:solidFill>
                  <a:schemeClr val="tx2">
                    <a:satMod val="130000"/>
                  </a:schemeClr>
                </a:solidFill>
                <a:latin typeface="Times New Roman" panose="02020603050405020304" pitchFamily="18" charset="0"/>
                <a:cs typeface="Times New Roman" panose="02020603050405020304" pitchFamily="18" charset="0"/>
              </a:rPr>
              <a:t>Overview of the Process</a:t>
            </a:r>
          </a:p>
        </p:txBody>
      </p:sp>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37</a:t>
            </a:fld>
            <a:endParaRPr lang="es-ES" altLang="en-US" sz="1400"/>
          </a:p>
        </p:txBody>
      </p:sp>
      <p:sp>
        <p:nvSpPr>
          <p:cNvPr id="31753" name="Text Box 1028">
            <a:extLst>
              <a:ext uri="{FF2B5EF4-FFF2-40B4-BE49-F238E27FC236}">
                <a16:creationId xmlns:a16="http://schemas.microsoft.com/office/drawing/2014/main" id="{B56D0D8C-F312-785E-7D6A-204873352EA5}"/>
              </a:ext>
            </a:extLst>
          </p:cNvPr>
          <p:cNvSpPr txBox="1">
            <a:spLocks noChangeArrowheads="1"/>
          </p:cNvSpPr>
          <p:nvPr/>
        </p:nvSpPr>
        <p:spPr bwMode="auto">
          <a:xfrm>
            <a:off x="5308600" y="1144588"/>
            <a:ext cx="3733800" cy="11430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800" b="1">
                <a:latin typeface="Times New Roman" panose="02020603050405020304" pitchFamily="18" charset="0"/>
                <a:ea typeface="ＭＳ Ｐゴシック" panose="020B0600070205080204" pitchFamily="34" charset="-128"/>
                <a:cs typeface="Times New Roman" panose="02020603050405020304" pitchFamily="18" charset="0"/>
              </a:rPr>
              <a:t>Research and Collect Information</a:t>
            </a: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8" name="Right Arrow 7">
            <a:extLst>
              <a:ext uri="{FF2B5EF4-FFF2-40B4-BE49-F238E27FC236}">
                <a16:creationId xmlns:a16="http://schemas.microsoft.com/office/drawing/2014/main" id="{19F9645B-ACE4-9498-9061-F551C2FAAC4F}"/>
              </a:ext>
            </a:extLst>
          </p:cNvPr>
          <p:cNvSpPr/>
          <p:nvPr/>
        </p:nvSpPr>
        <p:spPr>
          <a:xfrm rot="1042789">
            <a:off x="4198939" y="1171576"/>
            <a:ext cx="1258887" cy="412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755" name="Text Box 1027">
            <a:extLst>
              <a:ext uri="{FF2B5EF4-FFF2-40B4-BE49-F238E27FC236}">
                <a16:creationId xmlns:a16="http://schemas.microsoft.com/office/drawing/2014/main" id="{78E8800E-7929-B646-1169-97EAF7FDBAC5}"/>
              </a:ext>
            </a:extLst>
          </p:cNvPr>
          <p:cNvSpPr txBox="1">
            <a:spLocks noChangeArrowheads="1"/>
          </p:cNvSpPr>
          <p:nvPr/>
        </p:nvSpPr>
        <p:spPr bwMode="auto">
          <a:xfrm>
            <a:off x="2641600" y="915988"/>
            <a:ext cx="1676400" cy="990600"/>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4000" b="1">
                <a:latin typeface="Times New Roman" panose="02020603050405020304" pitchFamily="18" charset="0"/>
                <a:ea typeface="ＭＳ Ｐゴシック" panose="020B0600070205080204" pitchFamily="34" charset="-128"/>
                <a:cs typeface="Times New Roman" panose="02020603050405020304" pitchFamily="18" charset="0"/>
              </a:rPr>
              <a:t>Topic</a:t>
            </a:r>
            <a:r>
              <a:rPr lang="en-US" altLang="en-US" sz="1200">
                <a:ea typeface="ＭＳ Ｐゴシック" panose="020B0600070205080204" pitchFamily="34" charset="-128"/>
                <a:cs typeface="Times New Roman" panose="02020603050405020304" pitchFamily="18" charset="0"/>
              </a:rPr>
              <a:t>	</a:t>
            </a:r>
            <a:endParaRPr lang="en-US" altLang="en-US" sz="1800">
              <a:ea typeface="ＭＳ Ｐゴシック" panose="020B0600070205080204" pitchFamily="34" charset="-128"/>
              <a:cs typeface="Times New Roman" panose="02020603050405020304" pitchFamily="18" charset="0"/>
            </a:endParaRPr>
          </a:p>
        </p:txBody>
      </p:sp>
      <p:sp>
        <p:nvSpPr>
          <p:cNvPr id="11" name="Right Arrow 10">
            <a:extLst>
              <a:ext uri="{FF2B5EF4-FFF2-40B4-BE49-F238E27FC236}">
                <a16:creationId xmlns:a16="http://schemas.microsoft.com/office/drawing/2014/main" id="{A7044495-C58E-7732-5EDC-46DB2438DE20}"/>
              </a:ext>
            </a:extLst>
          </p:cNvPr>
          <p:cNvSpPr/>
          <p:nvPr/>
        </p:nvSpPr>
        <p:spPr>
          <a:xfrm rot="6549983">
            <a:off x="7616033" y="3606008"/>
            <a:ext cx="661987" cy="409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ight Arrow 11">
            <a:extLst>
              <a:ext uri="{FF2B5EF4-FFF2-40B4-BE49-F238E27FC236}">
                <a16:creationId xmlns:a16="http://schemas.microsoft.com/office/drawing/2014/main" id="{AF7E7A1D-CF0A-3C07-3C40-650D9D002E68}"/>
              </a:ext>
            </a:extLst>
          </p:cNvPr>
          <p:cNvSpPr/>
          <p:nvPr/>
        </p:nvSpPr>
        <p:spPr>
          <a:xfrm rot="14952650">
            <a:off x="8339138" y="3600451"/>
            <a:ext cx="647700" cy="409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ight Arrow 13">
            <a:extLst>
              <a:ext uri="{FF2B5EF4-FFF2-40B4-BE49-F238E27FC236}">
                <a16:creationId xmlns:a16="http://schemas.microsoft.com/office/drawing/2014/main" id="{8E4118CE-BAF9-D289-1987-B974C534667C}"/>
              </a:ext>
            </a:extLst>
          </p:cNvPr>
          <p:cNvSpPr/>
          <p:nvPr/>
        </p:nvSpPr>
        <p:spPr>
          <a:xfrm rot="18623777">
            <a:off x="4498182" y="2493170"/>
            <a:ext cx="1108075" cy="360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7" name="Straight Arrow Connector 16">
            <a:extLst>
              <a:ext uri="{FF2B5EF4-FFF2-40B4-BE49-F238E27FC236}">
                <a16:creationId xmlns:a16="http://schemas.microsoft.com/office/drawing/2014/main" id="{355AC057-3725-BB4A-52A0-AD4E7F9B7E92}"/>
              </a:ext>
            </a:extLst>
          </p:cNvPr>
          <p:cNvCxnSpPr/>
          <p:nvPr/>
        </p:nvCxnSpPr>
        <p:spPr>
          <a:xfrm flipH="1" flipV="1">
            <a:off x="4089400" y="1906588"/>
            <a:ext cx="1524000" cy="222885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BB8EE21-1FA3-2035-D9D4-39F0DAD3D8DF}"/>
              </a:ext>
            </a:extLst>
          </p:cNvPr>
          <p:cNvCxnSpPr/>
          <p:nvPr/>
        </p:nvCxnSpPr>
        <p:spPr>
          <a:xfrm rot="5400000">
            <a:off x="2641600" y="2287588"/>
            <a:ext cx="914400" cy="15240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B12ED1C-A190-8173-419C-C7E47AF7F9DC}"/>
              </a:ext>
            </a:extLst>
          </p:cNvPr>
          <p:cNvCxnSpPr>
            <a:endCxn id="31755" idx="2"/>
          </p:cNvCxnSpPr>
          <p:nvPr/>
        </p:nvCxnSpPr>
        <p:spPr>
          <a:xfrm rot="16200000" flipV="1">
            <a:off x="3136900" y="2249488"/>
            <a:ext cx="914400" cy="22860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3469F5F-CA1C-F2B5-4A4F-1516B6200E27}"/>
              </a:ext>
            </a:extLst>
          </p:cNvPr>
          <p:cNvCxnSpPr/>
          <p:nvPr/>
        </p:nvCxnSpPr>
        <p:spPr>
          <a:xfrm>
            <a:off x="4318000" y="1677989"/>
            <a:ext cx="1531938" cy="2422525"/>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AE2785C6-512F-5DA7-BD09-BC08A82DF35E}"/>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The Synthesis Matrix</a:t>
            </a:r>
          </a:p>
        </p:txBody>
      </p:sp>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38</a:t>
            </a:fld>
            <a:endParaRPr lang="es-ES" altLang="en-US" sz="1400"/>
          </a:p>
        </p:txBody>
      </p:sp>
      <p:graphicFrame>
        <p:nvGraphicFramePr>
          <p:cNvPr id="2" name="Diagram 1">
            <a:extLst>
              <a:ext uri="{FF2B5EF4-FFF2-40B4-BE49-F238E27FC236}">
                <a16:creationId xmlns:a16="http://schemas.microsoft.com/office/drawing/2014/main" id="{32269FEA-E8C5-ED30-55BA-5AB8685B6912}"/>
              </a:ext>
            </a:extLst>
          </p:cNvPr>
          <p:cNvGraphicFramePr/>
          <p:nvPr>
            <p:extLst>
              <p:ext uri="{D42A27DB-BD31-4B8C-83A1-F6EECF244321}">
                <p14:modId xmlns:p14="http://schemas.microsoft.com/office/powerpoint/2010/main" val="2178374039"/>
              </p:ext>
            </p:extLst>
          </p:nvPr>
        </p:nvGraphicFramePr>
        <p:xfrm>
          <a:off x="960205" y="1022350"/>
          <a:ext cx="1044116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751990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AE2785C6-512F-5DA7-BD09-BC08A82DF35E}"/>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Steps of Searching the Literature</a:t>
            </a:r>
          </a:p>
        </p:txBody>
      </p:sp>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39</a:t>
            </a:fld>
            <a:endParaRPr lang="es-ES" altLang="en-US" sz="1400"/>
          </a:p>
        </p:txBody>
      </p:sp>
      <p:grpSp>
        <p:nvGrpSpPr>
          <p:cNvPr id="19" name="Group 18">
            <a:extLst>
              <a:ext uri="{FF2B5EF4-FFF2-40B4-BE49-F238E27FC236}">
                <a16:creationId xmlns:a16="http://schemas.microsoft.com/office/drawing/2014/main" id="{0381449C-6732-85E3-E845-AEB3D556EE8F}"/>
              </a:ext>
            </a:extLst>
          </p:cNvPr>
          <p:cNvGrpSpPr/>
          <p:nvPr/>
        </p:nvGrpSpPr>
        <p:grpSpPr>
          <a:xfrm>
            <a:off x="1838113" y="1143716"/>
            <a:ext cx="8325779" cy="4828525"/>
            <a:chOff x="1838113" y="1143716"/>
            <a:chExt cx="8325779" cy="4828525"/>
          </a:xfrm>
        </p:grpSpPr>
        <p:sp>
          <p:nvSpPr>
            <p:cNvPr id="3" name="Text Box 5">
              <a:extLst>
                <a:ext uri="{FF2B5EF4-FFF2-40B4-BE49-F238E27FC236}">
                  <a16:creationId xmlns:a16="http://schemas.microsoft.com/office/drawing/2014/main" id="{B1A23FEB-946F-2F0B-56F0-EF7EA9E657E7}"/>
                </a:ext>
              </a:extLst>
            </p:cNvPr>
            <p:cNvSpPr txBox="1">
              <a:spLocks noChangeArrowheads="1"/>
            </p:cNvSpPr>
            <p:nvPr/>
          </p:nvSpPr>
          <p:spPr bwMode="auto">
            <a:xfrm>
              <a:off x="2855640" y="1143716"/>
              <a:ext cx="70564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Determine concept/issue/topic/problem</a:t>
              </a:r>
            </a:p>
          </p:txBody>
        </p:sp>
        <p:grpSp>
          <p:nvGrpSpPr>
            <p:cNvPr id="18" name="Group 17">
              <a:extLst>
                <a:ext uri="{FF2B5EF4-FFF2-40B4-BE49-F238E27FC236}">
                  <a16:creationId xmlns:a16="http://schemas.microsoft.com/office/drawing/2014/main" id="{35901F0A-A977-6EDA-C271-C7DBA5FD6BB1}"/>
                </a:ext>
              </a:extLst>
            </p:cNvPr>
            <p:cNvGrpSpPr/>
            <p:nvPr/>
          </p:nvGrpSpPr>
          <p:grpSpPr>
            <a:xfrm>
              <a:off x="1838113" y="1459580"/>
              <a:ext cx="8325779" cy="4512661"/>
              <a:chOff x="1838113" y="1459580"/>
              <a:chExt cx="8325779" cy="4512661"/>
            </a:xfrm>
          </p:grpSpPr>
          <p:sp>
            <p:nvSpPr>
              <p:cNvPr id="4" name="Text Box 8">
                <a:extLst>
                  <a:ext uri="{FF2B5EF4-FFF2-40B4-BE49-F238E27FC236}">
                    <a16:creationId xmlns:a16="http://schemas.microsoft.com/office/drawing/2014/main" id="{CC7F01D5-ED44-0772-C2FF-B589FA5A7CC7}"/>
                  </a:ext>
                </a:extLst>
              </p:cNvPr>
              <p:cNvSpPr txBox="1">
                <a:spLocks noChangeArrowheads="1"/>
              </p:cNvSpPr>
              <p:nvPr/>
            </p:nvSpPr>
            <p:spPr bwMode="auto">
              <a:xfrm>
                <a:off x="2855641" y="1749852"/>
                <a:ext cx="4896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Conduct computer (and/or hand) search</a:t>
                </a:r>
              </a:p>
            </p:txBody>
          </p:sp>
          <p:sp>
            <p:nvSpPr>
              <p:cNvPr id="5" name="Text Box 14">
                <a:extLst>
                  <a:ext uri="{FF2B5EF4-FFF2-40B4-BE49-F238E27FC236}">
                    <a16:creationId xmlns:a16="http://schemas.microsoft.com/office/drawing/2014/main" id="{D28E977A-6C02-9364-9BEC-96F1C76B59CD}"/>
                  </a:ext>
                </a:extLst>
              </p:cNvPr>
              <p:cNvSpPr txBox="1">
                <a:spLocks noChangeArrowheads="1"/>
              </p:cNvSpPr>
              <p:nvPr/>
            </p:nvSpPr>
            <p:spPr bwMode="auto">
              <a:xfrm>
                <a:off x="2795147" y="2381223"/>
                <a:ext cx="52645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Weed out irrelevant sources before printing</a:t>
                </a:r>
              </a:p>
            </p:txBody>
          </p:sp>
          <p:sp>
            <p:nvSpPr>
              <p:cNvPr id="6" name="Text Box 15">
                <a:extLst>
                  <a:ext uri="{FF2B5EF4-FFF2-40B4-BE49-F238E27FC236}">
                    <a16:creationId xmlns:a16="http://schemas.microsoft.com/office/drawing/2014/main" id="{B255DD03-9231-7F95-39DE-3F7E78495E7F}"/>
                  </a:ext>
                </a:extLst>
              </p:cNvPr>
              <p:cNvSpPr txBox="1">
                <a:spLocks noChangeArrowheads="1"/>
              </p:cNvSpPr>
              <p:nvPr/>
            </p:nvSpPr>
            <p:spPr bwMode="auto">
              <a:xfrm>
                <a:off x="2795147" y="3003980"/>
                <a:ext cx="52645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Organize sources from printout for retrieval</a:t>
                </a:r>
              </a:p>
            </p:txBody>
          </p:sp>
          <p:sp>
            <p:nvSpPr>
              <p:cNvPr id="7" name="Text Box 16">
                <a:extLst>
                  <a:ext uri="{FF2B5EF4-FFF2-40B4-BE49-F238E27FC236}">
                    <a16:creationId xmlns:a16="http://schemas.microsoft.com/office/drawing/2014/main" id="{08C4A22C-BD8E-685C-AA4D-55BD6519A2CF}"/>
                  </a:ext>
                </a:extLst>
              </p:cNvPr>
              <p:cNvSpPr txBox="1">
                <a:spLocks noChangeArrowheads="1"/>
              </p:cNvSpPr>
              <p:nvPr/>
            </p:nvSpPr>
            <p:spPr bwMode="auto">
              <a:xfrm>
                <a:off x="3719738" y="3655926"/>
                <a:ext cx="3168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Retrieve relevant sources</a:t>
                </a:r>
              </a:p>
            </p:txBody>
          </p:sp>
          <p:sp>
            <p:nvSpPr>
              <p:cNvPr id="8" name="Text Box 18">
                <a:extLst>
                  <a:ext uri="{FF2B5EF4-FFF2-40B4-BE49-F238E27FC236}">
                    <a16:creationId xmlns:a16="http://schemas.microsoft.com/office/drawing/2014/main" id="{B4448E83-FD1A-CE9C-2800-8BB5A2764F84}"/>
                  </a:ext>
                </a:extLst>
              </p:cNvPr>
              <p:cNvSpPr txBox="1">
                <a:spLocks noChangeArrowheads="1"/>
              </p:cNvSpPr>
              <p:nvPr/>
            </p:nvSpPr>
            <p:spPr bwMode="auto">
              <a:xfrm>
                <a:off x="1838113" y="4926657"/>
                <a:ext cx="74168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Critically read each source (summarize &amp; critique each source)</a:t>
                </a:r>
              </a:p>
            </p:txBody>
          </p:sp>
          <p:sp>
            <p:nvSpPr>
              <p:cNvPr id="9" name="Text Box 19">
                <a:extLst>
                  <a:ext uri="{FF2B5EF4-FFF2-40B4-BE49-F238E27FC236}">
                    <a16:creationId xmlns:a16="http://schemas.microsoft.com/office/drawing/2014/main" id="{F916E055-DA67-6251-4DF0-2E83825B092D}"/>
                  </a:ext>
                </a:extLst>
              </p:cNvPr>
              <p:cNvSpPr txBox="1">
                <a:spLocks noChangeArrowheads="1"/>
              </p:cNvSpPr>
              <p:nvPr/>
            </p:nvSpPr>
            <p:spPr bwMode="auto">
              <a:xfrm>
                <a:off x="3612279" y="5602909"/>
                <a:ext cx="6551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Synthesize critical summaries</a:t>
                </a:r>
              </a:p>
            </p:txBody>
          </p:sp>
          <p:sp>
            <p:nvSpPr>
              <p:cNvPr id="10" name="Line 20">
                <a:extLst>
                  <a:ext uri="{FF2B5EF4-FFF2-40B4-BE49-F238E27FC236}">
                    <a16:creationId xmlns:a16="http://schemas.microsoft.com/office/drawing/2014/main" id="{75D18F5F-B32B-C6EB-067C-CE22E56E95EB}"/>
                  </a:ext>
                </a:extLst>
              </p:cNvPr>
              <p:cNvSpPr>
                <a:spLocks noChangeShapeType="1"/>
              </p:cNvSpPr>
              <p:nvPr/>
            </p:nvSpPr>
            <p:spPr bwMode="auto">
              <a:xfrm>
                <a:off x="5436834" y="1459580"/>
                <a:ext cx="0" cy="360363"/>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21">
                <a:extLst>
                  <a:ext uri="{FF2B5EF4-FFF2-40B4-BE49-F238E27FC236}">
                    <a16:creationId xmlns:a16="http://schemas.microsoft.com/office/drawing/2014/main" id="{84A8D5B7-2D45-077B-A403-149D99D5B22F}"/>
                  </a:ext>
                </a:extLst>
              </p:cNvPr>
              <p:cNvSpPr>
                <a:spLocks noChangeShapeType="1"/>
              </p:cNvSpPr>
              <p:nvPr/>
            </p:nvSpPr>
            <p:spPr bwMode="auto">
              <a:xfrm>
                <a:off x="5427446" y="2097640"/>
                <a:ext cx="0" cy="360362"/>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Line 22">
                <a:extLst>
                  <a:ext uri="{FF2B5EF4-FFF2-40B4-BE49-F238E27FC236}">
                    <a16:creationId xmlns:a16="http://schemas.microsoft.com/office/drawing/2014/main" id="{58742CD9-5E43-786F-9EE0-699822BE4BF6}"/>
                  </a:ext>
                </a:extLst>
              </p:cNvPr>
              <p:cNvSpPr>
                <a:spLocks noChangeShapeType="1"/>
              </p:cNvSpPr>
              <p:nvPr/>
            </p:nvSpPr>
            <p:spPr bwMode="auto">
              <a:xfrm>
                <a:off x="5436834" y="2750555"/>
                <a:ext cx="0" cy="360362"/>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 name="Line 23">
                <a:extLst>
                  <a:ext uri="{FF2B5EF4-FFF2-40B4-BE49-F238E27FC236}">
                    <a16:creationId xmlns:a16="http://schemas.microsoft.com/office/drawing/2014/main" id="{3CD627CC-3ED0-5F69-2F5B-A4093175B502}"/>
                  </a:ext>
                </a:extLst>
              </p:cNvPr>
              <p:cNvSpPr>
                <a:spLocks noChangeShapeType="1"/>
              </p:cNvSpPr>
              <p:nvPr/>
            </p:nvSpPr>
            <p:spPr bwMode="auto">
              <a:xfrm>
                <a:off x="5454341" y="3373312"/>
                <a:ext cx="0" cy="360363"/>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Line 24">
                <a:extLst>
                  <a:ext uri="{FF2B5EF4-FFF2-40B4-BE49-F238E27FC236}">
                    <a16:creationId xmlns:a16="http://schemas.microsoft.com/office/drawing/2014/main" id="{D3DDD408-23BA-7395-5CCD-98B1FAEA0F52}"/>
                  </a:ext>
                </a:extLst>
              </p:cNvPr>
              <p:cNvSpPr>
                <a:spLocks noChangeShapeType="1"/>
              </p:cNvSpPr>
              <p:nvPr/>
            </p:nvSpPr>
            <p:spPr bwMode="auto">
              <a:xfrm>
                <a:off x="5454341" y="4025258"/>
                <a:ext cx="0" cy="360363"/>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25">
                <a:extLst>
                  <a:ext uri="{FF2B5EF4-FFF2-40B4-BE49-F238E27FC236}">
                    <a16:creationId xmlns:a16="http://schemas.microsoft.com/office/drawing/2014/main" id="{4266E3C7-35B5-8CD4-0FB9-A15EFCA7FA9E}"/>
                  </a:ext>
                </a:extLst>
              </p:cNvPr>
              <p:cNvSpPr>
                <a:spLocks noChangeShapeType="1"/>
              </p:cNvSpPr>
              <p:nvPr/>
            </p:nvSpPr>
            <p:spPr bwMode="auto">
              <a:xfrm>
                <a:off x="5454341" y="4659279"/>
                <a:ext cx="0" cy="360362"/>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 name="Line 26">
                <a:extLst>
                  <a:ext uri="{FF2B5EF4-FFF2-40B4-BE49-F238E27FC236}">
                    <a16:creationId xmlns:a16="http://schemas.microsoft.com/office/drawing/2014/main" id="{B890BFD8-5222-6A61-769C-5C5773973401}"/>
                  </a:ext>
                </a:extLst>
              </p:cNvPr>
              <p:cNvSpPr>
                <a:spLocks noChangeShapeType="1"/>
              </p:cNvSpPr>
              <p:nvPr/>
            </p:nvSpPr>
            <p:spPr bwMode="auto">
              <a:xfrm>
                <a:off x="5480202" y="5318882"/>
                <a:ext cx="0" cy="360363"/>
              </a:xfrm>
              <a:prstGeom prst="line">
                <a:avLst/>
              </a:prstGeom>
              <a:noFill/>
              <a:ln w="57150">
                <a:solidFill>
                  <a:srgbClr val="FF99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 name="Text Box 17">
                <a:extLst>
                  <a:ext uri="{FF2B5EF4-FFF2-40B4-BE49-F238E27FC236}">
                    <a16:creationId xmlns:a16="http://schemas.microsoft.com/office/drawing/2014/main" id="{D1254F30-0D3E-0E16-CC99-10A154ED0EB5}"/>
                  </a:ext>
                </a:extLst>
              </p:cNvPr>
              <p:cNvSpPr txBox="1">
                <a:spLocks noChangeArrowheads="1"/>
              </p:cNvSpPr>
              <p:nvPr/>
            </p:nvSpPr>
            <p:spPr bwMode="auto">
              <a:xfrm>
                <a:off x="1838113" y="4310519"/>
                <a:ext cx="72841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b="1" dirty="0">
                    <a:latin typeface="Tahoma" panose="020B0604030504040204" pitchFamily="34" charset="0"/>
                    <a:cs typeface="Times New Roman" panose="02020603050405020304" pitchFamily="18" charset="0"/>
                  </a:rPr>
                  <a:t>Conduct preliminary reading and weed out irrelevant sources</a:t>
                </a:r>
              </a:p>
            </p:txBody>
          </p:sp>
        </p:grpSp>
      </p:grpSp>
    </p:spTree>
    <p:extLst>
      <p:ext uri="{BB962C8B-B14F-4D97-AF65-F5344CB8AC3E}">
        <p14:creationId xmlns:p14="http://schemas.microsoft.com/office/powerpoint/2010/main" val="332987038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6E2D1A1-46F9-1D34-84B0-2F02318B6721}"/>
            </a:ext>
          </a:extLst>
        </p:cNvPr>
        <p:cNvGrpSpPr/>
        <p:nvPr/>
      </p:nvGrpSpPr>
      <p:grpSpPr>
        <a:xfrm>
          <a:off x="0" y="0"/>
          <a:ext cx="0" cy="0"/>
          <a:chOff x="0" y="0"/>
          <a:chExt cx="0" cy="0"/>
        </a:xfrm>
      </p:grpSpPr>
      <p:sp>
        <p:nvSpPr>
          <p:cNvPr id="13314" name="Rectangle 1026">
            <a:extLst>
              <a:ext uri="{FF2B5EF4-FFF2-40B4-BE49-F238E27FC236}">
                <a16:creationId xmlns:a16="http://schemas.microsoft.com/office/drawing/2014/main" id="{217773C7-A708-52BB-8090-902AF933BBE0}"/>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Some techniques for Literature Review</a:t>
            </a:r>
          </a:p>
        </p:txBody>
      </p:sp>
      <p:sp>
        <p:nvSpPr>
          <p:cNvPr id="31764" name="Slide Number Placeholder 1">
            <a:extLst>
              <a:ext uri="{FF2B5EF4-FFF2-40B4-BE49-F238E27FC236}">
                <a16:creationId xmlns:a16="http://schemas.microsoft.com/office/drawing/2014/main" id="{7B926FC4-401B-1118-49B9-409D4A52E3CD}"/>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40</a:t>
            </a:fld>
            <a:endParaRPr lang="es-ES" altLang="en-US" sz="1400"/>
          </a:p>
        </p:txBody>
      </p:sp>
      <p:sp>
        <p:nvSpPr>
          <p:cNvPr id="20" name="TextBox 19">
            <a:extLst>
              <a:ext uri="{FF2B5EF4-FFF2-40B4-BE49-F238E27FC236}">
                <a16:creationId xmlns:a16="http://schemas.microsoft.com/office/drawing/2014/main" id="{608582B9-36E6-7E8A-9DE7-F4CBACFBEB52}"/>
              </a:ext>
            </a:extLst>
          </p:cNvPr>
          <p:cNvSpPr txBox="1"/>
          <p:nvPr/>
        </p:nvSpPr>
        <p:spPr>
          <a:xfrm>
            <a:off x="856476" y="1208686"/>
            <a:ext cx="6103620" cy="492122"/>
          </a:xfrm>
          <a:prstGeom prst="rect">
            <a:avLst/>
          </a:prstGeom>
          <a:noFill/>
        </p:spPr>
        <p:txBody>
          <a:bodyPr wrap="square">
            <a:spAutoFit/>
          </a:bodyPr>
          <a:lstStyle/>
          <a:p>
            <a:pPr>
              <a:lnSpc>
                <a:spcPct val="115000"/>
              </a:lnSpc>
              <a:spcAft>
                <a:spcPts val="800"/>
              </a:spcAft>
            </a:pPr>
            <a:r>
              <a:rPr lang="en-IN" sz="2400" b="1" dirty="0"/>
              <a:t>Approach to Structure Review Literature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5BA79BAB-2668-0638-08E9-216AD35BFC15}"/>
              </a:ext>
            </a:extLst>
          </p:cNvPr>
          <p:cNvSpPr>
            <a:spLocks noChangeArrowheads="1"/>
          </p:cNvSpPr>
          <p:nvPr/>
        </p:nvSpPr>
        <p:spPr bwMode="auto">
          <a:xfrm>
            <a:off x="983432" y="1808059"/>
            <a:ext cx="4896544" cy="3241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Thematic Review</a:t>
            </a:r>
            <a:endParaRPr kumimoji="0" lang="en-US" altLang="en-US" sz="12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Group papers by topics (themes).</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Example</a:t>
            </a: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If your project is about AI in health, group papers as:</a:t>
            </a:r>
            <a:endParaRPr kumimoji="0" lang="en-US" altLang="en-US" sz="1200" b="0" i="0" u="none" strike="noStrike" cap="none" normalizeH="0" baseline="0" dirty="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“AI for Diagnosis”</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“AI for Medical Imaging”</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“AI for Patient Monitoring”</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12" name="Rectangle 1">
            <a:extLst>
              <a:ext uri="{FF2B5EF4-FFF2-40B4-BE49-F238E27FC236}">
                <a16:creationId xmlns:a16="http://schemas.microsoft.com/office/drawing/2014/main" id="{A85AEC02-4C21-60E5-1A8F-051DA58440C0}"/>
              </a:ext>
            </a:extLst>
          </p:cNvPr>
          <p:cNvSpPr>
            <a:spLocks noChangeArrowheads="1"/>
          </p:cNvSpPr>
          <p:nvPr/>
        </p:nvSpPr>
        <p:spPr bwMode="auto">
          <a:xfrm>
            <a:off x="6480043" y="1715725"/>
            <a:ext cx="4896544" cy="3426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Chronological Review</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Arrange papers by year of publication.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Example</a:t>
            </a: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Show how spam filtering evolved:</a:t>
            </a:r>
          </a:p>
          <a:p>
            <a:pPr marL="800100" lvl="1" indent="-342900" eaLnBrk="0" fontAlgn="base" hangingPunct="0">
              <a:spcBef>
                <a:spcPct val="0"/>
              </a:spcBef>
              <a:spcAft>
                <a:spcPct val="0"/>
              </a:spcAft>
              <a:buFont typeface="Wingdings" panose="05000000000000000000" pitchFamily="2" charset="2"/>
              <a:buChar char="ü"/>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2000s – Rule-based methods</a:t>
            </a:r>
          </a:p>
          <a:p>
            <a:pPr marL="800100" lvl="1" indent="-342900" eaLnBrk="0" fontAlgn="base" hangingPunct="0">
              <a:spcBef>
                <a:spcPct val="0"/>
              </a:spcBef>
              <a:spcAft>
                <a:spcPct val="0"/>
              </a:spcAft>
              <a:buFont typeface="Wingdings" panose="05000000000000000000" pitchFamily="2" charset="2"/>
              <a:buChar char="ü"/>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2010s – Naive Bayes / SVM</a:t>
            </a:r>
          </a:p>
          <a:p>
            <a:pPr marL="800100" lvl="1" indent="-342900" eaLnBrk="0" fontAlgn="base" hangingPunct="0">
              <a:spcBef>
                <a:spcPct val="0"/>
              </a:spcBef>
              <a:spcAft>
                <a:spcPct val="0"/>
              </a:spcAft>
              <a:buFont typeface="Wingdings" panose="05000000000000000000" pitchFamily="2" charset="2"/>
              <a:buChar char="ü"/>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2020s – Deep Learning and Transformers</a:t>
            </a:r>
          </a:p>
        </p:txBody>
      </p:sp>
    </p:spTree>
    <p:extLst>
      <p:ext uri="{BB962C8B-B14F-4D97-AF65-F5344CB8AC3E}">
        <p14:creationId xmlns:p14="http://schemas.microsoft.com/office/powerpoint/2010/main" val="426681944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A4F191-0DCE-2FB1-D0C6-EBDFDFF18F08}"/>
            </a:ext>
          </a:extLst>
        </p:cNvPr>
        <p:cNvGrpSpPr/>
        <p:nvPr/>
      </p:nvGrpSpPr>
      <p:grpSpPr>
        <a:xfrm>
          <a:off x="0" y="0"/>
          <a:ext cx="0" cy="0"/>
          <a:chOff x="0" y="0"/>
          <a:chExt cx="0" cy="0"/>
        </a:xfrm>
      </p:grpSpPr>
      <p:sp>
        <p:nvSpPr>
          <p:cNvPr id="13314" name="Rectangle 1026">
            <a:extLst>
              <a:ext uri="{FF2B5EF4-FFF2-40B4-BE49-F238E27FC236}">
                <a16:creationId xmlns:a16="http://schemas.microsoft.com/office/drawing/2014/main" id="{4A983E14-5B5E-EF58-529E-EDA53ED38AD6}"/>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Some techniques for Literature Review</a:t>
            </a:r>
          </a:p>
        </p:txBody>
      </p:sp>
      <p:sp>
        <p:nvSpPr>
          <p:cNvPr id="31764" name="Slide Number Placeholder 1">
            <a:extLst>
              <a:ext uri="{FF2B5EF4-FFF2-40B4-BE49-F238E27FC236}">
                <a16:creationId xmlns:a16="http://schemas.microsoft.com/office/drawing/2014/main" id="{4695DA8B-758F-C003-7FB0-2922132DE870}"/>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41</a:t>
            </a:fld>
            <a:endParaRPr lang="es-ES" altLang="en-US" sz="1400"/>
          </a:p>
        </p:txBody>
      </p:sp>
      <p:sp>
        <p:nvSpPr>
          <p:cNvPr id="4" name="Rectangle 1">
            <a:extLst>
              <a:ext uri="{FF2B5EF4-FFF2-40B4-BE49-F238E27FC236}">
                <a16:creationId xmlns:a16="http://schemas.microsoft.com/office/drawing/2014/main" id="{C61DC01F-643A-FF58-1521-D586D0547B71}"/>
              </a:ext>
            </a:extLst>
          </p:cNvPr>
          <p:cNvSpPr>
            <a:spLocks noChangeArrowheads="1"/>
          </p:cNvSpPr>
          <p:nvPr/>
        </p:nvSpPr>
        <p:spPr bwMode="auto">
          <a:xfrm>
            <a:off x="1127448" y="1900392"/>
            <a:ext cx="4896544" cy="305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Method-based Review</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Compare how different research methods are used.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Example: Compare:</a:t>
            </a:r>
          </a:p>
          <a:p>
            <a:pPr marL="800100" lvl="1" indent="-342900" eaLnBrk="0" fontAlgn="base" hangingPunct="0">
              <a:spcBef>
                <a:spcPct val="0"/>
              </a:spcBef>
              <a:spcAft>
                <a:spcPct val="0"/>
              </a:spcAft>
              <a:buFont typeface="Wingdings" panose="05000000000000000000" pitchFamily="2" charset="2"/>
              <a:buChar char="ü"/>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Papers using Naive Bayes</a:t>
            </a:r>
          </a:p>
          <a:p>
            <a:pPr marL="800100" lvl="1" indent="-342900" eaLnBrk="0" fontAlgn="base" hangingPunct="0">
              <a:spcBef>
                <a:spcPct val="0"/>
              </a:spcBef>
              <a:spcAft>
                <a:spcPct val="0"/>
              </a:spcAft>
              <a:buFont typeface="Wingdings" panose="05000000000000000000" pitchFamily="2" charset="2"/>
              <a:buChar char="ü"/>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Papers using SVM</a:t>
            </a:r>
          </a:p>
          <a:p>
            <a:pPr marL="800100" lvl="1" indent="-342900" eaLnBrk="0" fontAlgn="base" hangingPunct="0">
              <a:spcBef>
                <a:spcPct val="0"/>
              </a:spcBef>
              <a:spcAft>
                <a:spcPct val="0"/>
              </a:spcAft>
              <a:buFont typeface="Wingdings" panose="05000000000000000000" pitchFamily="2" charset="2"/>
              <a:buChar char="ü"/>
            </a:pPr>
            <a:r>
              <a:rPr kumimoji="0" lang="en-US" altLang="en-US" sz="240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Papers using Deep Neural Networks</a:t>
            </a:r>
          </a:p>
        </p:txBody>
      </p:sp>
      <p:sp>
        <p:nvSpPr>
          <p:cNvPr id="5" name="TextBox 4">
            <a:extLst>
              <a:ext uri="{FF2B5EF4-FFF2-40B4-BE49-F238E27FC236}">
                <a16:creationId xmlns:a16="http://schemas.microsoft.com/office/drawing/2014/main" id="{E058F168-689D-E786-6BE5-451B5F945F9D}"/>
              </a:ext>
            </a:extLst>
          </p:cNvPr>
          <p:cNvSpPr txBox="1"/>
          <p:nvPr/>
        </p:nvSpPr>
        <p:spPr>
          <a:xfrm>
            <a:off x="953205" y="1214148"/>
            <a:ext cx="6103620" cy="492122"/>
          </a:xfrm>
          <a:prstGeom prst="rect">
            <a:avLst/>
          </a:prstGeom>
          <a:noFill/>
        </p:spPr>
        <p:txBody>
          <a:bodyPr wrap="square">
            <a:spAutoFit/>
          </a:bodyPr>
          <a:lstStyle/>
          <a:p>
            <a:pPr>
              <a:lnSpc>
                <a:spcPct val="115000"/>
              </a:lnSpc>
              <a:spcAft>
                <a:spcPts val="800"/>
              </a:spcAft>
            </a:pPr>
            <a:r>
              <a:rPr lang="en-IN" sz="2400" b="1" dirty="0"/>
              <a:t>Approach to Structure Review Literature</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9127192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343E4B-B119-19A1-0867-C4A9E9B5D5B0}"/>
            </a:ext>
          </a:extLst>
        </p:cNvPr>
        <p:cNvGrpSpPr/>
        <p:nvPr/>
      </p:nvGrpSpPr>
      <p:grpSpPr>
        <a:xfrm>
          <a:off x="0" y="0"/>
          <a:ext cx="0" cy="0"/>
          <a:chOff x="0" y="0"/>
          <a:chExt cx="0" cy="0"/>
        </a:xfrm>
      </p:grpSpPr>
      <p:sp>
        <p:nvSpPr>
          <p:cNvPr id="13314" name="Rectangle 1026">
            <a:extLst>
              <a:ext uri="{FF2B5EF4-FFF2-40B4-BE49-F238E27FC236}">
                <a16:creationId xmlns:a16="http://schemas.microsoft.com/office/drawing/2014/main" id="{301598B1-B295-450C-E4FE-59DFC88987AD}"/>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Some techniques for Literature Review</a:t>
            </a:r>
          </a:p>
        </p:txBody>
      </p:sp>
      <p:sp>
        <p:nvSpPr>
          <p:cNvPr id="31764" name="Slide Number Placeholder 1">
            <a:extLst>
              <a:ext uri="{FF2B5EF4-FFF2-40B4-BE49-F238E27FC236}">
                <a16:creationId xmlns:a16="http://schemas.microsoft.com/office/drawing/2014/main" id="{BB3DD78D-B7D7-62E1-9E0A-96860381DCD9}"/>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42</a:t>
            </a:fld>
            <a:endParaRPr lang="es-ES" altLang="en-US" sz="1400"/>
          </a:p>
        </p:txBody>
      </p:sp>
      <p:sp>
        <p:nvSpPr>
          <p:cNvPr id="20" name="TextBox 19">
            <a:extLst>
              <a:ext uri="{FF2B5EF4-FFF2-40B4-BE49-F238E27FC236}">
                <a16:creationId xmlns:a16="http://schemas.microsoft.com/office/drawing/2014/main" id="{D99D2504-B806-702D-3EA4-D89A024D01A0}"/>
              </a:ext>
            </a:extLst>
          </p:cNvPr>
          <p:cNvSpPr txBox="1"/>
          <p:nvPr/>
        </p:nvSpPr>
        <p:spPr>
          <a:xfrm>
            <a:off x="800974" y="1268760"/>
            <a:ext cx="6103620" cy="390684"/>
          </a:xfrm>
          <a:prstGeom prst="rect">
            <a:avLst/>
          </a:prstGeom>
          <a:noFill/>
        </p:spPr>
        <p:txBody>
          <a:bodyPr wrap="square">
            <a:spAutoFit/>
          </a:bodyPr>
          <a:lstStyle/>
          <a:p>
            <a:pPr marL="0" marR="0">
              <a:lnSpc>
                <a:spcPct val="115000"/>
              </a:lnSpc>
              <a:spcAft>
                <a:spcPts val="800"/>
              </a:spcAf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PEAR Technique (Easy Way to Break Down a Paper)</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1" name="Table 20">
            <a:extLst>
              <a:ext uri="{FF2B5EF4-FFF2-40B4-BE49-F238E27FC236}">
                <a16:creationId xmlns:a16="http://schemas.microsoft.com/office/drawing/2014/main" id="{F6B5F265-113A-787F-0D8C-4FAAF36AD86A}"/>
              </a:ext>
            </a:extLst>
          </p:cNvPr>
          <p:cNvGraphicFramePr>
            <a:graphicFrameLocks noGrp="1"/>
          </p:cNvGraphicFramePr>
          <p:nvPr/>
        </p:nvGraphicFramePr>
        <p:xfrm>
          <a:off x="911424" y="1844824"/>
          <a:ext cx="10465163" cy="2895473"/>
        </p:xfrm>
        <a:graphic>
          <a:graphicData uri="http://schemas.openxmlformats.org/drawingml/2006/table">
            <a:tbl>
              <a:tblPr firstRow="1" firstCol="1" bandRow="1">
                <a:tableStyleId>{5C22544A-7EE6-4342-B048-85BDC9FD1C3A}</a:tableStyleId>
              </a:tblPr>
              <a:tblGrid>
                <a:gridCol w="1043304">
                  <a:extLst>
                    <a:ext uri="{9D8B030D-6E8A-4147-A177-3AD203B41FA5}">
                      <a16:colId xmlns:a16="http://schemas.microsoft.com/office/drawing/2014/main" val="350786327"/>
                    </a:ext>
                  </a:extLst>
                </a:gridCol>
                <a:gridCol w="1922947">
                  <a:extLst>
                    <a:ext uri="{9D8B030D-6E8A-4147-A177-3AD203B41FA5}">
                      <a16:colId xmlns:a16="http://schemas.microsoft.com/office/drawing/2014/main" val="1683255131"/>
                    </a:ext>
                  </a:extLst>
                </a:gridCol>
                <a:gridCol w="7498912">
                  <a:extLst>
                    <a:ext uri="{9D8B030D-6E8A-4147-A177-3AD203B41FA5}">
                      <a16:colId xmlns:a16="http://schemas.microsoft.com/office/drawing/2014/main" val="1415547312"/>
                    </a:ext>
                  </a:extLst>
                </a:gridCol>
              </a:tblGrid>
              <a:tr h="0">
                <a:tc>
                  <a:txBody>
                    <a:bodyPr/>
                    <a:lstStyle/>
                    <a:p>
                      <a:pPr marL="0" marR="0" algn="ctr">
                        <a:lnSpc>
                          <a:spcPct val="115000"/>
                        </a:lnSpc>
                        <a:spcAft>
                          <a:spcPts val="800"/>
                        </a:spcAft>
                        <a:buNone/>
                      </a:pPr>
                      <a:r>
                        <a:rPr lang="en-IN" sz="2800" kern="0" dirty="0">
                          <a:solidFill>
                            <a:schemeClr val="tx2"/>
                          </a:solidFill>
                          <a:effectLst/>
                        </a:rPr>
                        <a:t>Letter</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800" kern="0" dirty="0">
                          <a:solidFill>
                            <a:schemeClr val="tx2"/>
                          </a:solidFill>
                          <a:effectLst/>
                        </a:rPr>
                        <a:t>Meaning</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800" kern="0" dirty="0">
                          <a:solidFill>
                            <a:schemeClr val="tx2"/>
                          </a:solidFill>
                          <a:effectLst/>
                        </a:rPr>
                        <a:t>What to Ask Yourself</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63136785"/>
                  </a:ext>
                </a:extLst>
              </a:tr>
              <a:tr h="0">
                <a:tc>
                  <a:txBody>
                    <a:bodyPr/>
                    <a:lstStyle/>
                    <a:p>
                      <a:pPr marL="0" marR="0" algn="ctr">
                        <a:lnSpc>
                          <a:spcPct val="115000"/>
                        </a:lnSpc>
                        <a:spcAft>
                          <a:spcPts val="800"/>
                        </a:spcAft>
                        <a:buNone/>
                      </a:pPr>
                      <a:r>
                        <a:rPr lang="en-IN" sz="2800" kern="0" dirty="0">
                          <a:solidFill>
                            <a:schemeClr val="tx2"/>
                          </a:solidFill>
                          <a:effectLst/>
                        </a:rPr>
                        <a:t>P</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800" kern="0" dirty="0">
                          <a:effectLst/>
                        </a:rPr>
                        <a:t>Point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800" kern="0" dirty="0">
                          <a:effectLst/>
                        </a:rPr>
                        <a:t>What is the main idea of the paper?</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68083831"/>
                  </a:ext>
                </a:extLst>
              </a:tr>
              <a:tr h="0">
                <a:tc>
                  <a:txBody>
                    <a:bodyPr/>
                    <a:lstStyle/>
                    <a:p>
                      <a:pPr marL="0" marR="0" algn="ctr">
                        <a:lnSpc>
                          <a:spcPct val="115000"/>
                        </a:lnSpc>
                        <a:spcAft>
                          <a:spcPts val="800"/>
                        </a:spcAft>
                        <a:buNone/>
                      </a:pPr>
                      <a:r>
                        <a:rPr lang="en-IN" sz="2800" kern="0" dirty="0">
                          <a:solidFill>
                            <a:schemeClr val="tx2"/>
                          </a:solidFill>
                          <a:effectLst/>
                        </a:rPr>
                        <a:t>E</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800" kern="0" dirty="0">
                          <a:effectLst/>
                        </a:rPr>
                        <a:t>Evidence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800" kern="0" dirty="0">
                          <a:effectLst/>
                        </a:rPr>
                        <a:t>What data or experiments did they use?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5773360"/>
                  </a:ext>
                </a:extLst>
              </a:tr>
              <a:tr h="0">
                <a:tc>
                  <a:txBody>
                    <a:bodyPr/>
                    <a:lstStyle/>
                    <a:p>
                      <a:pPr marL="0" marR="0" algn="ctr">
                        <a:lnSpc>
                          <a:spcPct val="115000"/>
                        </a:lnSpc>
                        <a:spcAft>
                          <a:spcPts val="800"/>
                        </a:spcAft>
                        <a:buNone/>
                      </a:pPr>
                      <a:r>
                        <a:rPr lang="en-IN" sz="2800" kern="0" dirty="0">
                          <a:solidFill>
                            <a:schemeClr val="tx2"/>
                          </a:solidFill>
                          <a:effectLst/>
                        </a:rPr>
                        <a:t>A</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800" kern="0" dirty="0">
                          <a:effectLst/>
                        </a:rPr>
                        <a:t>Analysis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800" kern="0" dirty="0">
                          <a:effectLst/>
                        </a:rPr>
                        <a:t>What do you think about it? Is it good? Any problem?</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66772697"/>
                  </a:ext>
                </a:extLst>
              </a:tr>
              <a:tr h="0">
                <a:tc>
                  <a:txBody>
                    <a:bodyPr/>
                    <a:lstStyle/>
                    <a:p>
                      <a:pPr marL="0" marR="0" algn="ctr">
                        <a:lnSpc>
                          <a:spcPct val="115000"/>
                        </a:lnSpc>
                        <a:spcAft>
                          <a:spcPts val="800"/>
                        </a:spcAft>
                        <a:buNone/>
                      </a:pPr>
                      <a:r>
                        <a:rPr lang="en-IN" sz="2800" kern="0" dirty="0">
                          <a:solidFill>
                            <a:schemeClr val="tx2"/>
                          </a:solidFill>
                          <a:effectLst/>
                        </a:rPr>
                        <a:t>R</a:t>
                      </a:r>
                      <a:endParaRPr lang="en-IN" sz="2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800" kern="0" dirty="0">
                          <a:effectLst/>
                        </a:rPr>
                        <a:t>Relevance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800" kern="0" dirty="0">
                          <a:effectLst/>
                        </a:rPr>
                        <a:t>How is it useful for your project or topic?</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02349882"/>
                  </a:ext>
                </a:extLst>
              </a:tr>
            </a:tbl>
          </a:graphicData>
        </a:graphic>
      </p:graphicFrame>
    </p:spTree>
    <p:extLst>
      <p:ext uri="{BB962C8B-B14F-4D97-AF65-F5344CB8AC3E}">
        <p14:creationId xmlns:p14="http://schemas.microsoft.com/office/powerpoint/2010/main" val="62516632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D5F155-2BAA-D726-897A-1D4ACD28A203}"/>
            </a:ext>
          </a:extLst>
        </p:cNvPr>
        <p:cNvGrpSpPr/>
        <p:nvPr/>
      </p:nvGrpSpPr>
      <p:grpSpPr>
        <a:xfrm>
          <a:off x="0" y="0"/>
          <a:ext cx="0" cy="0"/>
          <a:chOff x="0" y="0"/>
          <a:chExt cx="0" cy="0"/>
        </a:xfrm>
      </p:grpSpPr>
      <p:sp>
        <p:nvSpPr>
          <p:cNvPr id="13314" name="Rectangle 1026">
            <a:extLst>
              <a:ext uri="{FF2B5EF4-FFF2-40B4-BE49-F238E27FC236}">
                <a16:creationId xmlns:a16="http://schemas.microsoft.com/office/drawing/2014/main" id="{CB74AC53-0026-B419-0428-8E03E476382D}"/>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Some techniques for Literature Review</a:t>
            </a:r>
          </a:p>
        </p:txBody>
      </p:sp>
      <p:sp>
        <p:nvSpPr>
          <p:cNvPr id="31764" name="Slide Number Placeholder 1">
            <a:extLst>
              <a:ext uri="{FF2B5EF4-FFF2-40B4-BE49-F238E27FC236}">
                <a16:creationId xmlns:a16="http://schemas.microsoft.com/office/drawing/2014/main" id="{7E187F4C-2AEA-A090-B400-9CF0C4992756}"/>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43</a:t>
            </a:fld>
            <a:endParaRPr lang="es-ES" altLang="en-US" sz="1400"/>
          </a:p>
        </p:txBody>
      </p:sp>
      <p:sp>
        <p:nvSpPr>
          <p:cNvPr id="20" name="TextBox 19">
            <a:extLst>
              <a:ext uri="{FF2B5EF4-FFF2-40B4-BE49-F238E27FC236}">
                <a16:creationId xmlns:a16="http://schemas.microsoft.com/office/drawing/2014/main" id="{C1C7D311-643F-128C-D7D4-52B478F9AFE6}"/>
              </a:ext>
            </a:extLst>
          </p:cNvPr>
          <p:cNvSpPr txBox="1"/>
          <p:nvPr/>
        </p:nvSpPr>
        <p:spPr>
          <a:xfrm>
            <a:off x="815413" y="1172717"/>
            <a:ext cx="6103620" cy="390684"/>
          </a:xfrm>
          <a:prstGeom prst="rect">
            <a:avLst/>
          </a:prstGeom>
          <a:noFill/>
        </p:spPr>
        <p:txBody>
          <a:bodyPr wrap="square">
            <a:spAutoFit/>
          </a:bodyPr>
          <a:lstStyle/>
          <a:p>
            <a:pPr marL="0" marR="0">
              <a:lnSpc>
                <a:spcPct val="115000"/>
              </a:lnSpc>
              <a:spcAft>
                <a:spcPts val="800"/>
              </a:spcAft>
            </a:pP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PEAR Technique (Example)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F5E555A-A43B-01A4-3270-71040F03808E}"/>
              </a:ext>
            </a:extLst>
          </p:cNvPr>
          <p:cNvSpPr>
            <a:spLocks noChangeArrowheads="1"/>
          </p:cNvSpPr>
          <p:nvPr/>
        </p:nvSpPr>
        <p:spPr bwMode="auto">
          <a:xfrm>
            <a:off x="911424" y="1489660"/>
            <a:ext cx="10465162" cy="410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Suppose you’re doing a project on </a:t>
            </a:r>
            <a:r>
              <a:rPr kumimoji="0" lang="en-US" altLang="en-US"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Machine Learning for Spam Detection</a:t>
            </a: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and you read this paper:</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Paper Title:</a:t>
            </a: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 Improved Naive Bayes Algorithm for Email Spam Filtering” – by Sharma &amp; Gupta (2021)</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 (Point):</a:t>
            </a:r>
            <a:b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paper says that Naive Bayes can be made better by adding word frequency weighting.</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 (Evidence):</a:t>
            </a:r>
            <a:b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They tested it on the Enron spam dataset and got 92% accuracy, which is better than standard Naive Bayes (85%).</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 (Analysis):</a:t>
            </a:r>
            <a:b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idea is simple and works well, but they didn’t test it on recent spam emails—so it may not work in real-world apps today.</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R (Relevance):</a:t>
            </a:r>
            <a:b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This paper gives a good baseline for my project and helps me compare my model’s performance.</a:t>
            </a:r>
            <a:endParaRPr kumimoji="0" lang="en-US" altLang="en-US" sz="11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3915288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6BB45B-2AD9-D342-F1ED-A8C0C92E8ED7}"/>
            </a:ext>
          </a:extLst>
        </p:cNvPr>
        <p:cNvGrpSpPr/>
        <p:nvPr/>
      </p:nvGrpSpPr>
      <p:grpSpPr>
        <a:xfrm>
          <a:off x="0" y="0"/>
          <a:ext cx="0" cy="0"/>
          <a:chOff x="0" y="0"/>
          <a:chExt cx="0" cy="0"/>
        </a:xfrm>
      </p:grpSpPr>
      <p:sp>
        <p:nvSpPr>
          <p:cNvPr id="13314" name="Rectangle 1026">
            <a:extLst>
              <a:ext uri="{FF2B5EF4-FFF2-40B4-BE49-F238E27FC236}">
                <a16:creationId xmlns:a16="http://schemas.microsoft.com/office/drawing/2014/main" id="{C2C718E4-7C4C-1738-BC3B-165D9B07803B}"/>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Some techniques for Literature Review</a:t>
            </a:r>
          </a:p>
        </p:txBody>
      </p:sp>
      <p:sp>
        <p:nvSpPr>
          <p:cNvPr id="31764" name="Slide Number Placeholder 1">
            <a:extLst>
              <a:ext uri="{FF2B5EF4-FFF2-40B4-BE49-F238E27FC236}">
                <a16:creationId xmlns:a16="http://schemas.microsoft.com/office/drawing/2014/main" id="{9481FAFC-3041-2286-7E6F-6142DE9C03F1}"/>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44</a:t>
            </a:fld>
            <a:endParaRPr lang="es-ES" altLang="en-US" sz="1400"/>
          </a:p>
        </p:txBody>
      </p:sp>
      <p:sp>
        <p:nvSpPr>
          <p:cNvPr id="20" name="TextBox 19">
            <a:extLst>
              <a:ext uri="{FF2B5EF4-FFF2-40B4-BE49-F238E27FC236}">
                <a16:creationId xmlns:a16="http://schemas.microsoft.com/office/drawing/2014/main" id="{1D526A9B-83C0-F20B-D072-57B11882AA62}"/>
              </a:ext>
            </a:extLst>
          </p:cNvPr>
          <p:cNvSpPr txBox="1"/>
          <p:nvPr/>
        </p:nvSpPr>
        <p:spPr>
          <a:xfrm>
            <a:off x="800974" y="1268760"/>
            <a:ext cx="9975546" cy="390684"/>
          </a:xfrm>
          <a:prstGeom prst="rect">
            <a:avLst/>
          </a:prstGeom>
          <a:noFill/>
        </p:spPr>
        <p:txBody>
          <a:bodyPr wrap="square">
            <a:spAutoFit/>
          </a:bodyPr>
          <a:lstStyle/>
          <a:p>
            <a:pPr marL="0" marR="0">
              <a:lnSpc>
                <a:spcPct val="115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TREC helps you understand and summarize academic papers by answering four key questions.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3FDA78A-78E6-7657-0FCB-A0EDFECCDF03}"/>
              </a:ext>
            </a:extLst>
          </p:cNvPr>
          <p:cNvGraphicFramePr>
            <a:graphicFrameLocks noGrp="1"/>
          </p:cNvGraphicFramePr>
          <p:nvPr>
            <p:extLst>
              <p:ext uri="{D42A27DB-BD31-4B8C-83A1-F6EECF244321}">
                <p14:modId xmlns:p14="http://schemas.microsoft.com/office/powerpoint/2010/main" val="51579297"/>
              </p:ext>
            </p:extLst>
          </p:nvPr>
        </p:nvGraphicFramePr>
        <p:xfrm>
          <a:off x="815414" y="1916832"/>
          <a:ext cx="10465162" cy="2796540"/>
        </p:xfrm>
        <a:graphic>
          <a:graphicData uri="http://schemas.openxmlformats.org/drawingml/2006/table">
            <a:tbl>
              <a:tblPr firstRow="1" firstCol="1" bandRow="1">
                <a:tableStyleId>{5C22544A-7EE6-4342-B048-85BDC9FD1C3A}</a:tableStyleId>
              </a:tblPr>
              <a:tblGrid>
                <a:gridCol w="1685490">
                  <a:extLst>
                    <a:ext uri="{9D8B030D-6E8A-4147-A177-3AD203B41FA5}">
                      <a16:colId xmlns:a16="http://schemas.microsoft.com/office/drawing/2014/main" val="1010651508"/>
                    </a:ext>
                  </a:extLst>
                </a:gridCol>
                <a:gridCol w="3672408">
                  <a:extLst>
                    <a:ext uri="{9D8B030D-6E8A-4147-A177-3AD203B41FA5}">
                      <a16:colId xmlns:a16="http://schemas.microsoft.com/office/drawing/2014/main" val="466246370"/>
                    </a:ext>
                  </a:extLst>
                </a:gridCol>
                <a:gridCol w="5107264">
                  <a:extLst>
                    <a:ext uri="{9D8B030D-6E8A-4147-A177-3AD203B41FA5}">
                      <a16:colId xmlns:a16="http://schemas.microsoft.com/office/drawing/2014/main" val="1933699542"/>
                    </a:ext>
                  </a:extLst>
                </a:gridCol>
              </a:tblGrid>
              <a:tr h="0">
                <a:tc>
                  <a:txBody>
                    <a:bodyPr/>
                    <a:lstStyle/>
                    <a:p>
                      <a:pPr marL="0" marR="0" algn="ctr">
                        <a:lnSpc>
                          <a:spcPct val="115000"/>
                        </a:lnSpc>
                        <a:spcAft>
                          <a:spcPts val="800"/>
                        </a:spcAft>
                        <a:buNone/>
                      </a:pPr>
                      <a:r>
                        <a:rPr lang="en-IN" sz="2000" kern="0" dirty="0">
                          <a:solidFill>
                            <a:schemeClr val="tx2"/>
                          </a:solidFill>
                          <a:effectLst/>
                        </a:rPr>
                        <a:t>Letter</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000" kern="0" dirty="0">
                          <a:solidFill>
                            <a:schemeClr val="tx2"/>
                          </a:solidFill>
                          <a:effectLst/>
                        </a:rPr>
                        <a:t>What it Means</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2000" kern="0" dirty="0">
                          <a:solidFill>
                            <a:schemeClr val="tx2"/>
                          </a:solidFill>
                          <a:effectLst/>
                        </a:rPr>
                        <a:t>What You Ask</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97124092"/>
                  </a:ext>
                </a:extLst>
              </a:tr>
              <a:tr h="0">
                <a:tc>
                  <a:txBody>
                    <a:bodyPr/>
                    <a:lstStyle/>
                    <a:p>
                      <a:pPr marL="0" marR="0">
                        <a:lnSpc>
                          <a:spcPct val="115000"/>
                        </a:lnSpc>
                        <a:spcAft>
                          <a:spcPts val="800"/>
                        </a:spcAft>
                        <a:buNone/>
                      </a:pPr>
                      <a:r>
                        <a:rPr lang="en-IN" sz="2000" kern="0" dirty="0">
                          <a:solidFill>
                            <a:schemeClr val="tx2"/>
                          </a:solidFill>
                          <a:effectLst/>
                        </a:rPr>
                        <a:t>T – Topic</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dirty="0">
                          <a:effectLst/>
                        </a:rPr>
                        <a:t>What is the paper about?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a:effectLst/>
                        </a:rPr>
                        <a:t>What's the title and main subject?</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99706886"/>
                  </a:ext>
                </a:extLst>
              </a:tr>
              <a:tr h="0">
                <a:tc>
                  <a:txBody>
                    <a:bodyPr/>
                    <a:lstStyle/>
                    <a:p>
                      <a:pPr marL="0" marR="0">
                        <a:lnSpc>
                          <a:spcPct val="115000"/>
                        </a:lnSpc>
                        <a:spcAft>
                          <a:spcPts val="800"/>
                        </a:spcAft>
                        <a:buNone/>
                      </a:pPr>
                      <a:r>
                        <a:rPr lang="en-IN" sz="2000" kern="0" dirty="0">
                          <a:solidFill>
                            <a:schemeClr val="tx2"/>
                          </a:solidFill>
                          <a:effectLst/>
                        </a:rPr>
                        <a:t>R – Rationale</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dirty="0">
                          <a:effectLst/>
                        </a:rPr>
                        <a:t>Why was the research done?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a:effectLst/>
                        </a:rPr>
                        <a:t>What problem does it try to solve? Why is it important?</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03167726"/>
                  </a:ext>
                </a:extLst>
              </a:tr>
              <a:tr h="0">
                <a:tc>
                  <a:txBody>
                    <a:bodyPr/>
                    <a:lstStyle/>
                    <a:p>
                      <a:pPr marL="0" marR="0">
                        <a:lnSpc>
                          <a:spcPct val="115000"/>
                        </a:lnSpc>
                        <a:spcAft>
                          <a:spcPts val="800"/>
                        </a:spcAft>
                        <a:buNone/>
                      </a:pPr>
                      <a:r>
                        <a:rPr lang="en-IN" sz="2000" kern="0" dirty="0">
                          <a:solidFill>
                            <a:schemeClr val="tx2"/>
                          </a:solidFill>
                          <a:effectLst/>
                        </a:rPr>
                        <a:t>E – Evidence</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dirty="0">
                          <a:effectLst/>
                        </a:rPr>
                        <a:t>What data or method is used?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dirty="0">
                          <a:effectLst/>
                        </a:rPr>
                        <a:t>What experiments, algorithms, or datasets are used?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23554774"/>
                  </a:ext>
                </a:extLst>
              </a:tr>
              <a:tr h="0">
                <a:tc>
                  <a:txBody>
                    <a:bodyPr/>
                    <a:lstStyle/>
                    <a:p>
                      <a:pPr marL="0" marR="0">
                        <a:lnSpc>
                          <a:spcPct val="115000"/>
                        </a:lnSpc>
                        <a:spcAft>
                          <a:spcPts val="800"/>
                        </a:spcAft>
                        <a:buNone/>
                      </a:pPr>
                      <a:r>
                        <a:rPr lang="en-IN" sz="2000" kern="0" dirty="0">
                          <a:solidFill>
                            <a:schemeClr val="tx2"/>
                          </a:solidFill>
                          <a:effectLst/>
                        </a:rPr>
                        <a:t>C – Conclusion</a:t>
                      </a:r>
                      <a:endParaRPr lang="en-IN" sz="20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a:effectLst/>
                        </a:rPr>
                        <a:t>What did the study find?</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2000" kern="0" dirty="0">
                          <a:effectLst/>
                        </a:rPr>
                        <a:t>What are the results or final statements? What did they learn?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99325279"/>
                  </a:ext>
                </a:extLst>
              </a:tr>
            </a:tbl>
          </a:graphicData>
        </a:graphic>
      </p:graphicFrame>
    </p:spTree>
    <p:extLst>
      <p:ext uri="{BB962C8B-B14F-4D97-AF65-F5344CB8AC3E}">
        <p14:creationId xmlns:p14="http://schemas.microsoft.com/office/powerpoint/2010/main" val="135264010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1196381-C216-488F-3797-3079C00D283E}"/>
            </a:ext>
          </a:extLst>
        </p:cNvPr>
        <p:cNvGrpSpPr/>
        <p:nvPr/>
      </p:nvGrpSpPr>
      <p:grpSpPr>
        <a:xfrm>
          <a:off x="0" y="0"/>
          <a:ext cx="0" cy="0"/>
          <a:chOff x="0" y="0"/>
          <a:chExt cx="0" cy="0"/>
        </a:xfrm>
      </p:grpSpPr>
      <p:sp>
        <p:nvSpPr>
          <p:cNvPr id="13314" name="Rectangle 1026">
            <a:extLst>
              <a:ext uri="{FF2B5EF4-FFF2-40B4-BE49-F238E27FC236}">
                <a16:creationId xmlns:a16="http://schemas.microsoft.com/office/drawing/2014/main" id="{A4D04EA7-1C85-8AE7-C36E-979C2C621066}"/>
              </a:ext>
            </a:extLst>
          </p:cNvPr>
          <p:cNvSpPr>
            <a:spLocks noGrp="1" noChangeArrowheads="1"/>
          </p:cNvSpPr>
          <p:nvPr>
            <p:ph type="ctrTitle"/>
          </p:nvPr>
        </p:nvSpPr>
        <p:spPr/>
        <p:txBody>
          <a:bodyPr/>
          <a:lstStyle/>
          <a:p>
            <a:pPr>
              <a:defRPr/>
            </a:pPr>
            <a:r>
              <a:rPr lang="en-US" sz="3600" dirty="0">
                <a:solidFill>
                  <a:schemeClr val="tx1"/>
                </a:solidFill>
                <a:latin typeface="Times New Roman" panose="02020603050405020304" pitchFamily="18" charset="0"/>
                <a:cs typeface="Times New Roman" panose="02020603050405020304" pitchFamily="18" charset="0"/>
              </a:rPr>
              <a:t>Some techniques for Literature Review</a:t>
            </a:r>
          </a:p>
        </p:txBody>
      </p:sp>
      <p:sp>
        <p:nvSpPr>
          <p:cNvPr id="31764" name="Slide Number Placeholder 1">
            <a:extLst>
              <a:ext uri="{FF2B5EF4-FFF2-40B4-BE49-F238E27FC236}">
                <a16:creationId xmlns:a16="http://schemas.microsoft.com/office/drawing/2014/main" id="{6B063408-779E-1FCA-F5E3-85C2034513D6}"/>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45</a:t>
            </a:fld>
            <a:endParaRPr lang="es-ES" altLang="en-US" sz="1400"/>
          </a:p>
        </p:txBody>
      </p:sp>
      <p:sp>
        <p:nvSpPr>
          <p:cNvPr id="20" name="TextBox 19">
            <a:extLst>
              <a:ext uri="{FF2B5EF4-FFF2-40B4-BE49-F238E27FC236}">
                <a16:creationId xmlns:a16="http://schemas.microsoft.com/office/drawing/2014/main" id="{FDE16B94-01D7-BC16-A5D2-777F2653D15B}"/>
              </a:ext>
            </a:extLst>
          </p:cNvPr>
          <p:cNvSpPr txBox="1"/>
          <p:nvPr/>
        </p:nvSpPr>
        <p:spPr>
          <a:xfrm>
            <a:off x="815413" y="1172717"/>
            <a:ext cx="6103620" cy="425501"/>
          </a:xfrm>
          <a:prstGeom prst="rect">
            <a:avLst/>
          </a:prstGeom>
          <a:noFill/>
        </p:spPr>
        <p:txBody>
          <a:bodyPr wrap="square">
            <a:spAutoFit/>
          </a:bodyPr>
          <a:lstStyle/>
          <a:p>
            <a:pPr marL="0" marR="0">
              <a:lnSpc>
                <a:spcPct val="115000"/>
              </a:lnSpc>
              <a:spcAft>
                <a:spcPts val="800"/>
              </a:spcAft>
            </a:pPr>
            <a:r>
              <a:rPr lang="en-IN" sz="2000" b="1" kern="0" dirty="0">
                <a:latin typeface="+mj-lt"/>
                <a:ea typeface="Times New Roman" panose="02020603050405020304" pitchFamily="18" charset="0"/>
                <a:cs typeface="Times New Roman" panose="02020603050405020304" pitchFamily="18" charset="0"/>
              </a:rPr>
              <a:t>TREC</a:t>
            </a:r>
            <a:r>
              <a:rPr lang="en-IN" sz="2000" b="1" kern="0" dirty="0">
                <a:effectLst/>
                <a:latin typeface="+mj-lt"/>
                <a:ea typeface="Times New Roman" panose="02020603050405020304" pitchFamily="18" charset="0"/>
                <a:cs typeface="Times New Roman" panose="02020603050405020304" pitchFamily="18" charset="0"/>
              </a:rPr>
              <a:t> Technique (Example)</a:t>
            </a:r>
            <a:endParaRPr lang="en-IN" sz="1400" kern="100" dirty="0">
              <a:effectLst/>
              <a:latin typeface="+mj-lt"/>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769558D-70C5-1236-96D4-C8027208B33A}"/>
              </a:ext>
            </a:extLst>
          </p:cNvPr>
          <p:cNvGraphicFramePr>
            <a:graphicFrameLocks noGrp="1"/>
          </p:cNvGraphicFramePr>
          <p:nvPr>
            <p:extLst>
              <p:ext uri="{D42A27DB-BD31-4B8C-83A1-F6EECF244321}">
                <p14:modId xmlns:p14="http://schemas.microsoft.com/office/powerpoint/2010/main" val="2193622683"/>
              </p:ext>
            </p:extLst>
          </p:nvPr>
        </p:nvGraphicFramePr>
        <p:xfrm>
          <a:off x="803684" y="2763318"/>
          <a:ext cx="10685331" cy="2525776"/>
        </p:xfrm>
        <a:graphic>
          <a:graphicData uri="http://schemas.openxmlformats.org/drawingml/2006/table">
            <a:tbl>
              <a:tblPr firstRow="1" firstCol="1" bandRow="1">
                <a:tableStyleId>{5C22544A-7EE6-4342-B048-85BDC9FD1C3A}</a:tableStyleId>
              </a:tblPr>
              <a:tblGrid>
                <a:gridCol w="2397562">
                  <a:extLst>
                    <a:ext uri="{9D8B030D-6E8A-4147-A177-3AD203B41FA5}">
                      <a16:colId xmlns:a16="http://schemas.microsoft.com/office/drawing/2014/main" val="2583638998"/>
                    </a:ext>
                  </a:extLst>
                </a:gridCol>
                <a:gridCol w="8287769">
                  <a:extLst>
                    <a:ext uri="{9D8B030D-6E8A-4147-A177-3AD203B41FA5}">
                      <a16:colId xmlns:a16="http://schemas.microsoft.com/office/drawing/2014/main" val="2662908187"/>
                    </a:ext>
                  </a:extLst>
                </a:gridCol>
              </a:tblGrid>
              <a:tr h="0">
                <a:tc>
                  <a:txBody>
                    <a:bodyPr/>
                    <a:lstStyle/>
                    <a:p>
                      <a:pPr marL="0" marR="0" algn="ctr">
                        <a:lnSpc>
                          <a:spcPct val="115000"/>
                        </a:lnSpc>
                        <a:spcAft>
                          <a:spcPts val="800"/>
                        </a:spcAft>
                        <a:buNone/>
                      </a:pPr>
                      <a:r>
                        <a:rPr lang="en-IN" sz="1800" kern="0" dirty="0">
                          <a:solidFill>
                            <a:schemeClr val="tx2"/>
                          </a:solidFill>
                          <a:effectLst/>
                        </a:rPr>
                        <a:t>T (Topic)</a:t>
                      </a:r>
                      <a:endParaRPr lang="en-IN"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IN" sz="1800" kern="0" dirty="0">
                          <a:solidFill>
                            <a:schemeClr val="tx2"/>
                          </a:solidFill>
                          <a:effectLst/>
                        </a:rPr>
                        <a:t>The paper discusses how deep learning, specifically LSTM networks, can be used to detect fake news articles.</a:t>
                      </a:r>
                      <a:endParaRPr lang="en-IN"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44337231"/>
                  </a:ext>
                </a:extLst>
              </a:tr>
              <a:tr h="0">
                <a:tc>
                  <a:txBody>
                    <a:bodyPr/>
                    <a:lstStyle/>
                    <a:p>
                      <a:pPr marL="0" marR="0" algn="ctr">
                        <a:lnSpc>
                          <a:spcPct val="115000"/>
                        </a:lnSpc>
                        <a:spcAft>
                          <a:spcPts val="800"/>
                        </a:spcAft>
                        <a:buNone/>
                      </a:pPr>
                      <a:r>
                        <a:rPr lang="en-IN" sz="1800" kern="0" dirty="0">
                          <a:solidFill>
                            <a:schemeClr val="tx2"/>
                          </a:solidFill>
                          <a:effectLst/>
                        </a:rPr>
                        <a:t>R (Rationale)</a:t>
                      </a:r>
                      <a:endParaRPr lang="en-IN"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1800" kern="0" dirty="0">
                          <a:effectLst/>
                        </a:rPr>
                        <a:t>Fake news is spreading fast on social media and causing misinformation. Traditional methods are not effective enough.</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08441319"/>
                  </a:ext>
                </a:extLst>
              </a:tr>
              <a:tr h="0">
                <a:tc>
                  <a:txBody>
                    <a:bodyPr/>
                    <a:lstStyle/>
                    <a:p>
                      <a:pPr marL="0" marR="0" algn="ctr">
                        <a:lnSpc>
                          <a:spcPct val="115000"/>
                        </a:lnSpc>
                        <a:spcAft>
                          <a:spcPts val="800"/>
                        </a:spcAft>
                        <a:buNone/>
                      </a:pPr>
                      <a:r>
                        <a:rPr lang="en-IN" sz="1800" kern="0" dirty="0">
                          <a:solidFill>
                            <a:schemeClr val="tx2"/>
                          </a:solidFill>
                          <a:effectLst/>
                        </a:rPr>
                        <a:t>E (Evidence)</a:t>
                      </a:r>
                      <a:endParaRPr lang="en-IN"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1800" kern="0" dirty="0">
                          <a:effectLst/>
                        </a:rPr>
                        <a:t>They used the "LIAR" dataset with over 12,000 </a:t>
                      </a:r>
                      <a:r>
                        <a:rPr lang="en-IN" sz="1800" kern="0" dirty="0" err="1">
                          <a:effectLst/>
                        </a:rPr>
                        <a:t>labeled</a:t>
                      </a:r>
                      <a:r>
                        <a:rPr lang="en-IN" sz="1800" kern="0" dirty="0">
                          <a:effectLst/>
                        </a:rPr>
                        <a:t> news headlines. The model was trained using LSTM and compared with SVM and Naive Bayes.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40143337"/>
                  </a:ext>
                </a:extLst>
              </a:tr>
              <a:tr h="0">
                <a:tc>
                  <a:txBody>
                    <a:bodyPr/>
                    <a:lstStyle/>
                    <a:p>
                      <a:pPr marL="0" marR="0" algn="ctr">
                        <a:lnSpc>
                          <a:spcPct val="115000"/>
                        </a:lnSpc>
                        <a:spcAft>
                          <a:spcPts val="800"/>
                        </a:spcAft>
                        <a:buNone/>
                      </a:pPr>
                      <a:r>
                        <a:rPr lang="en-IN" sz="1800" kern="0" dirty="0">
                          <a:solidFill>
                            <a:schemeClr val="tx2"/>
                          </a:solidFill>
                          <a:effectLst/>
                        </a:rPr>
                        <a:t>C (Conclusion)</a:t>
                      </a:r>
                      <a:endParaRPr lang="en-IN"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IN" sz="1800" kern="0" dirty="0">
                          <a:effectLst/>
                        </a:rPr>
                        <a:t>The LSTM model achieved 87% accuracy and outperformed other models, showing deep learning is effective for this task.</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19915608"/>
                  </a:ext>
                </a:extLst>
              </a:tr>
            </a:tbl>
          </a:graphicData>
        </a:graphic>
      </p:graphicFrame>
      <p:sp>
        <p:nvSpPr>
          <p:cNvPr id="5" name="TextBox 4">
            <a:extLst>
              <a:ext uri="{FF2B5EF4-FFF2-40B4-BE49-F238E27FC236}">
                <a16:creationId xmlns:a16="http://schemas.microsoft.com/office/drawing/2014/main" id="{86C7DCB2-0F3E-3D6D-10A4-E9682D53E97C}"/>
              </a:ext>
            </a:extLst>
          </p:cNvPr>
          <p:cNvSpPr txBox="1"/>
          <p:nvPr/>
        </p:nvSpPr>
        <p:spPr>
          <a:xfrm>
            <a:off x="803684" y="1534594"/>
            <a:ext cx="9900827" cy="1130374"/>
          </a:xfrm>
          <a:prstGeom prst="rect">
            <a:avLst/>
          </a:prstGeom>
          <a:noFill/>
        </p:spPr>
        <p:txBody>
          <a:bodyPr wrap="square">
            <a:spAutoFit/>
          </a:bodyPr>
          <a:lstStyle/>
          <a:p>
            <a:pPr marL="0" marR="0">
              <a:lnSpc>
                <a:spcPct val="115000"/>
              </a:lnSpc>
              <a:spcAft>
                <a:spcPts val="800"/>
              </a:spcAft>
              <a:buNone/>
            </a:pPr>
            <a:r>
              <a:rPr lang="en-IN" sz="1800" kern="0" dirty="0">
                <a:effectLst/>
                <a:latin typeface="+mj-lt"/>
                <a:ea typeface="Times New Roman" panose="02020603050405020304" pitchFamily="18" charset="0"/>
                <a:cs typeface="Times New Roman" panose="02020603050405020304" pitchFamily="18" charset="0"/>
              </a:rPr>
              <a:t>Let’s say you’re reviewing a paper on </a:t>
            </a:r>
            <a:r>
              <a:rPr lang="en-IN" sz="1800" b="1" kern="0" dirty="0">
                <a:effectLst/>
                <a:latin typeface="+mj-lt"/>
                <a:ea typeface="Times New Roman" panose="02020603050405020304" pitchFamily="18" charset="0"/>
                <a:cs typeface="Times New Roman" panose="02020603050405020304" pitchFamily="18" charset="0"/>
              </a:rPr>
              <a:t>"AI for Detecting Fake News"</a:t>
            </a:r>
            <a:r>
              <a:rPr lang="en-IN" sz="1800" kern="0" dirty="0">
                <a:effectLst/>
                <a:latin typeface="+mj-lt"/>
                <a:ea typeface="Times New Roman" panose="02020603050405020304" pitchFamily="18" charset="0"/>
                <a:cs typeface="Times New Roman" panose="02020603050405020304" pitchFamily="18" charset="0"/>
              </a:rPr>
              <a:t>:</a:t>
            </a:r>
            <a:endParaRPr lang="en-IN" sz="1800" kern="100" dirty="0">
              <a:effectLst/>
              <a:latin typeface="+mj-lt"/>
              <a:ea typeface="Calibri" panose="020F0502020204030204" pitchFamily="34" charset="0"/>
              <a:cs typeface="Times New Roman" panose="02020603050405020304" pitchFamily="18" charset="0"/>
            </a:endParaRPr>
          </a:p>
          <a:p>
            <a:pPr marL="0" marR="0">
              <a:lnSpc>
                <a:spcPct val="115000"/>
              </a:lnSpc>
              <a:spcAft>
                <a:spcPts val="800"/>
              </a:spcAft>
            </a:pPr>
            <a:r>
              <a:rPr lang="en-IN" sz="1800" b="1" kern="0" dirty="0">
                <a:effectLst/>
                <a:latin typeface="+mj-lt"/>
                <a:ea typeface="Times New Roman" panose="02020603050405020304" pitchFamily="18" charset="0"/>
                <a:cs typeface="Times New Roman" panose="02020603050405020304" pitchFamily="18" charset="0"/>
              </a:rPr>
              <a:t>Paper</a:t>
            </a:r>
            <a:r>
              <a:rPr lang="en-IN" sz="1800" kern="0" dirty="0">
                <a:effectLst/>
                <a:latin typeface="+mj-lt"/>
                <a:ea typeface="Times New Roman" panose="02020603050405020304" pitchFamily="18" charset="0"/>
                <a:cs typeface="Times New Roman" panose="02020603050405020304" pitchFamily="18" charset="0"/>
              </a:rPr>
              <a:t>: </a:t>
            </a:r>
            <a:r>
              <a:rPr lang="en-IN" sz="1800" i="1" kern="0" dirty="0">
                <a:effectLst/>
                <a:latin typeface="+mj-lt"/>
                <a:ea typeface="Times New Roman" panose="02020603050405020304" pitchFamily="18" charset="0"/>
                <a:cs typeface="Times New Roman" panose="02020603050405020304" pitchFamily="18" charset="0"/>
              </a:rPr>
              <a:t>Deep Learning-Based Approach for Fake News Detection</a:t>
            </a:r>
            <a:br>
              <a:rPr lang="en-IN" sz="1800" kern="0" dirty="0">
                <a:effectLst/>
                <a:latin typeface="+mj-lt"/>
                <a:ea typeface="Times New Roman" panose="02020603050405020304" pitchFamily="18" charset="0"/>
                <a:cs typeface="Times New Roman" panose="02020603050405020304" pitchFamily="18" charset="0"/>
              </a:rPr>
            </a:br>
            <a:r>
              <a:rPr lang="en-IN" sz="1800" b="1" kern="0" dirty="0">
                <a:effectLst/>
                <a:latin typeface="+mj-lt"/>
                <a:ea typeface="Times New Roman" panose="02020603050405020304" pitchFamily="18" charset="0"/>
                <a:cs typeface="Times New Roman" panose="02020603050405020304" pitchFamily="18" charset="0"/>
              </a:rPr>
              <a:t>Author</a:t>
            </a:r>
            <a:r>
              <a:rPr lang="en-IN" sz="1800" kern="0" dirty="0">
                <a:effectLst/>
                <a:latin typeface="+mj-lt"/>
                <a:ea typeface="Times New Roman" panose="02020603050405020304" pitchFamily="18" charset="0"/>
                <a:cs typeface="Times New Roman" panose="02020603050405020304" pitchFamily="18" charset="0"/>
              </a:rPr>
              <a:t>: Sharma et al. (2021)</a:t>
            </a:r>
            <a:endParaRPr lang="en-IN" sz="18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275061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46</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Citation and its types</a:t>
            </a:r>
          </a:p>
        </p:txBody>
      </p:sp>
      <p:sp>
        <p:nvSpPr>
          <p:cNvPr id="21" name="TextBox 20">
            <a:extLst>
              <a:ext uri="{FF2B5EF4-FFF2-40B4-BE49-F238E27FC236}">
                <a16:creationId xmlns:a16="http://schemas.microsoft.com/office/drawing/2014/main" id="{393999D4-0F7D-B69D-9360-C2294F1C2A9D}"/>
              </a:ext>
            </a:extLst>
          </p:cNvPr>
          <p:cNvSpPr txBox="1"/>
          <p:nvPr/>
        </p:nvSpPr>
        <p:spPr>
          <a:xfrm>
            <a:off x="818271" y="1412776"/>
            <a:ext cx="10558316" cy="3108543"/>
          </a:xfrm>
          <a:prstGeom prst="rect">
            <a:avLst/>
          </a:prstGeom>
          <a:noFill/>
        </p:spPr>
        <p:txBody>
          <a:bodyPr wrap="square">
            <a:spAutoFit/>
          </a:bodyPr>
          <a:lstStyle/>
          <a:p>
            <a:pPr marL="457200" indent="-457200">
              <a:buFont typeface="Arial" panose="020B0604020202020204" pitchFamily="34" charset="0"/>
              <a:buChar char="•"/>
            </a:pPr>
            <a:r>
              <a:rPr lang="en-US" altLang="en-US" sz="2800" dirty="0"/>
              <a:t>Citations are references to sources from which ideas, facts, statements, or information are obtained. </a:t>
            </a:r>
          </a:p>
          <a:p>
            <a:pPr marL="457200" indent="-457200">
              <a:buFont typeface="Arial" panose="020B0604020202020204" pitchFamily="34" charset="0"/>
              <a:buChar char="•"/>
            </a:pPr>
            <a:r>
              <a:rPr lang="en-US" altLang="en-US" sz="2800" dirty="0"/>
              <a:t>They back the writer's assertions, acknowledge the original writers, and let readers find the original sources. </a:t>
            </a:r>
          </a:p>
          <a:p>
            <a:pPr marL="457200" indent="-457200">
              <a:buFont typeface="Arial" panose="020B0604020202020204" pitchFamily="34" charset="0"/>
              <a:buChar char="•"/>
            </a:pPr>
            <a:r>
              <a:rPr lang="en-US" altLang="en-US" sz="2800" dirty="0"/>
              <a:t>For academic writing, research, and other professional sectors to prevent plagiarism and preserve intellectual integrity, citations are essential.</a:t>
            </a:r>
          </a:p>
        </p:txBody>
      </p:sp>
    </p:spTree>
    <p:extLst>
      <p:ext uri="{BB962C8B-B14F-4D97-AF65-F5344CB8AC3E}">
        <p14:creationId xmlns:p14="http://schemas.microsoft.com/office/powerpoint/2010/main" val="233440457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47</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Citation and its types</a:t>
            </a:r>
          </a:p>
        </p:txBody>
      </p:sp>
      <p:sp>
        <p:nvSpPr>
          <p:cNvPr id="21" name="TextBox 20">
            <a:extLst>
              <a:ext uri="{FF2B5EF4-FFF2-40B4-BE49-F238E27FC236}">
                <a16:creationId xmlns:a16="http://schemas.microsoft.com/office/drawing/2014/main" id="{393999D4-0F7D-B69D-9360-C2294F1C2A9D}"/>
              </a:ext>
            </a:extLst>
          </p:cNvPr>
          <p:cNvSpPr txBox="1"/>
          <p:nvPr/>
        </p:nvSpPr>
        <p:spPr>
          <a:xfrm>
            <a:off x="790528" y="1268760"/>
            <a:ext cx="10558316" cy="3970318"/>
          </a:xfrm>
          <a:prstGeom prst="rect">
            <a:avLst/>
          </a:prstGeom>
          <a:noFill/>
        </p:spPr>
        <p:txBody>
          <a:bodyPr wrap="square">
            <a:spAutoFit/>
          </a:bodyPr>
          <a:lstStyle/>
          <a:p>
            <a:r>
              <a:rPr lang="en-US" altLang="en-US" sz="2800" b="1" dirty="0"/>
              <a:t>Types of Citations</a:t>
            </a:r>
          </a:p>
          <a:p>
            <a:pPr marL="457200" indent="-457200">
              <a:buFont typeface="Arial" panose="020B0604020202020204" pitchFamily="34" charset="0"/>
              <a:buChar char="•"/>
            </a:pPr>
            <a:r>
              <a:rPr lang="en-US" altLang="en-US" sz="2800" b="1" dirty="0"/>
              <a:t>1. In-text Citations</a:t>
            </a:r>
            <a:r>
              <a:rPr lang="en-US" altLang="en-US" sz="2800" dirty="0"/>
              <a:t>: In-text citations are brief references within the body of a work, pointing the reader to the full citation in the bibliography or reference list.</a:t>
            </a:r>
          </a:p>
          <a:p>
            <a:pPr marL="914400" lvl="1" indent="-457200">
              <a:buFont typeface="Arial" panose="020B0604020202020204" pitchFamily="34" charset="0"/>
              <a:buChar char="•"/>
            </a:pPr>
            <a:r>
              <a:rPr lang="en-US" altLang="en-US" sz="2800" b="1" dirty="0"/>
              <a:t>a.</a:t>
            </a:r>
            <a:r>
              <a:rPr lang="en-US" altLang="en-US" sz="2800" dirty="0"/>
              <a:t> </a:t>
            </a:r>
            <a:r>
              <a:rPr lang="en-US" altLang="en-US" sz="2800" b="1" dirty="0"/>
              <a:t>Parenthetical Citations: </a:t>
            </a:r>
            <a:r>
              <a:rPr lang="en-US" altLang="en-US" sz="2800" dirty="0"/>
              <a:t>These include the author's last name and the year of publication (and page number if applicable) in parentheses.</a:t>
            </a:r>
          </a:p>
          <a:p>
            <a:pPr marL="1371600" lvl="2" indent="-457200">
              <a:buFont typeface="Wingdings" panose="05000000000000000000" pitchFamily="2" charset="2"/>
              <a:buChar char="§"/>
            </a:pPr>
            <a:r>
              <a:rPr lang="en-US" altLang="en-US" sz="2800" dirty="0"/>
              <a:t>Example (APA Style): (Smith, 2020, p. 45)</a:t>
            </a:r>
          </a:p>
          <a:p>
            <a:pPr marL="1371600" lvl="2" indent="-457200">
              <a:buFont typeface="Wingdings" panose="05000000000000000000" pitchFamily="2" charset="2"/>
              <a:buChar char="§"/>
            </a:pPr>
            <a:r>
              <a:rPr lang="en-US" altLang="en-US" sz="2800" dirty="0"/>
              <a:t>Example (MLA Style): (Smith 45)</a:t>
            </a:r>
          </a:p>
        </p:txBody>
      </p:sp>
    </p:spTree>
    <p:extLst>
      <p:ext uri="{BB962C8B-B14F-4D97-AF65-F5344CB8AC3E}">
        <p14:creationId xmlns:p14="http://schemas.microsoft.com/office/powerpoint/2010/main" val="30848077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48</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Citation and its types</a:t>
            </a:r>
          </a:p>
        </p:txBody>
      </p:sp>
      <p:sp>
        <p:nvSpPr>
          <p:cNvPr id="21" name="TextBox 20">
            <a:extLst>
              <a:ext uri="{FF2B5EF4-FFF2-40B4-BE49-F238E27FC236}">
                <a16:creationId xmlns:a16="http://schemas.microsoft.com/office/drawing/2014/main" id="{393999D4-0F7D-B69D-9360-C2294F1C2A9D}"/>
              </a:ext>
            </a:extLst>
          </p:cNvPr>
          <p:cNvSpPr txBox="1"/>
          <p:nvPr/>
        </p:nvSpPr>
        <p:spPr>
          <a:xfrm>
            <a:off x="818271" y="1412776"/>
            <a:ext cx="10558316" cy="2123658"/>
          </a:xfrm>
          <a:prstGeom prst="rect">
            <a:avLst/>
          </a:prstGeom>
          <a:noFill/>
        </p:spPr>
        <p:txBody>
          <a:bodyPr wrap="square">
            <a:spAutoFit/>
          </a:bodyPr>
          <a:lstStyle/>
          <a:p>
            <a:pPr marL="914400" lvl="1" indent="-457200">
              <a:buFont typeface="Arial" panose="020B0604020202020204" pitchFamily="34" charset="0"/>
              <a:buChar char="•"/>
            </a:pPr>
            <a:r>
              <a:rPr lang="en-US" altLang="en-US" sz="2800" b="1" dirty="0"/>
              <a:t>b</a:t>
            </a:r>
            <a:r>
              <a:rPr lang="en-US" altLang="en-US" sz="2800" dirty="0"/>
              <a:t>. </a:t>
            </a:r>
            <a:r>
              <a:rPr lang="en-US" altLang="en-US" sz="2800" b="1" dirty="0"/>
              <a:t>Narrative Citations: </a:t>
            </a:r>
            <a:r>
              <a:rPr lang="en-US" altLang="en-US" sz="2800" dirty="0"/>
              <a:t>The author's name is incorporated into the text, with the year of publication (and page number if applicable) following in parentheses.</a:t>
            </a:r>
          </a:p>
          <a:p>
            <a:pPr marL="1371600" lvl="2" indent="-457200">
              <a:buFont typeface="Arial" panose="020B0604020202020204" pitchFamily="34" charset="0"/>
              <a:buChar char="•"/>
            </a:pPr>
            <a:r>
              <a:rPr lang="en-US" altLang="en-US" sz="2400" dirty="0"/>
              <a:t>Example (APA Style): Smith (2020) argues that...</a:t>
            </a:r>
          </a:p>
          <a:p>
            <a:pPr marL="1371600" lvl="2" indent="-457200">
              <a:buFont typeface="Arial" panose="020B0604020202020204" pitchFamily="34" charset="0"/>
              <a:buChar char="•"/>
            </a:pPr>
            <a:r>
              <a:rPr lang="en-US" altLang="en-US" sz="2400" dirty="0"/>
              <a:t>Example (MLA Style): According to Smith...</a:t>
            </a:r>
          </a:p>
        </p:txBody>
      </p:sp>
    </p:spTree>
    <p:extLst>
      <p:ext uri="{BB962C8B-B14F-4D97-AF65-F5344CB8AC3E}">
        <p14:creationId xmlns:p14="http://schemas.microsoft.com/office/powerpoint/2010/main" val="536647547"/>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49</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Citation and its types</a:t>
            </a:r>
          </a:p>
        </p:txBody>
      </p:sp>
      <p:sp>
        <p:nvSpPr>
          <p:cNvPr id="21" name="TextBox 20">
            <a:extLst>
              <a:ext uri="{FF2B5EF4-FFF2-40B4-BE49-F238E27FC236}">
                <a16:creationId xmlns:a16="http://schemas.microsoft.com/office/drawing/2014/main" id="{393999D4-0F7D-B69D-9360-C2294F1C2A9D}"/>
              </a:ext>
            </a:extLst>
          </p:cNvPr>
          <p:cNvSpPr txBox="1"/>
          <p:nvPr/>
        </p:nvSpPr>
        <p:spPr>
          <a:xfrm>
            <a:off x="335360" y="1181884"/>
            <a:ext cx="11449272" cy="4154984"/>
          </a:xfrm>
          <a:prstGeom prst="rect">
            <a:avLst/>
          </a:prstGeom>
          <a:noFill/>
        </p:spPr>
        <p:txBody>
          <a:bodyPr wrap="square">
            <a:spAutoFit/>
          </a:bodyPr>
          <a:lstStyle/>
          <a:p>
            <a:pPr lvl="1"/>
            <a:r>
              <a:rPr lang="en-US" altLang="en-US" sz="2800" b="1" dirty="0"/>
              <a:t>2. Footnotes: </a:t>
            </a:r>
            <a:r>
              <a:rPr lang="en-US" altLang="en-US" sz="2800" dirty="0"/>
              <a:t>Footnotes provide additional information at the bottom of the page where the reference is made. They are used primarily in the Chicago Manual of Style and some other citation styles.</a:t>
            </a:r>
          </a:p>
          <a:p>
            <a:pPr marL="914400" lvl="1" indent="-457200">
              <a:buFont typeface="Arial" panose="020B0604020202020204" pitchFamily="34" charset="0"/>
              <a:buChar char="•"/>
            </a:pPr>
            <a:r>
              <a:rPr lang="en-US" altLang="en-US" sz="2400" dirty="0"/>
              <a:t>Example (Chicago Style): Smith, John. Title of Book (New York: Publisher, 2020), 45.</a:t>
            </a:r>
          </a:p>
          <a:p>
            <a:pPr marL="914400" lvl="1" indent="-457200">
              <a:buFont typeface="Arial" panose="020B0604020202020204" pitchFamily="34" charset="0"/>
              <a:buChar char="•"/>
            </a:pPr>
            <a:endParaRPr lang="en-US" altLang="en-US" sz="2400" dirty="0"/>
          </a:p>
          <a:p>
            <a:pPr lvl="1"/>
            <a:r>
              <a:rPr lang="en-US" altLang="en-US" sz="2800" b="1" dirty="0"/>
              <a:t>3. Endnotes:</a:t>
            </a:r>
            <a:r>
              <a:rPr lang="en-US" altLang="en-US" sz="2800" dirty="0"/>
              <a:t> Similar to footnotes, but all references are collected at the end of the chapter or document. They also provide additional information and full citations.</a:t>
            </a:r>
          </a:p>
          <a:p>
            <a:pPr marL="914400" lvl="1" indent="-457200">
              <a:buFont typeface="Arial" panose="020B0604020202020204" pitchFamily="34" charset="0"/>
              <a:buChar char="•"/>
            </a:pPr>
            <a:r>
              <a:rPr lang="en-US" altLang="en-US" sz="2400" dirty="0"/>
              <a:t>Example (Chicago Style): Smith, John. Title of Book (New York: Publisher, 2020), 45.4</a:t>
            </a:r>
          </a:p>
        </p:txBody>
      </p:sp>
    </p:spTree>
    <p:extLst>
      <p:ext uri="{BB962C8B-B14F-4D97-AF65-F5344CB8AC3E}">
        <p14:creationId xmlns:p14="http://schemas.microsoft.com/office/powerpoint/2010/main" val="270639623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50</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Common Citation Styles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15414" y="1181884"/>
            <a:ext cx="10465162" cy="4339650"/>
          </a:xfrm>
          <a:prstGeom prst="rect">
            <a:avLst/>
          </a:prstGeom>
          <a:noFill/>
        </p:spPr>
        <p:txBody>
          <a:bodyPr wrap="square">
            <a:spAutoFit/>
          </a:bodyPr>
          <a:lstStyle/>
          <a:p>
            <a:r>
              <a:rPr lang="en-US" sz="2800" b="1" dirty="0"/>
              <a:t>1. APA (American Psychological Association)</a:t>
            </a:r>
          </a:p>
          <a:p>
            <a:r>
              <a:rPr lang="en-US" sz="2400" dirty="0"/>
              <a:t>Used primarily in the social sciences, it emphasizes the author's name and date of publication.</a:t>
            </a:r>
          </a:p>
          <a:p>
            <a:pPr marL="800100" lvl="1" indent="-342900">
              <a:buFont typeface="Arial" panose="020B0604020202020204" pitchFamily="34" charset="0"/>
              <a:buChar char="•"/>
            </a:pPr>
            <a:r>
              <a:rPr lang="en-US" sz="2400" b="1" dirty="0"/>
              <a:t>In-text citation</a:t>
            </a:r>
            <a:r>
              <a:rPr lang="en-US" sz="2400" dirty="0"/>
              <a:t>: (Smith, 2020)</a:t>
            </a:r>
          </a:p>
          <a:p>
            <a:pPr marL="800100" lvl="1" indent="-342900">
              <a:buFont typeface="Arial" panose="020B0604020202020204" pitchFamily="34" charset="0"/>
              <a:buChar char="•"/>
            </a:pPr>
            <a:r>
              <a:rPr lang="en-US" sz="2400" b="1" dirty="0"/>
              <a:t>Reference list entry</a:t>
            </a:r>
            <a:r>
              <a:rPr lang="en-US" sz="2400" dirty="0"/>
              <a:t>: Smith, J. (2020). </a:t>
            </a:r>
            <a:r>
              <a:rPr lang="en-US" sz="2400" i="1" dirty="0"/>
              <a:t>Title of Book</a:t>
            </a:r>
            <a:r>
              <a:rPr lang="en-US" sz="2400" dirty="0"/>
              <a:t>. New York, NY: Publisher.</a:t>
            </a:r>
          </a:p>
          <a:p>
            <a:pPr marL="800100" lvl="1" indent="-342900">
              <a:buFont typeface="Arial" panose="020B0604020202020204" pitchFamily="34" charset="0"/>
              <a:buChar char="•"/>
            </a:pPr>
            <a:endParaRPr lang="en-US" sz="2400" dirty="0"/>
          </a:p>
          <a:p>
            <a:r>
              <a:rPr lang="en-US" sz="2800" b="1" dirty="0"/>
              <a:t>2. MLA (Modern Language Association)</a:t>
            </a:r>
          </a:p>
          <a:p>
            <a:r>
              <a:rPr lang="en-US" sz="2400" dirty="0"/>
              <a:t>Commonly used in the humanities, particularly in writing on language and literature.</a:t>
            </a:r>
          </a:p>
          <a:p>
            <a:pPr marL="800100" lvl="1" indent="-342900">
              <a:buFont typeface="Arial" panose="020B0604020202020204" pitchFamily="34" charset="0"/>
              <a:buChar char="•"/>
            </a:pPr>
            <a:r>
              <a:rPr lang="en-US" sz="2400" b="1" dirty="0"/>
              <a:t>In-text citation</a:t>
            </a:r>
            <a:r>
              <a:rPr lang="en-US" sz="2400" dirty="0"/>
              <a:t>: (Smith 45)</a:t>
            </a:r>
          </a:p>
          <a:p>
            <a:pPr marL="800100" lvl="1" indent="-342900">
              <a:buFont typeface="Arial" panose="020B0604020202020204" pitchFamily="34" charset="0"/>
              <a:buChar char="•"/>
            </a:pPr>
            <a:r>
              <a:rPr lang="en-US" sz="2400" b="1" dirty="0"/>
              <a:t>Works Cited entry</a:t>
            </a:r>
            <a:r>
              <a:rPr lang="en-US" sz="2400" dirty="0"/>
              <a:t>: Smith, John. </a:t>
            </a:r>
            <a:r>
              <a:rPr lang="en-US" sz="2400" i="1" dirty="0"/>
              <a:t>Title of Book</a:t>
            </a:r>
            <a:r>
              <a:rPr lang="en-US" sz="2400" dirty="0"/>
              <a:t>. New York: Publisher, 2020.</a:t>
            </a:r>
          </a:p>
        </p:txBody>
      </p:sp>
    </p:spTree>
    <p:extLst>
      <p:ext uri="{BB962C8B-B14F-4D97-AF65-F5344CB8AC3E}">
        <p14:creationId xmlns:p14="http://schemas.microsoft.com/office/powerpoint/2010/main" val="334097464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51</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Common Citation Styles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15413" y="1052736"/>
            <a:ext cx="10465162" cy="4278094"/>
          </a:xfrm>
          <a:prstGeom prst="rect">
            <a:avLst/>
          </a:prstGeom>
          <a:noFill/>
        </p:spPr>
        <p:txBody>
          <a:bodyPr wrap="square">
            <a:spAutoFit/>
          </a:bodyPr>
          <a:lstStyle/>
          <a:p>
            <a:r>
              <a:rPr lang="en-US" sz="2800" b="1" dirty="0"/>
              <a:t>3. Chicago/Turabian</a:t>
            </a:r>
          </a:p>
          <a:p>
            <a:r>
              <a:rPr lang="en-US" sz="2400" dirty="0"/>
              <a:t>Used widely in history and other disciplines, it offers two systems: Notes and Bibliography, and Author-Date.</a:t>
            </a:r>
          </a:p>
          <a:p>
            <a:pPr marL="914400" lvl="1" indent="-457200">
              <a:buFont typeface="Arial" panose="020B0604020202020204" pitchFamily="34" charset="0"/>
              <a:buChar char="•"/>
            </a:pPr>
            <a:r>
              <a:rPr lang="en-US" sz="2400" b="1" dirty="0"/>
              <a:t>Notes and Bibliography (Footnote)</a:t>
            </a:r>
            <a:r>
              <a:rPr lang="en-US" sz="2400" dirty="0"/>
              <a:t>: John Smith, </a:t>
            </a:r>
            <a:r>
              <a:rPr lang="en-US" sz="2400" i="1" dirty="0"/>
              <a:t>Title of Book</a:t>
            </a:r>
            <a:r>
              <a:rPr lang="en-US" sz="2400" dirty="0"/>
              <a:t> (New York: Publisher, 2020), 45.</a:t>
            </a:r>
          </a:p>
          <a:p>
            <a:pPr marL="914400" lvl="1" indent="-457200">
              <a:buFont typeface="Arial" panose="020B0604020202020204" pitchFamily="34" charset="0"/>
              <a:buChar char="•"/>
            </a:pPr>
            <a:r>
              <a:rPr lang="en-US" sz="2400" b="1" dirty="0"/>
              <a:t>Author-Date (In-text)</a:t>
            </a:r>
            <a:r>
              <a:rPr lang="en-US" sz="2400" dirty="0"/>
              <a:t>: (Smith 2020, 45)</a:t>
            </a:r>
          </a:p>
          <a:p>
            <a:pPr marL="914400" lvl="1" indent="-457200">
              <a:buFont typeface="Arial" panose="020B0604020202020204" pitchFamily="34" charset="0"/>
              <a:buChar char="•"/>
            </a:pPr>
            <a:endParaRPr lang="en-US" sz="2400" dirty="0"/>
          </a:p>
          <a:p>
            <a:r>
              <a:rPr lang="en-US" sz="2800" b="1" dirty="0"/>
              <a:t>4. Harvard</a:t>
            </a:r>
          </a:p>
          <a:p>
            <a:r>
              <a:rPr lang="en-US" sz="2400" dirty="0"/>
              <a:t>A widely used citation style that is similar to APA, common in the UK and Australia.</a:t>
            </a:r>
          </a:p>
          <a:p>
            <a:pPr marL="800100" lvl="1" indent="-342900">
              <a:buFont typeface="Arial" panose="020B0604020202020204" pitchFamily="34" charset="0"/>
              <a:buChar char="•"/>
            </a:pPr>
            <a:r>
              <a:rPr lang="en-US" sz="2400" b="1" dirty="0"/>
              <a:t>In-text citation</a:t>
            </a:r>
            <a:r>
              <a:rPr lang="en-US" sz="2400" dirty="0"/>
              <a:t>: (Smith 2020)</a:t>
            </a:r>
          </a:p>
          <a:p>
            <a:pPr marL="800100" lvl="1" indent="-342900">
              <a:buFont typeface="Arial" panose="020B0604020202020204" pitchFamily="34" charset="0"/>
              <a:buChar char="•"/>
            </a:pPr>
            <a:r>
              <a:rPr lang="en-US" sz="2400" b="1" dirty="0"/>
              <a:t>Reference list entry</a:t>
            </a:r>
            <a:r>
              <a:rPr lang="en-US" sz="2400" dirty="0"/>
              <a:t>: Smith, J., 2020. </a:t>
            </a:r>
            <a:r>
              <a:rPr lang="en-US" sz="2400" i="1" dirty="0"/>
              <a:t>Title of Book</a:t>
            </a:r>
            <a:r>
              <a:rPr lang="en-US" sz="2400" dirty="0"/>
              <a:t>. New York: Publisher.</a:t>
            </a:r>
          </a:p>
        </p:txBody>
      </p:sp>
    </p:spTree>
    <p:extLst>
      <p:ext uri="{BB962C8B-B14F-4D97-AF65-F5344CB8AC3E}">
        <p14:creationId xmlns:p14="http://schemas.microsoft.com/office/powerpoint/2010/main" val="228033424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52</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Common Citation Styles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46624" y="1012954"/>
            <a:ext cx="10465162" cy="4832092"/>
          </a:xfrm>
          <a:prstGeom prst="rect">
            <a:avLst/>
          </a:prstGeom>
          <a:noFill/>
        </p:spPr>
        <p:txBody>
          <a:bodyPr wrap="square">
            <a:spAutoFit/>
          </a:bodyPr>
          <a:lstStyle/>
          <a:p>
            <a:r>
              <a:rPr lang="en-US" sz="2800" b="1" dirty="0"/>
              <a:t>5. Vancouver</a:t>
            </a:r>
          </a:p>
          <a:p>
            <a:r>
              <a:rPr lang="en-US" sz="2400" dirty="0"/>
              <a:t>Used primarily in the biomedical sciences, it employs a numbered reference list.</a:t>
            </a:r>
          </a:p>
          <a:p>
            <a:pPr marL="800100" lvl="1" indent="-342900">
              <a:buFont typeface="Arial" panose="020B0604020202020204" pitchFamily="34" charset="0"/>
              <a:buChar char="•"/>
            </a:pPr>
            <a:r>
              <a:rPr lang="en-US" sz="2400" b="1" dirty="0"/>
              <a:t>In-text citation</a:t>
            </a:r>
            <a:r>
              <a:rPr lang="en-US" sz="2400" dirty="0"/>
              <a:t>: (1)</a:t>
            </a:r>
          </a:p>
          <a:p>
            <a:pPr marL="800100" lvl="1" indent="-342900">
              <a:buFont typeface="Arial" panose="020B0604020202020204" pitchFamily="34" charset="0"/>
              <a:buChar char="•"/>
            </a:pPr>
            <a:r>
              <a:rPr lang="en-US" sz="2400" b="1" dirty="0"/>
              <a:t>Reference list entry</a:t>
            </a:r>
            <a:r>
              <a:rPr lang="en-US" sz="2400" dirty="0"/>
              <a:t>: 1. Smith J. </a:t>
            </a:r>
            <a:r>
              <a:rPr lang="en-US" sz="2400" i="1" dirty="0"/>
              <a:t>Title of Book</a:t>
            </a:r>
            <a:r>
              <a:rPr lang="en-US" sz="2400" dirty="0"/>
              <a:t>. New York: Publisher; 2020.</a:t>
            </a:r>
          </a:p>
          <a:p>
            <a:pPr marL="800100" lvl="1" indent="-342900">
              <a:buFont typeface="Arial" panose="020B0604020202020204" pitchFamily="34" charset="0"/>
              <a:buChar char="•"/>
            </a:pPr>
            <a:endParaRPr lang="en-US" sz="2400" dirty="0"/>
          </a:p>
          <a:p>
            <a:r>
              <a:rPr lang="en-US" sz="2800" b="1" dirty="0"/>
              <a:t>6. IEEE (Institute of Electrical and Electronics Engineers)</a:t>
            </a:r>
          </a:p>
          <a:p>
            <a:r>
              <a:rPr lang="en-US" sz="2400" dirty="0"/>
              <a:t>Used in technical fields, it uses numbered citations in brackets.</a:t>
            </a:r>
          </a:p>
          <a:p>
            <a:pPr marL="800100" lvl="1" indent="-342900">
              <a:buFont typeface="Arial" panose="020B0604020202020204" pitchFamily="34" charset="0"/>
              <a:buChar char="•"/>
            </a:pPr>
            <a:r>
              <a:rPr lang="en-US" sz="2400" b="1" dirty="0"/>
              <a:t>In-text citation</a:t>
            </a:r>
            <a:r>
              <a:rPr lang="en-US" sz="2400" dirty="0"/>
              <a:t>: [1]</a:t>
            </a:r>
          </a:p>
          <a:p>
            <a:pPr marL="800100" lvl="1" indent="-342900">
              <a:buFont typeface="Arial" panose="020B0604020202020204" pitchFamily="34" charset="0"/>
              <a:buChar char="•"/>
            </a:pPr>
            <a:r>
              <a:rPr lang="en-US" sz="2400" b="1" dirty="0"/>
              <a:t>Reference list entry</a:t>
            </a:r>
            <a:r>
              <a:rPr lang="en-US" sz="2400" dirty="0"/>
              <a:t>: [1] J. Smith, </a:t>
            </a:r>
            <a:r>
              <a:rPr lang="en-US" sz="2400" i="1" dirty="0"/>
              <a:t>Title of Book</a:t>
            </a:r>
            <a:r>
              <a:rPr lang="en-US" sz="2400" dirty="0"/>
              <a:t>. New York: Publisher, 2020.</a:t>
            </a:r>
          </a:p>
          <a:p>
            <a:pPr marL="800100" lvl="1" indent="-342900">
              <a:buFont typeface="Arial" panose="020B0604020202020204" pitchFamily="34" charset="0"/>
              <a:buChar char="•"/>
            </a:pPr>
            <a:endParaRPr lang="en-US" sz="2400" dirty="0"/>
          </a:p>
          <a:p>
            <a:r>
              <a:rPr lang="en-US" i="1" dirty="0"/>
              <a:t>Understanding the different types of citations and the styles in which they are used is essential for academic writing and research. Each style has specific rules and conventions that must be followed to ensure clarity, credibility, and proper acknowledgment of sources.</a:t>
            </a:r>
          </a:p>
        </p:txBody>
      </p:sp>
    </p:spTree>
    <p:extLst>
      <p:ext uri="{BB962C8B-B14F-4D97-AF65-F5344CB8AC3E}">
        <p14:creationId xmlns:p14="http://schemas.microsoft.com/office/powerpoint/2010/main" val="161881795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53</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IEEE (Institute of Electrical and Electronics Engineers)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4524315"/>
          </a:xfrm>
          <a:prstGeom prst="rect">
            <a:avLst/>
          </a:prstGeom>
          <a:noFill/>
        </p:spPr>
        <p:txBody>
          <a:bodyPr wrap="square">
            <a:spAutoFit/>
          </a:bodyPr>
          <a:lstStyle/>
          <a:p>
            <a:pPr marL="342900" indent="-342900" algn="just">
              <a:buFont typeface="Arial" panose="020B0604020202020204" pitchFamily="34" charset="0"/>
              <a:buChar char="•"/>
            </a:pPr>
            <a:r>
              <a:rPr lang="en-US" sz="3200" dirty="0"/>
              <a:t>The IEEE (Institute of Electrical and Electronics Engineers) citation style is widely used in technical fields, especially in engineering, computer science, and information technology. </a:t>
            </a:r>
          </a:p>
          <a:p>
            <a:pPr marL="342900" indent="-342900" algn="just">
              <a:buFont typeface="Arial" panose="020B0604020202020204" pitchFamily="34" charset="0"/>
              <a:buChar char="•"/>
            </a:pPr>
            <a:r>
              <a:rPr lang="en-US" sz="3200" dirty="0"/>
              <a:t>This style employs a numerical system, where references are numbered in the order they appear in the text and listed in the same numerical order at the end of the document. </a:t>
            </a:r>
          </a:p>
          <a:p>
            <a:pPr marL="342900" indent="-342900" algn="just">
              <a:buFont typeface="Arial" panose="020B0604020202020204" pitchFamily="34" charset="0"/>
              <a:buChar char="•"/>
            </a:pPr>
            <a:r>
              <a:rPr lang="en-US" sz="3200" dirty="0"/>
              <a:t>The IEEE style is concise and precise, making it ideal for scientific and technical writing.</a:t>
            </a:r>
            <a:endParaRPr lang="en-US" sz="2800" dirty="0"/>
          </a:p>
        </p:txBody>
      </p:sp>
    </p:spTree>
    <p:extLst>
      <p:ext uri="{BB962C8B-B14F-4D97-AF65-F5344CB8AC3E}">
        <p14:creationId xmlns:p14="http://schemas.microsoft.com/office/powerpoint/2010/main" val="638019440"/>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54</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IEEE (Institute of Electrical and Electronics Engineers)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4154984"/>
          </a:xfrm>
          <a:prstGeom prst="rect">
            <a:avLst/>
          </a:prstGeom>
          <a:noFill/>
        </p:spPr>
        <p:txBody>
          <a:bodyPr wrap="square">
            <a:spAutoFit/>
          </a:bodyPr>
          <a:lstStyle/>
          <a:p>
            <a:r>
              <a:rPr lang="en-US" sz="2400" b="1" dirty="0"/>
              <a:t>General Guidelines</a:t>
            </a:r>
          </a:p>
          <a:p>
            <a:pPr marL="342900" indent="-342900">
              <a:buFont typeface="+mj-lt"/>
              <a:buAutoNum type="arabicPeriod"/>
            </a:pPr>
            <a:r>
              <a:rPr lang="en-US" sz="2400" b="1" dirty="0"/>
              <a:t>Authors</a:t>
            </a:r>
            <a:r>
              <a:rPr lang="en-US" sz="2400" dirty="0"/>
              <a:t>: List authors by initials and last name. For multiple authors, separate names with commas and use 'and' before the last author.</a:t>
            </a:r>
          </a:p>
          <a:p>
            <a:pPr marL="800100" lvl="1" indent="-342900">
              <a:buFont typeface="+mj-lt"/>
              <a:buAutoNum type="arabicPeriod"/>
            </a:pPr>
            <a:r>
              <a:rPr lang="en-US" sz="2400" dirty="0"/>
              <a:t>Example: A. B. Author and C. D. Author</a:t>
            </a:r>
          </a:p>
          <a:p>
            <a:pPr marL="342900" indent="-342900">
              <a:buFont typeface="+mj-lt"/>
              <a:buAutoNum type="arabicPeriod"/>
            </a:pPr>
            <a:r>
              <a:rPr lang="en-US" sz="2400" b="1" dirty="0"/>
              <a:t>Titles</a:t>
            </a:r>
            <a:r>
              <a:rPr lang="en-US" sz="2400" dirty="0"/>
              <a:t>:</a:t>
            </a:r>
          </a:p>
          <a:p>
            <a:pPr marL="800100" lvl="1" indent="-342900">
              <a:buFont typeface="+mj-lt"/>
              <a:buAutoNum type="arabicPeriod"/>
            </a:pPr>
            <a:r>
              <a:rPr lang="en-US" sz="2400" dirty="0"/>
              <a:t>Book titles and conference names should be in italics.</a:t>
            </a:r>
          </a:p>
          <a:p>
            <a:pPr marL="800100" lvl="1" indent="-342900">
              <a:buFont typeface="+mj-lt"/>
              <a:buAutoNum type="arabicPeriod"/>
            </a:pPr>
            <a:r>
              <a:rPr lang="en-US" sz="2400" dirty="0"/>
              <a:t>Article and chapter titles should be in quotation marks.</a:t>
            </a:r>
          </a:p>
          <a:p>
            <a:pPr marL="342900" indent="-342900">
              <a:buFont typeface="+mj-lt"/>
              <a:buAutoNum type="arabicPeriod"/>
            </a:pPr>
            <a:r>
              <a:rPr lang="en-US" sz="2400" b="1" dirty="0"/>
              <a:t>Abbreviations</a:t>
            </a:r>
            <a:r>
              <a:rPr lang="en-US" sz="2400" dirty="0"/>
              <a:t>: Use standard abbreviations for months, journal titles, and conference names.</a:t>
            </a:r>
          </a:p>
          <a:p>
            <a:pPr marL="342900" indent="-342900">
              <a:buFont typeface="+mj-lt"/>
              <a:buAutoNum type="arabicPeriod"/>
            </a:pPr>
            <a:r>
              <a:rPr lang="en-US" sz="2400" b="1" dirty="0"/>
              <a:t>Order</a:t>
            </a:r>
            <a:r>
              <a:rPr lang="en-US" sz="2400" dirty="0"/>
              <a:t>: Number references sequentially in the order they appear in the text.</a:t>
            </a:r>
          </a:p>
          <a:p>
            <a:pPr marL="342900" indent="-342900">
              <a:buFont typeface="+mj-lt"/>
              <a:buAutoNum type="arabicPeriod"/>
            </a:pPr>
            <a:r>
              <a:rPr lang="en-US" sz="2400" b="1" dirty="0"/>
              <a:t>Consistency</a:t>
            </a:r>
            <a:r>
              <a:rPr lang="en-US" sz="2400" dirty="0"/>
              <a:t>: Maintain a consistent style throughout your document.</a:t>
            </a:r>
          </a:p>
        </p:txBody>
      </p:sp>
    </p:spTree>
    <p:extLst>
      <p:ext uri="{BB962C8B-B14F-4D97-AF65-F5344CB8AC3E}">
        <p14:creationId xmlns:p14="http://schemas.microsoft.com/office/powerpoint/2010/main" val="283632755"/>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55</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IEEE (Institute of Electrical and Electronics Engineers)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4154984"/>
          </a:xfrm>
          <a:prstGeom prst="rect">
            <a:avLst/>
          </a:prstGeom>
          <a:noFill/>
        </p:spPr>
        <p:txBody>
          <a:bodyPr wrap="square">
            <a:spAutoFit/>
          </a:bodyPr>
          <a:lstStyle/>
          <a:p>
            <a:r>
              <a:rPr lang="en-US" sz="2400" b="1" dirty="0"/>
              <a:t>In-text Citations</a:t>
            </a:r>
          </a:p>
          <a:p>
            <a:r>
              <a:rPr lang="en-US" sz="2400" dirty="0"/>
              <a:t>In-text citations in IEEE style are indicated by placing a number in square brackets at the point of reference. This number corresponds to the full citation in the reference list.</a:t>
            </a:r>
          </a:p>
          <a:p>
            <a:pPr marL="342900" indent="-342900">
              <a:buFont typeface="Arial" panose="020B0604020202020204" pitchFamily="34" charset="0"/>
              <a:buChar char="•"/>
            </a:pPr>
            <a:r>
              <a:rPr lang="en-US" sz="2400" b="1" dirty="0"/>
              <a:t>Example</a:t>
            </a:r>
            <a:r>
              <a:rPr lang="en-US" sz="2400" dirty="0"/>
              <a:t>: Recent studies have shown significant improvements in processing speed [1].</a:t>
            </a:r>
          </a:p>
          <a:p>
            <a:pPr marL="342900" indent="-342900">
              <a:buFont typeface="Arial" panose="020B0604020202020204" pitchFamily="34" charset="0"/>
              <a:buChar char="•"/>
            </a:pPr>
            <a:endParaRPr lang="en-US" sz="2400" dirty="0"/>
          </a:p>
          <a:p>
            <a:r>
              <a:rPr lang="en-US" sz="2400" b="1" dirty="0"/>
              <a:t>Reference List</a:t>
            </a:r>
          </a:p>
          <a:p>
            <a:r>
              <a:rPr lang="en-US" sz="2400" dirty="0"/>
              <a:t>The reference list in IEEE style is arranged numerically according to the order of appearance of the citations in the text. Each entry includes the necessary details to identify and locate the source. Here are the formats for various types of sources:</a:t>
            </a:r>
          </a:p>
        </p:txBody>
      </p:sp>
    </p:spTree>
    <p:extLst>
      <p:ext uri="{BB962C8B-B14F-4D97-AF65-F5344CB8AC3E}">
        <p14:creationId xmlns:p14="http://schemas.microsoft.com/office/powerpoint/2010/main" val="51068695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56</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IEEE (Institute of Electrical and Electronics Engineers)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4524315"/>
          </a:xfrm>
          <a:prstGeom prst="rect">
            <a:avLst/>
          </a:prstGeom>
          <a:noFill/>
        </p:spPr>
        <p:txBody>
          <a:bodyPr wrap="square">
            <a:spAutoFit/>
          </a:bodyPr>
          <a:lstStyle/>
          <a:p>
            <a:r>
              <a:rPr lang="en-US" sz="2400" b="1" dirty="0"/>
              <a:t>Reference List</a:t>
            </a:r>
          </a:p>
          <a:p>
            <a:r>
              <a:rPr lang="en-US" sz="2400" b="1" dirty="0"/>
              <a:t>1. Books</a:t>
            </a:r>
          </a:p>
          <a:p>
            <a:pPr marL="342900" indent="-342900">
              <a:buFont typeface="Arial" panose="020B0604020202020204" pitchFamily="34" charset="0"/>
              <a:buChar char="•"/>
            </a:pPr>
            <a:r>
              <a:rPr lang="en-US" sz="2400" b="1" dirty="0"/>
              <a:t>Format</a:t>
            </a:r>
            <a:r>
              <a:rPr lang="en-US" sz="2400" dirty="0"/>
              <a:t>: </a:t>
            </a:r>
            <a:r>
              <a:rPr lang="en-US" sz="2400" dirty="0" err="1"/>
              <a:t>Ref.numberRef</a:t>
            </a:r>
            <a:r>
              <a:rPr lang="en-US" sz="2400" dirty="0"/>
              <a:t>. </a:t>
            </a:r>
            <a:r>
              <a:rPr lang="en-US" sz="2400" dirty="0" err="1"/>
              <a:t>numberRef.number</a:t>
            </a:r>
            <a:r>
              <a:rPr lang="en-US" sz="2400" dirty="0"/>
              <a:t> Author(s), </a:t>
            </a:r>
            <a:r>
              <a:rPr lang="en-US" sz="2400" i="1" dirty="0"/>
              <a:t>Book Title</a:t>
            </a:r>
            <a:r>
              <a:rPr lang="en-US" sz="2400" dirty="0"/>
              <a:t>, </a:t>
            </a:r>
            <a:r>
              <a:rPr lang="en-US" sz="2400" dirty="0" err="1"/>
              <a:t>xth</a:t>
            </a:r>
            <a:r>
              <a:rPr lang="en-US" sz="2400" dirty="0"/>
              <a:t> ed. City of Publisher, (only U.S. State), Country: Publisher, year, pp. xxx-xxx.</a:t>
            </a:r>
          </a:p>
          <a:p>
            <a:pPr marL="342900" indent="-342900">
              <a:buFont typeface="Arial" panose="020B0604020202020204" pitchFamily="34" charset="0"/>
              <a:buChar char="•"/>
            </a:pPr>
            <a:r>
              <a:rPr lang="en-US" sz="2400" b="1" dirty="0"/>
              <a:t>Example</a:t>
            </a:r>
            <a:r>
              <a:rPr lang="en-US" sz="2400" dirty="0"/>
              <a:t>: 111 A. B. Author, </a:t>
            </a:r>
            <a:r>
              <a:rPr lang="en-US" sz="2400" i="1" dirty="0"/>
              <a:t>Title of Book</a:t>
            </a:r>
            <a:r>
              <a:rPr lang="en-US" sz="2400" dirty="0"/>
              <a:t>, 3rd ed. New York, NY, USA: Wiley, 2020, pp. 1-10.</a:t>
            </a:r>
          </a:p>
          <a:p>
            <a:pPr marL="342900" indent="-342900">
              <a:buFont typeface="Arial" panose="020B0604020202020204" pitchFamily="34" charset="0"/>
              <a:buChar char="•"/>
            </a:pPr>
            <a:endParaRPr lang="en-US" sz="2400" dirty="0"/>
          </a:p>
          <a:p>
            <a:r>
              <a:rPr lang="en-US" sz="2400" b="1" dirty="0"/>
              <a:t>2. Journal Articles</a:t>
            </a:r>
          </a:p>
          <a:p>
            <a:pPr marL="342900" indent="-342900">
              <a:buFont typeface="Arial" panose="020B0604020202020204" pitchFamily="34" charset="0"/>
              <a:buChar char="•"/>
            </a:pPr>
            <a:r>
              <a:rPr lang="en-US" sz="2400" b="1" dirty="0"/>
              <a:t>Format</a:t>
            </a:r>
            <a:r>
              <a:rPr lang="en-US" sz="2400" dirty="0"/>
              <a:t>: </a:t>
            </a:r>
            <a:r>
              <a:rPr lang="en-US" sz="2400" dirty="0" err="1"/>
              <a:t>Ref.numberRef</a:t>
            </a:r>
            <a:r>
              <a:rPr lang="en-US" sz="2400" dirty="0"/>
              <a:t>. </a:t>
            </a:r>
            <a:r>
              <a:rPr lang="en-US" sz="2400" dirty="0" err="1"/>
              <a:t>numberRef.number</a:t>
            </a:r>
            <a:r>
              <a:rPr lang="en-US" sz="2400" dirty="0"/>
              <a:t> Author(s), “Title of paper,” </a:t>
            </a:r>
            <a:r>
              <a:rPr lang="en-US" sz="2400" i="1" dirty="0"/>
              <a:t>Abbrev. Title of Journal</a:t>
            </a:r>
            <a:r>
              <a:rPr lang="en-US" sz="2400" dirty="0"/>
              <a:t>, vol. x, no. x, pp. xxx-xxx, Month, year.</a:t>
            </a:r>
          </a:p>
          <a:p>
            <a:pPr marL="342900" indent="-342900">
              <a:buFont typeface="Arial" panose="020B0604020202020204" pitchFamily="34" charset="0"/>
              <a:buChar char="•"/>
            </a:pPr>
            <a:r>
              <a:rPr lang="en-US" sz="2400" b="1" dirty="0"/>
              <a:t>Example</a:t>
            </a:r>
            <a:r>
              <a:rPr lang="en-US" sz="2400" dirty="0"/>
              <a:t>: 222 J. K. Author, “Title of paper,” </a:t>
            </a:r>
            <a:r>
              <a:rPr lang="en-US" sz="2400" i="1" dirty="0"/>
              <a:t>IEEE Trans. on Electron Devices</a:t>
            </a:r>
            <a:r>
              <a:rPr lang="en-US" sz="2400" dirty="0"/>
              <a:t>, vol. 55, no. 1, pp. 123-128, Jan. 2020.</a:t>
            </a:r>
          </a:p>
        </p:txBody>
      </p:sp>
    </p:spTree>
    <p:extLst>
      <p:ext uri="{BB962C8B-B14F-4D97-AF65-F5344CB8AC3E}">
        <p14:creationId xmlns:p14="http://schemas.microsoft.com/office/powerpoint/2010/main" val="226234597"/>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57</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IEEE (Institute of Electrical and Electronics Engineers)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4693593"/>
          </a:xfrm>
          <a:prstGeom prst="rect">
            <a:avLst/>
          </a:prstGeom>
          <a:noFill/>
        </p:spPr>
        <p:txBody>
          <a:bodyPr wrap="square">
            <a:spAutoFit/>
          </a:bodyPr>
          <a:lstStyle/>
          <a:p>
            <a:r>
              <a:rPr lang="en-US" sz="2400" b="1" dirty="0"/>
              <a:t>3. Conference Papers</a:t>
            </a:r>
          </a:p>
          <a:p>
            <a:pPr marL="342900" indent="-342900">
              <a:buFont typeface="Arial" panose="020B0604020202020204" pitchFamily="34" charset="0"/>
              <a:buChar char="•"/>
            </a:pPr>
            <a:r>
              <a:rPr lang="en-US" sz="2400" b="1" dirty="0"/>
              <a:t>Format</a:t>
            </a:r>
            <a:r>
              <a:rPr lang="en-US" sz="2400" dirty="0"/>
              <a:t>: </a:t>
            </a:r>
            <a:r>
              <a:rPr lang="en-US" sz="2400" dirty="0" err="1"/>
              <a:t>Ref.numberRef</a:t>
            </a:r>
            <a:r>
              <a:rPr lang="en-US" sz="2400" dirty="0"/>
              <a:t>. </a:t>
            </a:r>
            <a:r>
              <a:rPr lang="en-US" sz="2400" dirty="0" err="1"/>
              <a:t>numberRef.number</a:t>
            </a:r>
            <a:r>
              <a:rPr lang="en-US" sz="2400" dirty="0"/>
              <a:t> Author(s), “Title of paper,” in </a:t>
            </a:r>
            <a:r>
              <a:rPr lang="en-US" sz="2400" i="1" dirty="0"/>
              <a:t>Abbrev. Title of Conference</a:t>
            </a:r>
            <a:r>
              <a:rPr lang="en-US" sz="2400" dirty="0"/>
              <a:t>, City of Conference, (only U.S. State), Country, year, pp. xxx-xxx.</a:t>
            </a:r>
          </a:p>
          <a:p>
            <a:pPr marL="342900" indent="-342900">
              <a:buFont typeface="Arial" panose="020B0604020202020204" pitchFamily="34" charset="0"/>
              <a:buChar char="•"/>
            </a:pPr>
            <a:r>
              <a:rPr lang="en-US" sz="2400" b="1" dirty="0"/>
              <a:t>Example</a:t>
            </a:r>
            <a:r>
              <a:rPr lang="en-US" sz="2400" dirty="0"/>
              <a:t>: 333 C. D. Author, “Title of paper,” in </a:t>
            </a:r>
            <a:r>
              <a:rPr lang="en-US" sz="2400" i="1" dirty="0"/>
              <a:t>Proc. IEEE Int. Conf. on Robotics and Automation</a:t>
            </a:r>
            <a:r>
              <a:rPr lang="en-US" sz="2400" dirty="0"/>
              <a:t>, San Francisco, CA, USA, 2020, pp. 456-460.</a:t>
            </a:r>
          </a:p>
          <a:p>
            <a:pPr>
              <a:buFont typeface="Arial" panose="020B0604020202020204" pitchFamily="34" charset="0"/>
              <a:buChar char="•"/>
            </a:pPr>
            <a:endParaRPr lang="en-US" sz="1050" dirty="0"/>
          </a:p>
          <a:p>
            <a:r>
              <a:rPr lang="en-US" sz="2400" b="1" dirty="0"/>
              <a:t>4. Websites</a:t>
            </a:r>
          </a:p>
          <a:p>
            <a:pPr marL="342900" indent="-342900">
              <a:buFont typeface="Arial" panose="020B0604020202020204" pitchFamily="34" charset="0"/>
              <a:buChar char="•"/>
            </a:pPr>
            <a:r>
              <a:rPr lang="en-US" sz="2400" b="1" dirty="0"/>
              <a:t>Format</a:t>
            </a:r>
            <a:r>
              <a:rPr lang="en-US" sz="2400" dirty="0"/>
              <a:t>: </a:t>
            </a:r>
            <a:r>
              <a:rPr lang="en-US" sz="2400" dirty="0" err="1"/>
              <a:t>Ref.numberRef</a:t>
            </a:r>
            <a:r>
              <a:rPr lang="en-US" sz="2400" dirty="0"/>
              <a:t>. </a:t>
            </a:r>
            <a:r>
              <a:rPr lang="en-US" sz="2400" dirty="0" err="1"/>
              <a:t>numberRef.number</a:t>
            </a:r>
            <a:r>
              <a:rPr lang="en-US" sz="2400" dirty="0"/>
              <a:t> Author(s), “Title of web document,” Company/Organization, Accessed: Month, day, year. [Online]. Available: URL</a:t>
            </a:r>
          </a:p>
          <a:p>
            <a:pPr marL="342900" indent="-342900">
              <a:buFont typeface="Arial" panose="020B0604020202020204" pitchFamily="34" charset="0"/>
              <a:buChar char="•"/>
            </a:pPr>
            <a:r>
              <a:rPr lang="en-US" sz="2400" b="1" dirty="0"/>
              <a:t>Example</a:t>
            </a:r>
            <a:r>
              <a:rPr lang="en-US" sz="2400" dirty="0"/>
              <a:t>: 444 E. F. Author, “Title of web document,” IEEE, Accessed: Jun. 9, 2024. [Online]. Available: </a:t>
            </a:r>
            <a:r>
              <a:rPr lang="en-US" sz="2400" dirty="0">
                <a:hlinkClick r:id="rId3"/>
              </a:rPr>
              <a:t>https://www.ieee.org</a:t>
            </a:r>
            <a:endParaRPr lang="en-US" sz="2400" dirty="0"/>
          </a:p>
        </p:txBody>
      </p:sp>
    </p:spTree>
    <p:extLst>
      <p:ext uri="{BB962C8B-B14F-4D97-AF65-F5344CB8AC3E}">
        <p14:creationId xmlns:p14="http://schemas.microsoft.com/office/powerpoint/2010/main" val="303914455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58</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IEEE (Institute of Electrical and Electronics Engineers)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1938992"/>
          </a:xfrm>
          <a:prstGeom prst="rect">
            <a:avLst/>
          </a:prstGeom>
          <a:noFill/>
        </p:spPr>
        <p:txBody>
          <a:bodyPr wrap="square">
            <a:spAutoFit/>
          </a:bodyPr>
          <a:lstStyle/>
          <a:p>
            <a:r>
              <a:rPr lang="en-US" sz="2400" b="1" dirty="0"/>
              <a:t>5. Technical Reports</a:t>
            </a:r>
          </a:p>
          <a:p>
            <a:pPr marL="342900" indent="-342900">
              <a:buFont typeface="Arial" panose="020B0604020202020204" pitchFamily="34" charset="0"/>
              <a:buChar char="•"/>
            </a:pPr>
            <a:r>
              <a:rPr lang="en-US" sz="2400" b="1" dirty="0"/>
              <a:t>Format</a:t>
            </a:r>
            <a:r>
              <a:rPr lang="en-US" sz="2400" dirty="0"/>
              <a:t>: </a:t>
            </a:r>
            <a:r>
              <a:rPr lang="en-US" sz="2400" dirty="0" err="1"/>
              <a:t>Ref.numberRef</a:t>
            </a:r>
            <a:r>
              <a:rPr lang="en-US" sz="2400" dirty="0"/>
              <a:t>. </a:t>
            </a:r>
            <a:r>
              <a:rPr lang="en-US" sz="2400" dirty="0" err="1"/>
              <a:t>numberRef.number</a:t>
            </a:r>
            <a:r>
              <a:rPr lang="en-US" sz="2400" dirty="0"/>
              <a:t> Author(s), “Title of report,” Abbrev. Name of Co., City of Co., (only U.S. State), Country, Rep. xxx, year.</a:t>
            </a:r>
          </a:p>
          <a:p>
            <a:pPr marL="342900" indent="-342900">
              <a:buFont typeface="Arial" panose="020B0604020202020204" pitchFamily="34" charset="0"/>
              <a:buChar char="•"/>
            </a:pPr>
            <a:r>
              <a:rPr lang="en-US" sz="2400" b="1" dirty="0"/>
              <a:t>Example</a:t>
            </a:r>
            <a:r>
              <a:rPr lang="en-US" sz="2400" dirty="0"/>
              <a:t>: 555 G. H. Author, “Title of report,” XYZ Corp., San Jose, CA, USA, Rep. 123, 2020.</a:t>
            </a:r>
          </a:p>
        </p:txBody>
      </p:sp>
    </p:spTree>
    <p:extLst>
      <p:ext uri="{BB962C8B-B14F-4D97-AF65-F5344CB8AC3E}">
        <p14:creationId xmlns:p14="http://schemas.microsoft.com/office/powerpoint/2010/main" val="412343707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59</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Plagiarism</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268760"/>
            <a:ext cx="10465162" cy="4154984"/>
          </a:xfrm>
          <a:prstGeom prst="rect">
            <a:avLst/>
          </a:prstGeom>
          <a:noFill/>
        </p:spPr>
        <p:txBody>
          <a:bodyPr wrap="square">
            <a:spAutoFit/>
          </a:bodyPr>
          <a:lstStyle/>
          <a:p>
            <a:r>
              <a:rPr lang="en-US" sz="2400" dirty="0"/>
              <a:t>Plagiarism is the act of using someone else's work, ideas, or expressions without proper attribution, presenting them as one's own. It is considered a serious academic and ethical offense. There are several types of plagiarism, each with its own characteristics and implications. Here’s a detailed look at the various types:</a:t>
            </a:r>
          </a:p>
          <a:p>
            <a:endParaRPr lang="en-US" sz="2400" dirty="0"/>
          </a:p>
          <a:p>
            <a:r>
              <a:rPr lang="en-US" sz="2400" b="1" dirty="0"/>
              <a:t>1. Direct Plagiarism</a:t>
            </a:r>
          </a:p>
          <a:p>
            <a:r>
              <a:rPr lang="en-US" sz="2400" dirty="0"/>
              <a:t>Direct plagiarism, also known as verbatim plagiarism, involves copying text word-for-word from a source without quotation marks or proper citation. This is the most straightforward and blatant form of plagiarism.</a:t>
            </a:r>
          </a:p>
          <a:p>
            <a:pPr marL="342900" indent="-342900">
              <a:buFont typeface="Arial" panose="020B0604020202020204" pitchFamily="34" charset="0"/>
              <a:buChar char="•"/>
            </a:pPr>
            <a:r>
              <a:rPr lang="en-US" sz="2400" b="1" dirty="0"/>
              <a:t>Example</a:t>
            </a:r>
            <a:r>
              <a:rPr lang="en-US" sz="2400" dirty="0"/>
              <a:t>: Copying a paragraph from a book or article and pasting it into an essay without attribution.</a:t>
            </a:r>
          </a:p>
        </p:txBody>
      </p:sp>
    </p:spTree>
    <p:extLst>
      <p:ext uri="{BB962C8B-B14F-4D97-AF65-F5344CB8AC3E}">
        <p14:creationId xmlns:p14="http://schemas.microsoft.com/office/powerpoint/2010/main" val="414661706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60</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Plagiarism</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816703"/>
          </a:xfrm>
          <a:prstGeom prst="rect">
            <a:avLst/>
          </a:prstGeom>
          <a:noFill/>
        </p:spPr>
        <p:txBody>
          <a:bodyPr wrap="square">
            <a:spAutoFit/>
          </a:bodyPr>
          <a:lstStyle/>
          <a:p>
            <a:r>
              <a:rPr lang="en-US" sz="2400" b="1" dirty="0"/>
              <a:t>2. Self-Plagiarism</a:t>
            </a:r>
          </a:p>
          <a:p>
            <a:pPr algn="just"/>
            <a:r>
              <a:rPr lang="en-US" sz="2400" dirty="0"/>
              <a:t>Self-plagiarism occurs when an author reuses their own previously published work, or parts of it, without acknowledgment. While it might seem less severe, it is still considered dishonest.</a:t>
            </a:r>
          </a:p>
          <a:p>
            <a:pPr marL="342900" indent="-342900" algn="just">
              <a:buFont typeface="Arial" panose="020B0604020202020204" pitchFamily="34" charset="0"/>
              <a:buChar char="•"/>
            </a:pPr>
            <a:r>
              <a:rPr lang="en-US" sz="2000" b="1" dirty="0"/>
              <a:t>Example</a:t>
            </a:r>
            <a:r>
              <a:rPr lang="en-US" sz="2000" dirty="0"/>
              <a:t>: Submitting the same research paper for different classes without permission from both instructors.</a:t>
            </a:r>
          </a:p>
          <a:p>
            <a:pPr algn="just">
              <a:buFont typeface="Arial" panose="020B0604020202020204" pitchFamily="34" charset="0"/>
              <a:buChar char="•"/>
            </a:pPr>
            <a:endParaRPr lang="en-US" sz="400" dirty="0"/>
          </a:p>
          <a:p>
            <a:pPr algn="just"/>
            <a:r>
              <a:rPr lang="en-US" sz="2400" b="1" dirty="0"/>
              <a:t>3. Mosaic Plagiarism</a:t>
            </a:r>
          </a:p>
          <a:p>
            <a:pPr algn="just"/>
            <a:r>
              <a:rPr lang="en-US" sz="2400" dirty="0"/>
              <a:t>Also known as patchwriting, mosaic plagiarism involves piecing together phrases, ideas, or snippets from various sources to create a new text, without proper citation. It can also involve slightly rephrasing someone else's work while keeping the original structure.</a:t>
            </a:r>
          </a:p>
          <a:p>
            <a:pPr marL="342900" indent="-342900" algn="just">
              <a:buFont typeface="Arial" panose="020B0604020202020204" pitchFamily="34" charset="0"/>
              <a:buChar char="•"/>
            </a:pPr>
            <a:r>
              <a:rPr lang="en-US" sz="2000" b="1" dirty="0"/>
              <a:t>Example</a:t>
            </a:r>
            <a:r>
              <a:rPr lang="en-US" sz="2000" dirty="0"/>
              <a:t>: Paraphrasing multiple sources without proper citations and combining them into a new paragraph.</a:t>
            </a:r>
          </a:p>
        </p:txBody>
      </p:sp>
    </p:spTree>
    <p:extLst>
      <p:ext uri="{BB962C8B-B14F-4D97-AF65-F5344CB8AC3E}">
        <p14:creationId xmlns:p14="http://schemas.microsoft.com/office/powerpoint/2010/main" val="3951584117"/>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61</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Plagiarism</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801314"/>
          </a:xfrm>
          <a:prstGeom prst="rect">
            <a:avLst/>
          </a:prstGeom>
          <a:noFill/>
        </p:spPr>
        <p:txBody>
          <a:bodyPr wrap="square">
            <a:spAutoFit/>
          </a:bodyPr>
          <a:lstStyle/>
          <a:p>
            <a:r>
              <a:rPr lang="en-US" sz="2400" b="1" dirty="0"/>
              <a:t>4. Paraphrasing Plagiarism</a:t>
            </a:r>
          </a:p>
          <a:p>
            <a:r>
              <a:rPr lang="en-US" sz="2400" dirty="0"/>
              <a:t>Paraphrasing plagiarism occurs when someone rewrites another person’s ideas in their own words without giving proper credit. It involves changing a few words or the sentence structure of the original text.</a:t>
            </a:r>
          </a:p>
          <a:p>
            <a:pPr marL="342900" indent="-342900">
              <a:buFont typeface="Arial" panose="020B0604020202020204" pitchFamily="34" charset="0"/>
              <a:buChar char="•"/>
            </a:pPr>
            <a:r>
              <a:rPr lang="en-US" sz="2000" b="1" dirty="0"/>
              <a:t>Example</a:t>
            </a:r>
            <a:r>
              <a:rPr lang="en-US" sz="2000" dirty="0"/>
              <a:t>: Reading a passage and then rewriting it in your own words without citing the source.</a:t>
            </a:r>
          </a:p>
          <a:p>
            <a:endParaRPr lang="en-US" sz="2400" dirty="0"/>
          </a:p>
          <a:p>
            <a:r>
              <a:rPr lang="en-US" sz="2400" b="1" dirty="0"/>
              <a:t>5. Source-based Plagiarism</a:t>
            </a:r>
          </a:p>
          <a:p>
            <a:r>
              <a:rPr lang="en-US" sz="2400" dirty="0"/>
              <a:t>Source-based plagiarism includes misrepresenting or fabricating sources. This can involve citing incorrect or nonexistent sources (citation fabrication) or misrepresenting the source content (citation manipulation).</a:t>
            </a:r>
          </a:p>
          <a:p>
            <a:pPr marL="342900" indent="-342900">
              <a:buFont typeface="Arial" panose="020B0604020202020204" pitchFamily="34" charset="0"/>
              <a:buChar char="•"/>
            </a:pPr>
            <a:r>
              <a:rPr lang="en-US" sz="2800" b="1" dirty="0"/>
              <a:t>Example</a:t>
            </a:r>
            <a:r>
              <a:rPr lang="en-US" sz="2800" dirty="0"/>
              <a:t>: </a:t>
            </a:r>
            <a:r>
              <a:rPr lang="en-US" sz="2000" dirty="0"/>
              <a:t>Making up data or sources that do not exist to support claims or intentionally misinterpreting the information from a source.</a:t>
            </a:r>
          </a:p>
          <a:p>
            <a:endParaRPr lang="en-US" sz="2400" dirty="0"/>
          </a:p>
        </p:txBody>
      </p:sp>
    </p:spTree>
    <p:extLst>
      <p:ext uri="{BB962C8B-B14F-4D97-AF65-F5344CB8AC3E}">
        <p14:creationId xmlns:p14="http://schemas.microsoft.com/office/powerpoint/2010/main" val="277017308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62</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Plagiarism</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585871"/>
          </a:xfrm>
          <a:prstGeom prst="rect">
            <a:avLst/>
          </a:prstGeom>
          <a:noFill/>
        </p:spPr>
        <p:txBody>
          <a:bodyPr wrap="square">
            <a:spAutoFit/>
          </a:bodyPr>
          <a:lstStyle/>
          <a:p>
            <a:r>
              <a:rPr lang="en-US" sz="2400" b="1" dirty="0"/>
              <a:t>6. Secondary Source Plagiarism</a:t>
            </a:r>
          </a:p>
          <a:p>
            <a:r>
              <a:rPr lang="en-US" sz="2400" dirty="0"/>
              <a:t>This type involves using a secondary source of information but citing only the primary sources contained within it, giving the impression of having consulted the primary sources.</a:t>
            </a:r>
          </a:p>
          <a:p>
            <a:pPr marL="342900" indent="-342900">
              <a:buFont typeface="Arial" panose="020B0604020202020204" pitchFamily="34" charset="0"/>
              <a:buChar char="•"/>
            </a:pPr>
            <a:r>
              <a:rPr lang="en-US" sz="2000" b="1" dirty="0"/>
              <a:t>Example</a:t>
            </a:r>
            <a:r>
              <a:rPr lang="en-US" sz="2000" dirty="0"/>
              <a:t>: Reading about an original study in a review article and then citing the original study without having read it.</a:t>
            </a:r>
          </a:p>
          <a:p>
            <a:pPr marL="342900" indent="-342900">
              <a:buFont typeface="Arial" panose="020B0604020202020204" pitchFamily="34" charset="0"/>
              <a:buChar char="•"/>
            </a:pPr>
            <a:endParaRPr lang="en-US" sz="2000" dirty="0"/>
          </a:p>
          <a:p>
            <a:r>
              <a:rPr lang="en-US" sz="2400" b="1" dirty="0"/>
              <a:t>7. Misleading Attribution</a:t>
            </a:r>
          </a:p>
          <a:p>
            <a:r>
              <a:rPr lang="en-US" sz="2400" dirty="0"/>
              <a:t>Misleading attribution occurs when an author credits a work to someone who did not contribute to the work or fails to credit someone who did contribute significantly.</a:t>
            </a:r>
          </a:p>
          <a:p>
            <a:pPr marL="342900" indent="-342900">
              <a:buFont typeface="Arial" panose="020B0604020202020204" pitchFamily="34" charset="0"/>
              <a:buChar char="•"/>
            </a:pPr>
            <a:r>
              <a:rPr lang="en-US" sz="2000" b="1" dirty="0"/>
              <a:t>Example</a:t>
            </a:r>
            <a:r>
              <a:rPr lang="en-US" sz="2000" dirty="0"/>
              <a:t>: Including a friend’s name as a co-author on a paper when they did not participate in the research or writing process.</a:t>
            </a:r>
          </a:p>
        </p:txBody>
      </p:sp>
    </p:spTree>
    <p:extLst>
      <p:ext uri="{BB962C8B-B14F-4D97-AF65-F5344CB8AC3E}">
        <p14:creationId xmlns:p14="http://schemas.microsoft.com/office/powerpoint/2010/main" val="416810654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63</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Preventing Plagiarism</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154984"/>
          </a:xfrm>
          <a:prstGeom prst="rect">
            <a:avLst/>
          </a:prstGeom>
          <a:noFill/>
        </p:spPr>
        <p:txBody>
          <a:bodyPr wrap="square">
            <a:spAutoFit/>
          </a:bodyPr>
          <a:lstStyle/>
          <a:p>
            <a:r>
              <a:rPr lang="en-US" sz="2200" dirty="0"/>
              <a:t>To avoid plagiarism, it is crucial to:</a:t>
            </a:r>
          </a:p>
          <a:p>
            <a:pPr marL="342900" indent="-342900">
              <a:buFont typeface="Arial" panose="020B0604020202020204" pitchFamily="34" charset="0"/>
              <a:buChar char="•"/>
            </a:pPr>
            <a:r>
              <a:rPr lang="en-US" sz="2200" b="1" dirty="0"/>
              <a:t>Understand and follow citation rules</a:t>
            </a:r>
            <a:r>
              <a:rPr lang="en-US" sz="2200" dirty="0"/>
              <a:t>: Use appropriate citation styles (APA, MLA, Chicago, etc.) as required.</a:t>
            </a:r>
          </a:p>
          <a:p>
            <a:pPr marL="342900" indent="-342900">
              <a:buFont typeface="Arial" panose="020B0604020202020204" pitchFamily="34" charset="0"/>
              <a:buChar char="•"/>
            </a:pPr>
            <a:r>
              <a:rPr lang="en-US" sz="2200" b="1" dirty="0"/>
              <a:t>Keep track of sources</a:t>
            </a:r>
            <a:r>
              <a:rPr lang="en-US" sz="2200" dirty="0"/>
              <a:t>: Maintain careful notes and records of all sources consulted.</a:t>
            </a:r>
          </a:p>
          <a:p>
            <a:pPr marL="342900" indent="-342900">
              <a:buFont typeface="Arial" panose="020B0604020202020204" pitchFamily="34" charset="0"/>
              <a:buChar char="•"/>
            </a:pPr>
            <a:r>
              <a:rPr lang="en-US" sz="2200" b="1" dirty="0"/>
              <a:t>Use plagiarism detection tools</a:t>
            </a:r>
            <a:r>
              <a:rPr lang="en-US" sz="2200" dirty="0"/>
              <a:t>: Tools like Turnitin or Grammarly can help identify unintentional plagiarism.</a:t>
            </a:r>
          </a:p>
          <a:p>
            <a:pPr marL="342900" indent="-342900">
              <a:buFont typeface="Arial" panose="020B0604020202020204" pitchFamily="34" charset="0"/>
              <a:buChar char="•"/>
            </a:pPr>
            <a:r>
              <a:rPr lang="en-US" sz="2200" b="1" dirty="0"/>
              <a:t>Paraphrase effectively</a:t>
            </a:r>
            <a:r>
              <a:rPr lang="en-US" sz="2200" dirty="0"/>
              <a:t>: Ensure that paraphrased text is significantly different from the original and properly cited.</a:t>
            </a:r>
          </a:p>
          <a:p>
            <a:pPr marL="342900" indent="-342900">
              <a:buFont typeface="Arial" panose="020B0604020202020204" pitchFamily="34" charset="0"/>
              <a:buChar char="•"/>
            </a:pPr>
            <a:r>
              <a:rPr lang="en-US" sz="2200" b="1" dirty="0"/>
              <a:t>Seek permission</a:t>
            </a:r>
            <a:r>
              <a:rPr lang="en-US" sz="2200" dirty="0"/>
              <a:t>: When reusing one's own work, get approval from the relevant authority.</a:t>
            </a:r>
          </a:p>
          <a:p>
            <a:r>
              <a:rPr lang="en-US" sz="2200" dirty="0"/>
              <a:t>Understanding the types of plagiarism and how to avoid them is essential for maintaining academic integrity and producing honest and credible work.</a:t>
            </a:r>
          </a:p>
        </p:txBody>
      </p:sp>
    </p:spTree>
    <p:extLst>
      <p:ext uri="{BB962C8B-B14F-4D97-AF65-F5344CB8AC3E}">
        <p14:creationId xmlns:p14="http://schemas.microsoft.com/office/powerpoint/2010/main" val="409371337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64</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Research Questions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524315"/>
          </a:xfrm>
          <a:prstGeom prst="rect">
            <a:avLst/>
          </a:prstGeom>
          <a:noFill/>
        </p:spPr>
        <p:txBody>
          <a:bodyPr wrap="square">
            <a:spAutoFit/>
          </a:bodyPr>
          <a:lstStyle/>
          <a:p>
            <a:r>
              <a:rPr lang="en-US" sz="2400" dirty="0"/>
              <a:t>A research question is a clear, focused, and concise question that guides a research study or project. It defines the scope of the study, directs the research efforts, and determines the methodology and analysis. Research questions are crucial because they:</a:t>
            </a:r>
          </a:p>
          <a:p>
            <a:pPr marL="342900" indent="-342900">
              <a:buFont typeface="Arial" panose="020B0604020202020204" pitchFamily="34" charset="0"/>
              <a:buChar char="•"/>
            </a:pPr>
            <a:r>
              <a:rPr lang="en-US" sz="2400" b="1" dirty="0"/>
              <a:t>Provide Focus</a:t>
            </a:r>
            <a:r>
              <a:rPr lang="en-US" sz="2400" dirty="0"/>
              <a:t>: Narrow down a broad topic to a specific issue.</a:t>
            </a:r>
          </a:p>
          <a:p>
            <a:pPr marL="342900" indent="-342900">
              <a:buFont typeface="Arial" panose="020B0604020202020204" pitchFamily="34" charset="0"/>
              <a:buChar char="•"/>
            </a:pPr>
            <a:r>
              <a:rPr lang="en-US" sz="2400" b="1" dirty="0"/>
              <a:t>Guide Research</a:t>
            </a:r>
            <a:r>
              <a:rPr lang="en-US" sz="2400" dirty="0"/>
              <a:t>: Help in choosing the research design, methodology, and data collection techniques.</a:t>
            </a:r>
          </a:p>
          <a:p>
            <a:pPr marL="342900" indent="-342900">
              <a:buFont typeface="Arial" panose="020B0604020202020204" pitchFamily="34" charset="0"/>
              <a:buChar char="•"/>
            </a:pPr>
            <a:r>
              <a:rPr lang="en-US" sz="2400" b="1" dirty="0"/>
              <a:t>Define Scope</a:t>
            </a:r>
            <a:r>
              <a:rPr lang="en-US" sz="2400" dirty="0"/>
              <a:t>: Establish the boundaries of the study and keep it manageable.</a:t>
            </a:r>
          </a:p>
          <a:p>
            <a:pPr marL="342900" indent="-342900">
              <a:buFont typeface="Arial" panose="020B0604020202020204" pitchFamily="34" charset="0"/>
              <a:buChar char="•"/>
            </a:pPr>
            <a:r>
              <a:rPr lang="en-US" sz="2400" b="1" dirty="0"/>
              <a:t>Facilitate Hypothesis Development</a:t>
            </a:r>
            <a:r>
              <a:rPr lang="en-US" sz="2400" dirty="0"/>
              <a:t>: Serve as a basis for forming hypotheses that can be tested.</a:t>
            </a:r>
          </a:p>
          <a:p>
            <a:pPr marL="342900" indent="-342900">
              <a:buFont typeface="Arial" panose="020B0604020202020204" pitchFamily="34" charset="0"/>
              <a:buChar char="•"/>
            </a:pPr>
            <a:r>
              <a:rPr lang="en-US" sz="2400" b="1" dirty="0"/>
              <a:t>Ensure Relevance</a:t>
            </a:r>
            <a:r>
              <a:rPr lang="en-US" sz="2400" dirty="0"/>
              <a:t>: Ensure that the research addresses significant and meaningful issues.</a:t>
            </a:r>
          </a:p>
        </p:txBody>
      </p:sp>
    </p:spTree>
    <p:extLst>
      <p:ext uri="{BB962C8B-B14F-4D97-AF65-F5344CB8AC3E}">
        <p14:creationId xmlns:p14="http://schemas.microsoft.com/office/powerpoint/2010/main" val="404996417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65</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Research Questions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524315"/>
          </a:xfrm>
          <a:prstGeom prst="rect">
            <a:avLst/>
          </a:prstGeom>
          <a:noFill/>
        </p:spPr>
        <p:txBody>
          <a:bodyPr wrap="square">
            <a:spAutoFit/>
          </a:bodyPr>
          <a:lstStyle/>
          <a:p>
            <a:r>
              <a:rPr lang="en-US" sz="2400" b="1" dirty="0"/>
              <a:t>Importance of Research Questions</a:t>
            </a:r>
          </a:p>
          <a:p>
            <a:pPr marL="342900" indent="-342900">
              <a:buFont typeface="Arial" panose="020B0604020202020204" pitchFamily="34" charset="0"/>
              <a:buChar char="•"/>
            </a:pPr>
            <a:r>
              <a:rPr lang="en-US" sz="2400" b="1" dirty="0"/>
              <a:t>Clarity and Direction</a:t>
            </a:r>
            <a:r>
              <a:rPr lang="en-US" sz="2400" dirty="0"/>
              <a:t>: They clarify the purpose of the research and provide direction on what needs to be studied.</a:t>
            </a:r>
          </a:p>
          <a:p>
            <a:pPr marL="342900" indent="-342900">
              <a:buFont typeface="Arial" panose="020B0604020202020204" pitchFamily="34" charset="0"/>
              <a:buChar char="•"/>
            </a:pPr>
            <a:r>
              <a:rPr lang="en-US" sz="2400" b="1" dirty="0"/>
              <a:t>Scope Management</a:t>
            </a:r>
            <a:r>
              <a:rPr lang="en-US" sz="2400" dirty="0"/>
              <a:t>: Help in defining what will and will not be included in the study, ensuring that the research remains focused and within manageable bounds.</a:t>
            </a:r>
          </a:p>
          <a:p>
            <a:pPr marL="342900" indent="-342900">
              <a:buFont typeface="Arial" panose="020B0604020202020204" pitchFamily="34" charset="0"/>
              <a:buChar char="•"/>
            </a:pPr>
            <a:r>
              <a:rPr lang="en-US" sz="2400" b="1" dirty="0"/>
              <a:t>Methodology</a:t>
            </a:r>
            <a:r>
              <a:rPr lang="en-US" sz="2400" dirty="0"/>
              <a:t>: Influence the choice of research methodology, including data collection and analysis techniques.</a:t>
            </a:r>
          </a:p>
          <a:p>
            <a:pPr marL="342900" indent="-342900">
              <a:buFont typeface="Arial" panose="020B0604020202020204" pitchFamily="34" charset="0"/>
              <a:buChar char="•"/>
            </a:pPr>
            <a:r>
              <a:rPr lang="en-US" sz="2400" b="1" dirty="0"/>
              <a:t>Evaluation Criteria</a:t>
            </a:r>
            <a:r>
              <a:rPr lang="en-US" sz="2400" dirty="0"/>
              <a:t>: Provide criteria against which the success and relevance of the research can be evaluated.</a:t>
            </a:r>
          </a:p>
          <a:p>
            <a:pPr marL="342900" indent="-342900">
              <a:buFont typeface="Arial" panose="020B0604020202020204" pitchFamily="34" charset="0"/>
              <a:buChar char="•"/>
            </a:pPr>
            <a:r>
              <a:rPr lang="en-US" sz="2400" b="1" dirty="0"/>
              <a:t>Framework for Reporting</a:t>
            </a:r>
            <a:r>
              <a:rPr lang="en-US" sz="2400" dirty="0"/>
              <a:t>: Offer a framework for organizing the research report or dissertation.</a:t>
            </a:r>
          </a:p>
        </p:txBody>
      </p:sp>
    </p:spTree>
    <p:extLst>
      <p:ext uri="{BB962C8B-B14F-4D97-AF65-F5344CB8AC3E}">
        <p14:creationId xmlns:p14="http://schemas.microsoft.com/office/powerpoint/2010/main" val="98878137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66</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Research Questions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678204"/>
          </a:xfrm>
          <a:prstGeom prst="rect">
            <a:avLst/>
          </a:prstGeom>
          <a:noFill/>
        </p:spPr>
        <p:txBody>
          <a:bodyPr wrap="square">
            <a:spAutoFit/>
          </a:bodyPr>
          <a:lstStyle/>
          <a:p>
            <a:r>
              <a:rPr lang="en-US" sz="2000" b="1" dirty="0"/>
              <a:t>Examples of Research Questions in Computer Science Research</a:t>
            </a:r>
          </a:p>
          <a:p>
            <a:r>
              <a:rPr lang="en-US" sz="2000" dirty="0"/>
              <a:t>Here are some examples of research questions within different subfields of computer science:</a:t>
            </a:r>
          </a:p>
          <a:p>
            <a:endParaRPr lang="en-US" sz="2000" b="1" dirty="0"/>
          </a:p>
          <a:p>
            <a:r>
              <a:rPr lang="en-US" sz="2000" b="1" dirty="0"/>
              <a:t>Artificial Intelligence and Machine Learning</a:t>
            </a:r>
          </a:p>
          <a:p>
            <a:pPr>
              <a:buFont typeface="Arial" panose="020B0604020202020204" pitchFamily="34" charset="0"/>
              <a:buChar char="•"/>
            </a:pPr>
            <a:r>
              <a:rPr lang="en-US" sz="2000" b="1" dirty="0"/>
              <a:t>Question</a:t>
            </a:r>
            <a:r>
              <a:rPr lang="en-US" sz="2000" dirty="0"/>
              <a:t>: How can reinforcement learning be applied to optimize resource allocation in cloud computing environments?</a:t>
            </a:r>
          </a:p>
          <a:p>
            <a:pPr marL="742950" lvl="1" indent="-285750">
              <a:buFont typeface="Arial" panose="020B0604020202020204" pitchFamily="34" charset="0"/>
              <a:buChar char="•"/>
            </a:pPr>
            <a:r>
              <a:rPr lang="en-US" sz="2000" b="1" dirty="0"/>
              <a:t>Importance</a:t>
            </a:r>
            <a:r>
              <a:rPr lang="en-US" sz="2000" dirty="0"/>
              <a:t>: This question addresses the challenge of efficiently managing resources in cloud computing, which can lead to cost savings and improved performance.</a:t>
            </a:r>
          </a:p>
          <a:p>
            <a:pPr marL="742950" lvl="1" indent="-285750">
              <a:buFont typeface="Arial" panose="020B0604020202020204" pitchFamily="34" charset="0"/>
              <a:buChar char="•"/>
            </a:pPr>
            <a:endParaRPr lang="en-US" sz="2000" dirty="0"/>
          </a:p>
          <a:p>
            <a:r>
              <a:rPr lang="en-US" sz="2000" b="1" dirty="0"/>
              <a:t>Human-Computer Interaction</a:t>
            </a:r>
          </a:p>
          <a:p>
            <a:pPr>
              <a:buFont typeface="Arial" panose="020B0604020202020204" pitchFamily="34" charset="0"/>
              <a:buChar char="•"/>
            </a:pPr>
            <a:r>
              <a:rPr lang="en-US" sz="2000" b="1" dirty="0"/>
              <a:t>Question</a:t>
            </a:r>
            <a:r>
              <a:rPr lang="en-US" sz="2000" dirty="0"/>
              <a:t>: How do different user interface designs impact the usability and accessibility of mobile applications for visually impaired users?</a:t>
            </a:r>
          </a:p>
          <a:p>
            <a:pPr marL="742950" lvl="1" indent="-285750">
              <a:buFont typeface="Arial" panose="020B0604020202020204" pitchFamily="34" charset="0"/>
              <a:buChar char="•"/>
            </a:pPr>
            <a:r>
              <a:rPr lang="en-US" sz="2000" b="1" dirty="0"/>
              <a:t>Importance</a:t>
            </a:r>
            <a:r>
              <a:rPr lang="en-US" sz="2000" dirty="0"/>
              <a:t>: This question aims to improve the inclusivity and usability of technology, making it accessible to a wider audience.</a:t>
            </a:r>
          </a:p>
          <a:p>
            <a:endParaRPr lang="en-US" dirty="0"/>
          </a:p>
        </p:txBody>
      </p:sp>
    </p:spTree>
    <p:extLst>
      <p:ext uri="{BB962C8B-B14F-4D97-AF65-F5344CB8AC3E}">
        <p14:creationId xmlns:p14="http://schemas.microsoft.com/office/powerpoint/2010/main" val="4193144261"/>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67</a:t>
            </a:fld>
            <a:endParaRPr lang="es-ES" altLang="en-US" sz="1400" dirty="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Conceptual Framework</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401205"/>
          </a:xfrm>
          <a:prstGeom prst="rect">
            <a:avLst/>
          </a:prstGeom>
          <a:noFill/>
        </p:spPr>
        <p:txBody>
          <a:bodyPr wrap="square">
            <a:spAutoFit/>
          </a:bodyPr>
          <a:lstStyle/>
          <a:p>
            <a:r>
              <a:rPr lang="en-US" sz="2800" dirty="0"/>
              <a:t>A conceptual framework makes explicit how we structure our thinking about the research topic and the process undertaken. It, therefore, makes clear such things as:</a:t>
            </a:r>
          </a:p>
          <a:p>
            <a:pPr marL="342900" indent="-342900">
              <a:buFont typeface="Arial" panose="020B0604020202020204" pitchFamily="34" charset="0"/>
              <a:buChar char="•"/>
            </a:pPr>
            <a:r>
              <a:rPr lang="en-US" sz="2800" dirty="0"/>
              <a:t>The different factors that comprise the topic;</a:t>
            </a:r>
          </a:p>
          <a:p>
            <a:pPr marL="342900" indent="-342900">
              <a:buFont typeface="Arial" panose="020B0604020202020204" pitchFamily="34" charset="0"/>
              <a:buChar char="•"/>
            </a:pPr>
            <a:r>
              <a:rPr lang="en-US" sz="2800" dirty="0"/>
              <a:t>Our way of thinking about the topic (for example, via a particular theory such as actor-network theory or semiotics, or via a particular technology such as web services);</a:t>
            </a:r>
          </a:p>
          <a:p>
            <a:pPr marL="342900" indent="-342900">
              <a:buFont typeface="Arial" panose="020B0604020202020204" pitchFamily="34" charset="0"/>
              <a:buChar char="•"/>
            </a:pPr>
            <a:r>
              <a:rPr lang="en-US" sz="2800" dirty="0"/>
              <a:t>Our way of tackling the research question(s) (that is, the combination of strategies and methods we adopt –often called the research methodology);</a:t>
            </a:r>
          </a:p>
        </p:txBody>
      </p:sp>
    </p:spTree>
    <p:extLst>
      <p:ext uri="{BB962C8B-B14F-4D97-AF65-F5344CB8AC3E}">
        <p14:creationId xmlns:p14="http://schemas.microsoft.com/office/powerpoint/2010/main" val="2068127463"/>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68</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Conceptual Framework</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708981"/>
          </a:xfrm>
          <a:prstGeom prst="rect">
            <a:avLst/>
          </a:prstGeom>
          <a:noFill/>
        </p:spPr>
        <p:txBody>
          <a:bodyPr wrap="square">
            <a:spAutoFit/>
          </a:bodyPr>
          <a:lstStyle/>
          <a:p>
            <a:pPr marL="342900" indent="-342900">
              <a:buFont typeface="Arial" panose="020B0604020202020204" pitchFamily="34" charset="0"/>
              <a:buChar char="•"/>
            </a:pPr>
            <a:r>
              <a:rPr lang="en-US" sz="2800" dirty="0"/>
              <a:t>Our approach to </a:t>
            </a:r>
            <a:r>
              <a:rPr lang="en-US" sz="2800" dirty="0" err="1"/>
              <a:t>analysing</a:t>
            </a:r>
            <a:r>
              <a:rPr lang="en-US" sz="2800" dirty="0"/>
              <a:t> any generated data (for example, quantitative analysis, which uses mathematics and Statistics, or qualitative analysis, which uses thematic approaches);</a:t>
            </a:r>
          </a:p>
          <a:p>
            <a:pPr marL="342900" indent="-342900">
              <a:buFont typeface="Arial" panose="020B0604020202020204" pitchFamily="34" charset="0"/>
              <a:buChar char="•"/>
            </a:pPr>
            <a:r>
              <a:rPr lang="en-US" sz="2800" dirty="0"/>
              <a:t>Our approach to designing and creating any new IT product (for example, the systems development methodology we follow, or the genre we want to use);</a:t>
            </a:r>
          </a:p>
          <a:p>
            <a:pPr marL="342900" indent="-342900">
              <a:buFont typeface="Arial" panose="020B0604020202020204" pitchFamily="34" charset="0"/>
              <a:buChar char="•"/>
            </a:pPr>
            <a:r>
              <a:rPr lang="en-US" sz="2800" dirty="0"/>
              <a:t>Our approach to evaluating your research (for example, whether we will focus on technical accuracy, greater understanding, increased efficiency or aesthetic criteria)</a:t>
            </a:r>
          </a:p>
          <a:p>
            <a:r>
              <a:rPr lang="en-US" sz="2400" dirty="0">
                <a:solidFill>
                  <a:srgbClr val="FF0000"/>
                </a:solidFill>
              </a:rPr>
              <a:t>Much of the conceptual framework is derived from and justified by a study of the literature.</a:t>
            </a:r>
          </a:p>
        </p:txBody>
      </p:sp>
    </p:spTree>
    <p:extLst>
      <p:ext uri="{BB962C8B-B14F-4D97-AF65-F5344CB8AC3E}">
        <p14:creationId xmlns:p14="http://schemas.microsoft.com/office/powerpoint/2010/main" val="3170983162"/>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69</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Strategies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031873"/>
          </a:xfrm>
          <a:prstGeom prst="rect">
            <a:avLst/>
          </a:prstGeom>
          <a:noFill/>
        </p:spPr>
        <p:txBody>
          <a:bodyPr wrap="square">
            <a:spAutoFit/>
          </a:bodyPr>
          <a:lstStyle/>
          <a:p>
            <a:r>
              <a:rPr lang="en-US" sz="3200" dirty="0"/>
              <a:t>A strategy is the overall approach to answering our research question. </a:t>
            </a:r>
          </a:p>
          <a:p>
            <a:pPr marL="342900" indent="-342900">
              <a:buFont typeface="Arial" panose="020B0604020202020204" pitchFamily="34" charset="0"/>
              <a:buChar char="•"/>
            </a:pPr>
            <a:r>
              <a:rPr lang="en-US" sz="3200" dirty="0"/>
              <a:t>Survey,</a:t>
            </a:r>
          </a:p>
          <a:p>
            <a:pPr marL="342900" indent="-342900">
              <a:buFont typeface="Arial" panose="020B0604020202020204" pitchFamily="34" charset="0"/>
              <a:buChar char="•"/>
            </a:pPr>
            <a:r>
              <a:rPr lang="en-US" sz="3200" dirty="0"/>
              <a:t>Design and creation, </a:t>
            </a:r>
          </a:p>
          <a:p>
            <a:pPr marL="342900" indent="-342900">
              <a:buFont typeface="Arial" panose="020B0604020202020204" pitchFamily="34" charset="0"/>
              <a:buChar char="•"/>
            </a:pPr>
            <a:r>
              <a:rPr lang="en-US" sz="3200" dirty="0"/>
              <a:t>Experiment, </a:t>
            </a:r>
          </a:p>
          <a:p>
            <a:pPr marL="342900" indent="-342900">
              <a:buFont typeface="Arial" panose="020B0604020202020204" pitchFamily="34" charset="0"/>
              <a:buChar char="•"/>
            </a:pPr>
            <a:r>
              <a:rPr lang="en-US" sz="3200" dirty="0"/>
              <a:t>Case study, </a:t>
            </a:r>
          </a:p>
          <a:p>
            <a:pPr marL="342900" indent="-342900">
              <a:buFont typeface="Arial" panose="020B0604020202020204" pitchFamily="34" charset="0"/>
              <a:buChar char="•"/>
            </a:pPr>
            <a:r>
              <a:rPr lang="en-US" sz="3200" dirty="0"/>
              <a:t>Action research and </a:t>
            </a:r>
          </a:p>
          <a:p>
            <a:pPr marL="342900" indent="-342900">
              <a:buFont typeface="Arial" panose="020B0604020202020204" pitchFamily="34" charset="0"/>
              <a:buChar char="•"/>
            </a:pPr>
            <a:r>
              <a:rPr lang="en-US" sz="3200" dirty="0"/>
              <a:t>Ethnography.</a:t>
            </a:r>
          </a:p>
        </p:txBody>
      </p:sp>
    </p:spTree>
    <p:extLst>
      <p:ext uri="{BB962C8B-B14F-4D97-AF65-F5344CB8AC3E}">
        <p14:creationId xmlns:p14="http://schemas.microsoft.com/office/powerpoint/2010/main" val="526596893"/>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70</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Strategies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539430"/>
          </a:xfrm>
          <a:prstGeom prst="rect">
            <a:avLst/>
          </a:prstGeom>
          <a:noFill/>
        </p:spPr>
        <p:txBody>
          <a:bodyPr wrap="square">
            <a:spAutoFit/>
          </a:bodyPr>
          <a:lstStyle/>
          <a:p>
            <a:pPr marL="342900" indent="-342900">
              <a:buFont typeface="Arial" panose="020B0604020202020204" pitchFamily="34" charset="0"/>
              <a:buChar char="•"/>
            </a:pPr>
            <a:r>
              <a:rPr lang="en-US" sz="2800" b="1" dirty="0"/>
              <a:t>Survey</a:t>
            </a:r>
            <a:r>
              <a:rPr lang="en-US" sz="2800" dirty="0"/>
              <a:t>: focuses on obtaining the same kinds of data from a large group of people (or events) in a </a:t>
            </a:r>
            <a:r>
              <a:rPr lang="en-US" sz="2800" dirty="0" err="1"/>
              <a:t>standardised</a:t>
            </a:r>
            <a:r>
              <a:rPr lang="en-US" sz="2800" dirty="0"/>
              <a:t> and systematic way. You then look for patterns in the data using statistics so that you can </a:t>
            </a:r>
            <a:r>
              <a:rPr lang="en-US" sz="2800" dirty="0" err="1"/>
              <a:t>generalise</a:t>
            </a:r>
            <a:r>
              <a:rPr lang="en-US" sz="2800" dirty="0"/>
              <a:t> to a larger population than the group you targeted. </a:t>
            </a:r>
          </a:p>
          <a:p>
            <a:pPr marL="342900" indent="-342900">
              <a:buFont typeface="Arial" panose="020B0604020202020204" pitchFamily="34" charset="0"/>
              <a:buChar char="•"/>
            </a:pPr>
            <a:r>
              <a:rPr lang="en-US" sz="2800" b="1" dirty="0"/>
              <a:t>Design and creation</a:t>
            </a:r>
            <a:r>
              <a:rPr lang="en-US" sz="2800" dirty="0"/>
              <a:t>: focuses on developing new IT products, or artefacts. Often the new IT product is a computer-based system, but it can also be some element of the development process such as a new construct, model or method.</a:t>
            </a:r>
          </a:p>
        </p:txBody>
      </p:sp>
    </p:spTree>
    <p:extLst>
      <p:ext uri="{BB962C8B-B14F-4D97-AF65-F5344CB8AC3E}">
        <p14:creationId xmlns:p14="http://schemas.microsoft.com/office/powerpoint/2010/main" val="2900514670"/>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71</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Strategies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8" y="1196752"/>
            <a:ext cx="10705189" cy="4093428"/>
          </a:xfrm>
          <a:prstGeom prst="rect">
            <a:avLst/>
          </a:prstGeom>
          <a:noFill/>
        </p:spPr>
        <p:txBody>
          <a:bodyPr wrap="square">
            <a:spAutoFit/>
          </a:bodyPr>
          <a:lstStyle/>
          <a:p>
            <a:pPr marL="342900" indent="-342900">
              <a:buFont typeface="Arial" panose="020B0604020202020204" pitchFamily="34" charset="0"/>
              <a:buChar char="•"/>
            </a:pPr>
            <a:r>
              <a:rPr lang="en-US" sz="2600" b="1" dirty="0"/>
              <a:t>Experiment</a:t>
            </a:r>
            <a:r>
              <a:rPr lang="en-US" sz="2600" dirty="0"/>
              <a:t>: focuses on investigating cause and effect relationships, testing hypotheses and seeking to prove or disprove a causal link between a factor and an observed outcome. There is ‘before’ and ‘after’ measurement, and all factors that might affect the results are carefully excluded from the study, other than the one factor that is thought will cause the ‘after’ result. </a:t>
            </a:r>
          </a:p>
          <a:p>
            <a:pPr marL="342900" indent="-342900">
              <a:buFont typeface="Arial" panose="020B0604020202020204" pitchFamily="34" charset="0"/>
              <a:buChar char="•"/>
            </a:pPr>
            <a:r>
              <a:rPr lang="en-US" sz="2600" b="1" dirty="0"/>
              <a:t>Case study</a:t>
            </a:r>
            <a:r>
              <a:rPr lang="en-US" sz="2600" dirty="0"/>
              <a:t>: focuses on one instance of the ‘thing’ that is to be investigated: an organization, a department, an information system, a discussion forum, a systems developer, a development project, a decision and so on. The aim is to obtain a rich, detailed insight into the ‘life’ of that case and its complex relationships and processes.</a:t>
            </a:r>
          </a:p>
        </p:txBody>
      </p:sp>
    </p:spTree>
    <p:extLst>
      <p:ext uri="{BB962C8B-B14F-4D97-AF65-F5344CB8AC3E}">
        <p14:creationId xmlns:p14="http://schemas.microsoft.com/office/powerpoint/2010/main" val="92628205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72</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Strategies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539430"/>
          </a:xfrm>
          <a:prstGeom prst="rect">
            <a:avLst/>
          </a:prstGeom>
          <a:noFill/>
        </p:spPr>
        <p:txBody>
          <a:bodyPr wrap="square">
            <a:spAutoFit/>
          </a:bodyPr>
          <a:lstStyle/>
          <a:p>
            <a:pPr marL="342900" indent="-342900">
              <a:buFont typeface="Arial" panose="020B0604020202020204" pitchFamily="34" charset="0"/>
              <a:buChar char="•"/>
            </a:pPr>
            <a:r>
              <a:rPr lang="en-US" sz="2800" b="1" dirty="0"/>
              <a:t>Action research</a:t>
            </a:r>
            <a:r>
              <a:rPr lang="en-US" sz="2800" dirty="0"/>
              <a:t>: focuses on research into action. The researchers plan to do something in a real-world situation, do it, and then reflect on what happened or was learnt, and then begin another cycle of plan–act– reflect. </a:t>
            </a:r>
          </a:p>
          <a:p>
            <a:pPr marL="342900" indent="-342900">
              <a:buFont typeface="Arial" panose="020B0604020202020204" pitchFamily="34" charset="0"/>
              <a:buChar char="•"/>
            </a:pPr>
            <a:r>
              <a:rPr lang="en-US" sz="2800" b="1" dirty="0"/>
              <a:t>Ethnography</a:t>
            </a:r>
            <a:r>
              <a:rPr lang="en-US" sz="2800" dirty="0"/>
              <a:t>: focuses on understanding the culture and ways of seeing of a particular group of people. The researcher spends time in the field, taking part in the life of the people there, rather than being a detached observer. </a:t>
            </a:r>
            <a:endParaRPr lang="en-US" sz="2400" dirty="0"/>
          </a:p>
        </p:txBody>
      </p:sp>
    </p:spTree>
    <p:extLst>
      <p:ext uri="{BB962C8B-B14F-4D97-AF65-F5344CB8AC3E}">
        <p14:creationId xmlns:p14="http://schemas.microsoft.com/office/powerpoint/2010/main" val="1566656105"/>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73</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Data Generation Methods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031873"/>
          </a:xfrm>
          <a:prstGeom prst="rect">
            <a:avLst/>
          </a:prstGeom>
          <a:noFill/>
        </p:spPr>
        <p:txBody>
          <a:bodyPr wrap="square">
            <a:spAutoFit/>
          </a:bodyPr>
          <a:lstStyle/>
          <a:p>
            <a:pPr marL="342900" indent="-342900" algn="just">
              <a:buFont typeface="Arial" panose="020B0604020202020204" pitchFamily="34" charset="0"/>
              <a:buChar char="•"/>
            </a:pPr>
            <a:r>
              <a:rPr lang="en-US" sz="3200" dirty="0"/>
              <a:t>A data generation method is the means by which you produce empirical (field) data or evidence. </a:t>
            </a:r>
          </a:p>
          <a:p>
            <a:pPr marL="342900" indent="-342900" algn="just">
              <a:buFont typeface="Arial" panose="020B0604020202020204" pitchFamily="34" charset="0"/>
              <a:buChar char="•"/>
            </a:pPr>
            <a:r>
              <a:rPr lang="en-US" sz="3200" dirty="0"/>
              <a:t>Data can be either quantitative or qualitative. </a:t>
            </a:r>
          </a:p>
          <a:p>
            <a:pPr marL="342900" indent="-342900" algn="just">
              <a:buFont typeface="Arial" panose="020B0604020202020204" pitchFamily="34" charset="0"/>
              <a:buChar char="•"/>
            </a:pPr>
            <a:r>
              <a:rPr lang="en-US" sz="3200" dirty="0"/>
              <a:t>Quantitative data is numeric data, for example, number of website hits, number of employees, annual turnover, last year’s profit.</a:t>
            </a:r>
          </a:p>
          <a:p>
            <a:pPr marL="342900" indent="-342900" algn="just">
              <a:buFont typeface="Arial" panose="020B0604020202020204" pitchFamily="34" charset="0"/>
              <a:buChar char="•"/>
            </a:pPr>
            <a:r>
              <a:rPr lang="en-US" sz="3200" dirty="0"/>
              <a:t>Qualitative data is all other types of data: words, images, sounds and so on.</a:t>
            </a:r>
            <a:endParaRPr lang="en-US" sz="2800" dirty="0"/>
          </a:p>
        </p:txBody>
      </p:sp>
    </p:spTree>
    <p:extLst>
      <p:ext uri="{BB962C8B-B14F-4D97-AF65-F5344CB8AC3E}">
        <p14:creationId xmlns:p14="http://schemas.microsoft.com/office/powerpoint/2010/main" val="2974084312"/>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74</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Data Generation Methods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046988"/>
          </a:xfrm>
          <a:prstGeom prst="rect">
            <a:avLst/>
          </a:prstGeom>
          <a:noFill/>
        </p:spPr>
        <p:txBody>
          <a:bodyPr wrap="square">
            <a:spAutoFit/>
          </a:bodyPr>
          <a:lstStyle/>
          <a:p>
            <a:pPr algn="just"/>
            <a:r>
              <a:rPr lang="en-US" sz="3200" b="1" dirty="0"/>
              <a:t>Interview</a:t>
            </a:r>
          </a:p>
          <a:p>
            <a:pPr marL="342900" indent="-342900" algn="just">
              <a:buFont typeface="Arial" panose="020B0604020202020204" pitchFamily="34" charset="0"/>
              <a:buChar char="•"/>
            </a:pPr>
            <a:r>
              <a:rPr lang="en-US" sz="3200" dirty="0"/>
              <a:t>A particular kind of conversation between people where, at least at the beginning of the interview if not all the way through, the researcher controls both the agenda and the proceedings and will ask most of the questions. </a:t>
            </a:r>
          </a:p>
          <a:p>
            <a:pPr marL="342900" indent="-342900" algn="just">
              <a:buFont typeface="Arial" panose="020B0604020202020204" pitchFamily="34" charset="0"/>
              <a:buChar char="•"/>
            </a:pPr>
            <a:r>
              <a:rPr lang="en-US" sz="3200" dirty="0"/>
              <a:t>One-to-one and group interviews are possible. </a:t>
            </a:r>
          </a:p>
        </p:txBody>
      </p:sp>
    </p:spTree>
    <p:extLst>
      <p:ext uri="{BB962C8B-B14F-4D97-AF65-F5344CB8AC3E}">
        <p14:creationId xmlns:p14="http://schemas.microsoft.com/office/powerpoint/2010/main" val="36983699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75</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Data Generation Methods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2554545"/>
          </a:xfrm>
          <a:prstGeom prst="rect">
            <a:avLst/>
          </a:prstGeom>
          <a:noFill/>
        </p:spPr>
        <p:txBody>
          <a:bodyPr wrap="square">
            <a:spAutoFit/>
          </a:bodyPr>
          <a:lstStyle/>
          <a:p>
            <a:pPr algn="just"/>
            <a:r>
              <a:rPr lang="en-US" sz="3200" b="1" dirty="0"/>
              <a:t>Observations</a:t>
            </a:r>
            <a:r>
              <a:rPr lang="en-US" sz="3200" dirty="0"/>
              <a:t>: </a:t>
            </a:r>
          </a:p>
          <a:p>
            <a:pPr marL="342900" indent="-342900" algn="just">
              <a:buFont typeface="Arial" panose="020B0604020202020204" pitchFamily="34" charset="0"/>
              <a:buChar char="•"/>
            </a:pPr>
            <a:r>
              <a:rPr lang="en-US" sz="3200" dirty="0"/>
              <a:t>Watching and paying attention to what people actually do, rather than what they report they do.</a:t>
            </a:r>
          </a:p>
          <a:p>
            <a:pPr marL="342900" indent="-342900" algn="just">
              <a:buFont typeface="Arial" panose="020B0604020202020204" pitchFamily="34" charset="0"/>
              <a:buChar char="•"/>
            </a:pPr>
            <a:r>
              <a:rPr lang="en-US" sz="3200" dirty="0"/>
              <a:t>Often involves looking, but it can involve the other senses too: hearing, smelling, touching, and tasting. </a:t>
            </a:r>
          </a:p>
        </p:txBody>
      </p:sp>
    </p:spTree>
    <p:extLst>
      <p:ext uri="{BB962C8B-B14F-4D97-AF65-F5344CB8AC3E}">
        <p14:creationId xmlns:p14="http://schemas.microsoft.com/office/powerpoint/2010/main" val="2194280363"/>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76</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Data Generation Methods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046988"/>
          </a:xfrm>
          <a:prstGeom prst="rect">
            <a:avLst/>
          </a:prstGeom>
          <a:noFill/>
        </p:spPr>
        <p:txBody>
          <a:bodyPr wrap="square">
            <a:spAutoFit/>
          </a:bodyPr>
          <a:lstStyle/>
          <a:p>
            <a:pPr algn="just"/>
            <a:r>
              <a:rPr lang="en-US" sz="3200" b="1" dirty="0"/>
              <a:t>Questionnaire</a:t>
            </a:r>
            <a:r>
              <a:rPr lang="en-US" sz="3200" dirty="0"/>
              <a:t>: </a:t>
            </a:r>
          </a:p>
          <a:p>
            <a:pPr marL="342900" indent="-342900" algn="just">
              <a:buFont typeface="Arial" panose="020B0604020202020204" pitchFamily="34" charset="0"/>
              <a:buChar char="•"/>
            </a:pPr>
            <a:r>
              <a:rPr lang="en-US" sz="3200" dirty="0"/>
              <a:t>a pre-defined set of questions assembled in a pre-determined order. Respondents are asked to answer the questions, often via multiple choice options, thus providing the researcher with data that can be </a:t>
            </a:r>
            <a:r>
              <a:rPr lang="en-US" sz="3200" dirty="0" err="1"/>
              <a:t>analysed</a:t>
            </a:r>
            <a:r>
              <a:rPr lang="en-US" sz="3200" dirty="0"/>
              <a:t> and interpreted.</a:t>
            </a:r>
          </a:p>
        </p:txBody>
      </p:sp>
    </p:spTree>
    <p:extLst>
      <p:ext uri="{BB962C8B-B14F-4D97-AF65-F5344CB8AC3E}">
        <p14:creationId xmlns:p14="http://schemas.microsoft.com/office/powerpoint/2010/main" val="760799836"/>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77</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Data Generation Methods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970318"/>
          </a:xfrm>
          <a:prstGeom prst="rect">
            <a:avLst/>
          </a:prstGeom>
          <a:noFill/>
        </p:spPr>
        <p:txBody>
          <a:bodyPr wrap="square">
            <a:spAutoFit/>
          </a:bodyPr>
          <a:lstStyle/>
          <a:p>
            <a:pPr algn="just"/>
            <a:r>
              <a:rPr lang="en-US" sz="2800" b="1" dirty="0"/>
              <a:t>Documents: </a:t>
            </a:r>
          </a:p>
          <a:p>
            <a:pPr marL="342900" indent="-342900" algn="just">
              <a:buFont typeface="Arial" panose="020B0604020202020204" pitchFamily="34" charset="0"/>
              <a:buChar char="•"/>
            </a:pPr>
            <a:r>
              <a:rPr lang="en-US" sz="2800" dirty="0"/>
              <a:t>Documents that already exist prior to the research (for example, policy documents, minutes of meetings and job descriptions) and documents that are made solely for the purposes of the research task (for example, a researcher’s logbook or design models). </a:t>
            </a:r>
          </a:p>
          <a:p>
            <a:pPr marL="342900" indent="-342900" algn="just">
              <a:buFont typeface="Arial" panose="020B0604020202020204" pitchFamily="34" charset="0"/>
              <a:buChar char="•"/>
            </a:pPr>
            <a:r>
              <a:rPr lang="en-US" sz="2800" dirty="0"/>
              <a:t>Also includes ‘multimedia documents’: visual data sources (for example, photographs, diagrams, videos and animations), aural sources (for example, sounds and music) and electronic sources (for example, websites, computer games and electronic bulletin boards). </a:t>
            </a:r>
          </a:p>
        </p:txBody>
      </p:sp>
    </p:spTree>
    <p:extLst>
      <p:ext uri="{BB962C8B-B14F-4D97-AF65-F5344CB8AC3E}">
        <p14:creationId xmlns:p14="http://schemas.microsoft.com/office/powerpoint/2010/main" val="2278290496"/>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78</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Types of Triangulation in a research project</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154984"/>
          </a:xfrm>
          <a:prstGeom prst="rect">
            <a:avLst/>
          </a:prstGeom>
          <a:noFill/>
        </p:spPr>
        <p:txBody>
          <a:bodyPr wrap="square">
            <a:spAutoFit/>
          </a:bodyPr>
          <a:lstStyle/>
          <a:p>
            <a:pPr marL="457200" indent="-457200" algn="just">
              <a:buFont typeface="Arial" panose="020B0604020202020204" pitchFamily="34" charset="0"/>
              <a:buChar char="•"/>
            </a:pPr>
            <a:r>
              <a:rPr lang="en-US" sz="2400" dirty="0"/>
              <a:t>Using more than one data method also allows the findings from one method to be corroborated or questioned by comparing with the data from another method. </a:t>
            </a:r>
          </a:p>
          <a:p>
            <a:pPr marL="457200" indent="-457200" algn="just">
              <a:buFont typeface="Arial" panose="020B0604020202020204" pitchFamily="34" charset="0"/>
              <a:buChar char="•"/>
            </a:pPr>
            <a:r>
              <a:rPr lang="en-US" sz="2400" dirty="0"/>
              <a:t>For example, the people you interview might tell you they found the website easy to use, but your documentary data shows that they frequently had to access the website’s help system. </a:t>
            </a:r>
          </a:p>
          <a:p>
            <a:pPr marL="457200" indent="-457200" algn="just">
              <a:buFont typeface="Arial" panose="020B0604020202020204" pitchFamily="34" charset="0"/>
              <a:buChar char="•"/>
            </a:pPr>
            <a:r>
              <a:rPr lang="en-US" sz="2400" dirty="0"/>
              <a:t>If your data shows some consistency across methods, then it can increase confidence in your findings, showing that they are not too closely linked to the particular method you used to generate the data.</a:t>
            </a:r>
          </a:p>
          <a:p>
            <a:pPr marL="457200" indent="-457200" algn="just">
              <a:buFont typeface="Arial" panose="020B0604020202020204" pitchFamily="34" charset="0"/>
              <a:buChar char="•"/>
            </a:pPr>
            <a:r>
              <a:rPr lang="en-US" sz="2400" dirty="0"/>
              <a:t>The use of more than one data generation method to corroborate findings and enhance their validity is called method </a:t>
            </a:r>
            <a:r>
              <a:rPr lang="en-US" sz="2400" b="1" dirty="0"/>
              <a:t>triangulation</a:t>
            </a:r>
            <a:r>
              <a:rPr lang="en-US" sz="2400" dirty="0"/>
              <a:t>. </a:t>
            </a:r>
          </a:p>
        </p:txBody>
      </p:sp>
    </p:spTree>
    <p:extLst>
      <p:ext uri="{BB962C8B-B14F-4D97-AF65-F5344CB8AC3E}">
        <p14:creationId xmlns:p14="http://schemas.microsoft.com/office/powerpoint/2010/main" val="3799465589"/>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79</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Types of Triangulation in a research project</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524315"/>
          </a:xfrm>
          <a:prstGeom prst="rect">
            <a:avLst/>
          </a:prstGeom>
          <a:noFill/>
        </p:spPr>
        <p:txBody>
          <a:bodyPr wrap="square">
            <a:spAutoFit/>
          </a:bodyPr>
          <a:lstStyle/>
          <a:p>
            <a:pPr algn="just"/>
            <a:r>
              <a:rPr lang="en-US" sz="2400" dirty="0"/>
              <a:t>Many types of triangulation are possible in a research project:</a:t>
            </a:r>
          </a:p>
          <a:p>
            <a:pPr marL="457200" indent="-457200" algn="just">
              <a:buFont typeface="Arial" panose="020B0604020202020204" pitchFamily="34" charset="0"/>
              <a:buChar char="•"/>
            </a:pPr>
            <a:r>
              <a:rPr lang="en-US" sz="2400" b="1" dirty="0"/>
              <a:t>Method triangulation</a:t>
            </a:r>
            <a:r>
              <a:rPr lang="en-US" sz="2400" dirty="0"/>
              <a:t>: the study uses two or more data generation methods.</a:t>
            </a:r>
          </a:p>
          <a:p>
            <a:pPr marL="457200" indent="-457200" algn="just">
              <a:buFont typeface="Arial" panose="020B0604020202020204" pitchFamily="34" charset="0"/>
              <a:buChar char="•"/>
            </a:pPr>
            <a:r>
              <a:rPr lang="en-US" sz="2400" b="1" dirty="0"/>
              <a:t>Strategy triangulation</a:t>
            </a:r>
            <a:r>
              <a:rPr lang="en-US" sz="2400" dirty="0"/>
              <a:t>: the study uses two or more research strategies.</a:t>
            </a:r>
          </a:p>
          <a:p>
            <a:pPr marL="457200" indent="-457200" algn="just">
              <a:buFont typeface="Arial" panose="020B0604020202020204" pitchFamily="34" charset="0"/>
              <a:buChar char="•"/>
            </a:pPr>
            <a:r>
              <a:rPr lang="en-US" sz="2400" b="1" dirty="0"/>
              <a:t>Time triangulation</a:t>
            </a:r>
            <a:r>
              <a:rPr lang="en-US" sz="2400" dirty="0"/>
              <a:t>: the study takes place at two or more different points in time.</a:t>
            </a:r>
          </a:p>
          <a:p>
            <a:pPr marL="457200" indent="-457200" algn="just">
              <a:buFont typeface="Arial" panose="020B0604020202020204" pitchFamily="34" charset="0"/>
              <a:buChar char="•"/>
            </a:pPr>
            <a:r>
              <a:rPr lang="en-US" sz="2400" b="1" dirty="0"/>
              <a:t>Space triangulation</a:t>
            </a:r>
            <a:r>
              <a:rPr lang="en-US" sz="2400" dirty="0"/>
              <a:t>: the study takes place in two or more different countries or cultures to overcome the parochialism of a study based in just one country or culture.</a:t>
            </a:r>
          </a:p>
          <a:p>
            <a:pPr marL="457200" indent="-457200" algn="just">
              <a:buFont typeface="Arial" panose="020B0604020202020204" pitchFamily="34" charset="0"/>
              <a:buChar char="•"/>
            </a:pPr>
            <a:r>
              <a:rPr lang="en-US" sz="2400" b="1" dirty="0"/>
              <a:t>Investigator triangulation</a:t>
            </a:r>
            <a:r>
              <a:rPr lang="en-US" sz="2400" dirty="0"/>
              <a:t>: the study is carried out by two or more researchers who then compare their accounts.</a:t>
            </a:r>
          </a:p>
          <a:p>
            <a:pPr marL="457200" indent="-457200" algn="just">
              <a:buFont typeface="Arial" panose="020B0604020202020204" pitchFamily="34" charset="0"/>
              <a:buChar char="•"/>
            </a:pPr>
            <a:r>
              <a:rPr lang="en-US" sz="2400" b="1" dirty="0"/>
              <a:t>Theoretical triangulation</a:t>
            </a:r>
            <a:r>
              <a:rPr lang="en-US" sz="2400" dirty="0"/>
              <a:t>: the study draws on two or more theories rather than one theoretical perspective only.</a:t>
            </a:r>
          </a:p>
        </p:txBody>
      </p:sp>
    </p:spTree>
    <p:extLst>
      <p:ext uri="{BB962C8B-B14F-4D97-AF65-F5344CB8AC3E}">
        <p14:creationId xmlns:p14="http://schemas.microsoft.com/office/powerpoint/2010/main" val="948239319"/>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80</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Qualitative Data</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970318"/>
          </a:xfrm>
          <a:prstGeom prst="rect">
            <a:avLst/>
          </a:prstGeom>
          <a:noFill/>
        </p:spPr>
        <p:txBody>
          <a:bodyPr wrap="square">
            <a:spAutoFit/>
          </a:bodyPr>
          <a:lstStyle/>
          <a:p>
            <a:pPr marL="342900" indent="-342900" algn="just">
              <a:buFont typeface="Arial" panose="020B0604020202020204" pitchFamily="34" charset="0"/>
              <a:buChar char="•"/>
            </a:pPr>
            <a:r>
              <a:rPr lang="en-US" sz="2800" dirty="0"/>
              <a:t>Qualitative data refers to non-numerical information that is collected through methods such as interviews, focus groups, observations, and textual analysis. </a:t>
            </a:r>
          </a:p>
          <a:p>
            <a:pPr marL="342900" indent="-342900" algn="just">
              <a:buFont typeface="Arial" panose="020B0604020202020204" pitchFamily="34" charset="0"/>
              <a:buChar char="•"/>
            </a:pPr>
            <a:r>
              <a:rPr lang="en-US" sz="2800" dirty="0"/>
              <a:t>This type of data seeks to understand attitudes, opinions, behaviors, and underlying reasons by exploring the richness and depth of human experiences. </a:t>
            </a:r>
          </a:p>
          <a:p>
            <a:pPr marL="342900" indent="-342900" algn="just">
              <a:buFont typeface="Arial" panose="020B0604020202020204" pitchFamily="34" charset="0"/>
              <a:buChar char="•"/>
            </a:pPr>
            <a:r>
              <a:rPr lang="en-US" sz="2800" dirty="0"/>
              <a:t>Qualitative data is often descriptive and is analyzed through techniques like thematic analysis, content analysis, or narrative analysis to uncover patterns, themes, and meanings within the data.</a:t>
            </a:r>
          </a:p>
        </p:txBody>
      </p:sp>
    </p:spTree>
    <p:extLst>
      <p:ext uri="{BB962C8B-B14F-4D97-AF65-F5344CB8AC3E}">
        <p14:creationId xmlns:p14="http://schemas.microsoft.com/office/powerpoint/2010/main" val="2046775636"/>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81</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Types of Qualitative Data</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154984"/>
          </a:xfrm>
          <a:prstGeom prst="rect">
            <a:avLst/>
          </a:prstGeom>
          <a:noFill/>
        </p:spPr>
        <p:txBody>
          <a:bodyPr wrap="square">
            <a:spAutoFit/>
          </a:bodyPr>
          <a:lstStyle/>
          <a:p>
            <a:pPr marL="342900" indent="-342900" algn="just">
              <a:buFont typeface="Arial" panose="020B0604020202020204" pitchFamily="34" charset="0"/>
              <a:buChar char="•"/>
            </a:pPr>
            <a:r>
              <a:rPr lang="en-US" sz="2400" b="1" dirty="0"/>
              <a:t>Textual Data: </a:t>
            </a:r>
          </a:p>
          <a:p>
            <a:pPr marL="800100" lvl="1" indent="-342900" algn="just">
              <a:buFont typeface="Wingdings" panose="05000000000000000000" pitchFamily="2" charset="2"/>
              <a:buChar char="ü"/>
            </a:pPr>
            <a:r>
              <a:rPr lang="en-US" sz="2400" i="1" dirty="0"/>
              <a:t>Interview Transcripts</a:t>
            </a:r>
            <a:r>
              <a:rPr lang="en-US" sz="2400" dirty="0"/>
              <a:t>: Verbatim records of interviews with individuals or groups.</a:t>
            </a:r>
          </a:p>
          <a:p>
            <a:pPr marL="800100" lvl="1" indent="-342900" algn="just">
              <a:buFont typeface="Wingdings" panose="05000000000000000000" pitchFamily="2" charset="2"/>
              <a:buChar char="ü"/>
            </a:pPr>
            <a:r>
              <a:rPr lang="en-US" sz="2400" i="1" dirty="0"/>
              <a:t>Focus Group Discussions</a:t>
            </a:r>
            <a:r>
              <a:rPr lang="en-US" sz="2400" dirty="0"/>
              <a:t>: Transcripts of discussions among a group of participants on a specific topic.</a:t>
            </a:r>
          </a:p>
          <a:p>
            <a:pPr marL="800100" lvl="1" indent="-342900" algn="just">
              <a:buFont typeface="Wingdings" panose="05000000000000000000" pitchFamily="2" charset="2"/>
              <a:buChar char="ü"/>
            </a:pPr>
            <a:r>
              <a:rPr lang="en-US" sz="2400" i="1" dirty="0"/>
              <a:t>Open-Ended Survey Responses</a:t>
            </a:r>
            <a:r>
              <a:rPr lang="en-US" sz="2400" dirty="0"/>
              <a:t>: Responses to survey questions that allow participants to provide detailed answers in their own words.</a:t>
            </a:r>
          </a:p>
          <a:p>
            <a:pPr marL="342900" indent="-342900" algn="just">
              <a:buFont typeface="Wingdings" panose="05000000000000000000" pitchFamily="2" charset="2"/>
              <a:buChar char="§"/>
            </a:pPr>
            <a:r>
              <a:rPr lang="en-US" sz="2400" b="1" dirty="0"/>
              <a:t>Visual Data:</a:t>
            </a:r>
          </a:p>
          <a:p>
            <a:pPr marL="800100" lvl="1" indent="-342900" algn="just">
              <a:buFont typeface="Wingdings" panose="05000000000000000000" pitchFamily="2" charset="2"/>
              <a:buChar char="ü"/>
            </a:pPr>
            <a:r>
              <a:rPr lang="en-US" sz="2400" i="1" dirty="0"/>
              <a:t>Photographs</a:t>
            </a:r>
            <a:r>
              <a:rPr lang="en-US" sz="2400" dirty="0"/>
              <a:t>: Images that capture visual information relevant to the research topic.</a:t>
            </a:r>
          </a:p>
          <a:p>
            <a:pPr marL="800100" lvl="1" indent="-342900" algn="just">
              <a:buFont typeface="Wingdings" panose="05000000000000000000" pitchFamily="2" charset="2"/>
              <a:buChar char="ü"/>
            </a:pPr>
            <a:r>
              <a:rPr lang="en-US" sz="2400" i="1" dirty="0"/>
              <a:t>Videos</a:t>
            </a:r>
            <a:r>
              <a:rPr lang="en-US" sz="2400" dirty="0"/>
              <a:t>: Recordings that capture actions, interactions, or events for analysis.</a:t>
            </a:r>
          </a:p>
        </p:txBody>
      </p:sp>
    </p:spTree>
    <p:extLst>
      <p:ext uri="{BB962C8B-B14F-4D97-AF65-F5344CB8AC3E}">
        <p14:creationId xmlns:p14="http://schemas.microsoft.com/office/powerpoint/2010/main" val="396905264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82</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Types of Qualitative Data</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416320"/>
          </a:xfrm>
          <a:prstGeom prst="rect">
            <a:avLst/>
          </a:prstGeom>
          <a:noFill/>
        </p:spPr>
        <p:txBody>
          <a:bodyPr wrap="square">
            <a:spAutoFit/>
          </a:bodyPr>
          <a:lstStyle/>
          <a:p>
            <a:pPr marL="342900" indent="-342900" algn="just">
              <a:buFont typeface="Arial" panose="020B0604020202020204" pitchFamily="34" charset="0"/>
              <a:buChar char="•"/>
            </a:pPr>
            <a:r>
              <a:rPr lang="en-US" sz="2400" b="1" dirty="0"/>
              <a:t>Observational Data</a:t>
            </a:r>
            <a:r>
              <a:rPr lang="en-US" sz="2400" dirty="0"/>
              <a:t>:</a:t>
            </a:r>
          </a:p>
          <a:p>
            <a:pPr marL="800100" lvl="1" indent="-342900" algn="just">
              <a:buFont typeface="Wingdings" panose="05000000000000000000" pitchFamily="2" charset="2"/>
              <a:buChar char="ü"/>
            </a:pPr>
            <a:r>
              <a:rPr lang="en-US" sz="2400" i="1" dirty="0"/>
              <a:t>Field Notes</a:t>
            </a:r>
            <a:r>
              <a:rPr lang="en-US" sz="2400" dirty="0"/>
              <a:t>: Detailed descriptions and reflections based on observations in natural settings.</a:t>
            </a:r>
          </a:p>
          <a:p>
            <a:pPr marL="800100" lvl="1" indent="-342900" algn="just">
              <a:buFont typeface="Wingdings" panose="05000000000000000000" pitchFamily="2" charset="2"/>
              <a:buChar char="ü"/>
            </a:pPr>
            <a:r>
              <a:rPr lang="en-US" sz="2400" i="1" dirty="0"/>
              <a:t>Participant Observation</a:t>
            </a:r>
            <a:r>
              <a:rPr lang="en-US" sz="2400" dirty="0"/>
              <a:t>: Researchers actively participate in and observe activities in the research setting.</a:t>
            </a:r>
          </a:p>
          <a:p>
            <a:pPr marL="800100" lvl="1" indent="-342900" algn="just">
              <a:buFont typeface="Wingdings" panose="05000000000000000000" pitchFamily="2" charset="2"/>
              <a:buChar char="ü"/>
            </a:pPr>
            <a:r>
              <a:rPr lang="en-US" sz="2400" i="1" dirty="0"/>
              <a:t>Documents and Artifacts</a:t>
            </a:r>
            <a:r>
              <a:rPr lang="en-US" sz="2400" dirty="0"/>
              <a:t>: Archival Records: Historical documents, letters, or official records relevant to the research topic.</a:t>
            </a:r>
          </a:p>
          <a:p>
            <a:pPr marL="800100" lvl="1" indent="-342900" algn="just">
              <a:buFont typeface="Wingdings" panose="05000000000000000000" pitchFamily="2" charset="2"/>
              <a:buChar char="ü"/>
            </a:pPr>
            <a:r>
              <a:rPr lang="en-US" sz="2400" i="1" dirty="0"/>
              <a:t>Artistic Works</a:t>
            </a:r>
            <a:r>
              <a:rPr lang="en-US" sz="2400" dirty="0"/>
              <a:t>: Creative outputs such as paintings, sculptures, or literature that reflect cultural or social aspects.</a:t>
            </a:r>
          </a:p>
        </p:txBody>
      </p:sp>
    </p:spTree>
    <p:extLst>
      <p:ext uri="{BB962C8B-B14F-4D97-AF65-F5344CB8AC3E}">
        <p14:creationId xmlns:p14="http://schemas.microsoft.com/office/powerpoint/2010/main" val="1937893783"/>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83</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Qualitative Data Analysis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1569660"/>
          </a:xfrm>
          <a:prstGeom prst="rect">
            <a:avLst/>
          </a:prstGeom>
          <a:noFill/>
        </p:spPr>
        <p:txBody>
          <a:bodyPr wrap="square">
            <a:spAutoFit/>
          </a:bodyPr>
          <a:lstStyle/>
          <a:p>
            <a:pPr marL="342900" indent="-342900" algn="just">
              <a:buFont typeface="Arial" panose="020B0604020202020204" pitchFamily="34" charset="0"/>
              <a:buChar char="•"/>
            </a:pPr>
            <a:r>
              <a:rPr lang="en-US" sz="2400" dirty="0"/>
              <a:t>Definition: Qualitative data analysis involves the process of examining non-numerical data (e.g., text, images, videos) to identify patterns, themes, and meanings. It focuses on understanding the richness and depth of data through interpretation and contextual understanding.</a:t>
            </a:r>
          </a:p>
        </p:txBody>
      </p:sp>
    </p:spTree>
    <p:extLst>
      <p:ext uri="{BB962C8B-B14F-4D97-AF65-F5344CB8AC3E}">
        <p14:creationId xmlns:p14="http://schemas.microsoft.com/office/powerpoint/2010/main" val="551748575"/>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84</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Qualitative Data Analysis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093428"/>
          </a:xfrm>
          <a:prstGeom prst="rect">
            <a:avLst/>
          </a:prstGeom>
          <a:noFill/>
        </p:spPr>
        <p:txBody>
          <a:bodyPr wrap="square">
            <a:spAutoFit/>
          </a:bodyPr>
          <a:lstStyle/>
          <a:p>
            <a:pPr algn="just"/>
            <a:r>
              <a:rPr lang="en-US" sz="2000" dirty="0"/>
              <a:t>Examples:</a:t>
            </a:r>
          </a:p>
          <a:p>
            <a:pPr marL="342900" indent="-342900" algn="just">
              <a:buFont typeface="Arial" panose="020B0604020202020204" pitchFamily="34" charset="0"/>
              <a:buChar char="•"/>
            </a:pPr>
            <a:r>
              <a:rPr lang="en-US" sz="2000" b="1" dirty="0"/>
              <a:t>Thematic Analysis: </a:t>
            </a:r>
            <a:r>
              <a:rPr lang="en-US" sz="2000" dirty="0"/>
              <a:t>Researchers identify themes or patterns within qualitative data to understand recurring concepts or ideas. For example, in a study of patient experiences with a new healthcare policy, thematic analysis might reveal themes like accessibility issues, communication challenges, or satisfaction with care.</a:t>
            </a:r>
          </a:p>
          <a:p>
            <a:pPr marL="342900" indent="-342900" algn="just">
              <a:buFont typeface="Arial" panose="020B0604020202020204" pitchFamily="34" charset="0"/>
              <a:buChar char="•"/>
            </a:pPr>
            <a:r>
              <a:rPr lang="en-US" sz="2000" b="1" dirty="0"/>
              <a:t>Content Analysis: </a:t>
            </a:r>
            <a:r>
              <a:rPr lang="en-US" sz="2000" dirty="0"/>
              <a:t>This involves systematically analyzing textual data (e.g., interview transcripts, open-ended survey responses) to categorize and code information. For instance, in a study on public opinion about climate change, content analysis might categorize newspaper articles into themes such as skepticism, advocacy, or policy discussions.</a:t>
            </a:r>
          </a:p>
          <a:p>
            <a:pPr marL="342900" indent="-342900" algn="just">
              <a:buFont typeface="Arial" panose="020B0604020202020204" pitchFamily="34" charset="0"/>
              <a:buChar char="•"/>
            </a:pPr>
            <a:r>
              <a:rPr lang="en-US" sz="2000" b="1" dirty="0"/>
              <a:t>Narrative Analysis: </a:t>
            </a:r>
            <a:r>
              <a:rPr lang="en-US" sz="2000" dirty="0"/>
              <a:t>Researchers analyze stories or narratives to understand how individuals construct and interpret their experiences. For example, in a study on career transitions, narrative analysis might explore how individuals describe their reasons for changing careers and the emotional impact of these decisions.</a:t>
            </a:r>
          </a:p>
        </p:txBody>
      </p:sp>
    </p:spTree>
    <p:extLst>
      <p:ext uri="{BB962C8B-B14F-4D97-AF65-F5344CB8AC3E}">
        <p14:creationId xmlns:p14="http://schemas.microsoft.com/office/powerpoint/2010/main" val="4018623797"/>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85</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401205"/>
          </a:xfrm>
          <a:prstGeom prst="rect">
            <a:avLst/>
          </a:prstGeom>
          <a:noFill/>
        </p:spPr>
        <p:txBody>
          <a:bodyPr wrap="square">
            <a:spAutoFit/>
          </a:bodyPr>
          <a:lstStyle/>
          <a:p>
            <a:r>
              <a:rPr lang="en-US" sz="2800" b="1" dirty="0"/>
              <a:t>What is Quantitative Data?</a:t>
            </a:r>
          </a:p>
          <a:p>
            <a:r>
              <a:rPr lang="en-US" sz="2800" b="1" dirty="0"/>
              <a:t>Definition:</a:t>
            </a:r>
            <a:r>
              <a:rPr lang="en-US" sz="2800" dirty="0"/>
              <a:t> Quantitative data refers to numerical information used to quantify variables.</a:t>
            </a:r>
          </a:p>
          <a:p>
            <a:r>
              <a:rPr lang="en-US" sz="2800" b="1" dirty="0"/>
              <a:t>Collected through:</a:t>
            </a:r>
            <a:endParaRPr lang="en-US" sz="2800" dirty="0"/>
          </a:p>
          <a:p>
            <a:pPr lvl="1"/>
            <a:r>
              <a:rPr lang="en-US" sz="2800" dirty="0"/>
              <a:t>Surveys</a:t>
            </a:r>
          </a:p>
          <a:p>
            <a:pPr lvl="1"/>
            <a:r>
              <a:rPr lang="en-US" sz="2800" dirty="0"/>
              <a:t>Experiments</a:t>
            </a:r>
          </a:p>
          <a:p>
            <a:pPr lvl="1"/>
            <a:r>
              <a:rPr lang="en-US" sz="2800" dirty="0"/>
              <a:t>Structured observations</a:t>
            </a:r>
          </a:p>
          <a:p>
            <a:pPr lvl="1"/>
            <a:r>
              <a:rPr lang="en-US" sz="2800" dirty="0"/>
              <a:t>Secondary datasets (e.g., census, sales reports)</a:t>
            </a:r>
          </a:p>
          <a:p>
            <a:r>
              <a:rPr lang="en-US" sz="2800" b="1" dirty="0"/>
              <a:t>Nature of Data:</a:t>
            </a:r>
            <a:r>
              <a:rPr lang="en-US" sz="2800" dirty="0"/>
              <a:t> Measurable, objective, and suitable for statistical analysis.</a:t>
            </a:r>
          </a:p>
        </p:txBody>
      </p:sp>
    </p:spTree>
    <p:extLst>
      <p:ext uri="{BB962C8B-B14F-4D97-AF65-F5344CB8AC3E}">
        <p14:creationId xmlns:p14="http://schemas.microsoft.com/office/powerpoint/2010/main" val="2473107475"/>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355E17-DB4A-EB28-7DA6-EE41DCFDBC19}"/>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D8C431E3-76D9-E409-266D-B7234C275E67}"/>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86</a:t>
            </a:fld>
            <a:endParaRPr lang="es-ES" altLang="en-US" sz="1400"/>
          </a:p>
        </p:txBody>
      </p:sp>
      <p:sp>
        <p:nvSpPr>
          <p:cNvPr id="2" name="Title 1">
            <a:extLst>
              <a:ext uri="{FF2B5EF4-FFF2-40B4-BE49-F238E27FC236}">
                <a16:creationId xmlns:a16="http://schemas.microsoft.com/office/drawing/2014/main" id="{E0820D7F-4154-7F37-057B-711B7E57461B}"/>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a:t>
            </a:r>
          </a:p>
        </p:txBody>
      </p:sp>
      <p:sp>
        <p:nvSpPr>
          <p:cNvPr id="4" name="TextBox 3">
            <a:extLst>
              <a:ext uri="{FF2B5EF4-FFF2-40B4-BE49-F238E27FC236}">
                <a16:creationId xmlns:a16="http://schemas.microsoft.com/office/drawing/2014/main" id="{6A48CAF4-B803-01A0-5CB1-323FE7FD423C}"/>
              </a:ext>
            </a:extLst>
          </p:cNvPr>
          <p:cNvSpPr txBox="1"/>
          <p:nvPr/>
        </p:nvSpPr>
        <p:spPr>
          <a:xfrm>
            <a:off x="863419" y="1196752"/>
            <a:ext cx="10465162" cy="4031873"/>
          </a:xfrm>
          <a:prstGeom prst="rect">
            <a:avLst/>
          </a:prstGeom>
          <a:noFill/>
        </p:spPr>
        <p:txBody>
          <a:bodyPr wrap="square">
            <a:spAutoFit/>
          </a:bodyPr>
          <a:lstStyle/>
          <a:p>
            <a:pPr marL="457200" indent="-457200">
              <a:buFont typeface="Arial" panose="020B0604020202020204" pitchFamily="34" charset="0"/>
              <a:buChar char="•"/>
            </a:pPr>
            <a:r>
              <a:rPr lang="en-US" sz="3200" b="1" dirty="0"/>
              <a:t>Characteristics of Quantitative Data</a:t>
            </a:r>
          </a:p>
          <a:p>
            <a:pPr marL="457200" indent="-457200">
              <a:buFont typeface="Arial" panose="020B0604020202020204" pitchFamily="34" charset="0"/>
              <a:buChar char="•"/>
            </a:pPr>
            <a:r>
              <a:rPr lang="en-US" sz="3200" dirty="0"/>
              <a:t>Expressed in numbers</a:t>
            </a:r>
          </a:p>
          <a:p>
            <a:pPr marL="457200" indent="-457200">
              <a:buFont typeface="Arial" panose="020B0604020202020204" pitchFamily="34" charset="0"/>
              <a:buChar char="•"/>
            </a:pPr>
            <a:r>
              <a:rPr lang="en-US" sz="3200" dirty="0"/>
              <a:t>Can be counted or measured</a:t>
            </a:r>
          </a:p>
          <a:p>
            <a:pPr marL="457200" indent="-457200">
              <a:buFont typeface="Arial" panose="020B0604020202020204" pitchFamily="34" charset="0"/>
              <a:buChar char="•"/>
            </a:pPr>
            <a:r>
              <a:rPr lang="en-US" sz="3200" dirty="0"/>
              <a:t>Enables statistical comparison and modeling</a:t>
            </a:r>
          </a:p>
          <a:p>
            <a:pPr marL="457200" indent="-457200">
              <a:buFont typeface="Arial" panose="020B0604020202020204" pitchFamily="34" charset="0"/>
              <a:buChar char="•"/>
            </a:pPr>
            <a:r>
              <a:rPr lang="en-US" sz="3200" dirty="0"/>
              <a:t>Supports hypothesis testing and prediction</a:t>
            </a:r>
          </a:p>
          <a:p>
            <a:pPr marL="457200" indent="-457200">
              <a:buFont typeface="Arial" panose="020B0604020202020204" pitchFamily="34" charset="0"/>
              <a:buChar char="•"/>
            </a:pPr>
            <a:r>
              <a:rPr lang="en-US" sz="3200" dirty="0"/>
              <a:t>Types:</a:t>
            </a:r>
          </a:p>
          <a:p>
            <a:pPr marL="914400" lvl="1" indent="-457200">
              <a:buFont typeface="Wingdings" panose="05000000000000000000" pitchFamily="2" charset="2"/>
              <a:buChar char="ü"/>
            </a:pPr>
            <a:r>
              <a:rPr lang="en-US" sz="3200" b="1" dirty="0"/>
              <a:t>Discrete</a:t>
            </a:r>
            <a:r>
              <a:rPr lang="en-US" sz="3200" dirty="0"/>
              <a:t> (e.g., number of students)</a:t>
            </a:r>
          </a:p>
          <a:p>
            <a:pPr marL="914400" lvl="1" indent="-457200">
              <a:buFont typeface="Wingdings" panose="05000000000000000000" pitchFamily="2" charset="2"/>
              <a:buChar char="ü"/>
            </a:pPr>
            <a:r>
              <a:rPr lang="en-US" sz="3200" b="1" dirty="0"/>
              <a:t>Continuous</a:t>
            </a:r>
            <a:r>
              <a:rPr lang="en-US" sz="3200" dirty="0"/>
              <a:t> (e.g., height, temperature)</a:t>
            </a:r>
          </a:p>
        </p:txBody>
      </p:sp>
    </p:spTree>
    <p:extLst>
      <p:ext uri="{BB962C8B-B14F-4D97-AF65-F5344CB8AC3E}">
        <p14:creationId xmlns:p14="http://schemas.microsoft.com/office/powerpoint/2010/main" val="1430630516"/>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314397-98ED-DFA4-C0B7-D84E504A8243}"/>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AF0BD858-C5A8-0454-0FA0-8AA103D2C17A}"/>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87</a:t>
            </a:fld>
            <a:endParaRPr lang="es-ES" altLang="en-US" sz="1400"/>
          </a:p>
        </p:txBody>
      </p:sp>
      <p:sp>
        <p:nvSpPr>
          <p:cNvPr id="2" name="Title 1">
            <a:extLst>
              <a:ext uri="{FF2B5EF4-FFF2-40B4-BE49-F238E27FC236}">
                <a16:creationId xmlns:a16="http://schemas.microsoft.com/office/drawing/2014/main" id="{AD29E29D-74C2-F6D6-89DC-C788B6C9EE99}"/>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a:t>
            </a:r>
          </a:p>
        </p:txBody>
      </p:sp>
      <p:sp>
        <p:nvSpPr>
          <p:cNvPr id="4" name="TextBox 3">
            <a:extLst>
              <a:ext uri="{FF2B5EF4-FFF2-40B4-BE49-F238E27FC236}">
                <a16:creationId xmlns:a16="http://schemas.microsoft.com/office/drawing/2014/main" id="{F946CFE3-0784-CEB2-9A88-2E691A5754C9}"/>
              </a:ext>
            </a:extLst>
          </p:cNvPr>
          <p:cNvSpPr txBox="1"/>
          <p:nvPr/>
        </p:nvSpPr>
        <p:spPr>
          <a:xfrm>
            <a:off x="863419" y="1196752"/>
            <a:ext cx="10465162" cy="3046988"/>
          </a:xfrm>
          <a:prstGeom prst="rect">
            <a:avLst/>
          </a:prstGeom>
          <a:noFill/>
        </p:spPr>
        <p:txBody>
          <a:bodyPr wrap="square">
            <a:spAutoFit/>
          </a:bodyPr>
          <a:lstStyle/>
          <a:p>
            <a:r>
              <a:rPr lang="en-US" sz="3200" b="1" dirty="0"/>
              <a:t>Purpose of Quantitative Data Analysis</a:t>
            </a:r>
          </a:p>
          <a:p>
            <a:pPr marL="457200" indent="-457200">
              <a:buFont typeface="Arial" panose="020B0604020202020204" pitchFamily="34" charset="0"/>
              <a:buChar char="•"/>
            </a:pPr>
            <a:r>
              <a:rPr lang="en-US" sz="3200" dirty="0"/>
              <a:t>To </a:t>
            </a:r>
            <a:r>
              <a:rPr lang="en-US" sz="3200" b="1" dirty="0"/>
              <a:t>test hypotheses</a:t>
            </a:r>
            <a:endParaRPr lang="en-US" sz="3200" dirty="0"/>
          </a:p>
          <a:p>
            <a:pPr marL="457200" indent="-457200">
              <a:buFont typeface="Arial" panose="020B0604020202020204" pitchFamily="34" charset="0"/>
              <a:buChar char="•"/>
            </a:pPr>
            <a:r>
              <a:rPr lang="en-US" sz="3200" dirty="0"/>
              <a:t>To </a:t>
            </a:r>
            <a:r>
              <a:rPr lang="en-US" sz="3200" b="1" dirty="0"/>
              <a:t>identify patterns and trends</a:t>
            </a:r>
            <a:endParaRPr lang="en-US" sz="3200" dirty="0"/>
          </a:p>
          <a:p>
            <a:pPr marL="457200" indent="-457200">
              <a:buFont typeface="Arial" panose="020B0604020202020204" pitchFamily="34" charset="0"/>
              <a:buChar char="•"/>
            </a:pPr>
            <a:r>
              <a:rPr lang="en-US" sz="3200" dirty="0"/>
              <a:t>To </a:t>
            </a:r>
            <a:r>
              <a:rPr lang="en-US" sz="3200" b="1" dirty="0"/>
              <a:t>determine relationships</a:t>
            </a:r>
            <a:r>
              <a:rPr lang="en-US" sz="3200" dirty="0"/>
              <a:t> between variables</a:t>
            </a:r>
          </a:p>
          <a:p>
            <a:pPr marL="457200" indent="-457200">
              <a:buFont typeface="Arial" panose="020B0604020202020204" pitchFamily="34" charset="0"/>
              <a:buChar char="•"/>
            </a:pPr>
            <a:r>
              <a:rPr lang="en-US" sz="3200" dirty="0"/>
              <a:t>To </a:t>
            </a:r>
            <a:r>
              <a:rPr lang="en-US" sz="3200" b="1" dirty="0"/>
              <a:t>make predictions</a:t>
            </a:r>
            <a:endParaRPr lang="en-US" sz="3200" dirty="0"/>
          </a:p>
          <a:p>
            <a:pPr marL="457200" indent="-457200">
              <a:buFont typeface="Arial" panose="020B0604020202020204" pitchFamily="34" charset="0"/>
              <a:buChar char="•"/>
            </a:pPr>
            <a:r>
              <a:rPr lang="en-US" sz="3200" dirty="0"/>
              <a:t>To </a:t>
            </a:r>
            <a:r>
              <a:rPr lang="en-US" sz="3200" b="1" dirty="0"/>
              <a:t>generalize findings</a:t>
            </a:r>
            <a:r>
              <a:rPr lang="en-US" sz="3200" dirty="0"/>
              <a:t> to a larger population</a:t>
            </a:r>
          </a:p>
        </p:txBody>
      </p:sp>
    </p:spTree>
    <p:extLst>
      <p:ext uri="{BB962C8B-B14F-4D97-AF65-F5344CB8AC3E}">
        <p14:creationId xmlns:p14="http://schemas.microsoft.com/office/powerpoint/2010/main" val="2143716855"/>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88</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Types of Quantitative Data</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3416320"/>
          </a:xfrm>
          <a:prstGeom prst="rect">
            <a:avLst/>
          </a:prstGeom>
          <a:noFill/>
        </p:spPr>
        <p:txBody>
          <a:bodyPr wrap="square">
            <a:spAutoFit/>
          </a:bodyPr>
          <a:lstStyle/>
          <a:p>
            <a:pPr marL="342900" indent="-342900" algn="just">
              <a:buFont typeface="Arial" panose="020B0604020202020204" pitchFamily="34" charset="0"/>
              <a:buChar char="•"/>
            </a:pPr>
            <a:r>
              <a:rPr lang="en-US" sz="2400" b="1" dirty="0"/>
              <a:t>Nominal Data</a:t>
            </a:r>
            <a:r>
              <a:rPr lang="en-US" sz="2400" dirty="0"/>
              <a:t>: Data where the values are categories without any inherent order.</a:t>
            </a:r>
          </a:p>
          <a:p>
            <a:pPr marL="800100" lvl="1" indent="-342900" algn="just">
              <a:buFont typeface="Arial" panose="020B0604020202020204" pitchFamily="34" charset="0"/>
              <a:buChar char="•"/>
            </a:pPr>
            <a:r>
              <a:rPr lang="en-US" sz="2400" i="1" dirty="0"/>
              <a:t>Examples</a:t>
            </a:r>
            <a:r>
              <a:rPr lang="en-US" sz="2400" dirty="0"/>
              <a:t>: Gender (male, female, other), marital status (single, married, divorced), types of cars.</a:t>
            </a:r>
          </a:p>
          <a:p>
            <a:pPr marL="342900" indent="-342900" algn="just">
              <a:buFont typeface="Arial" panose="020B0604020202020204" pitchFamily="34" charset="0"/>
              <a:buChar char="•"/>
            </a:pPr>
            <a:r>
              <a:rPr lang="en-US" sz="2400" b="1" dirty="0"/>
              <a:t>Interval Data</a:t>
            </a:r>
            <a:r>
              <a:rPr lang="en-US" sz="2400" dirty="0"/>
              <a:t>: Data where the difference between any two values is meaningful and consistent, but there is no true zero point.</a:t>
            </a:r>
          </a:p>
          <a:p>
            <a:pPr marL="800100" lvl="1" indent="-342900" algn="just">
              <a:buFont typeface="Arial" panose="020B0604020202020204" pitchFamily="34" charset="0"/>
              <a:buChar char="•"/>
            </a:pPr>
            <a:r>
              <a:rPr lang="en-US" sz="2400" i="1" dirty="0"/>
              <a:t>Examples</a:t>
            </a:r>
            <a:r>
              <a:rPr lang="en-US" sz="2400" dirty="0"/>
              <a:t>: Temperature in Celsius or Fahrenheit, IQ scores.</a:t>
            </a:r>
          </a:p>
          <a:p>
            <a:pPr marL="342900" indent="-342900" algn="just">
              <a:buFont typeface="Arial" panose="020B0604020202020204" pitchFamily="34" charset="0"/>
              <a:buChar char="•"/>
            </a:pPr>
            <a:r>
              <a:rPr lang="en-US" sz="2400" b="1" dirty="0"/>
              <a:t>Ratio Data</a:t>
            </a:r>
            <a:r>
              <a:rPr lang="en-US" sz="2400" dirty="0"/>
              <a:t>: Data where there is a true zero point, and ratios between values are meaningful.</a:t>
            </a:r>
          </a:p>
          <a:p>
            <a:pPr marL="800100" lvl="1" indent="-342900" algn="just">
              <a:buFont typeface="Arial" panose="020B0604020202020204" pitchFamily="34" charset="0"/>
              <a:buChar char="•"/>
            </a:pPr>
            <a:r>
              <a:rPr lang="en-US" sz="2400" dirty="0"/>
              <a:t>Examples: Height (in centimeters), weight (in kilograms), income.</a:t>
            </a:r>
          </a:p>
        </p:txBody>
      </p:sp>
    </p:spTree>
    <p:extLst>
      <p:ext uri="{BB962C8B-B14F-4D97-AF65-F5344CB8AC3E}">
        <p14:creationId xmlns:p14="http://schemas.microsoft.com/office/powerpoint/2010/main" val="2939394201"/>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89</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Types of Quantitative Data</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093428"/>
          </a:xfrm>
          <a:prstGeom prst="rect">
            <a:avLst/>
          </a:prstGeom>
          <a:noFill/>
        </p:spPr>
        <p:txBody>
          <a:bodyPr wrap="square">
            <a:spAutoFit/>
          </a:bodyPr>
          <a:lstStyle/>
          <a:p>
            <a:pPr marL="342900" indent="-342900" algn="just">
              <a:buFont typeface="Arial" panose="020B0604020202020204" pitchFamily="34" charset="0"/>
              <a:buChar char="•"/>
            </a:pPr>
            <a:r>
              <a:rPr lang="en-US" sz="2600" b="1" dirty="0"/>
              <a:t>Discrete Data</a:t>
            </a:r>
            <a:r>
              <a:rPr lang="en-US" sz="2600" dirty="0"/>
              <a:t>: Data that can only take specific values and cannot be measured exactly.</a:t>
            </a:r>
          </a:p>
          <a:p>
            <a:pPr marL="800100" lvl="1" indent="-342900" algn="just">
              <a:buFont typeface="Arial" panose="020B0604020202020204" pitchFamily="34" charset="0"/>
              <a:buChar char="•"/>
            </a:pPr>
            <a:r>
              <a:rPr lang="en-US" sz="2600" i="1" dirty="0"/>
              <a:t>Examples</a:t>
            </a:r>
            <a:r>
              <a:rPr lang="en-US" sz="2600" dirty="0"/>
              <a:t>: Number of children in a family, number of defects in a product, counts of events.</a:t>
            </a:r>
          </a:p>
          <a:p>
            <a:pPr marL="342900" indent="-342900" algn="just">
              <a:buFont typeface="Arial" panose="020B0604020202020204" pitchFamily="34" charset="0"/>
              <a:buChar char="•"/>
            </a:pPr>
            <a:r>
              <a:rPr lang="en-US" sz="2600" b="1" dirty="0"/>
              <a:t>Continuous Data</a:t>
            </a:r>
            <a:r>
              <a:rPr lang="en-US" sz="2600" dirty="0"/>
              <a:t>: Data that can take any value within a range and can be measured precisely.</a:t>
            </a:r>
          </a:p>
          <a:p>
            <a:pPr marL="800100" lvl="1" indent="-342900" algn="just">
              <a:buFont typeface="Arial" panose="020B0604020202020204" pitchFamily="34" charset="0"/>
              <a:buChar char="•"/>
            </a:pPr>
            <a:r>
              <a:rPr lang="en-US" sz="2600" i="1" dirty="0"/>
              <a:t>Examples</a:t>
            </a:r>
            <a:r>
              <a:rPr lang="en-US" sz="2600" dirty="0"/>
              <a:t>: Height, weight, temperature, time duration.</a:t>
            </a:r>
          </a:p>
          <a:p>
            <a:pPr marL="342900" indent="-342900" algn="just">
              <a:buFont typeface="Arial" panose="020B0604020202020204" pitchFamily="34" charset="0"/>
              <a:buChar char="•"/>
            </a:pPr>
            <a:r>
              <a:rPr lang="en-US" sz="2600" b="1" dirty="0"/>
              <a:t>Ordinal Data</a:t>
            </a:r>
            <a:r>
              <a:rPr lang="en-US" sz="2600" dirty="0"/>
              <a:t>: Data where the values have a natural order or ranking.</a:t>
            </a:r>
          </a:p>
          <a:p>
            <a:pPr marL="800100" lvl="1" indent="-342900" algn="just">
              <a:buFont typeface="Arial" panose="020B0604020202020204" pitchFamily="34" charset="0"/>
              <a:buChar char="•"/>
            </a:pPr>
            <a:r>
              <a:rPr lang="en-US" sz="2600" i="1" dirty="0"/>
              <a:t>Examples</a:t>
            </a:r>
            <a:r>
              <a:rPr lang="en-US" sz="2600" dirty="0"/>
              <a:t>: Ranking preferences (1st, 2nd, 3rd), Likert scale responses (e.g., strongly agree, agree, neutral, disagree, strongly disagree).</a:t>
            </a:r>
          </a:p>
        </p:txBody>
      </p:sp>
    </p:spTree>
    <p:extLst>
      <p:ext uri="{BB962C8B-B14F-4D97-AF65-F5344CB8AC3E}">
        <p14:creationId xmlns:p14="http://schemas.microsoft.com/office/powerpoint/2010/main" val="318932313"/>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90</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1569660"/>
          </a:xfrm>
          <a:prstGeom prst="rect">
            <a:avLst/>
          </a:prstGeom>
          <a:noFill/>
        </p:spPr>
        <p:txBody>
          <a:bodyPr wrap="square">
            <a:spAutoFit/>
          </a:bodyPr>
          <a:lstStyle/>
          <a:p>
            <a:pPr marL="342900" indent="-342900" algn="just">
              <a:buFont typeface="Arial" panose="020B0604020202020204" pitchFamily="34" charset="0"/>
              <a:buChar char="•"/>
            </a:pPr>
            <a:r>
              <a:rPr lang="en-US" sz="2400" dirty="0"/>
              <a:t>Definition: Quantitative data analysis involves the use of numerical data and statistical methods to analyze relationships, trends, and patterns. It focuses on quantifying relationships and making generalizations from data collected through surveys, experiments, or observations.</a:t>
            </a:r>
          </a:p>
        </p:txBody>
      </p:sp>
    </p:spTree>
    <p:extLst>
      <p:ext uri="{BB962C8B-B14F-4D97-AF65-F5344CB8AC3E}">
        <p14:creationId xmlns:p14="http://schemas.microsoft.com/office/powerpoint/2010/main" val="1597640418"/>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49B8E9-52A3-C73B-9342-FDAEF2EF0925}"/>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894714C7-3417-7A3A-C7EE-DCADBC6E0688}"/>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91</a:t>
            </a:fld>
            <a:endParaRPr lang="es-ES" altLang="en-US" sz="1400"/>
          </a:p>
        </p:txBody>
      </p:sp>
      <p:sp>
        <p:nvSpPr>
          <p:cNvPr id="2" name="Title 1">
            <a:extLst>
              <a:ext uri="{FF2B5EF4-FFF2-40B4-BE49-F238E27FC236}">
                <a16:creationId xmlns:a16="http://schemas.microsoft.com/office/drawing/2014/main" id="{C7AD7C50-9177-A751-C7BC-41CCD9DB34EE}"/>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a:t>
            </a:r>
          </a:p>
        </p:txBody>
      </p:sp>
      <p:sp>
        <p:nvSpPr>
          <p:cNvPr id="4" name="TextBox 3">
            <a:extLst>
              <a:ext uri="{FF2B5EF4-FFF2-40B4-BE49-F238E27FC236}">
                <a16:creationId xmlns:a16="http://schemas.microsoft.com/office/drawing/2014/main" id="{1758D6F4-E1DB-4B5E-C536-3F93152B0248}"/>
              </a:ext>
            </a:extLst>
          </p:cNvPr>
          <p:cNvSpPr txBox="1"/>
          <p:nvPr/>
        </p:nvSpPr>
        <p:spPr>
          <a:xfrm>
            <a:off x="863419" y="1196752"/>
            <a:ext cx="10465162" cy="3046988"/>
          </a:xfrm>
          <a:prstGeom prst="rect">
            <a:avLst/>
          </a:prstGeom>
          <a:noFill/>
        </p:spPr>
        <p:txBody>
          <a:bodyPr wrap="square">
            <a:spAutoFit/>
          </a:bodyPr>
          <a:lstStyle/>
          <a:p>
            <a:r>
              <a:rPr lang="en-US" sz="4000" b="1" dirty="0"/>
              <a:t>Types of Quantitative Data Analysis</a:t>
            </a:r>
          </a:p>
          <a:p>
            <a:pPr marL="457200" indent="-457200">
              <a:buFont typeface="Arial" panose="020B0604020202020204" pitchFamily="34" charset="0"/>
              <a:buChar char="•"/>
            </a:pPr>
            <a:r>
              <a:rPr lang="en-US" sz="4000" dirty="0"/>
              <a:t>Descriptive Statistics</a:t>
            </a:r>
          </a:p>
          <a:p>
            <a:pPr marL="457200" indent="-457200">
              <a:buFont typeface="Arial" panose="020B0604020202020204" pitchFamily="34" charset="0"/>
              <a:buChar char="•"/>
            </a:pPr>
            <a:r>
              <a:rPr lang="en-US" sz="4000" dirty="0"/>
              <a:t>Inferential Statistics</a:t>
            </a:r>
          </a:p>
          <a:p>
            <a:pPr marL="457200" indent="-457200">
              <a:buFont typeface="Arial" panose="020B0604020202020204" pitchFamily="34" charset="0"/>
              <a:buChar char="•"/>
            </a:pPr>
            <a:r>
              <a:rPr lang="en-US" sz="4000" dirty="0"/>
              <a:t>Confirmatory Data Analysis (CDA)</a:t>
            </a:r>
          </a:p>
          <a:p>
            <a:pPr marL="457200" indent="-457200">
              <a:buFont typeface="Arial" panose="020B0604020202020204" pitchFamily="34" charset="0"/>
              <a:buChar char="•"/>
            </a:pPr>
            <a:r>
              <a:rPr lang="en-US" sz="3200" dirty="0"/>
              <a:t>Exploratory Data Analysis (EDA)</a:t>
            </a:r>
          </a:p>
        </p:txBody>
      </p:sp>
    </p:spTree>
    <p:extLst>
      <p:ext uri="{BB962C8B-B14F-4D97-AF65-F5344CB8AC3E}">
        <p14:creationId xmlns:p14="http://schemas.microsoft.com/office/powerpoint/2010/main" val="3592801486"/>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B0E2C551-3E73-675B-CF56-3164B00C4ED4}"/>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92</a:t>
            </a:fld>
            <a:endParaRPr lang="es-ES" altLang="en-US" sz="1400"/>
          </a:p>
        </p:txBody>
      </p:sp>
      <p:sp>
        <p:nvSpPr>
          <p:cNvPr id="2" name="Title 1">
            <a:extLst>
              <a:ext uri="{FF2B5EF4-FFF2-40B4-BE49-F238E27FC236}">
                <a16:creationId xmlns:a16="http://schemas.microsoft.com/office/drawing/2014/main" id="{589D1AE1-2A6F-33AA-DCBF-9E7BE2043D5F}"/>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839A37A6-32D7-C28F-5C65-1B646BAA8EAF}"/>
              </a:ext>
            </a:extLst>
          </p:cNvPr>
          <p:cNvSpPr txBox="1"/>
          <p:nvPr/>
        </p:nvSpPr>
        <p:spPr>
          <a:xfrm>
            <a:off x="863419" y="1196752"/>
            <a:ext cx="10465162" cy="4154984"/>
          </a:xfrm>
          <a:prstGeom prst="rect">
            <a:avLst/>
          </a:prstGeom>
          <a:noFill/>
        </p:spPr>
        <p:txBody>
          <a:bodyPr wrap="square">
            <a:spAutoFit/>
          </a:bodyPr>
          <a:lstStyle/>
          <a:p>
            <a:pPr marL="342900" indent="-342900" algn="just">
              <a:buFont typeface="Arial" panose="020B0604020202020204" pitchFamily="34" charset="0"/>
              <a:buChar char="•"/>
            </a:pPr>
            <a:r>
              <a:rPr lang="en-US" sz="2200" b="1" dirty="0"/>
              <a:t>Descriptive Statistics</a:t>
            </a:r>
            <a:r>
              <a:rPr lang="en-US" sz="2200" dirty="0"/>
              <a:t>: These include measures such as mean, median, mode, and standard deviation to summarize and describe numerical data. For example, in a survey on customer satisfaction, descriptive statistics might summarize average satisfaction ratings across different demographics.</a:t>
            </a:r>
          </a:p>
          <a:p>
            <a:pPr marL="342900" indent="-342900" algn="just">
              <a:buFont typeface="Arial" panose="020B0604020202020204" pitchFamily="34" charset="0"/>
              <a:buChar char="•"/>
            </a:pPr>
            <a:r>
              <a:rPr lang="en-US" sz="2200" b="1" dirty="0"/>
              <a:t>Inferential Statistics: </a:t>
            </a:r>
            <a:r>
              <a:rPr lang="en-US" sz="2200" dirty="0"/>
              <a:t>Researchers use inferential statistics to make inferences or predictions about a population based on sample data. For instance, in a clinical trial studying the effectiveness of a new drug, inferential statistics might test whether there is a significant difference in outcomes between the treatment and control groups.</a:t>
            </a:r>
          </a:p>
          <a:p>
            <a:pPr marL="342900" indent="-342900" algn="just">
              <a:buFont typeface="Arial" panose="020B0604020202020204" pitchFamily="34" charset="0"/>
              <a:buChar char="•"/>
            </a:pPr>
            <a:r>
              <a:rPr lang="en-US" sz="2200" b="1" dirty="0"/>
              <a:t>Regression Analysis: </a:t>
            </a:r>
            <a:r>
              <a:rPr lang="en-US" sz="2200" dirty="0"/>
              <a:t>This technique examines the relationship between variables to predict or explain outcomes. For example, in an economic study, regression analysis might analyze the relationship between unemployment rates and inflation to understand their impact on economic growth.</a:t>
            </a:r>
          </a:p>
        </p:txBody>
      </p:sp>
    </p:spTree>
    <p:extLst>
      <p:ext uri="{BB962C8B-B14F-4D97-AF65-F5344CB8AC3E}">
        <p14:creationId xmlns:p14="http://schemas.microsoft.com/office/powerpoint/2010/main" val="758238842"/>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F929ED-84F6-4632-77D5-ECEF84B138BB}"/>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99093D1D-63C7-EFC5-1209-789D1F226CFF}"/>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93</a:t>
            </a:fld>
            <a:endParaRPr lang="es-ES" altLang="en-US" sz="1400"/>
          </a:p>
        </p:txBody>
      </p:sp>
      <p:sp>
        <p:nvSpPr>
          <p:cNvPr id="2" name="Title 1">
            <a:extLst>
              <a:ext uri="{FF2B5EF4-FFF2-40B4-BE49-F238E27FC236}">
                <a16:creationId xmlns:a16="http://schemas.microsoft.com/office/drawing/2014/main" id="{BBF409D0-D2A5-07EE-C43B-FBDE77F9CB5A}"/>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91BE8EFC-9245-165A-108E-047710103A6F}"/>
              </a:ext>
            </a:extLst>
          </p:cNvPr>
          <p:cNvSpPr txBox="1"/>
          <p:nvPr/>
        </p:nvSpPr>
        <p:spPr>
          <a:xfrm>
            <a:off x="863419" y="1196752"/>
            <a:ext cx="10465162" cy="4893647"/>
          </a:xfrm>
          <a:prstGeom prst="rect">
            <a:avLst/>
          </a:prstGeom>
          <a:noFill/>
        </p:spPr>
        <p:txBody>
          <a:bodyPr wrap="square">
            <a:spAutoFit/>
          </a:bodyPr>
          <a:lstStyle/>
          <a:p>
            <a:r>
              <a:rPr lang="en-IN" sz="2800" b="1" dirty="0"/>
              <a:t>Descriptive Statistics</a:t>
            </a:r>
          </a:p>
          <a:p>
            <a:r>
              <a:rPr lang="en-IN" sz="2800" b="1" dirty="0"/>
              <a:t>Purpose:</a:t>
            </a:r>
            <a:r>
              <a:rPr lang="en-IN" sz="2800" dirty="0"/>
              <a:t> Summarize and describe the basic features of data.</a:t>
            </a:r>
          </a:p>
          <a:p>
            <a:r>
              <a:rPr lang="en-IN" sz="2800" b="1" dirty="0"/>
              <a:t>Key Measures:</a:t>
            </a:r>
            <a:endParaRPr lang="en-IN" sz="2800" dirty="0"/>
          </a:p>
          <a:p>
            <a:pPr lvl="1"/>
            <a:r>
              <a:rPr lang="en-IN" sz="2800" b="1" dirty="0"/>
              <a:t>Central Tendency:</a:t>
            </a:r>
            <a:r>
              <a:rPr lang="en-IN" sz="2800" dirty="0"/>
              <a:t> Mean, Median, Mode</a:t>
            </a:r>
          </a:p>
          <a:p>
            <a:pPr lvl="1"/>
            <a:r>
              <a:rPr lang="en-IN" sz="2800" b="1" dirty="0"/>
              <a:t>Dispersion:</a:t>
            </a:r>
            <a:r>
              <a:rPr lang="en-IN" sz="2800" dirty="0"/>
              <a:t> Range, Variance, Standard Deviation</a:t>
            </a:r>
          </a:p>
          <a:p>
            <a:pPr lvl="1"/>
            <a:r>
              <a:rPr lang="en-IN" sz="2800" b="1" dirty="0"/>
              <a:t>Distribution Shape:</a:t>
            </a:r>
            <a:r>
              <a:rPr lang="en-IN" sz="2800" dirty="0"/>
              <a:t> Skewness, Kurtosis</a:t>
            </a:r>
          </a:p>
          <a:p>
            <a:r>
              <a:rPr lang="en-IN" sz="2800" b="1" dirty="0"/>
              <a:t>Visual Tools:</a:t>
            </a:r>
            <a:endParaRPr lang="en-IN" sz="2800" dirty="0"/>
          </a:p>
          <a:p>
            <a:pPr lvl="1"/>
            <a:r>
              <a:rPr lang="en-IN" sz="2800" dirty="0"/>
              <a:t>Histograms</a:t>
            </a:r>
          </a:p>
          <a:p>
            <a:pPr lvl="1"/>
            <a:r>
              <a:rPr lang="en-IN" sz="2800" dirty="0"/>
              <a:t>Box plots</a:t>
            </a:r>
          </a:p>
          <a:p>
            <a:pPr lvl="1"/>
            <a:r>
              <a:rPr lang="en-IN" sz="2800" dirty="0"/>
              <a:t>Frequency tables</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2129024405"/>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D40606-46D2-7211-28B4-9B94B9A94E3A}"/>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CAD25F5E-4979-99B1-8F09-2EB96DD84BCB}"/>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94</a:t>
            </a:fld>
            <a:endParaRPr lang="es-ES" altLang="en-US" sz="1400"/>
          </a:p>
        </p:txBody>
      </p:sp>
      <p:sp>
        <p:nvSpPr>
          <p:cNvPr id="2" name="Title 1">
            <a:extLst>
              <a:ext uri="{FF2B5EF4-FFF2-40B4-BE49-F238E27FC236}">
                <a16:creationId xmlns:a16="http://schemas.microsoft.com/office/drawing/2014/main" id="{84B81C0A-6082-BDE3-F23F-BE4572112D9B}"/>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2C256592-CD3E-71F3-67BC-585DBA34F276}"/>
              </a:ext>
            </a:extLst>
          </p:cNvPr>
          <p:cNvSpPr txBox="1"/>
          <p:nvPr/>
        </p:nvSpPr>
        <p:spPr>
          <a:xfrm>
            <a:off x="863419" y="1196752"/>
            <a:ext cx="10465162" cy="4524315"/>
          </a:xfrm>
          <a:prstGeom prst="rect">
            <a:avLst/>
          </a:prstGeom>
          <a:noFill/>
        </p:spPr>
        <p:txBody>
          <a:bodyPr wrap="square">
            <a:spAutoFit/>
          </a:bodyPr>
          <a:lstStyle/>
          <a:p>
            <a:r>
              <a:rPr lang="en-US" sz="2400" b="1" dirty="0"/>
              <a:t>Inferential Statistics</a:t>
            </a:r>
          </a:p>
          <a:p>
            <a:r>
              <a:rPr lang="en-US" sz="2400" b="1" dirty="0"/>
              <a:t>Purpose:</a:t>
            </a:r>
            <a:r>
              <a:rPr lang="en-US" sz="2400" dirty="0"/>
              <a:t> Make inferences about a population from a sample.</a:t>
            </a:r>
          </a:p>
          <a:p>
            <a:r>
              <a:rPr lang="en-US" sz="2400" b="1" dirty="0"/>
              <a:t>Key Concepts:</a:t>
            </a:r>
            <a:endParaRPr lang="en-US" sz="2400" dirty="0"/>
          </a:p>
          <a:p>
            <a:pPr marL="800100" lvl="1" indent="-342900">
              <a:buFont typeface="Arial" panose="020B0604020202020204" pitchFamily="34" charset="0"/>
              <a:buChar char="•"/>
            </a:pPr>
            <a:r>
              <a:rPr lang="en-US" sz="2400" dirty="0"/>
              <a:t>Sampling distributions</a:t>
            </a:r>
          </a:p>
          <a:p>
            <a:pPr marL="800100" lvl="1" indent="-342900">
              <a:buFont typeface="Arial" panose="020B0604020202020204" pitchFamily="34" charset="0"/>
              <a:buChar char="•"/>
            </a:pPr>
            <a:r>
              <a:rPr lang="en-US" sz="2400" dirty="0"/>
              <a:t>Hypothesis testing</a:t>
            </a:r>
          </a:p>
          <a:p>
            <a:pPr marL="800100" lvl="1" indent="-342900">
              <a:buFont typeface="Arial" panose="020B0604020202020204" pitchFamily="34" charset="0"/>
              <a:buChar char="•"/>
            </a:pPr>
            <a:r>
              <a:rPr lang="en-US" sz="2400" dirty="0"/>
              <a:t>Confidence intervals</a:t>
            </a:r>
          </a:p>
          <a:p>
            <a:pPr marL="800100" lvl="1" indent="-342900">
              <a:buFont typeface="Arial" panose="020B0604020202020204" pitchFamily="34" charset="0"/>
              <a:buChar char="•"/>
            </a:pPr>
            <a:r>
              <a:rPr lang="en-US" sz="2400" dirty="0"/>
              <a:t>p-values</a:t>
            </a:r>
          </a:p>
          <a:p>
            <a:r>
              <a:rPr lang="en-US" sz="2400" b="1" dirty="0"/>
              <a:t>Common Tests:</a:t>
            </a:r>
            <a:endParaRPr lang="en-US" sz="2400" dirty="0"/>
          </a:p>
          <a:p>
            <a:pPr marL="800100" lvl="1" indent="-342900">
              <a:buFont typeface="Arial" panose="020B0604020202020204" pitchFamily="34" charset="0"/>
              <a:buChar char="•"/>
            </a:pPr>
            <a:r>
              <a:rPr lang="en-US" sz="2400" dirty="0"/>
              <a:t>t-test (comparing means)</a:t>
            </a:r>
          </a:p>
          <a:p>
            <a:pPr marL="800100" lvl="1" indent="-342900">
              <a:buFont typeface="Arial" panose="020B0604020202020204" pitchFamily="34" charset="0"/>
              <a:buChar char="•"/>
            </a:pPr>
            <a:r>
              <a:rPr lang="en-US" sz="2400" dirty="0"/>
              <a:t>ANOVA (comparing more than two groups)</a:t>
            </a:r>
          </a:p>
          <a:p>
            <a:pPr marL="800100" lvl="1" indent="-342900">
              <a:buFont typeface="Arial" panose="020B0604020202020204" pitchFamily="34" charset="0"/>
              <a:buChar char="•"/>
            </a:pPr>
            <a:r>
              <a:rPr lang="en-US" sz="2400" dirty="0"/>
              <a:t>Chi-square test (association between categorical variables)</a:t>
            </a:r>
          </a:p>
          <a:p>
            <a:pPr marL="800100" lvl="1" indent="-342900">
              <a:buFont typeface="Arial" panose="020B0604020202020204" pitchFamily="34" charset="0"/>
              <a:buChar char="•"/>
            </a:pPr>
            <a:r>
              <a:rPr lang="en-US" sz="2400" dirty="0"/>
              <a:t>Correlation &amp; Regression (relationships between variables)</a:t>
            </a:r>
          </a:p>
        </p:txBody>
      </p:sp>
    </p:spTree>
    <p:extLst>
      <p:ext uri="{BB962C8B-B14F-4D97-AF65-F5344CB8AC3E}">
        <p14:creationId xmlns:p14="http://schemas.microsoft.com/office/powerpoint/2010/main" val="2241100695"/>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7AD34B-37B7-2664-E428-8028129E7A9F}"/>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9452CD7C-FAF2-3FA1-1791-0AFB60E793AA}"/>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95</a:t>
            </a:fld>
            <a:endParaRPr lang="es-ES" altLang="en-US" sz="1400"/>
          </a:p>
        </p:txBody>
      </p:sp>
      <p:sp>
        <p:nvSpPr>
          <p:cNvPr id="2" name="Title 1">
            <a:extLst>
              <a:ext uri="{FF2B5EF4-FFF2-40B4-BE49-F238E27FC236}">
                <a16:creationId xmlns:a16="http://schemas.microsoft.com/office/drawing/2014/main" id="{4D61AA2A-D89F-9BB7-3CE0-D18E3E8A3831}"/>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42F754A8-CA7B-FCF0-8D99-3644617C6245}"/>
              </a:ext>
            </a:extLst>
          </p:cNvPr>
          <p:cNvSpPr txBox="1"/>
          <p:nvPr/>
        </p:nvSpPr>
        <p:spPr>
          <a:xfrm>
            <a:off x="863419" y="1196752"/>
            <a:ext cx="10465162" cy="4031873"/>
          </a:xfrm>
          <a:prstGeom prst="rect">
            <a:avLst/>
          </a:prstGeom>
          <a:noFill/>
        </p:spPr>
        <p:txBody>
          <a:bodyPr wrap="square">
            <a:spAutoFit/>
          </a:bodyPr>
          <a:lstStyle/>
          <a:p>
            <a:r>
              <a:rPr lang="en-US" sz="3200" b="1" dirty="0"/>
              <a:t>Hypothesis Testing</a:t>
            </a:r>
          </a:p>
          <a:p>
            <a:r>
              <a:rPr lang="en-US" sz="3200" b="1" dirty="0"/>
              <a:t>Steps:</a:t>
            </a:r>
            <a:endParaRPr lang="en-US" sz="3200" dirty="0"/>
          </a:p>
          <a:p>
            <a:pPr marL="914400" lvl="1" indent="-457200">
              <a:buFont typeface="Arial" panose="020B0604020202020204" pitchFamily="34" charset="0"/>
              <a:buChar char="•"/>
            </a:pPr>
            <a:r>
              <a:rPr lang="en-US" sz="3200" dirty="0"/>
              <a:t>Formulate null (H₀) and alternative (H₁) hypotheses</a:t>
            </a:r>
          </a:p>
          <a:p>
            <a:pPr marL="914400" lvl="1" indent="-457200">
              <a:buFont typeface="Arial" panose="020B0604020202020204" pitchFamily="34" charset="0"/>
              <a:buChar char="•"/>
            </a:pPr>
            <a:r>
              <a:rPr lang="en-US" sz="3200" dirty="0"/>
              <a:t>Choose significance level (usually α = 0.05)</a:t>
            </a:r>
          </a:p>
          <a:p>
            <a:pPr marL="914400" lvl="1" indent="-457200">
              <a:buFont typeface="Arial" panose="020B0604020202020204" pitchFamily="34" charset="0"/>
              <a:buChar char="•"/>
            </a:pPr>
            <a:r>
              <a:rPr lang="en-US" sz="3200" dirty="0"/>
              <a:t>Select appropriate statistical test</a:t>
            </a:r>
          </a:p>
          <a:p>
            <a:pPr marL="914400" lvl="1" indent="-457200">
              <a:buFont typeface="Arial" panose="020B0604020202020204" pitchFamily="34" charset="0"/>
              <a:buChar char="•"/>
            </a:pPr>
            <a:r>
              <a:rPr lang="en-US" sz="3200" dirty="0"/>
              <a:t>Compute test statistic and p-value</a:t>
            </a:r>
          </a:p>
          <a:p>
            <a:pPr marL="914400" lvl="1" indent="-457200">
              <a:buFont typeface="Arial" panose="020B0604020202020204" pitchFamily="34" charset="0"/>
              <a:buChar char="•"/>
            </a:pPr>
            <a:r>
              <a:rPr lang="en-US" sz="3200" dirty="0"/>
              <a:t>Make a decision (reject or fail to reject H₀)</a:t>
            </a:r>
          </a:p>
          <a:p>
            <a:r>
              <a:rPr lang="en-US" sz="3200" b="1" dirty="0"/>
              <a:t>Goal:</a:t>
            </a:r>
            <a:r>
              <a:rPr lang="en-US" sz="3200" dirty="0"/>
              <a:t> Determine if observed results are due to chance</a:t>
            </a:r>
            <a:endParaRPr lang="en-US" dirty="0"/>
          </a:p>
        </p:txBody>
      </p:sp>
    </p:spTree>
    <p:extLst>
      <p:ext uri="{BB962C8B-B14F-4D97-AF65-F5344CB8AC3E}">
        <p14:creationId xmlns:p14="http://schemas.microsoft.com/office/powerpoint/2010/main" val="878595210"/>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03B129-3D6B-4366-E058-9A16E2949BEF}"/>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A69FBCF4-9C0B-2944-C102-0C8956270C63}"/>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96</a:t>
            </a:fld>
            <a:endParaRPr lang="es-ES" altLang="en-US" sz="1400"/>
          </a:p>
        </p:txBody>
      </p:sp>
      <p:sp>
        <p:nvSpPr>
          <p:cNvPr id="2" name="Title 1">
            <a:extLst>
              <a:ext uri="{FF2B5EF4-FFF2-40B4-BE49-F238E27FC236}">
                <a16:creationId xmlns:a16="http://schemas.microsoft.com/office/drawing/2014/main" id="{CF26BD4B-B164-3F6C-D5D4-9286133A1525}"/>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34500638-D94C-B952-D753-7D7686E24F3F}"/>
              </a:ext>
            </a:extLst>
          </p:cNvPr>
          <p:cNvSpPr txBox="1"/>
          <p:nvPr/>
        </p:nvSpPr>
        <p:spPr>
          <a:xfrm>
            <a:off x="863419" y="1196752"/>
            <a:ext cx="10465162" cy="4524315"/>
          </a:xfrm>
          <a:prstGeom prst="rect">
            <a:avLst/>
          </a:prstGeom>
          <a:noFill/>
        </p:spPr>
        <p:txBody>
          <a:bodyPr wrap="square">
            <a:spAutoFit/>
          </a:bodyPr>
          <a:lstStyle/>
          <a:p>
            <a:r>
              <a:rPr lang="en-US" sz="3200" b="1" dirty="0"/>
              <a:t>Correlation and Regression</a:t>
            </a:r>
          </a:p>
          <a:p>
            <a:r>
              <a:rPr lang="en-US" sz="3200" b="1" dirty="0"/>
              <a:t>Correlation:</a:t>
            </a:r>
            <a:endParaRPr lang="en-US" sz="3200" dirty="0"/>
          </a:p>
          <a:p>
            <a:pPr marL="914400" lvl="1" indent="-457200">
              <a:buFont typeface="Arial" panose="020B0604020202020204" pitchFamily="34" charset="0"/>
              <a:buChar char="•"/>
            </a:pPr>
            <a:r>
              <a:rPr lang="en-US" sz="3200" dirty="0"/>
              <a:t>Measures strength and direction of relationship between two variables</a:t>
            </a:r>
          </a:p>
          <a:p>
            <a:pPr marL="914400" lvl="1" indent="-457200">
              <a:buFont typeface="Arial" panose="020B0604020202020204" pitchFamily="34" charset="0"/>
              <a:buChar char="•"/>
            </a:pPr>
            <a:r>
              <a:rPr lang="en-US" sz="3200" dirty="0"/>
              <a:t>Pearson’s r: ranges from -1 to +1</a:t>
            </a:r>
          </a:p>
          <a:p>
            <a:r>
              <a:rPr lang="en-US" sz="3200" b="1" dirty="0"/>
              <a:t>Regression:</a:t>
            </a:r>
            <a:endParaRPr lang="en-US" sz="3200" dirty="0"/>
          </a:p>
          <a:p>
            <a:pPr marL="914400" lvl="1" indent="-457200">
              <a:buFont typeface="Arial" panose="020B0604020202020204" pitchFamily="34" charset="0"/>
              <a:buChar char="•"/>
            </a:pPr>
            <a:r>
              <a:rPr lang="en-US" sz="3200" dirty="0"/>
              <a:t>Explains how one variable affects another</a:t>
            </a:r>
          </a:p>
          <a:p>
            <a:pPr marL="914400" lvl="1" indent="-457200">
              <a:buFont typeface="Arial" panose="020B0604020202020204" pitchFamily="34" charset="0"/>
              <a:buChar char="•"/>
            </a:pPr>
            <a:r>
              <a:rPr lang="en-US" sz="3200" b="1" dirty="0"/>
              <a:t>Simple regression:</a:t>
            </a:r>
            <a:r>
              <a:rPr lang="en-US" sz="3200" dirty="0"/>
              <a:t> One predictor variable</a:t>
            </a:r>
          </a:p>
          <a:p>
            <a:pPr marL="914400" lvl="1" indent="-457200">
              <a:buFont typeface="Arial" panose="020B0604020202020204" pitchFamily="34" charset="0"/>
              <a:buChar char="•"/>
            </a:pPr>
            <a:r>
              <a:rPr lang="en-US" sz="3200" b="1" dirty="0"/>
              <a:t>Multiple regression:</a:t>
            </a:r>
            <a:r>
              <a:rPr lang="en-US" sz="3200" dirty="0"/>
              <a:t> Two or more predictor variables</a:t>
            </a:r>
          </a:p>
        </p:txBody>
      </p:sp>
    </p:spTree>
    <p:extLst>
      <p:ext uri="{BB962C8B-B14F-4D97-AF65-F5344CB8AC3E}">
        <p14:creationId xmlns:p14="http://schemas.microsoft.com/office/powerpoint/2010/main" val="3596891613"/>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0A0201-CA06-A630-D2C8-4C45B23127D4}"/>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EC2E1130-0C93-9E10-A125-F74DA3914603}"/>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97</a:t>
            </a:fld>
            <a:endParaRPr lang="es-ES" altLang="en-US" sz="1400"/>
          </a:p>
        </p:txBody>
      </p:sp>
      <p:sp>
        <p:nvSpPr>
          <p:cNvPr id="2" name="Title 1">
            <a:extLst>
              <a:ext uri="{FF2B5EF4-FFF2-40B4-BE49-F238E27FC236}">
                <a16:creationId xmlns:a16="http://schemas.microsoft.com/office/drawing/2014/main" id="{BB5E9737-3149-C3F7-3611-E29D72B6D448}"/>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Quantitative Data Analysis</a:t>
            </a:r>
          </a:p>
        </p:txBody>
      </p:sp>
      <p:sp>
        <p:nvSpPr>
          <p:cNvPr id="4" name="TextBox 3">
            <a:extLst>
              <a:ext uri="{FF2B5EF4-FFF2-40B4-BE49-F238E27FC236}">
                <a16:creationId xmlns:a16="http://schemas.microsoft.com/office/drawing/2014/main" id="{C7F2C682-E16F-2B55-75F7-4438D3358D15}"/>
              </a:ext>
            </a:extLst>
          </p:cNvPr>
          <p:cNvSpPr txBox="1"/>
          <p:nvPr/>
        </p:nvSpPr>
        <p:spPr>
          <a:xfrm>
            <a:off x="863419" y="1196752"/>
            <a:ext cx="10465162" cy="3046988"/>
          </a:xfrm>
          <a:prstGeom prst="rect">
            <a:avLst/>
          </a:prstGeom>
          <a:noFill/>
        </p:spPr>
        <p:txBody>
          <a:bodyPr wrap="square">
            <a:spAutoFit/>
          </a:bodyPr>
          <a:lstStyle/>
          <a:p>
            <a:r>
              <a:rPr lang="en-US" sz="2400" b="1" dirty="0"/>
              <a:t>Data Collection and Preparation</a:t>
            </a:r>
          </a:p>
          <a:p>
            <a:r>
              <a:rPr lang="en-US" sz="2400" b="1" dirty="0"/>
              <a:t>Steps Before Analysis:</a:t>
            </a:r>
            <a:endParaRPr lang="en-US" sz="2400" dirty="0"/>
          </a:p>
          <a:p>
            <a:pPr marL="914400" lvl="1" indent="-457200">
              <a:buFont typeface="Arial" panose="020B0604020202020204" pitchFamily="34" charset="0"/>
              <a:buChar char="•"/>
            </a:pPr>
            <a:r>
              <a:rPr lang="en-US" sz="2400" dirty="0"/>
              <a:t>Define variables clearly</a:t>
            </a:r>
          </a:p>
          <a:p>
            <a:pPr marL="914400" lvl="1" indent="-457200">
              <a:buFont typeface="Arial" panose="020B0604020202020204" pitchFamily="34" charset="0"/>
              <a:buChar char="•"/>
            </a:pPr>
            <a:r>
              <a:rPr lang="en-US" sz="2400" dirty="0"/>
              <a:t>Ensure reliability and validity of instruments</a:t>
            </a:r>
          </a:p>
          <a:p>
            <a:pPr marL="914400" lvl="1" indent="-457200">
              <a:buFont typeface="Arial" panose="020B0604020202020204" pitchFamily="34" charset="0"/>
              <a:buChar char="•"/>
            </a:pPr>
            <a:r>
              <a:rPr lang="en-US" sz="2400" dirty="0"/>
              <a:t>Clean and code data (handle missing data, outliers)</a:t>
            </a:r>
          </a:p>
          <a:p>
            <a:pPr marL="914400" lvl="1" indent="-457200">
              <a:buFont typeface="Arial" panose="020B0604020202020204" pitchFamily="34" charset="0"/>
              <a:buChar char="•"/>
            </a:pPr>
            <a:r>
              <a:rPr lang="en-US" sz="2400" dirty="0"/>
              <a:t>Check for assumptions (normality, homogeneity)</a:t>
            </a:r>
          </a:p>
          <a:p>
            <a:pPr marL="914400" lvl="1" indent="-457200">
              <a:buFont typeface="Arial" panose="020B0604020202020204" pitchFamily="34" charset="0"/>
              <a:buChar char="•"/>
            </a:pPr>
            <a:endParaRPr lang="en-US" sz="2400" dirty="0"/>
          </a:p>
          <a:p>
            <a:pPr marL="914400" lvl="1" indent="-457200">
              <a:buFont typeface="Arial" panose="020B0604020202020204" pitchFamily="34" charset="0"/>
              <a:buChar char="•"/>
            </a:pPr>
            <a:endParaRPr lang="en-US" sz="2400" dirty="0"/>
          </a:p>
        </p:txBody>
      </p:sp>
      <p:sp>
        <p:nvSpPr>
          <p:cNvPr id="6" name="Rectangle 3">
            <a:extLst>
              <a:ext uri="{FF2B5EF4-FFF2-40B4-BE49-F238E27FC236}">
                <a16:creationId xmlns:a16="http://schemas.microsoft.com/office/drawing/2014/main" id="{8BDD250C-7987-ADA0-D16C-F79140C6D5AE}"/>
              </a:ext>
            </a:extLst>
          </p:cNvPr>
          <p:cNvSpPr>
            <a:spLocks noChangeArrowheads="1"/>
          </p:cNvSpPr>
          <p:nvPr/>
        </p:nvSpPr>
        <p:spPr bwMode="auto">
          <a:xfrm rot="10800000" flipV="1">
            <a:off x="863419" y="3645024"/>
            <a:ext cx="851959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Software Options: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SPSS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Python (Pandas, NumPy, SciPy, </a:t>
            </a:r>
            <a:r>
              <a:rPr kumimoji="0" lang="en-US" altLang="en-US" sz="2000" b="0" i="0" u="none" strike="noStrike" cap="none" normalizeH="0" baseline="0" dirty="0" err="1">
                <a:ln>
                  <a:noFill/>
                </a:ln>
                <a:solidFill>
                  <a:schemeClr val="tx1"/>
                </a:solidFill>
                <a:effectLst/>
                <a:latin typeface="Arial" panose="020B0604020202020204" pitchFamily="34" charset="0"/>
              </a:rPr>
              <a:t>statsmodels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Excel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1585368"/>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22CCF1-A78B-6239-7105-5FCF27C825CD}"/>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C0019419-4675-966B-E896-96888CFAB8A3}"/>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98</a:t>
            </a:fld>
            <a:endParaRPr lang="es-ES" altLang="en-US" sz="1400"/>
          </a:p>
        </p:txBody>
      </p:sp>
      <p:sp>
        <p:nvSpPr>
          <p:cNvPr id="2" name="Title 1">
            <a:extLst>
              <a:ext uri="{FF2B5EF4-FFF2-40B4-BE49-F238E27FC236}">
                <a16:creationId xmlns:a16="http://schemas.microsoft.com/office/drawing/2014/main" id="{AA9EBD62-7FBC-EB67-6B05-3132E205D70E}"/>
              </a:ext>
            </a:extLst>
          </p:cNvPr>
          <p:cNvSpPr>
            <a:spLocks noGrp="1"/>
          </p:cNvSpPr>
          <p:nvPr>
            <p:ph type="ctrTitle"/>
          </p:nvPr>
        </p:nvSpPr>
        <p:spPr>
          <a:xfrm>
            <a:off x="911424" y="591165"/>
            <a:ext cx="10561173" cy="446916"/>
          </a:xfrm>
        </p:spPr>
        <p:txBody>
          <a:bodyPr/>
          <a:lstStyle/>
          <a:p>
            <a:r>
              <a:rPr lang="en-US" sz="3200" dirty="0">
                <a:latin typeface="Times New Roman" panose="02020603050405020304" pitchFamily="18" charset="0"/>
                <a:cs typeface="Times New Roman" panose="02020603050405020304" pitchFamily="18" charset="0"/>
              </a:rPr>
              <a:t>Limitations of Quantitative Qualitative Data Analysis </a:t>
            </a:r>
          </a:p>
        </p:txBody>
      </p:sp>
      <p:sp>
        <p:nvSpPr>
          <p:cNvPr id="4" name="TextBox 3">
            <a:extLst>
              <a:ext uri="{FF2B5EF4-FFF2-40B4-BE49-F238E27FC236}">
                <a16:creationId xmlns:a16="http://schemas.microsoft.com/office/drawing/2014/main" id="{6A03B685-D7D3-1D93-EB96-686D1AB98A1A}"/>
              </a:ext>
            </a:extLst>
          </p:cNvPr>
          <p:cNvSpPr txBox="1"/>
          <p:nvPr/>
        </p:nvSpPr>
        <p:spPr>
          <a:xfrm>
            <a:off x="863419" y="1196752"/>
            <a:ext cx="10465162" cy="4893647"/>
          </a:xfrm>
          <a:prstGeom prst="rect">
            <a:avLst/>
          </a:prstGeom>
          <a:noFill/>
        </p:spPr>
        <p:txBody>
          <a:bodyPr wrap="square">
            <a:spAutoFit/>
          </a:bodyPr>
          <a:lstStyle/>
          <a:p>
            <a:r>
              <a:rPr lang="en-US" sz="2400" b="1" dirty="0"/>
              <a:t>Limitations of Quantitative Analysis</a:t>
            </a:r>
          </a:p>
          <a:p>
            <a:pPr marL="342900" indent="-342900">
              <a:buFont typeface="Arial" panose="020B0604020202020204" pitchFamily="34" charset="0"/>
              <a:buChar char="•"/>
            </a:pPr>
            <a:r>
              <a:rPr lang="en-US" sz="2400" dirty="0"/>
              <a:t>Does not capture in-depth context or subjective meanings</a:t>
            </a:r>
          </a:p>
          <a:p>
            <a:pPr marL="342900" indent="-342900">
              <a:buFont typeface="Arial" panose="020B0604020202020204" pitchFamily="34" charset="0"/>
              <a:buChar char="•"/>
            </a:pPr>
            <a:r>
              <a:rPr lang="en-US" sz="2400" dirty="0"/>
              <a:t>Over-reliance on numerical data may ignore underlying causes</a:t>
            </a:r>
          </a:p>
          <a:p>
            <a:pPr marL="342900" indent="-342900">
              <a:buFont typeface="Arial" panose="020B0604020202020204" pitchFamily="34" charset="0"/>
              <a:buChar char="•"/>
            </a:pPr>
            <a:r>
              <a:rPr lang="en-US" sz="2400" dirty="0"/>
              <a:t>Requires careful design to avoid bias or error</a:t>
            </a:r>
          </a:p>
          <a:p>
            <a:pPr marL="342900" indent="-342900">
              <a:buFont typeface="Arial" panose="020B0604020202020204" pitchFamily="34" charset="0"/>
              <a:buChar char="•"/>
            </a:pPr>
            <a:r>
              <a:rPr lang="en-US" sz="2400" dirty="0"/>
              <a:t>Interpretation depends on proper understanding of statistics</a:t>
            </a:r>
          </a:p>
          <a:p>
            <a:pPr marL="342900" indent="-342900">
              <a:buFont typeface="Arial" panose="020B0604020202020204" pitchFamily="34" charset="0"/>
              <a:buChar char="•"/>
            </a:pPr>
            <a:endParaRPr lang="en-US" sz="2400" dirty="0"/>
          </a:p>
          <a:p>
            <a:r>
              <a:rPr lang="en-IN" sz="2400" b="1" dirty="0"/>
              <a:t>Limitations of Qualitative Analysis</a:t>
            </a:r>
          </a:p>
          <a:p>
            <a:pPr marL="342900" indent="-342900">
              <a:buFont typeface="Arial" panose="020B0604020202020204" pitchFamily="34" charset="0"/>
              <a:buChar char="•"/>
            </a:pPr>
            <a:r>
              <a:rPr lang="en-IN" sz="2400" b="1" dirty="0"/>
              <a:t>Time-consuming and resource-intensive</a:t>
            </a:r>
            <a:endParaRPr lang="en-IN" sz="2400" dirty="0"/>
          </a:p>
          <a:p>
            <a:pPr marL="342900" indent="-342900">
              <a:buFont typeface="Arial" panose="020B0604020202020204" pitchFamily="34" charset="0"/>
              <a:buChar char="•"/>
            </a:pPr>
            <a:r>
              <a:rPr lang="en-IN" sz="2400" b="1" dirty="0"/>
              <a:t>Subjectivity risk:</a:t>
            </a:r>
            <a:r>
              <a:rPr lang="en-IN" sz="2400" dirty="0"/>
              <a:t> Researcher bias can affect interpretation</a:t>
            </a:r>
          </a:p>
          <a:p>
            <a:pPr marL="342900" indent="-342900">
              <a:buFont typeface="Arial" panose="020B0604020202020204" pitchFamily="34" charset="0"/>
              <a:buChar char="•"/>
            </a:pPr>
            <a:r>
              <a:rPr lang="en-IN" sz="2400" b="1" dirty="0"/>
              <a:t>Smaller sample sizes:</a:t>
            </a:r>
            <a:r>
              <a:rPr lang="en-IN" sz="2400" dirty="0"/>
              <a:t> Limits generalizability</a:t>
            </a:r>
          </a:p>
          <a:p>
            <a:pPr marL="342900" indent="-342900">
              <a:buFont typeface="Arial" panose="020B0604020202020204" pitchFamily="34" charset="0"/>
              <a:buChar char="•"/>
            </a:pPr>
            <a:r>
              <a:rPr lang="en-IN" sz="2400" b="1" dirty="0"/>
              <a:t>Complexity in analysis:</a:t>
            </a:r>
            <a:r>
              <a:rPr lang="en-IN" sz="2400" dirty="0"/>
              <a:t> Harder to standardize procedures</a:t>
            </a:r>
          </a:p>
          <a:p>
            <a:pPr marL="342900" indent="-342900">
              <a:buFont typeface="Arial" panose="020B0604020202020204" pitchFamily="34" charset="0"/>
              <a:buChar char="•"/>
            </a:pPr>
            <a:r>
              <a:rPr lang="en-IN" sz="2400" b="1" dirty="0"/>
              <a:t>Requires strong interpretive skill</a:t>
            </a:r>
            <a:r>
              <a:rPr lang="en-IN" sz="2400" dirty="0"/>
              <a:t> to </a:t>
            </a:r>
            <a:r>
              <a:rPr lang="en-IN" sz="2400" dirty="0" err="1"/>
              <a:t>analyze</a:t>
            </a:r>
            <a:r>
              <a:rPr lang="en-IN" sz="2400" dirty="0"/>
              <a:t> rich, nuanced data</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257852474"/>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014EDD-BD4F-3FC9-338B-13F0F4039ED0}"/>
            </a:ext>
          </a:extLst>
        </p:cNvPr>
        <p:cNvGrpSpPr/>
        <p:nvPr/>
      </p:nvGrpSpPr>
      <p:grpSpPr>
        <a:xfrm>
          <a:off x="0" y="0"/>
          <a:ext cx="0" cy="0"/>
          <a:chOff x="0" y="0"/>
          <a:chExt cx="0" cy="0"/>
        </a:xfrm>
      </p:grpSpPr>
      <p:sp>
        <p:nvSpPr>
          <p:cNvPr id="31764" name="Slide Number Placeholder 1">
            <a:extLst>
              <a:ext uri="{FF2B5EF4-FFF2-40B4-BE49-F238E27FC236}">
                <a16:creationId xmlns:a16="http://schemas.microsoft.com/office/drawing/2014/main" id="{5AC5DDCD-3FC4-D3E5-073B-5FF1DFFB037A}"/>
              </a:ext>
            </a:extLst>
          </p:cNvPr>
          <p:cNvSpPr>
            <a:spLocks noGrp="1"/>
          </p:cNvSpPr>
          <p:nvPr>
            <p:ph type="sldNum" sz="quarter" idx="4294967295"/>
          </p:nvPr>
        </p:nvSpPr>
        <p:spPr>
          <a:xfrm>
            <a:off x="9347200" y="6356350"/>
            <a:ext cx="2844800" cy="365125"/>
          </a:xfrm>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CCA31D-8A84-4CDF-BB4B-8F05A806DDDF}" type="slidenum">
              <a:rPr lang="es-ES" altLang="en-US" sz="1400"/>
              <a:pPr>
                <a:spcBef>
                  <a:spcPct val="0"/>
                </a:spcBef>
                <a:buFontTx/>
                <a:buNone/>
              </a:pPr>
              <a:t>99</a:t>
            </a:fld>
            <a:endParaRPr lang="es-ES" altLang="en-US" sz="1400"/>
          </a:p>
        </p:txBody>
      </p:sp>
      <p:sp>
        <p:nvSpPr>
          <p:cNvPr id="2" name="Title 1">
            <a:extLst>
              <a:ext uri="{FF2B5EF4-FFF2-40B4-BE49-F238E27FC236}">
                <a16:creationId xmlns:a16="http://schemas.microsoft.com/office/drawing/2014/main" id="{573EF7A2-32CE-5F02-6022-BFCF103B8D9B}"/>
              </a:ext>
            </a:extLst>
          </p:cNvPr>
          <p:cNvSpPr>
            <a:spLocks noGrp="1"/>
          </p:cNvSpPr>
          <p:nvPr>
            <p:ph type="ctrTitle"/>
          </p:nvPr>
        </p:nvSpPr>
        <p:spPr>
          <a:xfrm>
            <a:off x="941897" y="364975"/>
            <a:ext cx="10561173" cy="446916"/>
          </a:xfrm>
        </p:spPr>
        <p:txBody>
          <a:bodyPr/>
          <a:lstStyle/>
          <a:p>
            <a:r>
              <a:rPr lang="en-US" sz="3200" dirty="0">
                <a:latin typeface="Times New Roman" panose="02020603050405020304" pitchFamily="18" charset="0"/>
                <a:cs typeface="Times New Roman" panose="02020603050405020304" pitchFamily="18" charset="0"/>
              </a:rPr>
              <a:t>Limitations of Quantitative Qualitative Data Analysis </a:t>
            </a:r>
          </a:p>
        </p:txBody>
      </p:sp>
      <p:graphicFrame>
        <p:nvGraphicFramePr>
          <p:cNvPr id="3" name="Table 2">
            <a:extLst>
              <a:ext uri="{FF2B5EF4-FFF2-40B4-BE49-F238E27FC236}">
                <a16:creationId xmlns:a16="http://schemas.microsoft.com/office/drawing/2014/main" id="{2B717A21-B8E1-59D0-1D9E-FF19995F389E}"/>
              </a:ext>
            </a:extLst>
          </p:cNvPr>
          <p:cNvGraphicFramePr>
            <a:graphicFrameLocks noGrp="1"/>
          </p:cNvGraphicFramePr>
          <p:nvPr>
            <p:extLst>
              <p:ext uri="{D42A27DB-BD31-4B8C-83A1-F6EECF244321}">
                <p14:modId xmlns:p14="http://schemas.microsoft.com/office/powerpoint/2010/main" val="3453943192"/>
              </p:ext>
            </p:extLst>
          </p:nvPr>
        </p:nvGraphicFramePr>
        <p:xfrm>
          <a:off x="886671" y="908720"/>
          <a:ext cx="10671624" cy="4551279"/>
        </p:xfrm>
        <a:graphic>
          <a:graphicData uri="http://schemas.openxmlformats.org/drawingml/2006/table">
            <a:tbl>
              <a:tblPr/>
              <a:tblGrid>
                <a:gridCol w="1670624">
                  <a:extLst>
                    <a:ext uri="{9D8B030D-6E8A-4147-A177-3AD203B41FA5}">
                      <a16:colId xmlns:a16="http://schemas.microsoft.com/office/drawing/2014/main" val="3764276875"/>
                    </a:ext>
                  </a:extLst>
                </a:gridCol>
                <a:gridCol w="4104456">
                  <a:extLst>
                    <a:ext uri="{9D8B030D-6E8A-4147-A177-3AD203B41FA5}">
                      <a16:colId xmlns:a16="http://schemas.microsoft.com/office/drawing/2014/main" val="1922155751"/>
                    </a:ext>
                  </a:extLst>
                </a:gridCol>
                <a:gridCol w="4896544">
                  <a:extLst>
                    <a:ext uri="{9D8B030D-6E8A-4147-A177-3AD203B41FA5}">
                      <a16:colId xmlns:a16="http://schemas.microsoft.com/office/drawing/2014/main" val="70229409"/>
                    </a:ext>
                  </a:extLst>
                </a:gridCol>
              </a:tblGrid>
              <a:tr h="301731">
                <a:tc>
                  <a:txBody>
                    <a:bodyPr/>
                    <a:lstStyle/>
                    <a:p>
                      <a:r>
                        <a:rPr lang="en-IN" sz="1500" b="1"/>
                        <a:t>Aspect</a:t>
                      </a:r>
                      <a:endParaRPr lang="en-IN" sz="1500"/>
                    </a:p>
                  </a:txBody>
                  <a:tcPr marL="75433" marR="75433" marT="37716" marB="37716" anchor="ctr">
                    <a:lnL>
                      <a:noFill/>
                    </a:lnL>
                    <a:lnR>
                      <a:noFill/>
                    </a:lnR>
                    <a:lnT>
                      <a:noFill/>
                    </a:lnT>
                    <a:lnB>
                      <a:noFill/>
                    </a:lnB>
                    <a:noFill/>
                  </a:tcPr>
                </a:tc>
                <a:tc>
                  <a:txBody>
                    <a:bodyPr/>
                    <a:lstStyle/>
                    <a:p>
                      <a:r>
                        <a:rPr lang="en-IN" sz="1500" b="1" dirty="0"/>
                        <a:t>Quantitative Analysis</a:t>
                      </a:r>
                      <a:endParaRPr lang="en-IN" sz="1500" dirty="0"/>
                    </a:p>
                  </a:txBody>
                  <a:tcPr marL="75433" marR="75433" marT="37716" marB="37716" anchor="ctr">
                    <a:lnL>
                      <a:noFill/>
                    </a:lnL>
                    <a:lnR>
                      <a:noFill/>
                    </a:lnR>
                    <a:lnT>
                      <a:noFill/>
                    </a:lnT>
                    <a:lnB>
                      <a:noFill/>
                    </a:lnB>
                    <a:noFill/>
                  </a:tcPr>
                </a:tc>
                <a:tc>
                  <a:txBody>
                    <a:bodyPr/>
                    <a:lstStyle/>
                    <a:p>
                      <a:r>
                        <a:rPr lang="en-IN" sz="1500" b="1"/>
                        <a:t>Qualitative Analysis</a:t>
                      </a:r>
                      <a:endParaRPr lang="en-IN" sz="1500"/>
                    </a:p>
                  </a:txBody>
                  <a:tcPr marL="75433" marR="75433" marT="37716" marB="37716" anchor="ctr">
                    <a:lnL>
                      <a:noFill/>
                    </a:lnL>
                    <a:lnR>
                      <a:noFill/>
                    </a:lnR>
                    <a:lnT>
                      <a:noFill/>
                    </a:lnT>
                    <a:lnB>
                      <a:noFill/>
                    </a:lnB>
                    <a:noFill/>
                  </a:tcPr>
                </a:tc>
                <a:extLst>
                  <a:ext uri="{0D108BD9-81ED-4DB2-BD59-A6C34878D82A}">
                    <a16:rowId xmlns:a16="http://schemas.microsoft.com/office/drawing/2014/main" val="3525528669"/>
                  </a:ext>
                </a:extLst>
              </a:tr>
              <a:tr h="528029">
                <a:tc>
                  <a:txBody>
                    <a:bodyPr/>
                    <a:lstStyle/>
                    <a:p>
                      <a:r>
                        <a:rPr lang="en-IN" sz="1500" b="1"/>
                        <a:t>Depth of Insight</a:t>
                      </a:r>
                      <a:endParaRPr lang="en-IN" sz="1500"/>
                    </a:p>
                  </a:txBody>
                  <a:tcPr marL="75433" marR="75433" marT="37716" marB="37716" anchor="ctr">
                    <a:lnL>
                      <a:noFill/>
                    </a:lnL>
                    <a:lnR>
                      <a:noFill/>
                    </a:lnR>
                    <a:lnT>
                      <a:noFill/>
                    </a:lnT>
                    <a:lnB>
                      <a:noFill/>
                    </a:lnB>
                    <a:noFill/>
                  </a:tcPr>
                </a:tc>
                <a:tc>
                  <a:txBody>
                    <a:bodyPr/>
                    <a:lstStyle/>
                    <a:p>
                      <a:r>
                        <a:rPr lang="en-US" sz="1500"/>
                        <a:t>Does not capture in-depth context or subjective meanings</a:t>
                      </a:r>
                    </a:p>
                  </a:txBody>
                  <a:tcPr marL="75433" marR="75433" marT="37716" marB="37716" anchor="ctr">
                    <a:lnL>
                      <a:noFill/>
                    </a:lnL>
                    <a:lnR>
                      <a:noFill/>
                    </a:lnR>
                    <a:lnT>
                      <a:noFill/>
                    </a:lnT>
                    <a:lnB>
                      <a:noFill/>
                    </a:lnB>
                    <a:noFill/>
                  </a:tcPr>
                </a:tc>
                <a:tc>
                  <a:txBody>
                    <a:bodyPr/>
                    <a:lstStyle/>
                    <a:p>
                      <a:r>
                        <a:rPr lang="en-US" sz="1500"/>
                        <a:t>Provides depth but may lack breadth</a:t>
                      </a:r>
                    </a:p>
                  </a:txBody>
                  <a:tcPr marL="75433" marR="75433" marT="37716" marB="37716" anchor="ctr">
                    <a:lnL>
                      <a:noFill/>
                    </a:lnL>
                    <a:lnR>
                      <a:noFill/>
                    </a:lnR>
                    <a:lnT>
                      <a:noFill/>
                    </a:lnT>
                    <a:lnB>
                      <a:noFill/>
                    </a:lnB>
                    <a:noFill/>
                  </a:tcPr>
                </a:tc>
                <a:extLst>
                  <a:ext uri="{0D108BD9-81ED-4DB2-BD59-A6C34878D82A}">
                    <a16:rowId xmlns:a16="http://schemas.microsoft.com/office/drawing/2014/main" val="4064692598"/>
                  </a:ext>
                </a:extLst>
              </a:tr>
              <a:tr h="528029">
                <a:tc>
                  <a:txBody>
                    <a:bodyPr/>
                    <a:lstStyle/>
                    <a:p>
                      <a:r>
                        <a:rPr lang="en-IN" sz="1500" b="1"/>
                        <a:t>Understanding Underlying Causes</a:t>
                      </a:r>
                      <a:endParaRPr lang="en-IN" sz="1500"/>
                    </a:p>
                  </a:txBody>
                  <a:tcPr marL="75433" marR="75433" marT="37716" marB="37716" anchor="ctr">
                    <a:lnL>
                      <a:noFill/>
                    </a:lnL>
                    <a:lnR>
                      <a:noFill/>
                    </a:lnR>
                    <a:lnT>
                      <a:noFill/>
                    </a:lnT>
                    <a:lnB>
                      <a:noFill/>
                    </a:lnB>
                    <a:noFill/>
                  </a:tcPr>
                </a:tc>
                <a:tc>
                  <a:txBody>
                    <a:bodyPr/>
                    <a:lstStyle/>
                    <a:p>
                      <a:r>
                        <a:rPr lang="en-US" sz="1500" dirty="0"/>
                        <a:t>May overlook underlying causes due to reliance on numerical data</a:t>
                      </a:r>
                    </a:p>
                  </a:txBody>
                  <a:tcPr marL="75433" marR="75433" marT="37716" marB="37716" anchor="ctr">
                    <a:lnL>
                      <a:noFill/>
                    </a:lnL>
                    <a:lnR>
                      <a:noFill/>
                    </a:lnR>
                    <a:lnT>
                      <a:noFill/>
                    </a:lnT>
                    <a:lnB>
                      <a:noFill/>
                    </a:lnB>
                    <a:noFill/>
                  </a:tcPr>
                </a:tc>
                <a:tc>
                  <a:txBody>
                    <a:bodyPr/>
                    <a:lstStyle/>
                    <a:p>
                      <a:r>
                        <a:rPr lang="en-US" sz="1500"/>
                        <a:t>Explores causes deeply, but interpretation can be subjective</a:t>
                      </a:r>
                    </a:p>
                  </a:txBody>
                  <a:tcPr marL="75433" marR="75433" marT="37716" marB="37716" anchor="ctr">
                    <a:lnL>
                      <a:noFill/>
                    </a:lnL>
                    <a:lnR>
                      <a:noFill/>
                    </a:lnR>
                    <a:lnT>
                      <a:noFill/>
                    </a:lnT>
                    <a:lnB>
                      <a:noFill/>
                    </a:lnB>
                    <a:noFill/>
                  </a:tcPr>
                </a:tc>
                <a:extLst>
                  <a:ext uri="{0D108BD9-81ED-4DB2-BD59-A6C34878D82A}">
                    <a16:rowId xmlns:a16="http://schemas.microsoft.com/office/drawing/2014/main" val="2969703877"/>
                  </a:ext>
                </a:extLst>
              </a:tr>
              <a:tr h="528029">
                <a:tc>
                  <a:txBody>
                    <a:bodyPr/>
                    <a:lstStyle/>
                    <a:p>
                      <a:r>
                        <a:rPr lang="en-IN" sz="1500" b="1"/>
                        <a:t>Design Requirements</a:t>
                      </a:r>
                      <a:endParaRPr lang="en-IN" sz="1500"/>
                    </a:p>
                  </a:txBody>
                  <a:tcPr marL="75433" marR="75433" marT="37716" marB="37716" anchor="ctr">
                    <a:lnL>
                      <a:noFill/>
                    </a:lnL>
                    <a:lnR>
                      <a:noFill/>
                    </a:lnR>
                    <a:lnT>
                      <a:noFill/>
                    </a:lnT>
                    <a:lnB>
                      <a:noFill/>
                    </a:lnB>
                    <a:noFill/>
                  </a:tcPr>
                </a:tc>
                <a:tc>
                  <a:txBody>
                    <a:bodyPr/>
                    <a:lstStyle/>
                    <a:p>
                      <a:r>
                        <a:rPr lang="en-US" sz="1500"/>
                        <a:t>Requires careful design to minimize bias and ensure validity</a:t>
                      </a:r>
                    </a:p>
                  </a:txBody>
                  <a:tcPr marL="75433" marR="75433" marT="37716" marB="37716" anchor="ctr">
                    <a:lnL>
                      <a:noFill/>
                    </a:lnL>
                    <a:lnR>
                      <a:noFill/>
                    </a:lnR>
                    <a:lnT>
                      <a:noFill/>
                    </a:lnT>
                    <a:lnB>
                      <a:noFill/>
                    </a:lnB>
                    <a:noFill/>
                  </a:tcPr>
                </a:tc>
                <a:tc>
                  <a:txBody>
                    <a:bodyPr/>
                    <a:lstStyle/>
                    <a:p>
                      <a:r>
                        <a:rPr lang="en-US" sz="1500"/>
                        <a:t>Emergent designs can be flexible but harder to control for bias</a:t>
                      </a:r>
                    </a:p>
                  </a:txBody>
                  <a:tcPr marL="75433" marR="75433" marT="37716" marB="37716" anchor="ctr">
                    <a:lnL>
                      <a:noFill/>
                    </a:lnL>
                    <a:lnR>
                      <a:noFill/>
                    </a:lnR>
                    <a:lnT>
                      <a:noFill/>
                    </a:lnT>
                    <a:lnB>
                      <a:noFill/>
                    </a:lnB>
                    <a:noFill/>
                  </a:tcPr>
                </a:tc>
                <a:extLst>
                  <a:ext uri="{0D108BD9-81ED-4DB2-BD59-A6C34878D82A}">
                    <a16:rowId xmlns:a16="http://schemas.microsoft.com/office/drawing/2014/main" val="1874188588"/>
                  </a:ext>
                </a:extLst>
              </a:tr>
              <a:tr h="528029">
                <a:tc>
                  <a:txBody>
                    <a:bodyPr/>
                    <a:lstStyle/>
                    <a:p>
                      <a:r>
                        <a:rPr lang="en-IN" sz="1500" b="1"/>
                        <a:t>Interpretation Challenges</a:t>
                      </a:r>
                      <a:endParaRPr lang="en-IN" sz="1500"/>
                    </a:p>
                  </a:txBody>
                  <a:tcPr marL="75433" marR="75433" marT="37716" marB="37716" anchor="ctr">
                    <a:lnL>
                      <a:noFill/>
                    </a:lnL>
                    <a:lnR>
                      <a:noFill/>
                    </a:lnR>
                    <a:lnT>
                      <a:noFill/>
                    </a:lnT>
                    <a:lnB>
                      <a:noFill/>
                    </a:lnB>
                    <a:noFill/>
                  </a:tcPr>
                </a:tc>
                <a:tc>
                  <a:txBody>
                    <a:bodyPr/>
                    <a:lstStyle/>
                    <a:p>
                      <a:r>
                        <a:rPr lang="en-US" sz="1500" dirty="0"/>
                        <a:t>Depends on statistical knowledge for accurate interpretation</a:t>
                      </a:r>
                    </a:p>
                  </a:txBody>
                  <a:tcPr marL="75433" marR="75433" marT="37716" marB="37716" anchor="ctr">
                    <a:lnL>
                      <a:noFill/>
                    </a:lnL>
                    <a:lnR>
                      <a:noFill/>
                    </a:lnR>
                    <a:lnT>
                      <a:noFill/>
                    </a:lnT>
                    <a:lnB>
                      <a:noFill/>
                    </a:lnB>
                    <a:noFill/>
                  </a:tcPr>
                </a:tc>
                <a:tc>
                  <a:txBody>
                    <a:bodyPr/>
                    <a:lstStyle/>
                    <a:p>
                      <a:r>
                        <a:rPr lang="en-US" sz="1500"/>
                        <a:t>Requires strong interpretive skills and reflexivity</a:t>
                      </a:r>
                    </a:p>
                  </a:txBody>
                  <a:tcPr marL="75433" marR="75433" marT="37716" marB="37716" anchor="ctr">
                    <a:lnL>
                      <a:noFill/>
                    </a:lnL>
                    <a:lnR>
                      <a:noFill/>
                    </a:lnR>
                    <a:lnT>
                      <a:noFill/>
                    </a:lnT>
                    <a:lnB>
                      <a:noFill/>
                    </a:lnB>
                    <a:noFill/>
                  </a:tcPr>
                </a:tc>
                <a:extLst>
                  <a:ext uri="{0D108BD9-81ED-4DB2-BD59-A6C34878D82A}">
                    <a16:rowId xmlns:a16="http://schemas.microsoft.com/office/drawing/2014/main" val="35036802"/>
                  </a:ext>
                </a:extLst>
              </a:tr>
              <a:tr h="528029">
                <a:tc>
                  <a:txBody>
                    <a:bodyPr/>
                    <a:lstStyle/>
                    <a:p>
                      <a:r>
                        <a:rPr lang="en-IN" sz="1500" b="1"/>
                        <a:t>Time and Resources</a:t>
                      </a:r>
                      <a:endParaRPr lang="en-IN" sz="1500"/>
                    </a:p>
                  </a:txBody>
                  <a:tcPr marL="75433" marR="75433" marT="37716" marB="37716" anchor="ctr">
                    <a:lnL>
                      <a:noFill/>
                    </a:lnL>
                    <a:lnR>
                      <a:noFill/>
                    </a:lnR>
                    <a:lnT>
                      <a:noFill/>
                    </a:lnT>
                    <a:lnB>
                      <a:noFill/>
                    </a:lnB>
                    <a:noFill/>
                  </a:tcPr>
                </a:tc>
                <a:tc>
                  <a:txBody>
                    <a:bodyPr/>
                    <a:lstStyle/>
                    <a:p>
                      <a:r>
                        <a:rPr lang="en-US" sz="1500"/>
                        <a:t>Often faster to collect and analyze (especially with software)</a:t>
                      </a:r>
                    </a:p>
                  </a:txBody>
                  <a:tcPr marL="75433" marR="75433" marT="37716" marB="37716" anchor="ctr">
                    <a:lnL>
                      <a:noFill/>
                    </a:lnL>
                    <a:lnR>
                      <a:noFill/>
                    </a:lnR>
                    <a:lnT>
                      <a:noFill/>
                    </a:lnT>
                    <a:lnB>
                      <a:noFill/>
                    </a:lnB>
                    <a:noFill/>
                  </a:tcPr>
                </a:tc>
                <a:tc>
                  <a:txBody>
                    <a:bodyPr/>
                    <a:lstStyle/>
                    <a:p>
                      <a:r>
                        <a:rPr lang="en-US" sz="1500"/>
                        <a:t>Time-consuming and resource-intensive (e.g., transcription, coding)</a:t>
                      </a:r>
                    </a:p>
                  </a:txBody>
                  <a:tcPr marL="75433" marR="75433" marT="37716" marB="37716" anchor="ctr">
                    <a:lnL>
                      <a:noFill/>
                    </a:lnL>
                    <a:lnR>
                      <a:noFill/>
                    </a:lnR>
                    <a:lnT>
                      <a:noFill/>
                    </a:lnT>
                    <a:lnB>
                      <a:noFill/>
                    </a:lnB>
                    <a:noFill/>
                  </a:tcPr>
                </a:tc>
                <a:extLst>
                  <a:ext uri="{0D108BD9-81ED-4DB2-BD59-A6C34878D82A}">
                    <a16:rowId xmlns:a16="http://schemas.microsoft.com/office/drawing/2014/main" val="3747909151"/>
                  </a:ext>
                </a:extLst>
              </a:tr>
              <a:tr h="528029">
                <a:tc>
                  <a:txBody>
                    <a:bodyPr/>
                    <a:lstStyle/>
                    <a:p>
                      <a:r>
                        <a:rPr lang="en-IN" sz="1500" b="1"/>
                        <a:t>Generalizability</a:t>
                      </a:r>
                      <a:endParaRPr lang="en-IN" sz="1500"/>
                    </a:p>
                  </a:txBody>
                  <a:tcPr marL="75433" marR="75433" marT="37716" marB="37716" anchor="ctr">
                    <a:lnL>
                      <a:noFill/>
                    </a:lnL>
                    <a:lnR>
                      <a:noFill/>
                    </a:lnR>
                    <a:lnT>
                      <a:noFill/>
                    </a:lnT>
                    <a:lnB>
                      <a:noFill/>
                    </a:lnB>
                    <a:noFill/>
                  </a:tcPr>
                </a:tc>
                <a:tc>
                  <a:txBody>
                    <a:bodyPr/>
                    <a:lstStyle/>
                    <a:p>
                      <a:r>
                        <a:rPr lang="en-US" sz="1500" dirty="0"/>
                        <a:t>Enables broad generalizations from large samples</a:t>
                      </a:r>
                    </a:p>
                  </a:txBody>
                  <a:tcPr marL="75433" marR="75433" marT="37716" marB="37716" anchor="ctr">
                    <a:lnL>
                      <a:noFill/>
                    </a:lnL>
                    <a:lnR>
                      <a:noFill/>
                    </a:lnR>
                    <a:lnT>
                      <a:noFill/>
                    </a:lnT>
                    <a:lnB>
                      <a:noFill/>
                    </a:lnB>
                    <a:noFill/>
                  </a:tcPr>
                </a:tc>
                <a:tc>
                  <a:txBody>
                    <a:bodyPr/>
                    <a:lstStyle/>
                    <a:p>
                      <a:r>
                        <a:rPr lang="en-US" sz="1500"/>
                        <a:t>Smaller sample sizes limit generalizability</a:t>
                      </a:r>
                    </a:p>
                  </a:txBody>
                  <a:tcPr marL="75433" marR="75433" marT="37716" marB="37716" anchor="ctr">
                    <a:lnL>
                      <a:noFill/>
                    </a:lnL>
                    <a:lnR>
                      <a:noFill/>
                    </a:lnR>
                    <a:lnT>
                      <a:noFill/>
                    </a:lnT>
                    <a:lnB>
                      <a:noFill/>
                    </a:lnB>
                    <a:noFill/>
                  </a:tcPr>
                </a:tc>
                <a:extLst>
                  <a:ext uri="{0D108BD9-81ED-4DB2-BD59-A6C34878D82A}">
                    <a16:rowId xmlns:a16="http://schemas.microsoft.com/office/drawing/2014/main" val="2557138739"/>
                  </a:ext>
                </a:extLst>
              </a:tr>
              <a:tr h="528029">
                <a:tc>
                  <a:txBody>
                    <a:bodyPr/>
                    <a:lstStyle/>
                    <a:p>
                      <a:r>
                        <a:rPr lang="en-IN" sz="1500" b="1"/>
                        <a:t>Standardization</a:t>
                      </a:r>
                      <a:endParaRPr lang="en-IN" sz="1500"/>
                    </a:p>
                  </a:txBody>
                  <a:tcPr marL="75433" marR="75433" marT="37716" marB="37716" anchor="ctr">
                    <a:lnL>
                      <a:noFill/>
                    </a:lnL>
                    <a:lnR>
                      <a:noFill/>
                    </a:lnR>
                    <a:lnT>
                      <a:noFill/>
                    </a:lnT>
                    <a:lnB>
                      <a:noFill/>
                    </a:lnB>
                    <a:noFill/>
                  </a:tcPr>
                </a:tc>
                <a:tc>
                  <a:txBody>
                    <a:bodyPr/>
                    <a:lstStyle/>
                    <a:p>
                      <a:r>
                        <a:rPr lang="en-US" sz="1500"/>
                        <a:t>Highly standardized methods, easy to replicate</a:t>
                      </a:r>
                    </a:p>
                  </a:txBody>
                  <a:tcPr marL="75433" marR="75433" marT="37716" marB="37716" anchor="ctr">
                    <a:lnL>
                      <a:noFill/>
                    </a:lnL>
                    <a:lnR>
                      <a:noFill/>
                    </a:lnR>
                    <a:lnT>
                      <a:noFill/>
                    </a:lnT>
                    <a:lnB>
                      <a:noFill/>
                    </a:lnB>
                    <a:noFill/>
                  </a:tcPr>
                </a:tc>
                <a:tc>
                  <a:txBody>
                    <a:bodyPr/>
                    <a:lstStyle/>
                    <a:p>
                      <a:r>
                        <a:rPr lang="en-US" sz="1500"/>
                        <a:t>Analysis is complex and harder to standardize or replicate</a:t>
                      </a:r>
                    </a:p>
                  </a:txBody>
                  <a:tcPr marL="75433" marR="75433" marT="37716" marB="37716" anchor="ctr">
                    <a:lnL>
                      <a:noFill/>
                    </a:lnL>
                    <a:lnR>
                      <a:noFill/>
                    </a:lnR>
                    <a:lnT>
                      <a:noFill/>
                    </a:lnT>
                    <a:lnB>
                      <a:noFill/>
                    </a:lnB>
                    <a:noFill/>
                  </a:tcPr>
                </a:tc>
                <a:extLst>
                  <a:ext uri="{0D108BD9-81ED-4DB2-BD59-A6C34878D82A}">
                    <a16:rowId xmlns:a16="http://schemas.microsoft.com/office/drawing/2014/main" val="3358076071"/>
                  </a:ext>
                </a:extLst>
              </a:tr>
              <a:tr h="528029">
                <a:tc>
                  <a:txBody>
                    <a:bodyPr/>
                    <a:lstStyle/>
                    <a:p>
                      <a:r>
                        <a:rPr lang="en-IN" sz="1500" b="1"/>
                        <a:t>Risk of Bias</a:t>
                      </a:r>
                      <a:endParaRPr lang="en-IN" sz="1500"/>
                    </a:p>
                  </a:txBody>
                  <a:tcPr marL="75433" marR="75433" marT="37716" marB="37716" anchor="ctr">
                    <a:lnL>
                      <a:noFill/>
                    </a:lnL>
                    <a:lnR>
                      <a:noFill/>
                    </a:lnR>
                    <a:lnT>
                      <a:noFill/>
                    </a:lnT>
                    <a:lnB>
                      <a:noFill/>
                    </a:lnB>
                    <a:noFill/>
                  </a:tcPr>
                </a:tc>
                <a:tc>
                  <a:txBody>
                    <a:bodyPr/>
                    <a:lstStyle/>
                    <a:p>
                      <a:r>
                        <a:rPr lang="en-US" sz="1500"/>
                        <a:t>Risk of statistical misinterpretation or data misuse</a:t>
                      </a:r>
                    </a:p>
                  </a:txBody>
                  <a:tcPr marL="75433" marR="75433" marT="37716" marB="37716" anchor="ctr">
                    <a:lnL>
                      <a:noFill/>
                    </a:lnL>
                    <a:lnR>
                      <a:noFill/>
                    </a:lnR>
                    <a:lnT>
                      <a:noFill/>
                    </a:lnT>
                    <a:lnB>
                      <a:noFill/>
                    </a:lnB>
                    <a:noFill/>
                  </a:tcPr>
                </a:tc>
                <a:tc>
                  <a:txBody>
                    <a:bodyPr/>
                    <a:lstStyle/>
                    <a:p>
                      <a:r>
                        <a:rPr lang="en-US" sz="1500" dirty="0"/>
                        <a:t>Researcher bias may influence coding and interpretation</a:t>
                      </a:r>
                    </a:p>
                  </a:txBody>
                  <a:tcPr marL="75433" marR="75433" marT="37716" marB="37716" anchor="ctr">
                    <a:lnL>
                      <a:noFill/>
                    </a:lnL>
                    <a:lnR>
                      <a:noFill/>
                    </a:lnR>
                    <a:lnT>
                      <a:noFill/>
                    </a:lnT>
                    <a:lnB>
                      <a:noFill/>
                    </a:lnB>
                    <a:noFill/>
                  </a:tcPr>
                </a:tc>
                <a:extLst>
                  <a:ext uri="{0D108BD9-81ED-4DB2-BD59-A6C34878D82A}">
                    <a16:rowId xmlns:a16="http://schemas.microsoft.com/office/drawing/2014/main" val="2546111779"/>
                  </a:ext>
                </a:extLst>
              </a:tr>
            </a:tbl>
          </a:graphicData>
        </a:graphic>
      </p:graphicFrame>
    </p:spTree>
    <p:extLst>
      <p:ext uri="{BB962C8B-B14F-4D97-AF65-F5344CB8AC3E}">
        <p14:creationId xmlns:p14="http://schemas.microsoft.com/office/powerpoint/2010/main" val="2601237679"/>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ctrTitle"/>
          </p:nvPr>
        </p:nvSpPr>
        <p:spPr>
          <a:xfrm>
            <a:off x="18152" y="4077072"/>
            <a:ext cx="12192000" cy="821953"/>
          </a:xfrm>
        </p:spPr>
        <p:txBody>
          <a:bodyPr/>
          <a:lstStyle/>
          <a:p>
            <a:r>
              <a:rPr lang="de-DE" dirty="0"/>
              <a:t>Thanks for Listening...</a:t>
            </a:r>
          </a:p>
        </p:txBody>
      </p:sp>
    </p:spTree>
  </p:cSld>
  <p:clrMapOvr>
    <a:masterClrMapping/>
  </p:clrMapOvr>
  <p:transition>
    <p:fade/>
  </p:transition>
</p:sld>
</file>

<file path=ppt/theme/theme1.xml><?xml version="1.0" encoding="utf-8"?>
<a:theme xmlns:a="http://schemas.openxmlformats.org/drawingml/2006/main" name="LightsOn">
  <a:themeElements>
    <a:clrScheme name="Purple_Moving_Lights">
      <a:dk1>
        <a:srgbClr val="3C3C3C"/>
      </a:dk1>
      <a:lt1>
        <a:srgbClr val="64645A"/>
      </a:lt1>
      <a:dk2>
        <a:srgbClr val="FFFFF0"/>
      </a:dk2>
      <a:lt2>
        <a:srgbClr val="D2D2BE"/>
      </a:lt2>
      <a:accent1>
        <a:srgbClr val="781955"/>
      </a:accent1>
      <a:accent2>
        <a:srgbClr val="E696D2"/>
      </a:accent2>
      <a:accent3>
        <a:srgbClr val="1E4F56"/>
      </a:accent3>
      <a:accent4>
        <a:srgbClr val="647300"/>
      </a:accent4>
      <a:accent5>
        <a:srgbClr val="DCB4D2"/>
      </a:accent5>
      <a:accent6>
        <a:srgbClr val="005064"/>
      </a:accent6>
      <a:hlink>
        <a:srgbClr val="647300"/>
      </a:hlink>
      <a:folHlink>
        <a:srgbClr val="0A466E"/>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14187</TotalTime>
  <Words>8643</Words>
  <Application>Microsoft Office PowerPoint</Application>
  <PresentationFormat>Widescreen</PresentationFormat>
  <Paragraphs>909</Paragraphs>
  <Slides>100</Slides>
  <Notes>89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Arial</vt:lpstr>
      <vt:lpstr>Arial Black</vt:lpstr>
      <vt:lpstr>Calibri</vt:lpstr>
      <vt:lpstr>Tahoma</vt:lpstr>
      <vt:lpstr>Times New Roman</vt:lpstr>
      <vt:lpstr>Wingdings</vt:lpstr>
      <vt:lpstr>LightsOn</vt:lpstr>
      <vt:lpstr>PowerPoint Presentation</vt:lpstr>
      <vt:lpstr>Unit 2: Research Process Model</vt:lpstr>
      <vt:lpstr>Unit 2: Research Process Model</vt:lpstr>
      <vt:lpstr>Unit 2: Research Process Model</vt:lpstr>
      <vt:lpstr>Unit I Introduction Personal Experiences and Motivation</vt:lpstr>
      <vt:lpstr>Unit I Introduction Literature Review</vt:lpstr>
      <vt:lpstr>Unit I Introduction Purpose and objectives of a literature review </vt:lpstr>
      <vt:lpstr>Unit I Introduction Purpose and objectives of a literature review </vt:lpstr>
      <vt:lpstr>Unit I Introduction Purpose and objectives of a literature review </vt:lpstr>
      <vt:lpstr>Unit I Introduction Literature resources</vt:lpstr>
      <vt:lpstr>Unit I Introduction Literature resources</vt:lpstr>
      <vt:lpstr>Unit I Introduction Conducting a literature review </vt:lpstr>
      <vt:lpstr>Literature Review</vt:lpstr>
      <vt:lpstr>Purpose and objectives of a literature review </vt:lpstr>
      <vt:lpstr>Purpose and objectives of a literature review </vt:lpstr>
      <vt:lpstr>Purpose and objectives of a literature review </vt:lpstr>
      <vt:lpstr>Expectations of Scholars</vt:lpstr>
      <vt:lpstr>Expectations of Scholars</vt:lpstr>
      <vt:lpstr>Expectations of Scholars</vt:lpstr>
      <vt:lpstr>Expectations of Scholars</vt:lpstr>
      <vt:lpstr>Relationship of Review of Literature to Theory, Research, Education and Practice</vt:lpstr>
      <vt:lpstr>Literature resources</vt:lpstr>
      <vt:lpstr>Literature resources</vt:lpstr>
      <vt:lpstr>Conducting a literature review </vt:lpstr>
      <vt:lpstr>Steps to Write Literature Review</vt:lpstr>
      <vt:lpstr>Steps to Write Literature Review</vt:lpstr>
      <vt:lpstr>Steps to Write Literature Review</vt:lpstr>
      <vt:lpstr>Digging Into the Literature</vt:lpstr>
      <vt:lpstr>Digging Into the Literature</vt:lpstr>
      <vt:lpstr>Digging Into the Literature</vt:lpstr>
      <vt:lpstr>Digging Into the Literature – How?</vt:lpstr>
      <vt:lpstr>PowerPoint Presentation</vt:lpstr>
      <vt:lpstr>Overview of the Process</vt:lpstr>
      <vt:lpstr>PowerPoint Presentation</vt:lpstr>
      <vt:lpstr>PowerPoint Presentation</vt:lpstr>
      <vt:lpstr>PowerPoint Presentation</vt:lpstr>
      <vt:lpstr>Overview of the Process</vt:lpstr>
      <vt:lpstr>The Synthesis Matrix</vt:lpstr>
      <vt:lpstr>Steps of Searching the Literature</vt:lpstr>
      <vt:lpstr>Some techniques for Literature Review</vt:lpstr>
      <vt:lpstr>Some techniques for Literature Review</vt:lpstr>
      <vt:lpstr>Some techniques for Literature Review</vt:lpstr>
      <vt:lpstr>Some techniques for Literature Review</vt:lpstr>
      <vt:lpstr>Some techniques for Literature Review</vt:lpstr>
      <vt:lpstr>Some techniques for Literature Review</vt:lpstr>
      <vt:lpstr>Citation and its types</vt:lpstr>
      <vt:lpstr>Citation and its types</vt:lpstr>
      <vt:lpstr>Citation and its types</vt:lpstr>
      <vt:lpstr>Citation and its types</vt:lpstr>
      <vt:lpstr>Common Citation Styles</vt:lpstr>
      <vt:lpstr>Common Citation Styles</vt:lpstr>
      <vt:lpstr>Common Citation Styles</vt:lpstr>
      <vt:lpstr>IEEE (Institute of Electrical and Electronics Engineers)</vt:lpstr>
      <vt:lpstr>IEEE (Institute of Electrical and Electronics Engineers)</vt:lpstr>
      <vt:lpstr>IEEE (Institute of Electrical and Electronics Engineers)</vt:lpstr>
      <vt:lpstr>IEEE (Institute of Electrical and Electronics Engineers)</vt:lpstr>
      <vt:lpstr>IEEE (Institute of Electrical and Electronics Engineers)</vt:lpstr>
      <vt:lpstr>IEEE (Institute of Electrical and Electronics Engineers)</vt:lpstr>
      <vt:lpstr>Plagiarism</vt:lpstr>
      <vt:lpstr>Plagiarism</vt:lpstr>
      <vt:lpstr>Plagiarism</vt:lpstr>
      <vt:lpstr>Plagiarism</vt:lpstr>
      <vt:lpstr>Preventing Plagiarism </vt:lpstr>
      <vt:lpstr>Research Questions</vt:lpstr>
      <vt:lpstr>Research Questions</vt:lpstr>
      <vt:lpstr>Research Questions</vt:lpstr>
      <vt:lpstr>Conceptual Framework</vt:lpstr>
      <vt:lpstr>Conceptual Framework</vt:lpstr>
      <vt:lpstr>Strategies</vt:lpstr>
      <vt:lpstr>Strategies</vt:lpstr>
      <vt:lpstr>Strategies</vt:lpstr>
      <vt:lpstr>Strategies</vt:lpstr>
      <vt:lpstr>Data Generation Methods</vt:lpstr>
      <vt:lpstr>Data Generation Methods</vt:lpstr>
      <vt:lpstr>Data Generation Methods</vt:lpstr>
      <vt:lpstr>Data Generation Methods</vt:lpstr>
      <vt:lpstr>Data Generation Methods</vt:lpstr>
      <vt:lpstr>Types of Triangulation in a research project</vt:lpstr>
      <vt:lpstr>Types of Triangulation in a research project</vt:lpstr>
      <vt:lpstr>Qualitative Data</vt:lpstr>
      <vt:lpstr>Types of Qualitative Data</vt:lpstr>
      <vt:lpstr>Types of Qualitative Data</vt:lpstr>
      <vt:lpstr>Qualitative Data Analysis</vt:lpstr>
      <vt:lpstr>Qualitative Data Analysis</vt:lpstr>
      <vt:lpstr>Quantitative Data</vt:lpstr>
      <vt:lpstr>Quantitative Data</vt:lpstr>
      <vt:lpstr>Quantitative Data</vt:lpstr>
      <vt:lpstr>Types of Quantitative Data</vt:lpstr>
      <vt:lpstr>Types of Quantitative Data</vt:lpstr>
      <vt:lpstr>Quantitative Data Analysis</vt:lpstr>
      <vt:lpstr>Quantitative Data</vt:lpstr>
      <vt:lpstr>Quantitative Data Analysis</vt:lpstr>
      <vt:lpstr>Quantitative Data Analysis</vt:lpstr>
      <vt:lpstr>Quantitative Data Analysis</vt:lpstr>
      <vt:lpstr>Quantitative Data Analysis</vt:lpstr>
      <vt:lpstr>Quantitative Data Analysis</vt:lpstr>
      <vt:lpstr>Quantitative Data Analysis</vt:lpstr>
      <vt:lpstr>Limitations of Quantitative Qualitative Data Analysis </vt:lpstr>
      <vt:lpstr>Limitations of Quantitative Qualitative Data Analysis </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booboo</dc:creator>
  <cp:lastModifiedBy>Prem Bahadur KC</cp:lastModifiedBy>
  <cp:revision>279</cp:revision>
  <dcterms:created xsi:type="dcterms:W3CDTF">2011-04-28T14:24:50Z</dcterms:created>
  <dcterms:modified xsi:type="dcterms:W3CDTF">2025-12-21T05:58:51Z</dcterms:modified>
</cp:coreProperties>
</file>