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0" r:id="rId3"/>
    <p:sldId id="295" r:id="rId4"/>
    <p:sldId id="385" r:id="rId5"/>
    <p:sldId id="386" r:id="rId6"/>
    <p:sldId id="387" r:id="rId7"/>
    <p:sldId id="388" r:id="rId8"/>
    <p:sldId id="391" r:id="rId9"/>
    <p:sldId id="390" r:id="rId10"/>
    <p:sldId id="393" r:id="rId11"/>
    <p:sldId id="396" r:id="rId12"/>
    <p:sldId id="397" r:id="rId13"/>
    <p:sldId id="399" r:id="rId14"/>
    <p:sldId id="400" r:id="rId15"/>
    <p:sldId id="401" r:id="rId16"/>
    <p:sldId id="403" r:id="rId17"/>
    <p:sldId id="402" r:id="rId18"/>
    <p:sldId id="404" r:id="rId19"/>
    <p:sldId id="406" r:id="rId20"/>
    <p:sldId id="407" r:id="rId21"/>
    <p:sldId id="408" r:id="rId22"/>
    <p:sldId id="411" r:id="rId23"/>
    <p:sldId id="409" r:id="rId24"/>
    <p:sldId id="410" r:id="rId25"/>
    <p:sldId id="271" r:id="rId26"/>
    <p:sldId id="259" r:id="rId2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019" autoAdjust="0"/>
    <p:restoredTop sz="94660"/>
  </p:normalViewPr>
  <p:slideViewPr>
    <p:cSldViewPr showGuides="1">
      <p:cViewPr varScale="1">
        <p:scale>
          <a:sx n="82" d="100"/>
          <a:sy n="82" d="100"/>
        </p:scale>
        <p:origin x="211" y="58"/>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showGuides="1">
      <p:cViewPr varScale="1">
        <p:scale>
          <a:sx n="96" d="100"/>
          <a:sy n="96" d="100"/>
        </p:scale>
        <p:origin x="-3606"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5F88E8-A384-43EF-AD47-7131EA31A48D}" type="datetimeFigureOut">
              <a:rPr lang="de-DE" smtClean="0"/>
              <a:pPr/>
              <a:t>28.12.2025</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D75B27-EA39-4F13-BC45-9C0ECB6C1EEB}" type="slidenum">
              <a:rPr lang="de-DE" smtClean="0"/>
              <a:pPr/>
              <a:t>‹#›</a:t>
            </a:fld>
            <a:endParaRPr lang="de-D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a:t>
            </a:fld>
            <a:endParaRPr lang="de-DE"/>
          </a:p>
        </p:txBody>
      </p:sp>
    </p:spTree>
    <p:extLst>
      <p:ext uri="{BB962C8B-B14F-4D97-AF65-F5344CB8AC3E}">
        <p14:creationId xmlns:p14="http://schemas.microsoft.com/office/powerpoint/2010/main" val="3508979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3</a:t>
            </a:fld>
            <a:endParaRPr lang="de-DE"/>
          </a:p>
        </p:txBody>
      </p:sp>
    </p:spTree>
    <p:extLst>
      <p:ext uri="{BB962C8B-B14F-4D97-AF65-F5344CB8AC3E}">
        <p14:creationId xmlns:p14="http://schemas.microsoft.com/office/powerpoint/2010/main" val="2521125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4</a:t>
            </a:fld>
            <a:endParaRPr lang="de-DE"/>
          </a:p>
        </p:txBody>
      </p:sp>
    </p:spTree>
    <p:extLst>
      <p:ext uri="{BB962C8B-B14F-4D97-AF65-F5344CB8AC3E}">
        <p14:creationId xmlns:p14="http://schemas.microsoft.com/office/powerpoint/2010/main" val="1577862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5</a:t>
            </a:fld>
            <a:endParaRPr lang="de-DE"/>
          </a:p>
        </p:txBody>
      </p:sp>
    </p:spTree>
    <p:extLst>
      <p:ext uri="{BB962C8B-B14F-4D97-AF65-F5344CB8AC3E}">
        <p14:creationId xmlns:p14="http://schemas.microsoft.com/office/powerpoint/2010/main" val="2977997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6</a:t>
            </a:fld>
            <a:endParaRPr lang="de-DE"/>
          </a:p>
        </p:txBody>
      </p:sp>
    </p:spTree>
    <p:extLst>
      <p:ext uri="{BB962C8B-B14F-4D97-AF65-F5344CB8AC3E}">
        <p14:creationId xmlns:p14="http://schemas.microsoft.com/office/powerpoint/2010/main" val="417512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7</a:t>
            </a:fld>
            <a:endParaRPr lang="de-DE"/>
          </a:p>
        </p:txBody>
      </p:sp>
    </p:spTree>
    <p:extLst>
      <p:ext uri="{BB962C8B-B14F-4D97-AF65-F5344CB8AC3E}">
        <p14:creationId xmlns:p14="http://schemas.microsoft.com/office/powerpoint/2010/main" val="615339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8</a:t>
            </a:fld>
            <a:endParaRPr lang="de-DE"/>
          </a:p>
        </p:txBody>
      </p:sp>
    </p:spTree>
    <p:extLst>
      <p:ext uri="{BB962C8B-B14F-4D97-AF65-F5344CB8AC3E}">
        <p14:creationId xmlns:p14="http://schemas.microsoft.com/office/powerpoint/2010/main" val="32908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9</a:t>
            </a:fld>
            <a:endParaRPr lang="de-DE"/>
          </a:p>
        </p:txBody>
      </p:sp>
    </p:spTree>
    <p:extLst>
      <p:ext uri="{BB962C8B-B14F-4D97-AF65-F5344CB8AC3E}">
        <p14:creationId xmlns:p14="http://schemas.microsoft.com/office/powerpoint/2010/main" val="31052902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10</a:t>
            </a:fld>
            <a:endParaRPr lang="de-DE"/>
          </a:p>
        </p:txBody>
      </p:sp>
    </p:spTree>
    <p:extLst>
      <p:ext uri="{BB962C8B-B14F-4D97-AF65-F5344CB8AC3E}">
        <p14:creationId xmlns:p14="http://schemas.microsoft.com/office/powerpoint/2010/main" val="2997640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11</a:t>
            </a:fld>
            <a:endParaRPr lang="de-DE"/>
          </a:p>
        </p:txBody>
      </p:sp>
    </p:spTree>
    <p:extLst>
      <p:ext uri="{BB962C8B-B14F-4D97-AF65-F5344CB8AC3E}">
        <p14:creationId xmlns:p14="http://schemas.microsoft.com/office/powerpoint/2010/main" val="1788556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12</a:t>
            </a:fld>
            <a:endParaRPr lang="de-DE"/>
          </a:p>
        </p:txBody>
      </p:sp>
    </p:spTree>
    <p:extLst>
      <p:ext uri="{BB962C8B-B14F-4D97-AF65-F5344CB8AC3E}">
        <p14:creationId xmlns:p14="http://schemas.microsoft.com/office/powerpoint/2010/main" val="3741161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13</a:t>
            </a:fld>
            <a:endParaRPr lang="de-DE"/>
          </a:p>
        </p:txBody>
      </p:sp>
    </p:spTree>
    <p:extLst>
      <p:ext uri="{BB962C8B-B14F-4D97-AF65-F5344CB8AC3E}">
        <p14:creationId xmlns:p14="http://schemas.microsoft.com/office/powerpoint/2010/main" val="42820026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14</a:t>
            </a:fld>
            <a:endParaRPr lang="de-DE"/>
          </a:p>
        </p:txBody>
      </p:sp>
    </p:spTree>
    <p:extLst>
      <p:ext uri="{BB962C8B-B14F-4D97-AF65-F5344CB8AC3E}">
        <p14:creationId xmlns:p14="http://schemas.microsoft.com/office/powerpoint/2010/main" val="511150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15</a:t>
            </a:fld>
            <a:endParaRPr lang="de-DE"/>
          </a:p>
        </p:txBody>
      </p:sp>
    </p:spTree>
    <p:extLst>
      <p:ext uri="{BB962C8B-B14F-4D97-AF65-F5344CB8AC3E}">
        <p14:creationId xmlns:p14="http://schemas.microsoft.com/office/powerpoint/2010/main" val="1607073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16</a:t>
            </a:fld>
            <a:endParaRPr lang="de-DE"/>
          </a:p>
        </p:txBody>
      </p:sp>
    </p:spTree>
    <p:extLst>
      <p:ext uri="{BB962C8B-B14F-4D97-AF65-F5344CB8AC3E}">
        <p14:creationId xmlns:p14="http://schemas.microsoft.com/office/powerpoint/2010/main" val="3856796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17</a:t>
            </a:fld>
            <a:endParaRPr lang="de-DE"/>
          </a:p>
        </p:txBody>
      </p:sp>
    </p:spTree>
    <p:extLst>
      <p:ext uri="{BB962C8B-B14F-4D97-AF65-F5344CB8AC3E}">
        <p14:creationId xmlns:p14="http://schemas.microsoft.com/office/powerpoint/2010/main" val="35390707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18</a:t>
            </a:fld>
            <a:endParaRPr lang="de-DE"/>
          </a:p>
        </p:txBody>
      </p:sp>
    </p:spTree>
    <p:extLst>
      <p:ext uri="{BB962C8B-B14F-4D97-AF65-F5344CB8AC3E}">
        <p14:creationId xmlns:p14="http://schemas.microsoft.com/office/powerpoint/2010/main" val="38653472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19</a:t>
            </a:fld>
            <a:endParaRPr lang="de-DE"/>
          </a:p>
        </p:txBody>
      </p:sp>
    </p:spTree>
    <p:extLst>
      <p:ext uri="{BB962C8B-B14F-4D97-AF65-F5344CB8AC3E}">
        <p14:creationId xmlns:p14="http://schemas.microsoft.com/office/powerpoint/2010/main" val="3057231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20</a:t>
            </a:fld>
            <a:endParaRPr lang="de-DE"/>
          </a:p>
        </p:txBody>
      </p:sp>
    </p:spTree>
    <p:extLst>
      <p:ext uri="{BB962C8B-B14F-4D97-AF65-F5344CB8AC3E}">
        <p14:creationId xmlns:p14="http://schemas.microsoft.com/office/powerpoint/2010/main" val="35930675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21</a:t>
            </a:fld>
            <a:endParaRPr lang="de-DE"/>
          </a:p>
        </p:txBody>
      </p:sp>
    </p:spTree>
    <p:extLst>
      <p:ext uri="{BB962C8B-B14F-4D97-AF65-F5344CB8AC3E}">
        <p14:creationId xmlns:p14="http://schemas.microsoft.com/office/powerpoint/2010/main" val="36803678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22</a:t>
            </a:fld>
            <a:endParaRPr lang="de-DE"/>
          </a:p>
        </p:txBody>
      </p:sp>
    </p:spTree>
    <p:extLst>
      <p:ext uri="{BB962C8B-B14F-4D97-AF65-F5344CB8AC3E}">
        <p14:creationId xmlns:p14="http://schemas.microsoft.com/office/powerpoint/2010/main" val="16964714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23</a:t>
            </a:fld>
            <a:endParaRPr lang="de-DE"/>
          </a:p>
        </p:txBody>
      </p:sp>
    </p:spTree>
    <p:extLst>
      <p:ext uri="{BB962C8B-B14F-4D97-AF65-F5344CB8AC3E}">
        <p14:creationId xmlns:p14="http://schemas.microsoft.com/office/powerpoint/2010/main" val="38564676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D75B27-EA39-4F13-BC45-9C0ECB6C1EEB}" type="slidenum">
              <a:rPr lang="de-DE" smtClean="0"/>
              <a:pPr/>
              <a:t>24</a:t>
            </a:fld>
            <a:endParaRPr lang="de-DE"/>
          </a:p>
        </p:txBody>
      </p:sp>
    </p:spTree>
    <p:extLst>
      <p:ext uri="{BB962C8B-B14F-4D97-AF65-F5344CB8AC3E}">
        <p14:creationId xmlns:p14="http://schemas.microsoft.com/office/powerpoint/2010/main" val="25901362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3.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a:solidFill>
                  <a:schemeClr val="tx2"/>
                </a:solidFill>
                <a:effectLst>
                  <a:outerShdw dist="12700" dir="16200000" algn="t" rotWithShape="0">
                    <a:prstClr val="black">
                      <a:alpha val="40000"/>
                    </a:prstClr>
                  </a:outerShdw>
                </a:effectLst>
              </a:defRPr>
            </a:lvl1pPr>
          </a:lstStyle>
          <a:p>
            <a:r>
              <a:rPr lang="de-DE" dirty="0"/>
              <a:t>The </a:t>
            </a:r>
            <a:r>
              <a:rPr lang="de-DE" dirty="0" err="1"/>
              <a:t>Presentation</a:t>
            </a:r>
            <a:r>
              <a:rPr lang="de-DE" dirty="0"/>
              <a:t> Title</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11" name="Grafik 10" descr="arrow_next.png">
            <a:hlinkClick r:id="" action="ppaction://hlinkshowjump?jump=nextslide"/>
          </p:cNvPr>
          <p:cNvPicPr>
            <a:picLocks noChangeAspect="1"/>
          </p:cNvPicPr>
          <p:nvPr userDrawn="1"/>
        </p:nvPicPr>
        <p:blipFill>
          <a:blip r:embed="rId3" cstate="print"/>
          <a:stretch>
            <a:fillRect/>
          </a:stretch>
        </p:blipFill>
        <p:spPr>
          <a:xfrm>
            <a:off x="11228255" y="6191789"/>
            <a:ext cx="469900" cy="352425"/>
          </a:xfrm>
          <a:prstGeom prst="rect">
            <a:avLst/>
          </a:prstGeom>
        </p:spPr>
      </p:pic>
      <p:sp>
        <p:nvSpPr>
          <p:cNvPr id="13"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4" name="Grafik 23"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5" name="Grafik 24"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7CDB903-31BF-870B-0AFD-3C4F2BEC52F6}"/>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4F82ADD7-B33F-A479-D28E-987732E81A62}"/>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47F82A50-18B8-892F-10BD-5E578EAC9442}"/>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6BBF0FE4-B8A2-FA82-1C84-49AEE5923015}"/>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_2">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4" y="1556792"/>
            <a:ext cx="10561173" cy="1872208"/>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Inhaltsplatzhalter 2"/>
          <p:cNvSpPr>
            <a:spLocks noGrp="1"/>
          </p:cNvSpPr>
          <p:nvPr>
            <p:ph idx="13" hasCustomPrompt="1"/>
          </p:nvPr>
        </p:nvSpPr>
        <p:spPr>
          <a:xfrm>
            <a:off x="815414" y="3717032"/>
            <a:ext cx="1056117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5071FD52-D2F1-253E-52E1-FD4165240DA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6505E69-2BB7-6F99-AF66-A7ABBFC03F15}"/>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FD2380AE-6804-EF1E-F7D9-CB524288E624}"/>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5B06F30F-99E4-C74F-DD0A-4A22A813D17A}"/>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_3">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9"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1" name="Bildplatzhalter 2" descr="Click For Your Pic"/>
          <p:cNvSpPr>
            <a:spLocks noGrp="1"/>
          </p:cNvSpPr>
          <p:nvPr>
            <p:ph type="pic" idx="14" hasCustomPrompt="1"/>
          </p:nvPr>
        </p:nvSpPr>
        <p:spPr>
          <a:xfrm>
            <a:off x="4511824"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2" name="Bildplatzhalter 2" descr="Click For Your Pic"/>
          <p:cNvSpPr>
            <a:spLocks noGrp="1"/>
          </p:cNvSpPr>
          <p:nvPr>
            <p:ph type="pic" idx="15" hasCustomPrompt="1"/>
          </p:nvPr>
        </p:nvSpPr>
        <p:spPr>
          <a:xfrm>
            <a:off x="8208235"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3" name="Inhaltsplatzhalter 2"/>
          <p:cNvSpPr>
            <a:spLocks noGrp="1"/>
          </p:cNvSpPr>
          <p:nvPr>
            <p:ph idx="16" hasCustomPrompt="1"/>
          </p:nvPr>
        </p:nvSpPr>
        <p:spPr>
          <a:xfrm>
            <a:off x="4511824"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4" name="Inhaltsplatzhalter 2"/>
          <p:cNvSpPr>
            <a:spLocks noGrp="1"/>
          </p:cNvSpPr>
          <p:nvPr>
            <p:ph idx="17" hasCustomPrompt="1"/>
          </p:nvPr>
        </p:nvSpPr>
        <p:spPr>
          <a:xfrm>
            <a:off x="8208235" y="3068960"/>
            <a:ext cx="3168352" cy="244827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6" name="Grafik 25" descr="arrow_back.png">
            <a:hlinkClick r:id="" action="ppaction://hlinkshowjump?jump=previousslide"/>
          </p:cNvPr>
          <p:cNvPicPr>
            <a:picLocks noChangeAspect="1"/>
          </p:cNvPicPr>
          <p:nvPr userDrawn="1"/>
        </p:nvPicPr>
        <p:blipFill>
          <a:blip r:embed="rId4" cstate="print"/>
          <a:stretch>
            <a:fillRect/>
          </a:stretch>
        </p:blipFill>
        <p:spPr>
          <a:xfrm>
            <a:off x="10228781" y="6209233"/>
            <a:ext cx="469900" cy="352425"/>
          </a:xfrm>
          <a:prstGeom prst="rect">
            <a:avLst/>
          </a:prstGeom>
        </p:spPr>
      </p:pic>
      <p:pic>
        <p:nvPicPr>
          <p:cNvPr id="27" name="Grafik 26"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3C98A9B-3A53-7144-E746-A6E95A5AE5FE}"/>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246B43EE-567F-1629-657A-21737C297731}"/>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0A9304C1-D815-5A20-D440-833129FB0BD8}"/>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B4CA40D1-35DD-5147-AD5E-23851123B75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_4">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25" name="Inhaltsplatzhalter 2"/>
          <p:cNvSpPr>
            <a:spLocks noGrp="1"/>
          </p:cNvSpPr>
          <p:nvPr>
            <p:ph idx="20" hasCustomPrompt="1"/>
          </p:nvPr>
        </p:nvSpPr>
        <p:spPr>
          <a:xfrm>
            <a:off x="4559829" y="1700808"/>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27" name="Bildplatzhalter 2" descr="Click For Your Pic"/>
          <p:cNvSpPr>
            <a:spLocks noGrp="1"/>
          </p:cNvSpPr>
          <p:nvPr>
            <p:ph type="pic" idx="13" hasCustomPrompt="1"/>
          </p:nvPr>
        </p:nvSpPr>
        <p:spPr>
          <a:xfrm>
            <a:off x="815413" y="1628800"/>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8" name="Bildplatzhalter 2" descr="Click For Your Pic"/>
          <p:cNvSpPr>
            <a:spLocks noGrp="1"/>
          </p:cNvSpPr>
          <p:nvPr>
            <p:ph type="pic" idx="22" hasCustomPrompt="1"/>
          </p:nvPr>
        </p:nvSpPr>
        <p:spPr>
          <a:xfrm>
            <a:off x="815413" y="2924944"/>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29" name="Bildplatzhalter 2" descr="Click For Your Pic"/>
          <p:cNvSpPr>
            <a:spLocks noGrp="1"/>
          </p:cNvSpPr>
          <p:nvPr>
            <p:ph type="pic" idx="23" hasCustomPrompt="1"/>
          </p:nvPr>
        </p:nvSpPr>
        <p:spPr>
          <a:xfrm>
            <a:off x="815413" y="4221088"/>
            <a:ext cx="3168352" cy="1152128"/>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14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30" name="Inhaltsplatzhalter 2"/>
          <p:cNvSpPr>
            <a:spLocks noGrp="1"/>
          </p:cNvSpPr>
          <p:nvPr>
            <p:ph idx="24" hasCustomPrompt="1"/>
          </p:nvPr>
        </p:nvSpPr>
        <p:spPr>
          <a:xfrm>
            <a:off x="4559829" y="2996952"/>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31" name="Inhaltsplatzhalter 2"/>
          <p:cNvSpPr>
            <a:spLocks noGrp="1"/>
          </p:cNvSpPr>
          <p:nvPr>
            <p:ph idx="25" hasCustomPrompt="1"/>
          </p:nvPr>
        </p:nvSpPr>
        <p:spPr>
          <a:xfrm>
            <a:off x="4559829" y="4293096"/>
            <a:ext cx="6864763" cy="1008112"/>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1" name="Grafik 20" descr="arrow_back.png">
            <a:hlinkClick r:id="" action="ppaction://hlinkshowjump?jump=previousslide"/>
          </p:cNvPr>
          <p:cNvPicPr>
            <a:picLocks noChangeAspect="1"/>
          </p:cNvPicPr>
          <p:nvPr userDrawn="1"/>
        </p:nvPicPr>
        <p:blipFill>
          <a:blip r:embed="rId4" cstate="print"/>
          <a:stretch>
            <a:fillRect/>
          </a:stretch>
        </p:blipFill>
        <p:spPr>
          <a:xfrm>
            <a:off x="10264510" y="6191789"/>
            <a:ext cx="469900" cy="352425"/>
          </a:xfrm>
          <a:prstGeom prst="rect">
            <a:avLst/>
          </a:prstGeom>
        </p:spPr>
      </p:pic>
      <p:pic>
        <p:nvPicPr>
          <p:cNvPr id="22" name="Grafik 21"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64FA0949-25BF-34C9-6EB4-3CC77CC7EA22}"/>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C8E22099-7698-0E9F-4E97-D7EB03B5FDE4}"/>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AE93DDEA-97C7-A2CB-013E-BF00D52B49A6}"/>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CB38F0F-D434-741C-B26C-82F03ACD79C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_5">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7" name="Inhaltsplatzhalter 2"/>
          <p:cNvSpPr>
            <a:spLocks noGrp="1"/>
          </p:cNvSpPr>
          <p:nvPr>
            <p:ph idx="1" hasCustomPrompt="1"/>
          </p:nvPr>
        </p:nvSpPr>
        <p:spPr>
          <a:xfrm>
            <a:off x="815413"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8" name="Bildplatzhalter 2" descr="Click For Your Pic"/>
          <p:cNvSpPr>
            <a:spLocks noGrp="1"/>
          </p:cNvSpPr>
          <p:nvPr>
            <p:ph type="pic" idx="13" hasCustomPrompt="1"/>
          </p:nvPr>
        </p:nvSpPr>
        <p:spPr>
          <a:xfrm>
            <a:off x="6672064" y="1628800"/>
            <a:ext cx="4704523" cy="3384376"/>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pic>
        <p:nvPicPr>
          <p:cNvPr id="22" name="Grafik 21" descr="arrow_back.png">
            <a:hlinkClick r:id="" action="ppaction://hlinkshowjump?jump=previousslide"/>
          </p:cNvPr>
          <p:cNvPicPr>
            <a:picLocks noChangeAspect="1"/>
          </p:cNvPicPr>
          <p:nvPr userDrawn="1"/>
        </p:nvPicPr>
        <p:blipFill>
          <a:blip r:embed="rId4" cstate="print"/>
          <a:stretch>
            <a:fillRect/>
          </a:stretch>
        </p:blipFill>
        <p:spPr>
          <a:xfrm>
            <a:off x="10264510" y="6218314"/>
            <a:ext cx="469900" cy="352425"/>
          </a:xfrm>
          <a:prstGeom prst="rect">
            <a:avLst/>
          </a:prstGeom>
        </p:spPr>
      </p:pic>
      <p:pic>
        <p:nvPicPr>
          <p:cNvPr id="23" name="Grafik 22"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4" name="Group 3">
            <a:extLst>
              <a:ext uri="{FF2B5EF4-FFF2-40B4-BE49-F238E27FC236}">
                <a16:creationId xmlns:a16="http://schemas.microsoft.com/office/drawing/2014/main" id="{9E8AC236-0F34-6D2B-A71C-E4072B6284B0}"/>
              </a:ext>
            </a:extLst>
          </p:cNvPr>
          <p:cNvGrpSpPr/>
          <p:nvPr userDrawn="1"/>
        </p:nvGrpSpPr>
        <p:grpSpPr>
          <a:xfrm>
            <a:off x="323697" y="5737453"/>
            <a:ext cx="9633103" cy="983432"/>
            <a:chOff x="323697" y="5737453"/>
            <a:chExt cx="9633103" cy="983432"/>
          </a:xfrm>
        </p:grpSpPr>
        <p:sp>
          <p:nvSpPr>
            <p:cNvPr id="19" name="Fußzeilenplatzhalter 4"/>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20" name="Fußzeilenplatzhalter 4"/>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3" name="Picture 2">
              <a:extLst>
                <a:ext uri="{FF2B5EF4-FFF2-40B4-BE49-F238E27FC236}">
                  <a16:creationId xmlns:a16="http://schemas.microsoft.com/office/drawing/2014/main" id="{13ED4484-FC4E-B90F-3460-A3B1613EC1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pic>
        <p:nvPicPr>
          <p:cNvPr id="6" name="Grafik 5" descr="lights_ppt_footer.png"/>
          <p:cNvPicPr>
            <a:picLocks noChangeAspect="1"/>
          </p:cNvPicPr>
          <p:nvPr userDrawn="1"/>
        </p:nvPicPr>
        <p:blipFill>
          <a:blip r:embed="rId2" cstate="print"/>
          <a:stretch>
            <a:fillRect/>
          </a:stretch>
        </p:blipFill>
        <p:spPr>
          <a:xfrm>
            <a:off x="0" y="0"/>
            <a:ext cx="12192000" cy="6858000"/>
          </a:xfrm>
          <a:prstGeom prst="rect">
            <a:avLst/>
          </a:prstGeom>
        </p:spPr>
      </p:pic>
      <p:pic>
        <p:nvPicPr>
          <p:cNvPr id="15" name="Grafik 14" descr="trenner.png"/>
          <p:cNvPicPr>
            <a:picLocks noChangeAspect="1"/>
          </p:cNvPicPr>
          <p:nvPr userDrawn="1"/>
        </p:nvPicPr>
        <p:blipFill>
          <a:blip r:embed="rId3" cstate="print"/>
          <a:stretch>
            <a:fillRect/>
          </a:stretch>
        </p:blipFill>
        <p:spPr>
          <a:xfrm>
            <a:off x="0" y="1196752"/>
            <a:ext cx="12192000" cy="178594"/>
          </a:xfrm>
          <a:prstGeom prst="rect">
            <a:avLst/>
          </a:prstGeom>
        </p:spPr>
      </p:pic>
      <p:sp>
        <p:nvSpPr>
          <p:cNvPr id="16" name="Titel 1"/>
          <p:cNvSpPr>
            <a:spLocks noGrp="1"/>
          </p:cNvSpPr>
          <p:nvPr>
            <p:ph type="ctrTitle" hasCustomPrompt="1"/>
          </p:nvPr>
        </p:nvSpPr>
        <p:spPr>
          <a:xfrm>
            <a:off x="815414" y="317788"/>
            <a:ext cx="10561173" cy="864096"/>
          </a:xfrm>
          <a:noFill/>
        </p:spPr>
        <p:txBody>
          <a:bodyPr wrap="square" lIns="0" tIns="0" rIns="0" bIns="0" anchor="t" anchorCtr="0">
            <a:noAutofit/>
          </a:bodyPr>
          <a:lstStyle>
            <a:lvl1pPr algn="l">
              <a:defRPr sz="4400" b="1">
                <a:solidFill>
                  <a:schemeClr val="accent1"/>
                </a:solidFill>
                <a:effectLst/>
                <a:latin typeface="+mj-lt"/>
              </a:defRPr>
            </a:lvl1pPr>
          </a:lstStyle>
          <a:p>
            <a:r>
              <a:rPr lang="de-DE" dirty="0" err="1"/>
              <a:t>Your</a:t>
            </a:r>
            <a:r>
              <a:rPr lang="de-DE" dirty="0"/>
              <a:t> Headline</a:t>
            </a:r>
          </a:p>
        </p:txBody>
      </p:sp>
      <p:sp>
        <p:nvSpPr>
          <p:cNvPr id="18" name="Inhaltsplatzhalter 2"/>
          <p:cNvSpPr>
            <a:spLocks noGrp="1"/>
          </p:cNvSpPr>
          <p:nvPr>
            <p:ph idx="13" hasCustomPrompt="1"/>
          </p:nvPr>
        </p:nvSpPr>
        <p:spPr>
          <a:xfrm>
            <a:off x="6672064" y="1556792"/>
            <a:ext cx="4704523" cy="396044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sp>
        <p:nvSpPr>
          <p:cNvPr id="11" name="Bildplatzhalter 2" descr="Click For Your Pic"/>
          <p:cNvSpPr>
            <a:spLocks noGrp="1"/>
          </p:cNvSpPr>
          <p:nvPr>
            <p:ph type="pic" idx="14" hasCustomPrompt="1"/>
          </p:nvPr>
        </p:nvSpPr>
        <p:spPr>
          <a:xfrm>
            <a:off x="815413" y="1628800"/>
            <a:ext cx="4704523" cy="1800200"/>
          </a:xfrm>
          <a:gradFill flip="none" rotWithShape="1">
            <a:gsLst>
              <a:gs pos="0">
                <a:schemeClr val="tx2"/>
              </a:gs>
              <a:gs pos="50000">
                <a:schemeClr val="bg2"/>
              </a:gs>
            </a:gsLst>
            <a:path path="circle">
              <a:fillToRect l="50000" t="50000" r="50000" b="50000"/>
            </a:path>
            <a:tileRect/>
          </a:gradFill>
          <a:ln>
            <a:noFill/>
          </a:ln>
        </p:spPr>
        <p:txBody>
          <a:bodyPr>
            <a:normAutofit/>
          </a:bodyPr>
          <a:lstStyle>
            <a:lvl1pPr marL="0" indent="0" algn="ctr">
              <a:buNone/>
              <a:defRPr sz="20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dirty="0"/>
              <a:t>Place </a:t>
            </a:r>
            <a:r>
              <a:rPr lang="de-DE" dirty="0" err="1"/>
              <a:t>Your</a:t>
            </a:r>
            <a:r>
              <a:rPr lang="de-DE" dirty="0"/>
              <a:t> Picture </a:t>
            </a:r>
            <a:r>
              <a:rPr lang="de-DE" dirty="0" err="1"/>
              <a:t>Here</a:t>
            </a:r>
            <a:endParaRPr lang="de-DE" dirty="0"/>
          </a:p>
        </p:txBody>
      </p:sp>
      <p:sp>
        <p:nvSpPr>
          <p:cNvPr id="12" name="Inhaltsplatzhalter 2"/>
          <p:cNvSpPr>
            <a:spLocks noGrp="1"/>
          </p:cNvSpPr>
          <p:nvPr>
            <p:ph idx="1" hasCustomPrompt="1"/>
          </p:nvPr>
        </p:nvSpPr>
        <p:spPr>
          <a:xfrm>
            <a:off x="815413" y="3717032"/>
            <a:ext cx="4704523" cy="1800200"/>
          </a:xfrm>
        </p:spPr>
        <p:txBody>
          <a:bodyPr wrap="square" lIns="0" tIns="0" rIns="0" bIns="0" numCol="1" anchor="t" anchorCtr="0">
            <a:noAutofit/>
          </a:bodyPr>
          <a:lstStyle>
            <a:lvl1pPr marL="0" indent="-180000" algn="just">
              <a:lnSpc>
                <a:spcPct val="100000"/>
              </a:lnSpc>
              <a:spcBef>
                <a:spcPts val="100"/>
              </a:spcBef>
              <a:buFont typeface="Arial" pitchFamily="34" charset="0"/>
              <a:buNone/>
              <a:defRPr lang="de-DE" sz="1600" dirty="0">
                <a:solidFill>
                  <a:schemeClr val="bg1"/>
                </a:solidFill>
              </a:defRPr>
            </a:lvl1pPr>
          </a:lstStyle>
          <a:p>
            <a:pPr lvl="0"/>
            <a:r>
              <a:rPr lang="de-DE" dirty="0"/>
              <a:t>Your Text </a:t>
            </a:r>
            <a:r>
              <a:rPr lang="de-DE" dirty="0" err="1"/>
              <a:t>or</a:t>
            </a:r>
            <a:r>
              <a:rPr lang="de-DE" dirty="0"/>
              <a:t> </a:t>
            </a:r>
            <a:r>
              <a:rPr lang="de-DE" dirty="0" err="1"/>
              <a:t>Bullets</a:t>
            </a:r>
            <a:r>
              <a:rPr lang="de-DE" dirty="0"/>
              <a:t> </a:t>
            </a:r>
            <a:r>
              <a:rPr lang="de-DE" dirty="0" err="1"/>
              <a:t>goes</a:t>
            </a:r>
            <a:r>
              <a:rPr lang="de-DE" dirty="0"/>
              <a:t> </a:t>
            </a:r>
            <a:r>
              <a:rPr lang="de-DE" dirty="0" err="1"/>
              <a:t>here</a:t>
            </a:r>
            <a:r>
              <a:rPr lang="de-DE" dirty="0"/>
              <a:t>!</a:t>
            </a:r>
          </a:p>
        </p:txBody>
      </p:sp>
      <p:pic>
        <p:nvPicPr>
          <p:cNvPr id="23" name="Grafik 22" descr="arrow_back.png">
            <a:hlinkClick r:id="" action="ppaction://hlinkshowjump?jump=previousslide"/>
          </p:cNvPr>
          <p:cNvPicPr>
            <a:picLocks noChangeAspect="1"/>
          </p:cNvPicPr>
          <p:nvPr userDrawn="1"/>
        </p:nvPicPr>
        <p:blipFill>
          <a:blip r:embed="rId4" cstate="print"/>
          <a:stretch>
            <a:fillRect/>
          </a:stretch>
        </p:blipFill>
        <p:spPr>
          <a:xfrm>
            <a:off x="10264510" y="6199306"/>
            <a:ext cx="469900" cy="352425"/>
          </a:xfrm>
          <a:prstGeom prst="rect">
            <a:avLst/>
          </a:prstGeom>
        </p:spPr>
      </p:pic>
      <p:pic>
        <p:nvPicPr>
          <p:cNvPr id="24" name="Grafik 23" descr="arrow_next.png">
            <a:hlinkClick r:id="" action="ppaction://hlinkshowjump?jump=nextslide"/>
          </p:cNvPr>
          <p:cNvPicPr>
            <a:picLocks noChangeAspect="1"/>
          </p:cNvPicPr>
          <p:nvPr userDrawn="1"/>
        </p:nvPicPr>
        <p:blipFill>
          <a:blip r:embed="rId5" cstate="print"/>
          <a:stretch>
            <a:fillRect/>
          </a:stretch>
        </p:blipFill>
        <p:spPr>
          <a:xfrm>
            <a:off x="11228255" y="6191789"/>
            <a:ext cx="469900" cy="352425"/>
          </a:xfrm>
          <a:prstGeom prst="rect">
            <a:avLst/>
          </a:prstGeom>
        </p:spPr>
      </p:pic>
      <p:grpSp>
        <p:nvGrpSpPr>
          <p:cNvPr id="2" name="Group 1">
            <a:extLst>
              <a:ext uri="{FF2B5EF4-FFF2-40B4-BE49-F238E27FC236}">
                <a16:creationId xmlns:a16="http://schemas.microsoft.com/office/drawing/2014/main" id="{1D5FF1FC-ED78-4184-56E8-FB008544C1C1}"/>
              </a:ext>
            </a:extLst>
          </p:cNvPr>
          <p:cNvGrpSpPr/>
          <p:nvPr userDrawn="1"/>
        </p:nvGrpSpPr>
        <p:grpSpPr>
          <a:xfrm>
            <a:off x="323697" y="5737453"/>
            <a:ext cx="9633103" cy="983432"/>
            <a:chOff x="323697" y="5737453"/>
            <a:chExt cx="9633103" cy="983432"/>
          </a:xfrm>
        </p:grpSpPr>
        <p:sp>
          <p:nvSpPr>
            <p:cNvPr id="3" name="Fußzeilenplatzhalter 4">
              <a:extLst>
                <a:ext uri="{FF2B5EF4-FFF2-40B4-BE49-F238E27FC236}">
                  <a16:creationId xmlns:a16="http://schemas.microsoft.com/office/drawing/2014/main" id="{F3AF1B90-D214-545D-4885-BD8E0D9ED428}"/>
                </a:ext>
              </a:extLst>
            </p:cNvPr>
            <p:cNvSpPr txBox="1">
              <a:spLocks/>
            </p:cNvSpPr>
            <p:nvPr userDrawn="1"/>
          </p:nvSpPr>
          <p:spPr>
            <a:xfrm>
              <a:off x="7248128" y="6310003"/>
              <a:ext cx="2708672" cy="260736"/>
            </a:xfrm>
            <a:prstGeom prst="rect">
              <a:avLst/>
            </a:prstGeom>
          </p:spPr>
          <p:txBody>
            <a:bodyPr vert="horz" lIns="0" tIns="0" rIns="0" bIns="0" rtlCol="0" anchor="t" anchorCtr="0"/>
            <a:lstStyle>
              <a:lvl1pPr algn="l">
                <a:defRPr>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accent2"/>
                  </a:solidFill>
                  <a:effectLst/>
                  <a:uLnTx/>
                  <a:uFillTx/>
                  <a:latin typeface="+mn-lt"/>
                  <a:ea typeface="+mn-ea"/>
                  <a:cs typeface="+mn-cs"/>
                </a:rPr>
                <a:t>Email: krishnabs@nec.edu.np</a:t>
              </a:r>
              <a:endParaRPr kumimoji="0" lang="de-DE" sz="1000" b="0" i="0" u="none" strike="noStrike" kern="1200" cap="none" spc="0" normalizeH="0" baseline="0" noProof="0" dirty="0">
                <a:ln>
                  <a:noFill/>
                </a:ln>
                <a:solidFill>
                  <a:schemeClr val="accent2"/>
                </a:solidFill>
                <a:effectLst/>
                <a:uLnTx/>
                <a:uFillTx/>
                <a:latin typeface="+mn-lt"/>
                <a:ea typeface="+mn-ea"/>
                <a:cs typeface="+mn-cs"/>
              </a:endParaRPr>
            </a:p>
          </p:txBody>
        </p:sp>
        <p:sp>
          <p:nvSpPr>
            <p:cNvPr id="4" name="Fußzeilenplatzhalter 4">
              <a:extLst>
                <a:ext uri="{FF2B5EF4-FFF2-40B4-BE49-F238E27FC236}">
                  <a16:creationId xmlns:a16="http://schemas.microsoft.com/office/drawing/2014/main" id="{746556FE-6CBB-695B-0B28-E1B93B1954A5}"/>
                </a:ext>
              </a:extLst>
            </p:cNvPr>
            <p:cNvSpPr txBox="1">
              <a:spLocks/>
            </p:cNvSpPr>
            <p:nvPr userDrawn="1"/>
          </p:nvSpPr>
          <p:spPr>
            <a:xfrm>
              <a:off x="1493319" y="6027233"/>
              <a:ext cx="2784309" cy="648072"/>
            </a:xfrm>
            <a:prstGeom prst="rect">
              <a:avLst/>
            </a:prstGeom>
          </p:spPr>
          <p:txBody>
            <a:bodyPr vert="horz" lIns="0" tIns="0" rIns="0" bIns="0" rtlCol="0" anchor="t" anchorCtr="0"/>
            <a:lstStyle>
              <a:lvl1pPr algn="l">
                <a:defRPr>
                  <a:solidFill>
                    <a:schemeClr val="bg1"/>
                  </a:solidFill>
                </a:defRPr>
              </a:lvl1pPr>
            </a:lstStyle>
            <a:p>
              <a:r>
                <a:rPr lang="en-US" sz="1000" dirty="0">
                  <a:solidFill>
                    <a:schemeClr val="accent2"/>
                  </a:solidFill>
                </a:rPr>
                <a:t>Department of Computer Science and Engineering</a:t>
              </a:r>
            </a:p>
            <a:p>
              <a:r>
                <a:rPr lang="en-US" sz="1000" dirty="0">
                  <a:solidFill>
                    <a:schemeClr val="accent2"/>
                  </a:solidFill>
                </a:rPr>
                <a:t>Nepal Engineering College</a:t>
              </a:r>
            </a:p>
            <a:p>
              <a:r>
                <a:rPr lang="en-US" sz="1000" dirty="0">
                  <a:solidFill>
                    <a:schemeClr val="accent2"/>
                  </a:solidFill>
                </a:rPr>
                <a:t>Changunarayan - 4</a:t>
              </a:r>
              <a:endParaRPr lang="de-DE" sz="1000" dirty="0">
                <a:solidFill>
                  <a:schemeClr val="accent2"/>
                </a:solidFill>
              </a:endParaRPr>
            </a:p>
          </p:txBody>
        </p:sp>
        <p:pic>
          <p:nvPicPr>
            <p:cNvPr id="5" name="Picture 4">
              <a:extLst>
                <a:ext uri="{FF2B5EF4-FFF2-40B4-BE49-F238E27FC236}">
                  <a16:creationId xmlns:a16="http://schemas.microsoft.com/office/drawing/2014/main" id="{EEF66894-DD0D-2AA2-F63B-74FB98FE6A47}"/>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3697" y="5737453"/>
              <a:ext cx="983432" cy="983432"/>
            </a:xfrm>
            <a:prstGeom prst="rect">
              <a:avLst/>
            </a:prstGeom>
          </p:spPr>
        </p:pic>
      </p:gr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p:spTree>
      <p:nvGrpSpPr>
        <p:cNvPr id="1" name=""/>
        <p:cNvGrpSpPr/>
        <p:nvPr/>
      </p:nvGrpSpPr>
      <p:grpSpPr>
        <a:xfrm>
          <a:off x="0" y="0"/>
          <a:ext cx="0" cy="0"/>
          <a:chOff x="0" y="0"/>
          <a:chExt cx="0" cy="0"/>
        </a:xfrm>
      </p:grpSpPr>
      <p:pic>
        <p:nvPicPr>
          <p:cNvPr id="5" name="Grafik 4" descr="lights_ppt_start.png"/>
          <p:cNvPicPr>
            <a:picLocks noChangeAspect="1"/>
          </p:cNvPicPr>
          <p:nvPr userDrawn="1"/>
        </p:nvPicPr>
        <p:blipFill>
          <a:blip r:embed="rId2" cstate="print"/>
          <a:stretch>
            <a:fillRect/>
          </a:stretch>
        </p:blipFill>
        <p:spPr>
          <a:xfrm>
            <a:off x="0" y="0"/>
            <a:ext cx="12192000" cy="6858000"/>
          </a:xfrm>
          <a:prstGeom prst="rect">
            <a:avLst/>
          </a:prstGeom>
        </p:spPr>
      </p:pic>
      <p:sp>
        <p:nvSpPr>
          <p:cNvPr id="7" name="Titel 1"/>
          <p:cNvSpPr>
            <a:spLocks noGrp="1"/>
          </p:cNvSpPr>
          <p:nvPr>
            <p:ph type="ctrTitle" hasCustomPrompt="1"/>
          </p:nvPr>
        </p:nvSpPr>
        <p:spPr>
          <a:xfrm>
            <a:off x="0" y="4437113"/>
            <a:ext cx="12192000" cy="821953"/>
          </a:xfrm>
        </p:spPr>
        <p:txBody>
          <a:bodyPr lIns="0" tIns="0" rIns="0" bIns="0" anchor="t" anchorCtr="0">
            <a:noAutofit/>
          </a:bodyPr>
          <a:lstStyle>
            <a:lvl1pPr>
              <a:defRPr sz="5400" b="0" spc="-150" baseline="0">
                <a:solidFill>
                  <a:schemeClr val="tx2"/>
                </a:solidFill>
                <a:effectLst>
                  <a:outerShdw dist="12700" dir="16200000" algn="t" rotWithShape="0">
                    <a:prstClr val="black">
                      <a:alpha val="40000"/>
                    </a:prstClr>
                  </a:outerShdw>
                </a:effectLst>
              </a:defRPr>
            </a:lvl1pPr>
          </a:lstStyle>
          <a:p>
            <a:r>
              <a:rPr lang="de-DE" dirty="0"/>
              <a:t>Thanks!</a:t>
            </a:r>
          </a:p>
        </p:txBody>
      </p:sp>
      <p:sp>
        <p:nvSpPr>
          <p:cNvPr id="9" name="Untertitel 2"/>
          <p:cNvSpPr>
            <a:spLocks noGrp="1"/>
          </p:cNvSpPr>
          <p:nvPr>
            <p:ph type="subTitle" idx="1" hasCustomPrompt="1"/>
          </p:nvPr>
        </p:nvSpPr>
        <p:spPr>
          <a:xfrm>
            <a:off x="0" y="5187057"/>
            <a:ext cx="12192000" cy="576064"/>
          </a:xfrm>
        </p:spPr>
        <p:txBody>
          <a:bodyPr>
            <a:normAutofit/>
          </a:bodyPr>
          <a:lstStyle>
            <a:lvl1pPr marL="0" indent="0" algn="ctr">
              <a:buNone/>
              <a:defRPr sz="1800" i="1">
                <a:solidFill>
                  <a:schemeClr val="accent2"/>
                </a:solidFill>
                <a:effectLst>
                  <a:outerShdw blurRad="50800" dist="38100" dir="5400000" algn="t" rotWithShape="0">
                    <a:prstClr val="black">
                      <a:alpha val="40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Speakers Name, Date</a:t>
            </a:r>
            <a:endParaRPr lang="de-DE" dirty="0"/>
          </a:p>
        </p:txBody>
      </p:sp>
      <p:pic>
        <p:nvPicPr>
          <p:cNvPr id="6" name="Grafik 5" descr="arrow_back.png">
            <a:hlinkClick r:id="" action="ppaction://hlinkshowjump?jump=previousslide"/>
          </p:cNvPr>
          <p:cNvPicPr>
            <a:picLocks noChangeAspect="1"/>
          </p:cNvPicPr>
          <p:nvPr userDrawn="1"/>
        </p:nvPicPr>
        <p:blipFill>
          <a:blip r:embed="rId3" cstate="print"/>
          <a:stretch>
            <a:fillRect/>
          </a:stretch>
        </p:blipFill>
        <p:spPr>
          <a:xfrm>
            <a:off x="10247595" y="6192394"/>
            <a:ext cx="469900" cy="352425"/>
          </a:xfrm>
          <a:prstGeom prst="rect">
            <a:avLst/>
          </a:prstGeom>
        </p:spPr>
      </p:pic>
      <p:pic>
        <p:nvPicPr>
          <p:cNvPr id="8" name="Grafik 7" descr="arrow_next.png">
            <a:hlinkClick r:id="" action="ppaction://hlinkshowjump?jump=endshow"/>
          </p:cNvPr>
          <p:cNvPicPr>
            <a:picLocks noChangeAspect="1"/>
          </p:cNvPicPr>
          <p:nvPr userDrawn="1"/>
        </p:nvPicPr>
        <p:blipFill>
          <a:blip r:embed="rId4" cstate="print"/>
          <a:stretch>
            <a:fillRect/>
          </a:stretch>
        </p:blipFill>
        <p:spPr>
          <a:xfrm>
            <a:off x="11228255" y="6191789"/>
            <a:ext cx="469900" cy="352425"/>
          </a:xfrm>
          <a:prstGeom prst="rect">
            <a:avLst/>
          </a:prstGeom>
        </p:spPr>
      </p:pic>
      <p:sp>
        <p:nvSpPr>
          <p:cNvPr id="10" name="Inhaltsplatzhalter 2"/>
          <p:cNvSpPr>
            <a:spLocks noGrp="1"/>
          </p:cNvSpPr>
          <p:nvPr>
            <p:ph idx="10" hasCustomPrompt="1"/>
          </p:nvPr>
        </p:nvSpPr>
        <p:spPr>
          <a:xfrm>
            <a:off x="719403" y="620688"/>
            <a:ext cx="10753195" cy="2304256"/>
          </a:xfrm>
        </p:spPr>
        <p:txBody>
          <a:bodyPr wrap="square" lIns="0" tIns="0" rIns="0" bIns="0" numCol="1" anchor="ctr" anchorCtr="0">
            <a:noAutofit/>
          </a:bodyPr>
          <a:lstStyle>
            <a:lvl1pPr marL="0" indent="-180000" algn="ctr">
              <a:lnSpc>
                <a:spcPct val="100000"/>
              </a:lnSpc>
              <a:spcBef>
                <a:spcPts val="100"/>
              </a:spcBef>
              <a:buFont typeface="Arial" pitchFamily="34" charset="0"/>
              <a:buNone/>
              <a:defRPr lang="de-DE" sz="4000" b="1" dirty="0">
                <a:solidFill>
                  <a:schemeClr val="accent1"/>
                </a:solidFill>
              </a:defRPr>
            </a:lvl1pPr>
          </a:lstStyle>
          <a:p>
            <a:pPr lvl="0"/>
            <a:r>
              <a:rPr lang="de-DE" dirty="0" err="1"/>
              <a:t>Your</a:t>
            </a:r>
            <a:r>
              <a:rPr lang="de-DE" dirty="0"/>
              <a:t> Logo </a:t>
            </a:r>
            <a:r>
              <a:rPr lang="de-DE" dirty="0" err="1"/>
              <a:t>or</a:t>
            </a:r>
            <a:r>
              <a:rPr lang="de-DE" dirty="0"/>
              <a:t> Company Name</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gi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925A2E9-89E1-4605-85B7-FCAC8D801E55}" type="datetime1">
              <a:rPr lang="de-DE" smtClean="0"/>
              <a:pPr/>
              <a:t>28.12.2025</a:t>
            </a:fld>
            <a:endParaRPr lang="de-DE"/>
          </a:p>
        </p:txBody>
      </p:sp>
      <p:sp>
        <p:nvSpPr>
          <p:cNvPr id="5" name="Fußzeilenplatzhalt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E49DB-545E-46CA-A06F-217AEC04D591}" type="slidenum">
              <a:rPr lang="de-DE" smtClean="0"/>
              <a:pPr/>
              <a:t>‹#›</a:t>
            </a:fld>
            <a:endParaRPr lang="de-DE"/>
          </a:p>
        </p:txBody>
      </p:sp>
      <p:pic>
        <p:nvPicPr>
          <p:cNvPr id="7" name="Grafik 6" descr="light-001.gif"/>
          <p:cNvPicPr>
            <a:picLocks noChangeAspect="1"/>
          </p:cNvPicPr>
          <p:nvPr/>
        </p:nvPicPr>
        <p:blipFill>
          <a:blip r:embed="rId10" cstate="print"/>
          <a:stretch>
            <a:fillRect/>
          </a:stretch>
        </p:blipFill>
        <p:spPr>
          <a:xfrm>
            <a:off x="2" y="3107532"/>
            <a:ext cx="12191997" cy="3750467"/>
          </a:xfrm>
          <a:prstGeom prst="rect">
            <a:avLst/>
          </a:prstGeom>
        </p:spPr>
      </p:pic>
      <p:sp>
        <p:nvSpPr>
          <p:cNvPr id="10" name="Foliennummernplatzhalter 5"/>
          <p:cNvSpPr txBox="1">
            <a:spLocks/>
          </p:cNvSpPr>
          <p:nvPr userDrawn="1"/>
        </p:nvSpPr>
        <p:spPr>
          <a:xfrm>
            <a:off x="10416480" y="6221836"/>
            <a:ext cx="732565" cy="365125"/>
          </a:xfrm>
          <a:prstGeom prst="rect">
            <a:avLst/>
          </a:prstGeom>
        </p:spPr>
        <p:txBody>
          <a:bodyPr anchor="t" anchorCtr="0"/>
          <a:lstStyle>
            <a:lvl1pPr algn="l">
              <a:defRPr sz="1400" b="1">
                <a:solidFill>
                  <a:schemeClr val="accent5"/>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02FE49DB-545E-46CA-A06F-217AEC04D591}" type="slidenum">
              <a:rPr kumimoji="0" lang="de-DE" sz="1400" b="1" i="0" u="none" strike="noStrike" kern="1200" cap="none" spc="0" normalizeH="0" baseline="0" noProof="0" smtClean="0">
                <a:ln>
                  <a:noFill/>
                </a:ln>
                <a:solidFill>
                  <a:schemeClr val="accent5"/>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de-DE" sz="1400" b="1" i="0" u="none" strike="noStrike" kern="1200" cap="none" spc="0" normalizeH="0" baseline="0" noProof="0" dirty="0">
              <a:ln>
                <a:noFill/>
              </a:ln>
              <a:solidFill>
                <a:schemeClr val="accent5"/>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4" r:id="rId3"/>
    <p:sldLayoutId id="2147483663" r:id="rId4"/>
    <p:sldLayoutId id="2147483665" r:id="rId5"/>
    <p:sldLayoutId id="2147483662" r:id="rId6"/>
    <p:sldLayoutId id="2147483666" r:id="rId7"/>
    <p:sldLayoutId id="2147483667" r:id="rId8"/>
  </p:sldLayoutIdLst>
  <p:transition>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8" Type="http://schemas.openxmlformats.org/officeDocument/2006/relationships/hyperlink" Target="http://www.bcs.org.uk/" TargetMode="External"/><Relationship Id="rId3" Type="http://schemas.openxmlformats.org/officeDocument/2006/relationships/hyperlink" Target="http://www.acm.org/" TargetMode="External"/><Relationship Id="rId7" Type="http://schemas.openxmlformats.org/officeDocument/2006/relationships/hyperlink" Target="http://www.asanet.org/"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hyperlink" Target="http://www.apa.org/" TargetMode="External"/><Relationship Id="rId5" Type="http://schemas.openxmlformats.org/officeDocument/2006/relationships/hyperlink" Target="http://www.aisnet.org/" TargetMode="External"/><Relationship Id="rId10" Type="http://schemas.openxmlformats.org/officeDocument/2006/relationships/hyperlink" Target="http://www.britsoc.co.uk/" TargetMode="External"/><Relationship Id="rId4" Type="http://schemas.openxmlformats.org/officeDocument/2006/relationships/hyperlink" Target="http://www.aoir.org/" TargetMode="External"/><Relationship Id="rId9" Type="http://schemas.openxmlformats.org/officeDocument/2006/relationships/hyperlink" Target="http://www.bps.org.uk/"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26" Type="http://schemas.openxmlformats.org/officeDocument/2006/relationships/image" Target="../media/image33.png"/><Relationship Id="rId3" Type="http://schemas.openxmlformats.org/officeDocument/2006/relationships/image" Target="../media/image10.png"/><Relationship Id="rId21" Type="http://schemas.openxmlformats.org/officeDocument/2006/relationships/image" Target="../media/image28.png"/><Relationship Id="rId34" Type="http://schemas.openxmlformats.org/officeDocument/2006/relationships/image" Target="../media/image41.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33" Type="http://schemas.openxmlformats.org/officeDocument/2006/relationships/image" Target="../media/image40.png"/><Relationship Id="rId2" Type="http://schemas.openxmlformats.org/officeDocument/2006/relationships/image" Target="../media/image9.png"/><Relationship Id="rId16" Type="http://schemas.openxmlformats.org/officeDocument/2006/relationships/image" Target="../media/image23.png"/><Relationship Id="rId20" Type="http://schemas.openxmlformats.org/officeDocument/2006/relationships/image" Target="../media/image27.png"/><Relationship Id="rId29"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32" Type="http://schemas.openxmlformats.org/officeDocument/2006/relationships/image" Target="../media/image39.png"/><Relationship Id="rId37" Type="http://schemas.openxmlformats.org/officeDocument/2006/relationships/image" Target="../media/image44.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28" Type="http://schemas.openxmlformats.org/officeDocument/2006/relationships/image" Target="../media/image35.png"/><Relationship Id="rId36" Type="http://schemas.openxmlformats.org/officeDocument/2006/relationships/image" Target="../media/image43.png"/><Relationship Id="rId10" Type="http://schemas.openxmlformats.org/officeDocument/2006/relationships/image" Target="../media/image17.png"/><Relationship Id="rId19" Type="http://schemas.openxmlformats.org/officeDocument/2006/relationships/image" Target="../media/image26.png"/><Relationship Id="rId31" Type="http://schemas.openxmlformats.org/officeDocument/2006/relationships/image" Target="../media/image38.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 Id="rId27" Type="http://schemas.openxmlformats.org/officeDocument/2006/relationships/image" Target="../media/image34.png"/><Relationship Id="rId30" Type="http://schemas.openxmlformats.org/officeDocument/2006/relationships/image" Target="../media/image37.png"/><Relationship Id="rId35"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3DB67E-0A6A-B517-55E6-8E9B8B702138}"/>
              </a:ext>
            </a:extLst>
          </p:cNvPr>
          <p:cNvSpPr>
            <a:spLocks noGrp="1"/>
          </p:cNvSpPr>
          <p:nvPr>
            <p:ph idx="10"/>
          </p:nvPr>
        </p:nvSpPr>
        <p:spPr/>
        <p:txBody>
          <a:bodyPr/>
          <a:lstStyle/>
          <a:p>
            <a:r>
              <a:rPr lang="en-US" sz="6000" dirty="0"/>
              <a:t>Research Fundamentals</a:t>
            </a:r>
          </a:p>
          <a:p>
            <a:r>
              <a:rPr lang="en-US" sz="6600" dirty="0"/>
              <a:t>Unit – III: Participants and Research Ethics [5 </a:t>
            </a:r>
            <a:r>
              <a:rPr lang="en-US" sz="6600" dirty="0" err="1"/>
              <a:t>hrs</a:t>
            </a:r>
            <a:r>
              <a:rPr lang="en-US" sz="6600" dirty="0"/>
              <a: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chemeClr val="tx2"/>
        </a:solidFill>
        <a:effectLst/>
      </p:bgPr>
    </p:bg>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t>Unit 3: Participants and Research Ethics </a:t>
            </a:r>
          </a:p>
        </p:txBody>
      </p:sp>
      <p:sp>
        <p:nvSpPr>
          <p:cNvPr id="13" name="Inhaltsplatzhalter 3"/>
          <p:cNvSpPr>
            <a:spLocks noGrp="1"/>
          </p:cNvSpPr>
          <p:nvPr>
            <p:ph idx="1"/>
          </p:nvPr>
        </p:nvSpPr>
        <p:spPr>
          <a:xfrm>
            <a:off x="815414" y="1340768"/>
            <a:ext cx="10033115" cy="3960440"/>
          </a:xfrm>
        </p:spPr>
        <p:txBody>
          <a:bodyPr/>
          <a:lstStyle/>
          <a:p>
            <a:pPr indent="0"/>
            <a:r>
              <a:rPr lang="de-DE" sz="2400" b="1" dirty="0"/>
              <a:t>Contents</a:t>
            </a:r>
            <a:r>
              <a:rPr lang="de-DE" sz="2400" dirty="0"/>
              <a:t>	</a:t>
            </a:r>
          </a:p>
          <a:p>
            <a:pPr marL="162900" indent="-342900">
              <a:buFont typeface="+mj-lt"/>
              <a:buAutoNum type="arabicPeriod"/>
            </a:pPr>
            <a:r>
              <a:rPr lang="de-DE" sz="2400" b="1" dirty="0"/>
              <a:t>Participant</a:t>
            </a:r>
          </a:p>
          <a:p>
            <a:pPr marL="162900" indent="-342900">
              <a:buFont typeface="+mj-lt"/>
              <a:buAutoNum type="arabicPeriod"/>
            </a:pPr>
            <a:r>
              <a:rPr lang="de-DE" sz="2400" b="1" dirty="0"/>
              <a:t>The law and Research</a:t>
            </a:r>
          </a:p>
          <a:p>
            <a:pPr marL="162900" indent="-342900">
              <a:buFont typeface="+mj-lt"/>
              <a:buAutoNum type="arabicPeriod"/>
            </a:pPr>
            <a:r>
              <a:rPr lang="de-DE" sz="2400" b="1" dirty="0"/>
              <a:t>Rights of People Directly Involved</a:t>
            </a:r>
          </a:p>
          <a:p>
            <a:pPr marL="162900" indent="-342900">
              <a:buFont typeface="+mj-lt"/>
              <a:buAutoNum type="arabicPeriod"/>
            </a:pPr>
            <a:r>
              <a:rPr lang="de-DE" sz="2400" b="1" dirty="0"/>
              <a:t>Responsibilities of an Ethical Researcher</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3: 1 Participants</a:t>
            </a:r>
            <a:br>
              <a:rPr lang="de-DE" dirty="0"/>
            </a:br>
            <a:r>
              <a:rPr lang="de-DE" dirty="0"/>
              <a:t>6P’s of Research</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algn="l"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The aspects of research can be categorized as the 6p’s: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urpose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Products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Process</a:t>
            </a:r>
            <a:r>
              <a:rPr lang="en-US" sz="2800" kern="100" dirty="0">
                <a:solidFill>
                  <a:srgbClr val="000000"/>
                </a:solidFill>
                <a:latin typeface="Calibri" panose="020F0502020204030204" pitchFamily="34" charset="0"/>
                <a:ea typeface="Calibri" panose="020F0502020204030204" pitchFamily="34" charset="0"/>
              </a:rPr>
              <a:t>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articipants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latin typeface="Calibri" panose="020F0502020204030204" pitchFamily="34" charset="0"/>
                <a:ea typeface="Calibri" panose="020F0502020204030204" pitchFamily="34" charset="0"/>
              </a:rPr>
              <a:t>P</a:t>
            </a:r>
            <a:r>
              <a:rPr lang="en-US" sz="2800" kern="100" dirty="0">
                <a:solidFill>
                  <a:srgbClr val="000000"/>
                </a:solidFill>
                <a:effectLst/>
                <a:latin typeface="Calibri" panose="020F0502020204030204" pitchFamily="34" charset="0"/>
                <a:ea typeface="Calibri" panose="020F0502020204030204" pitchFamily="34" charset="0"/>
              </a:rPr>
              <a:t>aradigm and </a:t>
            </a:r>
          </a:p>
          <a:p>
            <a:pPr marL="342900" indent="-342900" algn="l" fontAlgn="base">
              <a:lnSpc>
                <a:spcPct val="96000"/>
              </a:lnSpc>
              <a:spcBef>
                <a:spcPts val="0"/>
              </a:spcBef>
              <a:spcAft>
                <a:spcPts val="390"/>
              </a:spcAft>
              <a:buClr>
                <a:srgbClr val="2DA2BF"/>
              </a:buClr>
              <a:buSzPts val="1650"/>
              <a:buFont typeface="Arial" panose="020B0604020202020204" pitchFamily="34" charset="0"/>
              <a:buChar char="•"/>
            </a:pPr>
            <a:r>
              <a:rPr lang="en-US" sz="2800" kern="100" dirty="0">
                <a:solidFill>
                  <a:srgbClr val="000000"/>
                </a:solidFill>
                <a:effectLst/>
                <a:latin typeface="Calibri" panose="020F0502020204030204" pitchFamily="34" charset="0"/>
                <a:ea typeface="Calibri" panose="020F0502020204030204" pitchFamily="34" charset="0"/>
              </a:rPr>
              <a:t>Presentation.</a:t>
            </a:r>
          </a:p>
          <a:p>
            <a:pPr indent="0" algn="l" fontAlgn="base">
              <a:lnSpc>
                <a:spcPct val="96000"/>
              </a:lnSpc>
              <a:spcBef>
                <a:spcPts val="0"/>
              </a:spcBef>
              <a:spcAft>
                <a:spcPts val="390"/>
              </a:spcAft>
              <a:buClr>
                <a:srgbClr val="2DA2BF"/>
              </a:buClr>
              <a:buSzPts val="1650"/>
            </a:pPr>
            <a:r>
              <a:rPr lang="en-US" sz="2800" kern="100" dirty="0">
                <a:solidFill>
                  <a:srgbClr val="000000"/>
                </a:solidFill>
                <a:effectLst/>
                <a:latin typeface="Calibri" panose="020F0502020204030204" pitchFamily="34" charset="0"/>
                <a:ea typeface="Calibri" panose="020F0502020204030204" pitchFamily="34" charset="0"/>
              </a:rPr>
              <a:t>All of these aspects need to be considered in any research project.</a:t>
            </a:r>
          </a:p>
        </p:txBody>
      </p:sp>
    </p:spTree>
    <p:extLst>
      <p:ext uri="{BB962C8B-B14F-4D97-AF65-F5344CB8AC3E}">
        <p14:creationId xmlns:p14="http://schemas.microsoft.com/office/powerpoint/2010/main" val="421471387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3: 1 Participants</a:t>
            </a:r>
            <a:br>
              <a:rPr lang="de-DE" dirty="0"/>
            </a:br>
            <a:r>
              <a:rPr lang="de-DE" dirty="0"/>
              <a:t>6P’s of Research</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indent="0" fontAlgn="base">
              <a:lnSpc>
                <a:spcPct val="96000"/>
              </a:lnSpc>
              <a:spcBef>
                <a:spcPts val="0"/>
              </a:spcBef>
              <a:spcAft>
                <a:spcPts val="390"/>
              </a:spcAft>
              <a:buClr>
                <a:srgbClr val="2DA2BF"/>
              </a:buClr>
              <a:buSzPts val="1650"/>
            </a:pPr>
            <a:r>
              <a:rPr lang="en-US" sz="2400" b="1" kern="100" dirty="0">
                <a:solidFill>
                  <a:srgbClr val="000000"/>
                </a:solidFill>
                <a:effectLst/>
                <a:latin typeface="Calibri" panose="020F0502020204030204" pitchFamily="34" charset="0"/>
                <a:ea typeface="Calibri" panose="020F0502020204030204" pitchFamily="34" charset="0"/>
              </a:rPr>
              <a:t>Participants:</a:t>
            </a:r>
          </a:p>
          <a:p>
            <a:pPr indent="0" fontAlgn="base">
              <a:lnSpc>
                <a:spcPct val="96000"/>
              </a:lnSpc>
              <a:spcBef>
                <a:spcPts val="0"/>
              </a:spcBef>
              <a:spcAft>
                <a:spcPts val="390"/>
              </a:spcAft>
              <a:buClr>
                <a:srgbClr val="2DA2BF"/>
              </a:buClr>
              <a:buSzPts val="1650"/>
            </a:pPr>
            <a:r>
              <a:rPr lang="en-US" sz="2400" kern="100" dirty="0">
                <a:solidFill>
                  <a:srgbClr val="000000"/>
                </a:solidFill>
                <a:latin typeface="Calibri" panose="020F0502020204030204" pitchFamily="34" charset="0"/>
                <a:ea typeface="Calibri" panose="020F0502020204030204" pitchFamily="34" charset="0"/>
              </a:rPr>
              <a:t>T</a:t>
            </a:r>
            <a:r>
              <a:rPr lang="en-US" sz="2400" kern="100" dirty="0">
                <a:solidFill>
                  <a:srgbClr val="000000"/>
                </a:solidFill>
                <a:effectLst/>
                <a:latin typeface="Calibri" panose="020F0502020204030204" pitchFamily="34" charset="0"/>
                <a:ea typeface="Calibri" panose="020F0502020204030204" pitchFamily="34" charset="0"/>
              </a:rPr>
              <a:t>hese include those whom you directly involve in your research, for example by interviewing them or observing them, and also those who are indirectly involved, such as the editors to whom you submit a research paper. It is important</a:t>
            </a:r>
            <a:r>
              <a:rPr lang="en-US" sz="2400" kern="100" dirty="0">
                <a:solidFill>
                  <a:srgbClr val="000000"/>
                </a:solidFill>
                <a:latin typeface="Calibri" panose="020F0502020204030204" pitchFamily="34" charset="0"/>
                <a:ea typeface="Calibri" panose="020F0502020204030204" pitchFamily="34" charset="0"/>
              </a:rPr>
              <a:t> t</a:t>
            </a:r>
            <a:r>
              <a:rPr lang="en-US" sz="2400" kern="100" dirty="0">
                <a:solidFill>
                  <a:srgbClr val="000000"/>
                </a:solidFill>
                <a:effectLst/>
                <a:latin typeface="Calibri" panose="020F0502020204030204" pitchFamily="34" charset="0"/>
                <a:ea typeface="Calibri" panose="020F0502020204030204" pitchFamily="34" charset="0"/>
              </a:rPr>
              <a:t>hat you deal with all these people legally and ethically; that is, you do not do anything that might annoy them or cause them harm (physically, mentally, or socially). You yourself, as a researcher, are also a research participant. As we shall see later, for some types of research, researchers are expected to be objective and remain largely unseen in the reporting of their research, whereas in other types of research, the researchers are open about their feelings and how their presence influenced the other participants and the research situation.</a:t>
            </a:r>
          </a:p>
        </p:txBody>
      </p:sp>
    </p:spTree>
    <p:extLst>
      <p:ext uri="{BB962C8B-B14F-4D97-AF65-F5344CB8AC3E}">
        <p14:creationId xmlns:p14="http://schemas.microsoft.com/office/powerpoint/2010/main" val="229872920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III Participants</a:t>
            </a:r>
            <a:br>
              <a:rPr lang="de-DE" dirty="0"/>
            </a:br>
            <a:r>
              <a:rPr lang="de-DE" dirty="0"/>
              <a:t>6P’s of Research - Participants</a:t>
            </a: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marR="0" lvl="0" indent="0" fontAlgn="base">
              <a:lnSpc>
                <a:spcPct val="103000"/>
              </a:lnSpc>
              <a:spcBef>
                <a:spcPts val="0"/>
              </a:spcBef>
              <a:buClr>
                <a:srgbClr val="2DA2BF"/>
              </a:buClr>
              <a:buSzPts val="1650"/>
            </a:pPr>
            <a:r>
              <a:rPr lang="en-US" sz="2400" b="1"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These participants include:</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8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T</a:t>
            </a:r>
            <a:r>
              <a:rPr lang="en-US" sz="28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he people directly involved in your research – the people you interview or observe or ask to complete a questionnaire or supply you with documents;</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8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You, as the researcher, along with your colleagues if you are in a research team;</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8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T</a:t>
            </a:r>
            <a:r>
              <a:rPr lang="en-US" sz="28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he members of the academic community who read, review, and learn from your research;</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8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P</a:t>
            </a:r>
            <a:r>
              <a:rPr lang="en-US" sz="2800" u="none" strike="noStrike" kern="100" dirty="0">
                <a:solidFill>
                  <a:srgbClr val="000000"/>
                </a:solidFill>
                <a:effectLst/>
                <a:uFill>
                  <a:solidFill>
                    <a:srgbClr val="000000"/>
                  </a:solidFill>
                </a:uFill>
                <a:latin typeface="+mj-lt"/>
                <a:ea typeface="Lucida Sans Unicode" panose="020B0602030504020204" pitchFamily="34" charset="0"/>
                <a:cs typeface="Times New Roman" panose="02020603050405020304" pitchFamily="18" charset="0"/>
              </a:rPr>
              <a:t>eople who may use or be affected by any computer-based product you design and create.</a:t>
            </a:r>
            <a:endParaRPr lang="en-US" sz="2800" b="1" kern="100" dirty="0">
              <a:solidFill>
                <a:srgbClr val="000000"/>
              </a:solidFill>
              <a:effectLst/>
              <a:latin typeface="+mj-lt"/>
              <a:ea typeface="Calibri" panose="020F0502020204030204" pitchFamily="34" charset="0"/>
            </a:endParaRPr>
          </a:p>
        </p:txBody>
      </p:sp>
    </p:spTree>
    <p:extLst>
      <p:ext uri="{BB962C8B-B14F-4D97-AF65-F5344CB8AC3E}">
        <p14:creationId xmlns:p14="http://schemas.microsoft.com/office/powerpoint/2010/main" val="144691204"/>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2000" dirty="0"/>
              <a:t>Unit 3: 2 Participants</a:t>
            </a:r>
            <a:br>
              <a:rPr lang="de-DE" dirty="0"/>
            </a:br>
            <a:r>
              <a:rPr lang="en-US" sz="3600" dirty="0"/>
              <a:t>The Law and Research</a:t>
            </a:r>
            <a:br>
              <a:rPr lang="en-US" dirty="0"/>
            </a:br>
            <a:br>
              <a:rPr lang="de-DE" dirty="0"/>
            </a:br>
            <a:endParaRPr lang="de-DE" dirty="0"/>
          </a:p>
        </p:txBody>
      </p:sp>
      <p:sp>
        <p:nvSpPr>
          <p:cNvPr id="13" name="Inhaltsplatzhalter 3"/>
          <p:cNvSpPr>
            <a:spLocks noGrp="1"/>
          </p:cNvSpPr>
          <p:nvPr>
            <p:ph idx="1"/>
          </p:nvPr>
        </p:nvSpPr>
        <p:spPr>
          <a:xfrm>
            <a:off x="815414" y="1340768"/>
            <a:ext cx="10753194" cy="4248472"/>
          </a:xfrm>
        </p:spPr>
        <p:txBody>
          <a:bodyPr/>
          <a:lstStyle/>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The specified data protection rights of individuals and the duties of organizations and researchers who hold personal data on individuals;</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Whether it is permissible to offer a prize draw to encourage people to participate in your research;</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Intellectual property rights, for example, who owns the right to an image you want to use in your research and</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Who has the copyright of your own thesis, other publications, or any software you produce;</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Restrictions on the kinds of technology you are allowed to use and investigate, for example, whether your Country allows unrestricted access to the Internet if you are permitted to use encryption software or whether</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You may share your technological innovations with colleagues based in other countries.</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0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The legal liability of software developers for the systems they design and create.</a:t>
            </a:r>
            <a:endParaRPr lang="en-US" sz="2000" kern="100" dirty="0">
              <a:solidFill>
                <a:srgbClr val="000000"/>
              </a:solidFill>
              <a:effectLst/>
              <a:latin typeface="+mj-lt"/>
              <a:ea typeface="Calibri" panose="020F0502020204030204" pitchFamily="34" charset="0"/>
            </a:endParaRPr>
          </a:p>
        </p:txBody>
      </p:sp>
    </p:spTree>
    <p:extLst>
      <p:ext uri="{BB962C8B-B14F-4D97-AF65-F5344CB8AC3E}">
        <p14:creationId xmlns:p14="http://schemas.microsoft.com/office/powerpoint/2010/main" val="134641503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Inhaltsplatzhalter 3"/>
          <p:cNvSpPr>
            <a:spLocks noGrp="1"/>
          </p:cNvSpPr>
          <p:nvPr>
            <p:ph idx="1"/>
          </p:nvPr>
        </p:nvSpPr>
        <p:spPr>
          <a:xfrm>
            <a:off x="815414" y="1340768"/>
            <a:ext cx="10753194" cy="4248472"/>
          </a:xfrm>
        </p:spPr>
        <p:txBody>
          <a:bodyPr/>
          <a:lstStyle/>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Your research and behavior throughout the project, from an initial literature review and thinking about possible research topics through to the final outcomes, must be legal. </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You must, therefore, find out about the law in your country concerning such things as</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Treat everyone fairly</a:t>
            </a:r>
            <a:r>
              <a:rPr lang="en-US" sz="2400" kern="100" dirty="0">
                <a:solidFill>
                  <a:srgbClr val="000000"/>
                </a:solidFill>
                <a:effectLst/>
                <a:latin typeface="+mj-lt"/>
                <a:ea typeface="Calibri" panose="020F0502020204030204" pitchFamily="34" charset="0"/>
              </a:rPr>
              <a:t>: This applies to anyone involved in your research, even indirectly. Honesty is key!</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Ethical considerations matter</a:t>
            </a:r>
            <a:r>
              <a:rPr lang="en-US" sz="2400" kern="100" dirty="0">
                <a:solidFill>
                  <a:srgbClr val="000000"/>
                </a:solidFill>
                <a:effectLst/>
                <a:latin typeface="+mj-lt"/>
                <a:ea typeface="Calibri" panose="020F0502020204030204" pitchFamily="34" charset="0"/>
              </a:rPr>
              <a:t>: Research practices can evolve, so what was once okay might not be anymore.</a:t>
            </a:r>
          </a:p>
          <a:p>
            <a:pPr marL="1314450" lvl="1" indent="-571500" fontAlgn="base">
              <a:lnSpc>
                <a:spcPct val="103000"/>
              </a:lnSpc>
              <a:spcBef>
                <a:spcPts val="0"/>
              </a:spcBef>
              <a:buClr>
                <a:srgbClr val="2DA2BF"/>
              </a:buClr>
              <a:buSzPts val="1650"/>
              <a:buFont typeface="Wingdings" panose="05000000000000000000" pitchFamily="2" charset="2"/>
              <a:buChar char="ü"/>
            </a:pPr>
            <a:endParaRPr lang="en-US" sz="2400" kern="100" dirty="0">
              <a:solidFill>
                <a:srgbClr val="000000"/>
              </a:solidFill>
              <a:effectLst/>
              <a:latin typeface="+mj-lt"/>
              <a:ea typeface="Calibri" panose="020F0502020204030204" pitchFamily="34" charset="0"/>
            </a:endParaRPr>
          </a:p>
        </p:txBody>
      </p:sp>
      <p:sp>
        <p:nvSpPr>
          <p:cNvPr id="5" name="Titel 2">
            <a:extLst>
              <a:ext uri="{FF2B5EF4-FFF2-40B4-BE49-F238E27FC236}">
                <a16:creationId xmlns:a16="http://schemas.microsoft.com/office/drawing/2014/main" id="{D3F2B47C-25A3-DA83-15AB-E705D2522602}"/>
              </a:ext>
            </a:extLst>
          </p:cNvPr>
          <p:cNvSpPr txBox="1">
            <a:spLocks/>
          </p:cNvSpPr>
          <p:nvPr/>
        </p:nvSpPr>
        <p:spPr>
          <a:xfrm>
            <a:off x="911424" y="404664"/>
            <a:ext cx="10561173" cy="864096"/>
          </a:xfrm>
          <a:prstGeom prst="rect">
            <a:avLst/>
          </a:prstGeom>
          <a:noFill/>
        </p:spPr>
        <p:txBody>
          <a:bodyPr vert="horz" wrap="square" lIns="0" tIns="0" rIns="0" bIns="0" rtlCol="0" anchor="t" anchorCtr="0">
            <a:noAutofit/>
          </a:bodyPr>
          <a:lstStyle>
            <a:lvl1pPr algn="l" defTabSz="914400" rtl="0" eaLnBrk="1" latinLnBrk="0" hangingPunct="1">
              <a:spcBef>
                <a:spcPct val="0"/>
              </a:spcBef>
              <a:buNone/>
              <a:defRPr sz="4400" b="1" kern="1200">
                <a:solidFill>
                  <a:schemeClr val="accent1"/>
                </a:solidFill>
                <a:effectLst/>
                <a:latin typeface="+mj-lt"/>
                <a:ea typeface="+mj-ea"/>
                <a:cs typeface="+mj-cs"/>
              </a:defRPr>
            </a:lvl1pPr>
          </a:lstStyle>
          <a:p>
            <a:r>
              <a:rPr lang="de-DE" sz="1800" dirty="0"/>
              <a:t>Unit 3.2 Law and Research</a:t>
            </a:r>
            <a:br>
              <a:rPr lang="en-US" dirty="0"/>
            </a:br>
            <a:r>
              <a:rPr lang="en-US" dirty="0"/>
              <a:t>Factors to be considered in your country</a:t>
            </a:r>
            <a:br>
              <a:rPr lang="en-US" dirty="0"/>
            </a:br>
            <a:br>
              <a:rPr lang="de-DE" dirty="0"/>
            </a:br>
            <a:endParaRPr lang="de-DE" dirty="0"/>
          </a:p>
        </p:txBody>
      </p:sp>
    </p:spTree>
    <p:extLst>
      <p:ext uri="{BB962C8B-B14F-4D97-AF65-F5344CB8AC3E}">
        <p14:creationId xmlns:p14="http://schemas.microsoft.com/office/powerpoint/2010/main" val="383418447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Inhaltsplatzhalter 3"/>
          <p:cNvSpPr>
            <a:spLocks noGrp="1"/>
          </p:cNvSpPr>
          <p:nvPr>
            <p:ph idx="1"/>
          </p:nvPr>
        </p:nvSpPr>
        <p:spPr>
          <a:xfrm>
            <a:off x="815414" y="1340768"/>
            <a:ext cx="10753194" cy="4248472"/>
          </a:xfrm>
        </p:spPr>
        <p:txBody>
          <a:bodyPr/>
          <a:lstStyle/>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uFill>
                  <a:solidFill>
                    <a:srgbClr val="000000"/>
                  </a:solidFill>
                </a:uFill>
                <a:latin typeface="+mj-lt"/>
                <a:ea typeface="Lucida Sans Unicode" panose="020B0602030504020204" pitchFamily="34" charset="0"/>
                <a:cs typeface="Times New Roman" panose="02020603050405020304" pitchFamily="18" charset="0"/>
              </a:rPr>
              <a:t>You must, therefore, find out about the law in your country concerning such things as (cont.)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Ethical approval is crucial</a:t>
            </a:r>
            <a:r>
              <a:rPr lang="en-US" sz="2400" kern="100" dirty="0">
                <a:solidFill>
                  <a:srgbClr val="000000"/>
                </a:solidFill>
                <a:effectLst/>
                <a:latin typeface="+mj-lt"/>
                <a:ea typeface="Calibri" panose="020F0502020204030204" pitchFamily="34" charset="0"/>
              </a:rPr>
              <a:t>: Most institutions require researchers to consider ethical aspects and gain clearance before starting a project.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Clearance process involves transparency</a:t>
            </a:r>
            <a:r>
              <a:rPr lang="en-US" sz="2400" kern="100" dirty="0">
                <a:solidFill>
                  <a:srgbClr val="000000"/>
                </a:solidFill>
                <a:effectLst/>
                <a:latin typeface="+mj-lt"/>
                <a:ea typeface="Calibri" panose="020F0502020204030204" pitchFamily="34" charset="0"/>
              </a:rPr>
              <a:t>: Researchers need to explain the purpose, funding, and who might be involved in the project, along with any ethical concerns.</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Independent review ensures fairness</a:t>
            </a:r>
            <a:r>
              <a:rPr lang="en-US" sz="2400" kern="100" dirty="0">
                <a:solidFill>
                  <a:srgbClr val="000000"/>
                </a:solidFill>
                <a:effectLst/>
                <a:latin typeface="+mj-lt"/>
                <a:ea typeface="Calibri" panose="020F0502020204030204" pitchFamily="34" charset="0"/>
              </a:rPr>
              <a:t>: Experts (often a research ethics committee) review the project to ensure no harm or unfair treatment for anyone impacted by the research.</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b="1" kern="100" dirty="0">
                <a:solidFill>
                  <a:srgbClr val="000000"/>
                </a:solidFill>
                <a:effectLst/>
                <a:latin typeface="+mj-lt"/>
                <a:ea typeface="Calibri" panose="020F0502020204030204" pitchFamily="34" charset="0"/>
              </a:rPr>
              <a:t>Protection of participants</a:t>
            </a:r>
            <a:r>
              <a:rPr lang="en-US" sz="2400" kern="100" dirty="0">
                <a:solidFill>
                  <a:srgbClr val="000000"/>
                </a:solidFill>
                <a:effectLst/>
                <a:latin typeface="+mj-lt"/>
                <a:ea typeface="Calibri" panose="020F0502020204030204" pitchFamily="34" charset="0"/>
              </a:rPr>
              <a:t>: If the committee finds ethical issues, the researcher must revise the project before getting approval.</a:t>
            </a:r>
          </a:p>
          <a:p>
            <a:pPr marL="1314450" lvl="1" indent="-571500" fontAlgn="base">
              <a:lnSpc>
                <a:spcPct val="103000"/>
              </a:lnSpc>
              <a:spcBef>
                <a:spcPts val="0"/>
              </a:spcBef>
              <a:buClr>
                <a:srgbClr val="2DA2BF"/>
              </a:buClr>
              <a:buSzPts val="1650"/>
              <a:buFont typeface="Wingdings" panose="05000000000000000000" pitchFamily="2" charset="2"/>
              <a:buChar char="ü"/>
            </a:pPr>
            <a:endParaRPr lang="en-US" sz="2400" kern="100" dirty="0">
              <a:solidFill>
                <a:srgbClr val="000000"/>
              </a:solidFill>
              <a:effectLst/>
              <a:latin typeface="+mj-lt"/>
              <a:ea typeface="Calibri" panose="020F0502020204030204" pitchFamily="34" charset="0"/>
            </a:endParaRPr>
          </a:p>
        </p:txBody>
      </p:sp>
      <p:sp>
        <p:nvSpPr>
          <p:cNvPr id="5" name="Titel 2">
            <a:extLst>
              <a:ext uri="{FF2B5EF4-FFF2-40B4-BE49-F238E27FC236}">
                <a16:creationId xmlns:a16="http://schemas.microsoft.com/office/drawing/2014/main" id="{8871C76E-197E-FD26-4869-D66709904BD6}"/>
              </a:ext>
            </a:extLst>
          </p:cNvPr>
          <p:cNvSpPr txBox="1">
            <a:spLocks/>
          </p:cNvSpPr>
          <p:nvPr/>
        </p:nvSpPr>
        <p:spPr>
          <a:xfrm>
            <a:off x="911424" y="404664"/>
            <a:ext cx="10561173" cy="864096"/>
          </a:xfrm>
          <a:prstGeom prst="rect">
            <a:avLst/>
          </a:prstGeom>
          <a:noFill/>
        </p:spPr>
        <p:txBody>
          <a:bodyPr vert="horz" wrap="square" lIns="0" tIns="0" rIns="0" bIns="0" rtlCol="0" anchor="t" anchorCtr="0">
            <a:noAutofit/>
          </a:bodyPr>
          <a:lstStyle>
            <a:lvl1pPr algn="l" defTabSz="914400" rtl="0" eaLnBrk="1" latinLnBrk="0" hangingPunct="1">
              <a:spcBef>
                <a:spcPct val="0"/>
              </a:spcBef>
              <a:buNone/>
              <a:defRPr sz="4400" b="1" kern="1200">
                <a:solidFill>
                  <a:schemeClr val="accent1"/>
                </a:solidFill>
                <a:effectLst/>
                <a:latin typeface="+mj-lt"/>
                <a:ea typeface="+mj-ea"/>
                <a:cs typeface="+mj-cs"/>
              </a:defRPr>
            </a:lvl1pPr>
          </a:lstStyle>
          <a:p>
            <a:r>
              <a:rPr lang="de-DE" sz="1800" dirty="0"/>
              <a:t>Unit 3.2 Law and Research</a:t>
            </a:r>
            <a:br>
              <a:rPr lang="en-US" dirty="0"/>
            </a:br>
            <a:r>
              <a:rPr lang="en-US" dirty="0"/>
              <a:t>Factors to be considered in your country</a:t>
            </a:r>
            <a:br>
              <a:rPr lang="en-US" dirty="0"/>
            </a:br>
            <a:br>
              <a:rPr lang="de-DE" dirty="0"/>
            </a:br>
            <a:endParaRPr lang="de-DE" dirty="0"/>
          </a:p>
        </p:txBody>
      </p:sp>
    </p:spTree>
    <p:extLst>
      <p:ext uri="{BB962C8B-B14F-4D97-AF65-F5344CB8AC3E}">
        <p14:creationId xmlns:p14="http://schemas.microsoft.com/office/powerpoint/2010/main" val="36312321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Some Terminologies</a:t>
            </a:r>
            <a:endParaRPr lang="de-DE" dirty="0"/>
          </a:p>
        </p:txBody>
      </p:sp>
      <p:sp>
        <p:nvSpPr>
          <p:cNvPr id="13" name="Inhaltsplatzhalter 3"/>
          <p:cNvSpPr>
            <a:spLocks noGrp="1"/>
          </p:cNvSpPr>
          <p:nvPr>
            <p:ph idx="1"/>
          </p:nvPr>
        </p:nvSpPr>
        <p:spPr>
          <a:xfrm>
            <a:off x="815414" y="1340768"/>
            <a:ext cx="10753194" cy="4248472"/>
          </a:xfrm>
        </p:spPr>
        <p:txBody>
          <a:bodyPr/>
          <a:lstStyle/>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T</a:t>
            </a:r>
            <a:r>
              <a:rPr lang="en-US" sz="2400" kern="100" dirty="0">
                <a:solidFill>
                  <a:srgbClr val="000000"/>
                </a:solidFill>
                <a:effectLst/>
                <a:latin typeface="+mj-lt"/>
                <a:ea typeface="Calibri" panose="020F0502020204030204" pitchFamily="34" charset="0"/>
              </a:rPr>
              <a:t>he people you interview or observe, or ask to complete a questionnaire or supply you with documents. </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effectLst/>
                <a:latin typeface="+mj-lt"/>
                <a:ea typeface="Calibri" panose="020F0502020204030204" pitchFamily="34" charset="0"/>
              </a:rPr>
              <a:t>The literature on the different strategies might refer to these people in different ways:</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F</a:t>
            </a:r>
            <a:r>
              <a:rPr lang="en-US" sz="2400" kern="100" dirty="0">
                <a:solidFill>
                  <a:srgbClr val="000000"/>
                </a:solidFill>
                <a:effectLst/>
                <a:latin typeface="+mj-lt"/>
                <a:ea typeface="Calibri" panose="020F0502020204030204" pitchFamily="34" charset="0"/>
              </a:rPr>
              <a:t>or </a:t>
            </a:r>
            <a:r>
              <a:rPr lang="en-US" sz="2400" b="1" kern="100" dirty="0">
                <a:solidFill>
                  <a:srgbClr val="000000"/>
                </a:solidFill>
                <a:effectLst/>
                <a:latin typeface="+mj-lt"/>
                <a:ea typeface="Calibri" panose="020F0502020204030204" pitchFamily="34" charset="0"/>
              </a:rPr>
              <a:t>experiments</a:t>
            </a:r>
            <a:r>
              <a:rPr lang="en-US" sz="2400" kern="100" dirty="0">
                <a:solidFill>
                  <a:srgbClr val="000000"/>
                </a:solidFill>
                <a:effectLst/>
                <a:latin typeface="+mj-lt"/>
                <a:ea typeface="Calibri" panose="020F0502020204030204" pitchFamily="34" charset="0"/>
              </a:rPr>
              <a:t>, they are often called the research</a:t>
            </a:r>
            <a:r>
              <a:rPr lang="en-US" sz="2400" b="1" kern="100" dirty="0">
                <a:solidFill>
                  <a:srgbClr val="000000"/>
                </a:solidFill>
                <a:effectLst/>
                <a:latin typeface="+mj-lt"/>
                <a:ea typeface="Calibri" panose="020F0502020204030204" pitchFamily="34" charset="0"/>
              </a:rPr>
              <a:t> subjects</a:t>
            </a:r>
            <a:r>
              <a:rPr lang="en-US" sz="2400" kern="100" dirty="0">
                <a:solidFill>
                  <a:srgbClr val="000000"/>
                </a:solidFill>
                <a:effectLst/>
                <a:latin typeface="+mj-lt"/>
                <a:ea typeface="Calibri" panose="020F0502020204030204" pitchFamily="34" charset="0"/>
              </a:rPr>
              <a:t>;</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F</a:t>
            </a:r>
            <a:r>
              <a:rPr lang="en-US" sz="2400" kern="100" dirty="0">
                <a:solidFill>
                  <a:srgbClr val="000000"/>
                </a:solidFill>
                <a:effectLst/>
                <a:latin typeface="+mj-lt"/>
                <a:ea typeface="Calibri" panose="020F0502020204030204" pitchFamily="34" charset="0"/>
              </a:rPr>
              <a:t>or </a:t>
            </a:r>
            <a:r>
              <a:rPr lang="en-US" sz="2400" b="1" kern="100" dirty="0">
                <a:solidFill>
                  <a:srgbClr val="000000"/>
                </a:solidFill>
                <a:effectLst/>
                <a:latin typeface="+mj-lt"/>
                <a:ea typeface="Calibri" panose="020F0502020204030204" pitchFamily="34" charset="0"/>
              </a:rPr>
              <a:t>surveys</a:t>
            </a:r>
            <a:r>
              <a:rPr lang="en-US" sz="2400" kern="100" dirty="0">
                <a:solidFill>
                  <a:srgbClr val="000000"/>
                </a:solidFill>
                <a:effectLst/>
                <a:latin typeface="+mj-lt"/>
                <a:ea typeface="Calibri" panose="020F0502020204030204" pitchFamily="34" charset="0"/>
              </a:rPr>
              <a:t>, they are often called the research</a:t>
            </a:r>
            <a:r>
              <a:rPr lang="en-US" sz="2400" b="1" kern="100" dirty="0">
                <a:solidFill>
                  <a:srgbClr val="000000"/>
                </a:solidFill>
                <a:effectLst/>
                <a:latin typeface="+mj-lt"/>
                <a:ea typeface="Calibri" panose="020F0502020204030204" pitchFamily="34" charset="0"/>
              </a:rPr>
              <a:t> respondents</a:t>
            </a:r>
            <a:r>
              <a:rPr lang="en-US" sz="2400" kern="100" dirty="0">
                <a:solidFill>
                  <a:srgbClr val="000000"/>
                </a:solidFill>
                <a:effectLst/>
                <a:latin typeface="+mj-lt"/>
                <a:ea typeface="Calibri" panose="020F0502020204030204" pitchFamily="34" charset="0"/>
              </a:rPr>
              <a:t>;</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F</a:t>
            </a:r>
            <a:r>
              <a:rPr lang="en-US" sz="2400" kern="100" dirty="0">
                <a:solidFill>
                  <a:srgbClr val="000000"/>
                </a:solidFill>
                <a:effectLst/>
                <a:latin typeface="+mj-lt"/>
                <a:ea typeface="Calibri" panose="020F0502020204030204" pitchFamily="34" charset="0"/>
              </a:rPr>
              <a:t>or </a:t>
            </a:r>
            <a:r>
              <a:rPr lang="en-US" sz="2400" b="1" kern="100" dirty="0">
                <a:solidFill>
                  <a:srgbClr val="000000"/>
                </a:solidFill>
                <a:effectLst/>
                <a:latin typeface="+mj-lt"/>
                <a:ea typeface="Calibri" panose="020F0502020204030204" pitchFamily="34" charset="0"/>
              </a:rPr>
              <a:t>case studies </a:t>
            </a:r>
            <a:r>
              <a:rPr lang="en-US" sz="2400" kern="100" dirty="0">
                <a:solidFill>
                  <a:srgbClr val="000000"/>
                </a:solidFill>
                <a:effectLst/>
                <a:latin typeface="+mj-lt"/>
                <a:ea typeface="Calibri" panose="020F0502020204030204" pitchFamily="34" charset="0"/>
              </a:rPr>
              <a:t>and </a:t>
            </a:r>
            <a:r>
              <a:rPr lang="en-US" sz="2400" b="1" kern="100" dirty="0">
                <a:solidFill>
                  <a:srgbClr val="000000"/>
                </a:solidFill>
                <a:effectLst/>
                <a:latin typeface="+mj-lt"/>
                <a:ea typeface="Calibri" panose="020F0502020204030204" pitchFamily="34" charset="0"/>
              </a:rPr>
              <a:t>ethnography</a:t>
            </a:r>
            <a:r>
              <a:rPr lang="en-US" sz="2400" kern="100" dirty="0">
                <a:solidFill>
                  <a:srgbClr val="000000"/>
                </a:solidFill>
                <a:effectLst/>
                <a:latin typeface="+mj-lt"/>
                <a:ea typeface="Calibri" panose="020F0502020204030204" pitchFamily="34" charset="0"/>
              </a:rPr>
              <a:t>, they are often called research</a:t>
            </a:r>
            <a:r>
              <a:rPr lang="en-US" sz="2400" b="1" kern="100" dirty="0">
                <a:solidFill>
                  <a:srgbClr val="000000"/>
                </a:solidFill>
                <a:effectLst/>
                <a:latin typeface="+mj-lt"/>
                <a:ea typeface="Calibri" panose="020F0502020204030204" pitchFamily="34" charset="0"/>
              </a:rPr>
              <a:t> informants, members or participants</a:t>
            </a:r>
            <a:r>
              <a:rPr lang="en-US" sz="2400" kern="100" dirty="0">
                <a:solidFill>
                  <a:srgbClr val="000000"/>
                </a:solidFill>
                <a:effectLst/>
                <a:latin typeface="+mj-lt"/>
                <a:ea typeface="Calibri" panose="020F0502020204030204" pitchFamily="34" charset="0"/>
              </a:rPr>
              <a:t>;</a:t>
            </a:r>
          </a:p>
          <a:p>
            <a:pPr marL="342900" marR="0" lvl="0" indent="-3429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F</a:t>
            </a:r>
            <a:r>
              <a:rPr lang="en-US" sz="2400" kern="100" dirty="0">
                <a:solidFill>
                  <a:srgbClr val="000000"/>
                </a:solidFill>
                <a:effectLst/>
                <a:latin typeface="+mj-lt"/>
                <a:ea typeface="Calibri" panose="020F0502020204030204" pitchFamily="34" charset="0"/>
              </a:rPr>
              <a:t>or </a:t>
            </a:r>
            <a:r>
              <a:rPr lang="en-US" sz="2400" b="1" kern="100" dirty="0">
                <a:solidFill>
                  <a:srgbClr val="000000"/>
                </a:solidFill>
                <a:effectLst/>
                <a:latin typeface="+mj-lt"/>
                <a:ea typeface="Calibri" panose="020F0502020204030204" pitchFamily="34" charset="0"/>
              </a:rPr>
              <a:t>action research</a:t>
            </a:r>
            <a:r>
              <a:rPr lang="en-US" sz="2400" kern="100" dirty="0">
                <a:solidFill>
                  <a:srgbClr val="000000"/>
                </a:solidFill>
                <a:effectLst/>
                <a:latin typeface="+mj-lt"/>
                <a:ea typeface="Calibri" panose="020F0502020204030204" pitchFamily="34" charset="0"/>
              </a:rPr>
              <a:t>, they are often called the research</a:t>
            </a:r>
            <a:r>
              <a:rPr lang="en-US" sz="2400" b="1" kern="100" dirty="0">
                <a:solidFill>
                  <a:srgbClr val="000000"/>
                </a:solidFill>
                <a:effectLst/>
                <a:latin typeface="+mj-lt"/>
                <a:ea typeface="Calibri" panose="020F0502020204030204" pitchFamily="34" charset="0"/>
              </a:rPr>
              <a:t> participants </a:t>
            </a:r>
            <a:r>
              <a:rPr lang="en-US" sz="2400" kern="100" dirty="0">
                <a:solidFill>
                  <a:srgbClr val="000000"/>
                </a:solidFill>
                <a:effectLst/>
                <a:latin typeface="+mj-lt"/>
                <a:ea typeface="Calibri" panose="020F0502020204030204" pitchFamily="34" charset="0"/>
              </a:rPr>
              <a:t>or, especially in the more emancipatory forms of action research, </a:t>
            </a:r>
            <a:r>
              <a:rPr lang="en-US" sz="2400" b="1" kern="100" dirty="0">
                <a:solidFill>
                  <a:srgbClr val="000000"/>
                </a:solidFill>
                <a:effectLst/>
                <a:latin typeface="+mj-lt"/>
                <a:ea typeface="Calibri" panose="020F0502020204030204" pitchFamily="34" charset="0"/>
              </a:rPr>
              <a:t>co-researchers</a:t>
            </a:r>
            <a:r>
              <a:rPr lang="en-US" sz="2400" kern="100" dirty="0">
                <a:solidFill>
                  <a:srgbClr val="000000"/>
                </a:solidFill>
                <a:effectLst/>
                <a:latin typeface="+mj-lt"/>
                <a:ea typeface="Calibri" panose="020F0502020204030204" pitchFamily="34" charset="0"/>
              </a:rPr>
              <a:t>.</a:t>
            </a:r>
          </a:p>
        </p:txBody>
      </p:sp>
    </p:spTree>
    <p:extLst>
      <p:ext uri="{BB962C8B-B14F-4D97-AF65-F5344CB8AC3E}">
        <p14:creationId xmlns:p14="http://schemas.microsoft.com/office/powerpoint/2010/main" val="142476304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340768"/>
            <a:ext cx="10753194" cy="4248472"/>
          </a:xfrm>
        </p:spPr>
        <p:txBody>
          <a:bodyPr/>
          <a:lstStyle/>
          <a:p>
            <a:pPr marR="0" lvl="0" indent="0" fontAlgn="base">
              <a:lnSpc>
                <a:spcPct val="103000"/>
              </a:lnSpc>
              <a:spcBef>
                <a:spcPts val="0"/>
              </a:spcBef>
              <a:buClr>
                <a:srgbClr val="2DA2BF"/>
              </a:buClr>
              <a:buSzPts val="1650"/>
            </a:pPr>
            <a:r>
              <a:rPr lang="en-US" sz="3600" b="1" u="sng" kern="100" dirty="0">
                <a:solidFill>
                  <a:srgbClr val="000000"/>
                </a:solidFill>
                <a:latin typeface="+mj-lt"/>
                <a:ea typeface="Calibri" panose="020F0502020204030204" pitchFamily="34" charset="0"/>
              </a:rPr>
              <a:t>Right not to participate: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Informed consent is key</a:t>
            </a:r>
            <a:r>
              <a:rPr lang="en-US" sz="2400" kern="100" dirty="0">
                <a:solidFill>
                  <a:srgbClr val="000000"/>
                </a:solidFill>
                <a:latin typeface="+mj-lt"/>
                <a:ea typeface="Calibri" panose="020F0502020204030204" pitchFamily="34" charset="0"/>
              </a:rPr>
              <a:t>: Participation in your research is completely voluntary (for individuals and companies). Don't pressure anyone!</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Respect their decision</a:t>
            </a:r>
            <a:r>
              <a:rPr lang="en-US" sz="2400" kern="100" dirty="0">
                <a:solidFill>
                  <a:srgbClr val="000000"/>
                </a:solidFill>
                <a:latin typeface="+mj-lt"/>
                <a:ea typeface="Calibri" panose="020F0502020204030204" pitchFamily="34" charset="0"/>
              </a:rPr>
              <a:t>: If someone declines, accept their choice. It might affect your research, but that's your responsibility to manage.</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Beware of power dynamics</a:t>
            </a:r>
            <a:r>
              <a:rPr lang="en-US" sz="2400" kern="100" dirty="0">
                <a:solidFill>
                  <a:srgbClr val="000000"/>
                </a:solidFill>
                <a:latin typeface="+mj-lt"/>
                <a:ea typeface="Calibri" panose="020F0502020204030204" pitchFamily="34" charset="0"/>
              </a:rPr>
              <a:t>: Researchers can hold positions of authority (managers, teachers). Remember, participation requires complete freedom of choice, not obligation.</a:t>
            </a:r>
          </a:p>
        </p:txBody>
      </p:sp>
    </p:spTree>
    <p:extLst>
      <p:ext uri="{BB962C8B-B14F-4D97-AF65-F5344CB8AC3E}">
        <p14:creationId xmlns:p14="http://schemas.microsoft.com/office/powerpoint/2010/main" val="114525581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340768"/>
            <a:ext cx="10753194" cy="4248472"/>
          </a:xfrm>
        </p:spPr>
        <p:txBody>
          <a:bodyPr/>
          <a:lstStyle/>
          <a:p>
            <a:pPr marR="0" lvl="0" indent="0" fontAlgn="base">
              <a:lnSpc>
                <a:spcPct val="103000"/>
              </a:lnSpc>
              <a:spcBef>
                <a:spcPts val="0"/>
              </a:spcBef>
              <a:buClr>
                <a:srgbClr val="2DA2BF"/>
              </a:buClr>
              <a:buSzPts val="1650"/>
            </a:pPr>
            <a:r>
              <a:rPr lang="en-US" sz="3600" b="1" u="sng" kern="100" dirty="0">
                <a:solidFill>
                  <a:srgbClr val="000000"/>
                </a:solidFill>
                <a:latin typeface="+mj-lt"/>
                <a:ea typeface="Calibri" panose="020F0502020204030204" pitchFamily="34" charset="0"/>
              </a:rPr>
              <a:t>Right to withdraw: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Right to withdraw at any time</a:t>
            </a:r>
            <a:r>
              <a:rPr lang="en-US" sz="2400" kern="100" dirty="0">
                <a:solidFill>
                  <a:srgbClr val="000000"/>
                </a:solidFill>
                <a:latin typeface="+mj-lt"/>
                <a:ea typeface="Calibri" panose="020F0502020204030204" pitchFamily="34" charset="0"/>
              </a:rPr>
              <a:t>: Participants can withdraw from your research even if they initially agreed. Respect their decision, even if it impacts your study.</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Partial participation is okay</a:t>
            </a:r>
            <a:r>
              <a:rPr lang="en-US" sz="2400" kern="100" dirty="0">
                <a:solidFill>
                  <a:srgbClr val="000000"/>
                </a:solidFill>
                <a:latin typeface="+mj-lt"/>
                <a:ea typeface="Calibri" panose="020F0502020204030204" pitchFamily="34" charset="0"/>
              </a:rPr>
              <a:t>: People can choose to participate in some aspects of your research (e.g., answer some questions but not others) and decline others.</a:t>
            </a:r>
          </a:p>
        </p:txBody>
      </p:sp>
    </p:spTree>
    <p:extLst>
      <p:ext uri="{BB962C8B-B14F-4D97-AF65-F5344CB8AC3E}">
        <p14:creationId xmlns:p14="http://schemas.microsoft.com/office/powerpoint/2010/main" val="3923998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340768"/>
            <a:ext cx="10753194" cy="4248472"/>
          </a:xfrm>
        </p:spPr>
        <p:txBody>
          <a:bodyPr/>
          <a:lstStyle/>
          <a:p>
            <a:pPr marR="0" lvl="0" indent="0" fontAlgn="base">
              <a:lnSpc>
                <a:spcPct val="103000"/>
              </a:lnSpc>
              <a:spcBef>
                <a:spcPts val="0"/>
              </a:spcBef>
              <a:buClr>
                <a:srgbClr val="2DA2BF"/>
              </a:buClr>
              <a:buSzPts val="1650"/>
            </a:pPr>
            <a:r>
              <a:rPr lang="en-US" sz="2400" b="1" u="sng" kern="100" dirty="0">
                <a:solidFill>
                  <a:srgbClr val="000000"/>
                </a:solidFill>
                <a:latin typeface="+mj-lt"/>
                <a:ea typeface="Calibri" panose="020F0502020204030204" pitchFamily="34" charset="0"/>
              </a:rPr>
              <a:t>Right to give informed consent: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Individuals and collections of individuals have the right to give informed consent.</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This means that if they agree to participate, their consent is given only when they have first been made fully aware of the nature of the research and their involvement.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They should be informed about</a:t>
            </a:r>
            <a:r>
              <a:rPr lang="en-US" sz="2400" kern="100" dirty="0">
                <a:solidFill>
                  <a:srgbClr val="000000"/>
                </a:solidFill>
                <a:latin typeface="+mj-lt"/>
                <a:ea typeface="Calibri" panose="020F0502020204030204" pitchFamily="34" charset="0"/>
              </a:rPr>
              <a: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kern="100" dirty="0">
                <a:solidFill>
                  <a:srgbClr val="000000"/>
                </a:solidFill>
                <a:latin typeface="+mj-lt"/>
                <a:ea typeface="Calibri" panose="020F0502020204030204" pitchFamily="34" charset="0"/>
              </a:rPr>
              <a:t>The purpose of the research, why it is being undertaken and what benefits are expected from it;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kern="100" dirty="0">
                <a:solidFill>
                  <a:srgbClr val="000000"/>
                </a:solidFill>
                <a:latin typeface="+mj-lt"/>
                <a:ea typeface="Calibri" panose="020F0502020204030204" pitchFamily="34" charset="0"/>
              </a:rPr>
              <a:t>Who is undertaking the research (name, address, contact details) and which organization is sponsoring it – either by funding it or overseeing and authorizing it;</a:t>
            </a:r>
          </a:p>
        </p:txBody>
      </p:sp>
    </p:spTree>
    <p:extLst>
      <p:ext uri="{BB962C8B-B14F-4D97-AF65-F5344CB8AC3E}">
        <p14:creationId xmlns:p14="http://schemas.microsoft.com/office/powerpoint/2010/main" val="2830471910"/>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340768"/>
            <a:ext cx="10753194" cy="4248472"/>
          </a:xfrm>
        </p:spPr>
        <p:txBody>
          <a:bodyPr/>
          <a:lstStyle/>
          <a:p>
            <a:pPr marR="0" lvl="0" indent="0" fontAlgn="base">
              <a:lnSpc>
                <a:spcPct val="103000"/>
              </a:lnSpc>
              <a:spcBef>
                <a:spcPts val="0"/>
              </a:spcBef>
              <a:buClr>
                <a:srgbClr val="2DA2BF"/>
              </a:buClr>
              <a:buSzPts val="1650"/>
            </a:pPr>
            <a:r>
              <a:rPr lang="en-US" sz="2400" b="1" u="sng" kern="100" dirty="0">
                <a:solidFill>
                  <a:srgbClr val="000000"/>
                </a:solidFill>
                <a:latin typeface="+mj-lt"/>
                <a:ea typeface="Calibri" panose="020F0502020204030204" pitchFamily="34" charset="0"/>
              </a:rPr>
              <a:t>Right to give informed consent: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They should be informed about (Cont.)</a:t>
            </a:r>
            <a:r>
              <a:rPr lang="en-US" sz="2400" kern="100" dirty="0">
                <a:solidFill>
                  <a:srgbClr val="000000"/>
                </a:solidFill>
                <a:latin typeface="+mj-lt"/>
                <a:ea typeface="Calibri" panose="020F0502020204030204" pitchFamily="34" charset="0"/>
              </a:rPr>
              <a: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kern="100" dirty="0">
                <a:solidFill>
                  <a:srgbClr val="000000"/>
                </a:solidFill>
                <a:latin typeface="+mj-lt"/>
                <a:ea typeface="Calibri" panose="020F0502020204030204" pitchFamily="34" charset="0"/>
              </a:rPr>
              <a:t>What will be involved (for example, interviews, completing a questionnaire and so on) and how long this is likely to take;</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kern="100" dirty="0">
                <a:solidFill>
                  <a:srgbClr val="000000"/>
                </a:solidFill>
                <a:latin typeface="+mj-lt"/>
                <a:ea typeface="Calibri" panose="020F0502020204030204" pitchFamily="34" charset="0"/>
              </a:rPr>
              <a:t>Whether they will receive any expenses, payment or incentive (for example, individual feedback on performance in a test, or a copy of the final research report);</a:t>
            </a:r>
          </a:p>
          <a:p>
            <a:pPr marL="1314450" lvl="1" indent="-571500" fontAlgn="base">
              <a:lnSpc>
                <a:spcPct val="103000"/>
              </a:lnSpc>
              <a:spcBef>
                <a:spcPts val="0"/>
              </a:spcBef>
              <a:buClr>
                <a:srgbClr val="2DA2BF"/>
              </a:buClr>
              <a:buSzPts val="1650"/>
              <a:buFont typeface="Wingdings" panose="05000000000000000000" pitchFamily="2" charset="2"/>
              <a:buChar char="ü"/>
            </a:pPr>
            <a:r>
              <a:rPr lang="en-US" sz="2400" kern="100" dirty="0">
                <a:solidFill>
                  <a:srgbClr val="000000"/>
                </a:solidFill>
                <a:latin typeface="+mj-lt"/>
                <a:ea typeface="Calibri" panose="020F0502020204030204" pitchFamily="34" charset="0"/>
              </a:rPr>
              <a:t>how their data will be used (for example, whether their details will be anonymized so no one can recognize them in the research report) and how the research findings will be disseminated.</a:t>
            </a:r>
          </a:p>
        </p:txBody>
      </p:sp>
    </p:spTree>
    <p:extLst>
      <p:ext uri="{BB962C8B-B14F-4D97-AF65-F5344CB8AC3E}">
        <p14:creationId xmlns:p14="http://schemas.microsoft.com/office/powerpoint/2010/main" val="393979686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187628"/>
            <a:ext cx="10753194" cy="4248472"/>
          </a:xfrm>
        </p:spPr>
        <p:txBody>
          <a:bodyPr/>
          <a:lstStyle/>
          <a:p>
            <a:pPr marR="0" lvl="0" indent="0" fontAlgn="base">
              <a:lnSpc>
                <a:spcPct val="103000"/>
              </a:lnSpc>
              <a:spcBef>
                <a:spcPts val="0"/>
              </a:spcBef>
              <a:buClr>
                <a:srgbClr val="2DA2BF"/>
              </a:buClr>
              <a:buSzPts val="1650"/>
            </a:pPr>
            <a:r>
              <a:rPr lang="en-US" sz="2400" b="1" u="sng" kern="100" dirty="0">
                <a:solidFill>
                  <a:srgbClr val="000000"/>
                </a:solidFill>
                <a:latin typeface="+mj-lt"/>
                <a:ea typeface="Calibri" panose="020F0502020204030204" pitchFamily="34" charset="0"/>
              </a:rPr>
              <a:t>Right to anonymity: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Confidentiality is essential</a:t>
            </a:r>
            <a:r>
              <a:rPr lang="en-US" sz="2400" kern="100" dirty="0">
                <a:solidFill>
                  <a:srgbClr val="000000"/>
                </a:solidFill>
                <a:latin typeface="+mj-lt"/>
                <a:ea typeface="Calibri" panose="020F0502020204030204" pitchFamily="34" charset="0"/>
              </a:rPr>
              <a:t>: Protect participants' identities and locations. Use pseudonyms or disguise details if needed.</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Minimize risk of identification</a:t>
            </a:r>
            <a:r>
              <a:rPr lang="en-US" sz="2400" kern="100" dirty="0">
                <a:solidFill>
                  <a:srgbClr val="000000"/>
                </a:solidFill>
                <a:latin typeface="+mj-lt"/>
                <a:ea typeface="Calibri" panose="020F0502020204030204" pitchFamily="34" charset="0"/>
              </a:rPr>
              <a:t>: Change details (gender, location) to prevent readers from recognizing participants, especially in small groups.</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Protect organizations too</a:t>
            </a:r>
            <a:r>
              <a:rPr lang="en-US" sz="2400" kern="100" dirty="0">
                <a:solidFill>
                  <a:srgbClr val="000000"/>
                </a:solidFill>
                <a:latin typeface="+mj-lt"/>
                <a:ea typeface="Calibri" panose="020F0502020204030204" pitchFamily="34" charset="0"/>
              </a:rPr>
              <a:t>: Keep identities of companies confidential unless they explicitly grant permission to be named.</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Transparency with organizations</a:t>
            </a:r>
            <a:r>
              <a:rPr lang="en-US" sz="2400" kern="100" dirty="0">
                <a:solidFill>
                  <a:srgbClr val="000000"/>
                </a:solidFill>
                <a:latin typeface="+mj-lt"/>
                <a:ea typeface="Calibri" panose="020F0502020204030204" pitchFamily="34" charset="0"/>
              </a:rPr>
              <a:t>: Allow organizations to review your report and discuss publication plans before using their name.</a:t>
            </a:r>
          </a:p>
        </p:txBody>
      </p:sp>
    </p:spTree>
    <p:extLst>
      <p:ext uri="{BB962C8B-B14F-4D97-AF65-F5344CB8AC3E}">
        <p14:creationId xmlns:p14="http://schemas.microsoft.com/office/powerpoint/2010/main" val="424845017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3.3 </a:t>
            </a:r>
            <a:r>
              <a:rPr lang="en-US" sz="1800" dirty="0"/>
              <a:t>Rights of People Directly Involved </a:t>
            </a:r>
            <a:br>
              <a:rPr lang="de-DE" sz="1200" dirty="0"/>
            </a:br>
            <a:r>
              <a:rPr lang="de-DE" sz="3200" dirty="0"/>
              <a:t>Rights of the Participants</a:t>
            </a: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400" b="1" u="sng" kern="100" dirty="0">
                <a:solidFill>
                  <a:srgbClr val="000000"/>
                </a:solidFill>
                <a:latin typeface="+mj-lt"/>
                <a:ea typeface="Calibri" panose="020F0502020204030204" pitchFamily="34" charset="0"/>
              </a:rPr>
              <a:t>Right to confidentiality: </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Confidentiality of data</a:t>
            </a:r>
            <a:r>
              <a:rPr lang="en-US" sz="2400" kern="100" dirty="0">
                <a:solidFill>
                  <a:srgbClr val="000000"/>
                </a:solidFill>
                <a:latin typeface="+mj-lt"/>
                <a:ea typeface="Calibri" panose="020F0502020204030204" pitchFamily="34" charset="0"/>
              </a:rPr>
              <a:t>: Securely store research data to prevent unauthorized access.</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Respecting participant confidentiality</a:t>
            </a:r>
            <a:r>
              <a:rPr lang="en-US" sz="2400" kern="100" dirty="0">
                <a:solidFill>
                  <a:srgbClr val="000000"/>
                </a:solidFill>
                <a:latin typeface="+mj-lt"/>
                <a:ea typeface="Calibri" panose="020F0502020204030204" pitchFamily="34" charset="0"/>
              </a:rPr>
              <a:t>: If someone shares information "in confidence," don't use it without their explicit permission (even for anonymized reporting).</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Confidentiality agreements with organizations</a:t>
            </a:r>
            <a:r>
              <a:rPr lang="en-US" sz="2400" kern="100" dirty="0">
                <a:solidFill>
                  <a:srgbClr val="000000"/>
                </a:solidFill>
                <a:latin typeface="+mj-lt"/>
                <a:ea typeface="Calibri" panose="020F0502020204030204" pitchFamily="34" charset="0"/>
              </a:rPr>
              <a:t>: Discuss confidentiality expectations before starting research. Permission might be granted for disguised publication or with a publication delay.</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b="1" kern="100" dirty="0">
                <a:solidFill>
                  <a:srgbClr val="000000"/>
                </a:solidFill>
                <a:latin typeface="+mj-lt"/>
                <a:ea typeface="Calibri" panose="020F0502020204030204" pitchFamily="34" charset="0"/>
              </a:rPr>
              <a:t>Maintain participant trust</a:t>
            </a:r>
            <a:r>
              <a:rPr lang="en-US" sz="2400" kern="100" dirty="0">
                <a:solidFill>
                  <a:srgbClr val="000000"/>
                </a:solidFill>
                <a:latin typeface="+mj-lt"/>
                <a:ea typeface="Calibri" panose="020F0502020204030204" pitchFamily="34" charset="0"/>
              </a:rPr>
              <a:t>: Don't share information with authorities unless participants give consent. This can be a challenge, especially if wrongdoing is discovered.</a:t>
            </a:r>
          </a:p>
        </p:txBody>
      </p:sp>
    </p:spTree>
    <p:extLst>
      <p:ext uri="{BB962C8B-B14F-4D97-AF65-F5344CB8AC3E}">
        <p14:creationId xmlns:p14="http://schemas.microsoft.com/office/powerpoint/2010/main" val="269449863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de-DE" sz="3200" dirty="0"/>
              <a:t>Key Points</a:t>
            </a: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3200" b="1" kern="100" dirty="0">
                <a:solidFill>
                  <a:srgbClr val="000000"/>
                </a:solidFill>
                <a:latin typeface="+mj-lt"/>
                <a:ea typeface="Calibri" panose="020F0502020204030204" pitchFamily="34" charset="0"/>
              </a:rPr>
              <a:t>Building on the rights of research participants:</a:t>
            </a:r>
          </a:p>
          <a:p>
            <a:pPr marR="0" lvl="0" indent="0" fontAlgn="base">
              <a:lnSpc>
                <a:spcPct val="103000"/>
              </a:lnSpc>
              <a:spcBef>
                <a:spcPts val="0"/>
              </a:spcBef>
              <a:buClr>
                <a:srgbClr val="2DA2BF"/>
              </a:buClr>
              <a:buSzPts val="1650"/>
            </a:pPr>
            <a:r>
              <a:rPr lang="en-US" sz="2400" b="1" kern="100" dirty="0">
                <a:solidFill>
                  <a:srgbClr val="000000"/>
                </a:solidFill>
                <a:latin typeface="+mj-lt"/>
                <a:ea typeface="Calibri" panose="020F0502020204030204" pitchFamily="34" charset="0"/>
              </a:rPr>
              <a:t>Respect anonymity and confidentiality</a:t>
            </a:r>
            <a:r>
              <a:rPr lang="en-US" sz="2400" kern="100" dirty="0">
                <a:solidFill>
                  <a:srgbClr val="000000"/>
                </a:solidFill>
                <a:latin typeface="+mj-lt"/>
                <a:ea typeface="Calibri" panose="020F0502020204030204" pitchFamily="34" charset="0"/>
              </a:rPr>
              <a:t>: Uphold participant expectations of privacy as discussed earlier.</a:t>
            </a:r>
          </a:p>
          <a:p>
            <a:pPr marR="0" lvl="0" indent="0" fontAlgn="base">
              <a:lnSpc>
                <a:spcPct val="103000"/>
              </a:lnSpc>
              <a:spcBef>
                <a:spcPts val="0"/>
              </a:spcBef>
              <a:buClr>
                <a:srgbClr val="2DA2BF"/>
              </a:buClr>
              <a:buSzPts val="1650"/>
            </a:pPr>
            <a:r>
              <a:rPr lang="en-US" sz="2400" b="1" kern="100" dirty="0">
                <a:solidFill>
                  <a:srgbClr val="000000"/>
                </a:solidFill>
                <a:latin typeface="+mj-lt"/>
                <a:ea typeface="Calibri" panose="020F0502020204030204" pitchFamily="34" charset="0"/>
              </a:rPr>
              <a:t>Avoid coercion</a:t>
            </a:r>
            <a:r>
              <a:rPr lang="en-US" sz="2400" kern="100" dirty="0">
                <a:solidFill>
                  <a:srgbClr val="000000"/>
                </a:solidFill>
                <a:latin typeface="+mj-lt"/>
                <a:ea typeface="Calibri" panose="020F0502020204030204" pitchFamily="34" charset="0"/>
              </a:rPr>
              <a:t>: Don't pressure people to participate through persuasion or power imbalances.</a:t>
            </a:r>
          </a:p>
          <a:p>
            <a:pPr marR="0" lvl="0" indent="0" fontAlgn="base">
              <a:lnSpc>
                <a:spcPct val="103000"/>
              </a:lnSpc>
              <a:spcBef>
                <a:spcPts val="0"/>
              </a:spcBef>
              <a:buClr>
                <a:srgbClr val="2DA2BF"/>
              </a:buClr>
              <a:buSzPts val="1650"/>
            </a:pPr>
            <a:r>
              <a:rPr lang="en-US" sz="2400" b="1" kern="100" dirty="0">
                <a:solidFill>
                  <a:srgbClr val="000000"/>
                </a:solidFill>
                <a:latin typeface="+mj-lt"/>
                <a:ea typeface="Calibri" panose="020F0502020204030204" pitchFamily="34" charset="0"/>
              </a:rPr>
              <a:t>Obtain informed consent</a:t>
            </a:r>
            <a:r>
              <a:rPr lang="en-US" sz="2400" kern="100" dirty="0">
                <a:solidFill>
                  <a:srgbClr val="000000"/>
                </a:solidFill>
                <a:latin typeface="+mj-lt"/>
                <a:ea typeface="Calibri" panose="020F0502020204030204" pitchFamily="34" charset="0"/>
              </a:rPr>
              <a:t>: Be transparent about the research and avoid deception (except in rare, harmless situations).</a:t>
            </a:r>
          </a:p>
          <a:p>
            <a:pPr marR="0" lvl="0" indent="0" fontAlgn="base">
              <a:lnSpc>
                <a:spcPct val="103000"/>
              </a:lnSpc>
              <a:spcBef>
                <a:spcPts val="0"/>
              </a:spcBef>
              <a:buClr>
                <a:srgbClr val="2DA2BF"/>
              </a:buClr>
              <a:buSzPts val="1650"/>
            </a:pPr>
            <a:r>
              <a:rPr lang="en-US" sz="3600" b="1" kern="100" dirty="0">
                <a:solidFill>
                  <a:srgbClr val="000000"/>
                </a:solidFill>
                <a:latin typeface="+mj-lt"/>
                <a:ea typeface="Calibri" panose="020F0502020204030204" pitchFamily="34" charset="0"/>
              </a:rPr>
              <a:t>Additional ethical duties:</a:t>
            </a:r>
          </a:p>
          <a:p>
            <a:pPr marR="0" lvl="0" indent="0" fontAlgn="base">
              <a:lnSpc>
                <a:spcPct val="103000"/>
              </a:lnSpc>
              <a:spcBef>
                <a:spcPts val="0"/>
              </a:spcBef>
              <a:buClr>
                <a:srgbClr val="2DA2BF"/>
              </a:buClr>
              <a:buSzPts val="1650"/>
            </a:pPr>
            <a:r>
              <a:rPr lang="en-US" sz="2400" b="1" kern="100" dirty="0">
                <a:solidFill>
                  <a:srgbClr val="000000"/>
                </a:solidFill>
                <a:latin typeface="+mj-lt"/>
                <a:ea typeface="Calibri" panose="020F0502020204030204" pitchFamily="34" charset="0"/>
              </a:rPr>
              <a:t>Responsibilities beyond participants</a:t>
            </a:r>
            <a:r>
              <a:rPr lang="en-US" sz="2400" kern="100" dirty="0">
                <a:solidFill>
                  <a:srgbClr val="000000"/>
                </a:solidFill>
                <a:latin typeface="+mj-lt"/>
                <a:ea typeface="Calibri" panose="020F0502020204030204" pitchFamily="34" charset="0"/>
              </a:rPr>
              <a:t>: Ethical considerations extend to the wider academic community involved indirectly.</a:t>
            </a:r>
          </a:p>
        </p:txBody>
      </p:sp>
    </p:spTree>
    <p:extLst>
      <p:ext uri="{BB962C8B-B14F-4D97-AF65-F5344CB8AC3E}">
        <p14:creationId xmlns:p14="http://schemas.microsoft.com/office/powerpoint/2010/main" val="410343847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No unnecessary intrusion</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Behave with integrity</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Follow appropriate professional codes of conduct</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No plagiarism</a:t>
            </a:r>
          </a:p>
          <a:p>
            <a:pPr marL="457200" marR="0" lvl="0" indent="-457200" fontAlgn="base">
              <a:lnSpc>
                <a:spcPct val="103000"/>
              </a:lnSpc>
              <a:spcBef>
                <a:spcPts val="0"/>
              </a:spcBef>
              <a:buClr>
                <a:srgbClr val="2DA2BF"/>
              </a:buClr>
              <a:buSzPts val="1650"/>
              <a:buFont typeface="Arial" panose="020B0604020202020204" pitchFamily="34" charset="0"/>
              <a:buChar char="•"/>
            </a:pPr>
            <a:r>
              <a:rPr lang="en-US" sz="2400" kern="100" dirty="0">
                <a:solidFill>
                  <a:srgbClr val="000000"/>
                </a:solidFill>
                <a:latin typeface="+mj-lt"/>
                <a:ea typeface="Calibri" panose="020F0502020204030204" pitchFamily="34" charset="0"/>
              </a:rPr>
              <a:t>Be an ethical reviewer</a:t>
            </a:r>
            <a:endParaRPr lang="en-US" sz="1800" kern="100" dirty="0">
              <a:solidFill>
                <a:srgbClr val="000000"/>
              </a:solidFill>
              <a:latin typeface="+mj-lt"/>
              <a:ea typeface="Calibri" panose="020F0502020204030204" pitchFamily="34" charset="0"/>
            </a:endParaRPr>
          </a:p>
        </p:txBody>
      </p:sp>
    </p:spTree>
    <p:extLst>
      <p:ext uri="{BB962C8B-B14F-4D97-AF65-F5344CB8AC3E}">
        <p14:creationId xmlns:p14="http://schemas.microsoft.com/office/powerpoint/2010/main" val="12079954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No unnecessary intrusion:</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Minimize intrusion</a:t>
            </a:r>
            <a:r>
              <a:rPr lang="en-US" sz="2800" kern="100" dirty="0">
                <a:solidFill>
                  <a:srgbClr val="000000"/>
                </a:solidFill>
                <a:latin typeface="+mj-lt"/>
                <a:ea typeface="Calibri" panose="020F0502020204030204" pitchFamily="34" charset="0"/>
              </a:rPr>
              <a:t>: Only collect data essential to your research. Avoid unnecessary questions or activities that might disrupt participants.</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Respect participant privacy</a:t>
            </a:r>
            <a:r>
              <a:rPr lang="en-US" sz="2800" kern="100" dirty="0">
                <a:solidFill>
                  <a:srgbClr val="000000"/>
                </a:solidFill>
                <a:latin typeface="+mj-lt"/>
                <a:ea typeface="Calibri" panose="020F0502020204030204" pitchFamily="34" charset="0"/>
              </a:rPr>
              <a:t>: Before collecting data, confirm the information isn't already available. Avoid asking unnecessary details (e.g., exact age when an age range would work).</a:t>
            </a:r>
          </a:p>
        </p:txBody>
      </p:sp>
    </p:spTree>
    <p:extLst>
      <p:ext uri="{BB962C8B-B14F-4D97-AF65-F5344CB8AC3E}">
        <p14:creationId xmlns:p14="http://schemas.microsoft.com/office/powerpoint/2010/main" val="39030447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Behave with integrity:</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Accurate and complete data recording</a:t>
            </a:r>
            <a:r>
              <a:rPr lang="en-US" sz="2800" kern="100" dirty="0">
                <a:solidFill>
                  <a:srgbClr val="000000"/>
                </a:solidFill>
                <a:latin typeface="+mj-lt"/>
                <a:ea typeface="Calibri" panose="020F0502020204030204" pitchFamily="34" charset="0"/>
              </a:rPr>
              <a:t>: Report all data, even if it contradicts your hypothesis. Don't manipulate data to fit a desired outcome.</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Transparency and honesty</a:t>
            </a:r>
            <a:r>
              <a:rPr lang="en-US" sz="2800" kern="100" dirty="0">
                <a:solidFill>
                  <a:srgbClr val="000000"/>
                </a:solidFill>
                <a:latin typeface="+mj-lt"/>
                <a:ea typeface="Calibri" panose="020F0502020204030204" pitchFamily="34" charset="0"/>
              </a:rPr>
              <a:t>: Be open about your research methods and results. Avoid falsification or fabrication.</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Data security</a:t>
            </a:r>
            <a:r>
              <a:rPr lang="en-US" sz="2800" kern="100" dirty="0">
                <a:solidFill>
                  <a:srgbClr val="000000"/>
                </a:solidFill>
                <a:latin typeface="+mj-lt"/>
                <a:ea typeface="Calibri" panose="020F0502020204030204" pitchFamily="34" charset="0"/>
              </a:rPr>
              <a:t>: Securely store data (both physical and digital) to prevent unauthorized access. Consider password protection, network security, backups, and data breach risks.</a:t>
            </a:r>
          </a:p>
        </p:txBody>
      </p:sp>
    </p:spTree>
    <p:extLst>
      <p:ext uri="{BB962C8B-B14F-4D97-AF65-F5344CB8AC3E}">
        <p14:creationId xmlns:p14="http://schemas.microsoft.com/office/powerpoint/2010/main" val="76107968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Behave with integrity (Cont.):</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Participant debriefing</a:t>
            </a:r>
            <a:r>
              <a:rPr lang="en-US" sz="2800" kern="100" dirty="0">
                <a:solidFill>
                  <a:srgbClr val="000000"/>
                </a:solidFill>
                <a:latin typeface="+mj-lt"/>
                <a:ea typeface="Calibri" panose="020F0502020204030204" pitchFamily="34" charset="0"/>
              </a:rPr>
              <a:t>: When possible, provide feedback to participants, allowing them to learn from the research. Consider involving a counselor if the findings might be upsetting.</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Responsible use of findings</a:t>
            </a:r>
            <a:r>
              <a:rPr lang="en-US" sz="2800" kern="100" dirty="0">
                <a:solidFill>
                  <a:srgbClr val="000000"/>
                </a:solidFill>
                <a:latin typeface="+mj-lt"/>
                <a:ea typeface="Calibri" panose="020F0502020204030204" pitchFamily="34" charset="0"/>
              </a:rPr>
              <a:t>: Evaluate the potential harms of your research and consider if it should be conducted if the results could be misused.</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Transparency of funding</a:t>
            </a:r>
            <a:r>
              <a:rPr lang="en-US" sz="2800" kern="100" dirty="0">
                <a:solidFill>
                  <a:srgbClr val="000000"/>
                </a:solidFill>
                <a:latin typeface="+mj-lt"/>
                <a:ea typeface="Calibri" panose="020F0502020204030204" pitchFamily="34" charset="0"/>
              </a:rPr>
              <a:t>: Disclose research sponsors to allow readers to assess potential bias. This is especially important in fields like medical research.</a:t>
            </a:r>
          </a:p>
        </p:txBody>
      </p:sp>
    </p:spTree>
    <p:extLst>
      <p:ext uri="{BB962C8B-B14F-4D97-AF65-F5344CB8AC3E}">
        <p14:creationId xmlns:p14="http://schemas.microsoft.com/office/powerpoint/2010/main" val="134888909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Follow appropriate professional codes of conduct:</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Ethical codes from professional bodies</a:t>
            </a:r>
            <a:r>
              <a:rPr lang="en-US" sz="2800" kern="100" dirty="0">
                <a:solidFill>
                  <a:srgbClr val="000000"/>
                </a:solidFill>
                <a:latin typeface="+mj-lt"/>
                <a:ea typeface="Calibri" panose="020F0502020204030204" pitchFamily="34" charset="0"/>
              </a:rPr>
              <a:t>: Many professions have codes of conduct outlining ethical responsibilities for members. These can be a valuable resource for researchers, even if not formally affiliated with a professional body.</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Relevant codes for IS/Computing research</a:t>
            </a:r>
            <a:r>
              <a:rPr lang="en-US" sz="2800" kern="100" dirty="0">
                <a:solidFill>
                  <a:srgbClr val="000000"/>
                </a:solidFill>
                <a:latin typeface="+mj-lt"/>
                <a:ea typeface="Calibri" panose="020F0502020204030204" pitchFamily="34" charset="0"/>
              </a:rPr>
              <a:t>: Consider codes from NEC, ACM, AIS, BCS, IEEE, and the Association of Internet Researchers.</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Additional resources</a:t>
            </a:r>
            <a:r>
              <a:rPr lang="en-US" sz="2800" kern="100" dirty="0">
                <a:solidFill>
                  <a:srgbClr val="000000"/>
                </a:solidFill>
                <a:latin typeface="+mj-lt"/>
                <a:ea typeface="Calibri" panose="020F0502020204030204" pitchFamily="34" charset="0"/>
              </a:rPr>
              <a:t>: Codes from social science bodies like psychology and sociology can also offer guidance for IS/Computing research involving human participants.</a:t>
            </a:r>
          </a:p>
        </p:txBody>
      </p:sp>
    </p:spTree>
    <p:extLst>
      <p:ext uri="{BB962C8B-B14F-4D97-AF65-F5344CB8AC3E}">
        <p14:creationId xmlns:p14="http://schemas.microsoft.com/office/powerpoint/2010/main" val="2891106955"/>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r>
              <a:rPr lang="en-US" sz="2800" b="1" i="0" dirty="0">
                <a:solidFill>
                  <a:srgbClr val="000000"/>
                </a:solidFill>
                <a:effectLst/>
                <a:latin typeface="Calibri (Headings)"/>
              </a:rPr>
              <a:t>Examples of professional codes of conduct relevant to IS and computing research</a:t>
            </a:r>
          </a:p>
          <a:p>
            <a:pPr marL="457200" indent="-457200">
              <a:buFont typeface="Arial" panose="020B0604020202020204" pitchFamily="34" charset="0"/>
              <a:buChar char="•"/>
            </a:pPr>
            <a:r>
              <a:rPr lang="en-US" sz="2400" b="0" i="0" dirty="0">
                <a:solidFill>
                  <a:srgbClr val="FF0000"/>
                </a:solidFill>
                <a:effectLst/>
                <a:latin typeface="Calibri (Headings)"/>
              </a:rPr>
              <a:t>ACM Association for Computing Machinery </a:t>
            </a:r>
            <a:r>
              <a:rPr lang="en-US" sz="2400" b="0" i="0" dirty="0">
                <a:solidFill>
                  <a:srgbClr val="000000"/>
                </a:solidFill>
                <a:effectLst/>
                <a:latin typeface="Calibri (Headings)"/>
              </a:rPr>
              <a:t>(</a:t>
            </a:r>
            <a:r>
              <a:rPr lang="en-US" sz="2400" b="0" i="0" dirty="0">
                <a:solidFill>
                  <a:srgbClr val="0000EE"/>
                </a:solidFill>
                <a:effectLst/>
                <a:latin typeface="Calibri (Headings)"/>
                <a:hlinkClick r:id="rId3"/>
              </a:rPr>
              <a:t>www.acm.org</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buFont typeface="Arial" panose="020B0604020202020204" pitchFamily="34" charset="0"/>
              <a:buChar char="•"/>
            </a:pPr>
            <a:r>
              <a:rPr lang="en-US" sz="2400" b="0" i="0" dirty="0" err="1">
                <a:solidFill>
                  <a:srgbClr val="000000"/>
                </a:solidFill>
                <a:effectLst/>
                <a:latin typeface="Calibri (Headings)"/>
              </a:rPr>
              <a:t>AoIR</a:t>
            </a:r>
            <a:r>
              <a:rPr lang="en-US" sz="2400" b="0" i="0" dirty="0">
                <a:solidFill>
                  <a:srgbClr val="000000"/>
                </a:solidFill>
                <a:effectLst/>
                <a:latin typeface="Calibri (Headings)"/>
              </a:rPr>
              <a:t> Association of Internet Researchers (</a:t>
            </a:r>
            <a:r>
              <a:rPr lang="en-US" sz="2400" b="0" i="0" dirty="0">
                <a:solidFill>
                  <a:srgbClr val="0000EE"/>
                </a:solidFill>
                <a:effectLst/>
                <a:latin typeface="Calibri (Headings)"/>
                <a:hlinkClick r:id="rId4"/>
              </a:rPr>
              <a:t>www.aoir.org</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buFont typeface="Arial" panose="020B0604020202020204" pitchFamily="34" charset="0"/>
              <a:buChar char="•"/>
            </a:pPr>
            <a:r>
              <a:rPr lang="en-US" sz="2400" b="0" i="0" dirty="0">
                <a:solidFill>
                  <a:srgbClr val="000000"/>
                </a:solidFill>
                <a:effectLst/>
                <a:latin typeface="Calibri (Headings)"/>
              </a:rPr>
              <a:t>AIS Association for Information Systems (</a:t>
            </a:r>
            <a:r>
              <a:rPr lang="en-US" sz="2400" b="0" i="0" dirty="0">
                <a:solidFill>
                  <a:srgbClr val="0000EE"/>
                </a:solidFill>
                <a:effectLst/>
                <a:latin typeface="Calibri (Headings)"/>
                <a:hlinkClick r:id="rId5"/>
              </a:rPr>
              <a:t>www.aisnet.org</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buFont typeface="Arial" panose="020B0604020202020204" pitchFamily="34" charset="0"/>
              <a:buChar char="•"/>
            </a:pPr>
            <a:r>
              <a:rPr lang="en-US" sz="2400" b="0" i="0" dirty="0">
                <a:solidFill>
                  <a:srgbClr val="000000"/>
                </a:solidFill>
                <a:effectLst/>
                <a:latin typeface="Calibri (Headings)"/>
              </a:rPr>
              <a:t>APA American Psychological Association (</a:t>
            </a:r>
            <a:r>
              <a:rPr lang="en-US" sz="2400" b="0" i="0" dirty="0">
                <a:solidFill>
                  <a:srgbClr val="0000EE"/>
                </a:solidFill>
                <a:effectLst/>
                <a:latin typeface="Calibri (Headings)"/>
                <a:hlinkClick r:id="rId6"/>
              </a:rPr>
              <a:t>www.apa.org</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lgn="l">
              <a:spcBef>
                <a:spcPts val="0"/>
              </a:spcBef>
              <a:buFont typeface="Arial" panose="020B0604020202020204" pitchFamily="34" charset="0"/>
              <a:buChar char="•"/>
            </a:pPr>
            <a:r>
              <a:rPr lang="en-US" sz="2400" b="0" i="0" dirty="0">
                <a:solidFill>
                  <a:srgbClr val="000000"/>
                </a:solidFill>
                <a:effectLst/>
                <a:latin typeface="Calibri (Headings)"/>
              </a:rPr>
              <a:t>ASA American Sociological Association (</a:t>
            </a:r>
            <a:r>
              <a:rPr lang="en-US" sz="2400" b="0" i="0" dirty="0">
                <a:solidFill>
                  <a:srgbClr val="0000EE"/>
                </a:solidFill>
                <a:effectLst/>
                <a:latin typeface="Calibri (Headings)"/>
                <a:hlinkClick r:id="rId7"/>
              </a:rPr>
              <a:t>www.asanet.org</a:t>
            </a:r>
            <a:r>
              <a:rPr lang="en-US" sz="2400" b="0" i="0" dirty="0">
                <a:solidFill>
                  <a:schemeClr val="tx1"/>
                </a:solidFill>
                <a:effectLst/>
                <a:latin typeface="Calibri (Headings)"/>
              </a:rPr>
              <a:t>) </a:t>
            </a:r>
          </a:p>
          <a:p>
            <a:pPr marL="457200" indent="-457200" algn="l">
              <a:spcBef>
                <a:spcPts val="0"/>
              </a:spcBef>
              <a:buFont typeface="Arial" panose="020B0604020202020204" pitchFamily="34" charset="0"/>
              <a:buChar char="•"/>
            </a:pPr>
            <a:r>
              <a:rPr lang="en-US" sz="2400" b="0" i="0" dirty="0">
                <a:solidFill>
                  <a:srgbClr val="000000"/>
                </a:solidFill>
                <a:effectLst/>
                <a:latin typeface="Calibri (Headings)"/>
              </a:rPr>
              <a:t>BCS British Computer Society (</a:t>
            </a:r>
            <a:r>
              <a:rPr lang="en-US" sz="2400" b="0" i="0" dirty="0">
                <a:solidFill>
                  <a:srgbClr val="0000EE"/>
                </a:solidFill>
                <a:effectLst/>
                <a:latin typeface="Calibri (Headings)"/>
                <a:hlinkClick r:id="rId8"/>
              </a:rPr>
              <a:t>www.bcs.org.uk</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lgn="l">
              <a:spcBef>
                <a:spcPts val="0"/>
              </a:spcBef>
              <a:buFont typeface="Arial" panose="020B0604020202020204" pitchFamily="34" charset="0"/>
              <a:buChar char="•"/>
            </a:pPr>
            <a:r>
              <a:rPr lang="en-US" sz="2400" b="0" i="0" dirty="0">
                <a:solidFill>
                  <a:srgbClr val="000000"/>
                </a:solidFill>
                <a:effectLst/>
                <a:latin typeface="Calibri (Headings)"/>
              </a:rPr>
              <a:t>BPS British Psychological Society (</a:t>
            </a:r>
            <a:r>
              <a:rPr lang="en-US" sz="2400" b="0" i="0" dirty="0">
                <a:solidFill>
                  <a:srgbClr val="0000EE"/>
                </a:solidFill>
                <a:effectLst/>
                <a:latin typeface="Calibri (Headings)"/>
                <a:hlinkClick r:id="rId9"/>
              </a:rPr>
              <a:t>www.bps.org.uk</a:t>
            </a:r>
            <a:r>
              <a:rPr lang="en-US" sz="2400" b="0" i="0" dirty="0">
                <a:solidFill>
                  <a:schemeClr val="tx1"/>
                </a:solidFill>
                <a:effectLst/>
                <a:latin typeface="Calibri (Headings)"/>
              </a:rPr>
              <a:t>)</a:t>
            </a:r>
            <a:r>
              <a:rPr lang="en-US" sz="2400" b="0" i="0" dirty="0">
                <a:solidFill>
                  <a:srgbClr val="0000EE"/>
                </a:solidFill>
                <a:effectLst/>
                <a:latin typeface="Calibri (Headings)"/>
              </a:rPr>
              <a:t> </a:t>
            </a:r>
          </a:p>
          <a:p>
            <a:pPr marL="457200" indent="-457200" algn="l">
              <a:spcBef>
                <a:spcPts val="0"/>
              </a:spcBef>
              <a:buFont typeface="Arial" panose="020B0604020202020204" pitchFamily="34" charset="0"/>
              <a:buChar char="•"/>
            </a:pPr>
            <a:r>
              <a:rPr lang="en-US" sz="2400" b="0" i="0" dirty="0">
                <a:solidFill>
                  <a:srgbClr val="000000"/>
                </a:solidFill>
                <a:effectLst/>
                <a:latin typeface="Calibri (Headings)"/>
              </a:rPr>
              <a:t>BSA British Sociological Association (</a:t>
            </a:r>
            <a:r>
              <a:rPr lang="en-US" sz="2400" b="0" i="0" dirty="0">
                <a:solidFill>
                  <a:srgbClr val="0000EE"/>
                </a:solidFill>
                <a:effectLst/>
                <a:latin typeface="Calibri (Headings)"/>
                <a:hlinkClick r:id="rId10"/>
              </a:rPr>
              <a:t>www.britsoc.co.uk</a:t>
            </a:r>
            <a:r>
              <a:rPr lang="en-US" sz="2400" b="0" i="0" dirty="0">
                <a:solidFill>
                  <a:schemeClr val="tx1"/>
                </a:solidFill>
                <a:effectLst/>
                <a:latin typeface="Calibri (Headings)"/>
              </a:rPr>
              <a:t>)</a:t>
            </a:r>
          </a:p>
          <a:p>
            <a:pPr marL="457200" indent="-457200" algn="l">
              <a:spcBef>
                <a:spcPts val="0"/>
              </a:spcBef>
              <a:buFont typeface="Arial" panose="020B0604020202020204" pitchFamily="34" charset="0"/>
              <a:buChar char="•"/>
            </a:pPr>
            <a:r>
              <a:rPr lang="en-US" sz="2400" b="0" i="0" dirty="0">
                <a:solidFill>
                  <a:srgbClr val="FF0000"/>
                </a:solidFill>
                <a:effectLst/>
                <a:latin typeface="Calibri (Headings)"/>
              </a:rPr>
              <a:t>IEEE Institute of Electrical and Electronics Engineers </a:t>
            </a:r>
            <a:r>
              <a:rPr lang="en-US" sz="2400" b="0" i="0" dirty="0">
                <a:solidFill>
                  <a:srgbClr val="0000EE"/>
                </a:solidFill>
                <a:effectLst/>
                <a:latin typeface="Calibri (Headings)"/>
              </a:rPr>
              <a:t>(www.ieee.org) </a:t>
            </a:r>
          </a:p>
          <a:p>
            <a:pPr marL="457200" indent="-457200" algn="l">
              <a:spcBef>
                <a:spcPts val="0"/>
              </a:spcBef>
              <a:buFont typeface="Arial" panose="020B0604020202020204" pitchFamily="34" charset="0"/>
              <a:buChar char="•"/>
            </a:pPr>
            <a:r>
              <a:rPr lang="en-US" sz="2400" b="0" i="0" dirty="0">
                <a:solidFill>
                  <a:srgbClr val="FF0000"/>
                </a:solidFill>
                <a:effectLst/>
                <a:latin typeface="Calibri (Headings)"/>
              </a:rPr>
              <a:t>NEC Nepal Engineering C</a:t>
            </a:r>
            <a:r>
              <a:rPr lang="en-US" sz="2400" dirty="0">
                <a:solidFill>
                  <a:srgbClr val="FF0000"/>
                </a:solidFill>
                <a:latin typeface="Calibri (Headings)"/>
              </a:rPr>
              <a:t>ouncil </a:t>
            </a:r>
            <a:r>
              <a:rPr lang="en-US" sz="2400" dirty="0">
                <a:solidFill>
                  <a:srgbClr val="0000EE"/>
                </a:solidFill>
                <a:latin typeface="Calibri (Headings)"/>
              </a:rPr>
              <a:t>(www.nec.gov.np)</a:t>
            </a:r>
            <a:endParaRPr lang="en-US" sz="2400" b="0" i="0" dirty="0">
              <a:solidFill>
                <a:srgbClr val="0000EE"/>
              </a:solidFill>
              <a:effectLst/>
              <a:latin typeface="Calibri (Headings)"/>
            </a:endParaRPr>
          </a:p>
          <a:p>
            <a:endParaRPr lang="en-US" sz="2800" b="0" i="0" dirty="0">
              <a:solidFill>
                <a:srgbClr val="0000EE"/>
              </a:solidFill>
              <a:effectLst/>
              <a:latin typeface="Calibri (Headings)"/>
            </a:endParaRPr>
          </a:p>
        </p:txBody>
      </p:sp>
    </p:spTree>
    <p:extLst>
      <p:ext uri="{BB962C8B-B14F-4D97-AF65-F5344CB8AC3E}">
        <p14:creationId xmlns:p14="http://schemas.microsoft.com/office/powerpoint/2010/main" val="84711517"/>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No plagiarism:</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Citation and Originality:  </a:t>
            </a:r>
            <a:r>
              <a:rPr lang="en-US" sz="2800" kern="100" dirty="0">
                <a:solidFill>
                  <a:srgbClr val="000000"/>
                </a:solidFill>
                <a:latin typeface="+mj-lt"/>
                <a:ea typeface="Calibri" panose="020F0502020204030204" pitchFamily="34" charset="0"/>
              </a:rPr>
              <a:t>Avoid plagiarism. Give proper credit to original authors with clear references that allow readers to locate the source material.</a:t>
            </a:r>
          </a:p>
          <a:p>
            <a:pPr marR="0" lvl="0" indent="0" fontAlgn="base">
              <a:lnSpc>
                <a:spcPct val="103000"/>
              </a:lnSpc>
              <a:spcBef>
                <a:spcPts val="0"/>
              </a:spcBef>
              <a:buClr>
                <a:srgbClr val="2DA2BF"/>
              </a:buClr>
              <a:buSzPts val="1650"/>
            </a:pPr>
            <a:endParaRPr lang="en-US" sz="2800" kern="100" dirty="0">
              <a:solidFill>
                <a:srgbClr val="000000"/>
              </a:solidFill>
              <a:latin typeface="+mj-lt"/>
              <a:ea typeface="Calibri" panose="020F0502020204030204" pitchFamily="34" charset="0"/>
            </a:endParaRPr>
          </a:p>
        </p:txBody>
      </p:sp>
    </p:spTree>
    <p:extLst>
      <p:ext uri="{BB962C8B-B14F-4D97-AF65-F5344CB8AC3E}">
        <p14:creationId xmlns:p14="http://schemas.microsoft.com/office/powerpoint/2010/main" val="390028351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sz="1800" dirty="0"/>
              <a:t>Unit 3.4 </a:t>
            </a:r>
            <a:r>
              <a:rPr lang="en-US" sz="1800" dirty="0"/>
              <a:t>Responsibilities of an Ethical Researcher</a:t>
            </a:r>
            <a:br>
              <a:rPr lang="de-DE" sz="1200" dirty="0"/>
            </a:br>
            <a:r>
              <a:rPr lang="en-US" sz="3200" dirty="0"/>
              <a:t>The responsibilities of an ethical researcher</a:t>
            </a:r>
            <a:br>
              <a:rPr lang="en-US" sz="3200" dirty="0"/>
            </a:br>
            <a:endParaRPr lang="de-DE" dirty="0"/>
          </a:p>
        </p:txBody>
      </p:sp>
      <p:sp>
        <p:nvSpPr>
          <p:cNvPr id="13" name="Inhaltsplatzhalter 3"/>
          <p:cNvSpPr>
            <a:spLocks noGrp="1"/>
          </p:cNvSpPr>
          <p:nvPr>
            <p:ph idx="1"/>
          </p:nvPr>
        </p:nvSpPr>
        <p:spPr>
          <a:xfrm>
            <a:off x="815414" y="1215060"/>
            <a:ext cx="10753194" cy="4248472"/>
          </a:xfrm>
        </p:spPr>
        <p:txBody>
          <a:bodyPr/>
          <a:lstStyle/>
          <a:p>
            <a:pPr marR="0" lvl="0" indent="0" fontAlgn="base">
              <a:lnSpc>
                <a:spcPct val="103000"/>
              </a:lnSpc>
              <a:spcBef>
                <a:spcPts val="0"/>
              </a:spcBef>
              <a:buClr>
                <a:srgbClr val="2DA2BF"/>
              </a:buClr>
              <a:buSzPts val="1650"/>
            </a:pPr>
            <a:r>
              <a:rPr lang="en-US" sz="2800" b="1" u="sng" kern="100" dirty="0">
                <a:solidFill>
                  <a:srgbClr val="000000"/>
                </a:solidFill>
                <a:latin typeface="+mj-lt"/>
                <a:ea typeface="Calibri" panose="020F0502020204030204" pitchFamily="34" charset="0"/>
              </a:rPr>
              <a:t>Be an ethical reviewer:</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Prompt review</a:t>
            </a:r>
            <a:r>
              <a:rPr lang="en-US" sz="2800" kern="100" dirty="0">
                <a:solidFill>
                  <a:srgbClr val="000000"/>
                </a:solidFill>
                <a:latin typeface="+mj-lt"/>
                <a:ea typeface="Calibri" panose="020F0502020204030204" pitchFamily="34" charset="0"/>
              </a:rPr>
              <a:t>: Complete manuscript reviews as quickly as possible to avoid delays in the publication process.</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Confidentiality</a:t>
            </a:r>
            <a:r>
              <a:rPr lang="en-US" sz="2800" kern="100" dirty="0">
                <a:solidFill>
                  <a:srgbClr val="000000"/>
                </a:solidFill>
                <a:latin typeface="+mj-lt"/>
                <a:ea typeface="Calibri" panose="020F0502020204030204" pitchFamily="34" charset="0"/>
              </a:rPr>
              <a:t>: To protect the author's trust, the reviewed content (ideas and data) should be kept secret.</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Professionalism</a:t>
            </a:r>
            <a:r>
              <a:rPr lang="en-US" sz="2800" kern="100" dirty="0">
                <a:solidFill>
                  <a:srgbClr val="000000"/>
                </a:solidFill>
                <a:latin typeface="+mj-lt"/>
                <a:ea typeface="Calibri" panose="020F0502020204030204" pitchFamily="34" charset="0"/>
              </a:rPr>
              <a:t>: Write clear and constructive reviews, avoiding illegible handwriting or unprofessional language.</a:t>
            </a:r>
          </a:p>
          <a:p>
            <a:pPr marR="0" lvl="0" indent="0" fontAlgn="base">
              <a:lnSpc>
                <a:spcPct val="103000"/>
              </a:lnSpc>
              <a:spcBef>
                <a:spcPts val="0"/>
              </a:spcBef>
              <a:buClr>
                <a:srgbClr val="2DA2BF"/>
              </a:buClr>
              <a:buSzPts val="1650"/>
            </a:pPr>
            <a:r>
              <a:rPr lang="en-US" sz="2800" b="1" kern="100" dirty="0">
                <a:solidFill>
                  <a:srgbClr val="000000"/>
                </a:solidFill>
                <a:latin typeface="+mj-lt"/>
                <a:ea typeface="Calibri" panose="020F0502020204030204" pitchFamily="34" charset="0"/>
              </a:rPr>
              <a:t>Balanced feedback</a:t>
            </a:r>
            <a:r>
              <a:rPr lang="en-US" sz="2800" kern="100" dirty="0">
                <a:solidFill>
                  <a:srgbClr val="000000"/>
                </a:solidFill>
                <a:latin typeface="+mj-lt"/>
                <a:ea typeface="Calibri" panose="020F0502020204030204" pitchFamily="34" charset="0"/>
              </a:rPr>
              <a:t>: Offer at least one positive aspect, even if recommending rejection. Suggest relevant citations to help the authors improve their work.</a:t>
            </a:r>
          </a:p>
        </p:txBody>
      </p:sp>
    </p:spTree>
    <p:extLst>
      <p:ext uri="{BB962C8B-B14F-4D97-AF65-F5344CB8AC3E}">
        <p14:creationId xmlns:p14="http://schemas.microsoft.com/office/powerpoint/2010/main" val="157016959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18152" y="4077072"/>
            <a:ext cx="12192000" cy="821953"/>
          </a:xfrm>
        </p:spPr>
        <p:txBody>
          <a:bodyPr/>
          <a:lstStyle/>
          <a:p>
            <a:r>
              <a:rPr lang="de-DE" dirty="0"/>
              <a:t>Thanks for Listening...</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el 2"/>
          <p:cNvSpPr>
            <a:spLocks noGrp="1"/>
          </p:cNvSpPr>
          <p:nvPr>
            <p:ph type="ctrTitle"/>
          </p:nvPr>
        </p:nvSpPr>
        <p:spPr/>
        <p:txBody>
          <a:bodyPr/>
          <a:lstStyle/>
          <a:p>
            <a:r>
              <a:rPr lang="de-DE" dirty="0">
                <a:solidFill>
                  <a:schemeClr val="accent4"/>
                </a:solidFill>
              </a:rPr>
              <a:t>Bonus: </a:t>
            </a:r>
            <a:r>
              <a:rPr lang="de-DE" dirty="0"/>
              <a:t>Over 30 Project Icons</a:t>
            </a:r>
          </a:p>
        </p:txBody>
      </p:sp>
      <p:sp>
        <p:nvSpPr>
          <p:cNvPr id="47" name="Inhaltsplatzhalter 46"/>
          <p:cNvSpPr>
            <a:spLocks noGrp="1"/>
          </p:cNvSpPr>
          <p:nvPr>
            <p:ph idx="1"/>
          </p:nvPr>
        </p:nvSpPr>
        <p:spPr/>
        <p:txBody>
          <a:bodyPr/>
          <a:lstStyle/>
          <a:p>
            <a:r>
              <a:rPr lang="de-DE" sz="2000" dirty="0"/>
              <a:t>       </a:t>
            </a:r>
            <a:r>
              <a:rPr lang="de-DE" sz="2000" b="1" dirty="0" err="1"/>
              <a:t>Lorem</a:t>
            </a:r>
            <a:r>
              <a:rPr lang="de-DE" sz="2000" b="1" dirty="0"/>
              <a:t> </a:t>
            </a:r>
            <a:r>
              <a:rPr lang="de-DE" sz="2000" b="1" dirty="0" err="1"/>
              <a:t>ipsum</a:t>
            </a:r>
            <a:r>
              <a:rPr lang="de-DE" sz="2000" b="1" dirty="0"/>
              <a:t> </a:t>
            </a:r>
            <a:r>
              <a:rPr lang="de-DE" sz="2000" b="1" dirty="0" err="1"/>
              <a:t>dolor</a:t>
            </a:r>
            <a:r>
              <a:rPr lang="de-DE" sz="2000" b="1" dirty="0"/>
              <a:t> </a:t>
            </a:r>
            <a:r>
              <a:rPr lang="de-DE" sz="2000" b="1" dirty="0" err="1"/>
              <a:t>sit</a:t>
            </a:r>
            <a:r>
              <a:rPr lang="de-DE" sz="2000" b="1" dirty="0"/>
              <a:t> </a:t>
            </a:r>
            <a:r>
              <a:rPr lang="de-DE" sz="2000" b="1" dirty="0" err="1"/>
              <a:t>amet</a:t>
            </a:r>
            <a:r>
              <a:rPr lang="de-DE" sz="2000" b="1" dirty="0"/>
              <a:t> </a:t>
            </a:r>
          </a:p>
          <a:p>
            <a:endParaRPr lang="de-DE" dirty="0"/>
          </a:p>
          <a:p>
            <a:r>
              <a:rPr lang="de-DE" dirty="0" err="1"/>
              <a:t>consetetur</a:t>
            </a:r>
            <a:r>
              <a:rPr lang="de-DE" dirty="0"/>
              <a:t> </a:t>
            </a:r>
            <a:r>
              <a:rPr lang="de-DE" dirty="0" err="1"/>
              <a:t>sadipscing</a:t>
            </a:r>
            <a:r>
              <a:rPr lang="de-DE" dirty="0"/>
              <a:t> </a:t>
            </a:r>
            <a:r>
              <a:rPr lang="de-DE" dirty="0" err="1"/>
              <a:t>elitr</a:t>
            </a:r>
            <a:r>
              <a:rPr lang="de-DE" dirty="0"/>
              <a:t>, </a:t>
            </a:r>
            <a:r>
              <a:rPr lang="de-DE" dirty="0" err="1"/>
              <a:t>sed</a:t>
            </a:r>
            <a:r>
              <a:rPr lang="de-DE" dirty="0"/>
              <a:t>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r>
          </a:p>
          <a:p>
            <a:endParaRPr lang="de-DE" dirty="0"/>
          </a:p>
          <a:p>
            <a:r>
              <a:rPr lang="de-DE" dirty="0"/>
              <a:t>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a:t>
            </a:r>
            <a:r>
              <a:rPr lang="de-DE" dirty="0" err="1"/>
              <a:t>sanctus</a:t>
            </a:r>
            <a:r>
              <a:rPr lang="de-DE" dirty="0"/>
              <a:t>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r>
              <a:rPr lang="de-DE" dirty="0" err="1"/>
              <a:t>sed</a:t>
            </a:r>
            <a:r>
              <a:rPr lang="de-DE" dirty="0"/>
              <a:t>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r>
              <a:rPr lang="de-DE" dirty="0"/>
              <a:t> </a:t>
            </a:r>
            <a:r>
              <a:rPr lang="de-DE" dirty="0" err="1"/>
              <a:t>sanctus</a:t>
            </a:r>
            <a:r>
              <a:rPr lang="de-DE" dirty="0"/>
              <a:t>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a:t>
            </a:r>
          </a:p>
        </p:txBody>
      </p:sp>
      <p:pic>
        <p:nvPicPr>
          <p:cNvPr id="30" name="Inhaltsplatzhalter 5" descr="coment.png"/>
          <p:cNvPicPr>
            <a:picLocks noChangeAspect="1"/>
          </p:cNvPicPr>
          <p:nvPr/>
        </p:nvPicPr>
        <p:blipFill>
          <a:blip r:embed="rId2" cstate="print"/>
          <a:stretch>
            <a:fillRect/>
          </a:stretch>
        </p:blipFill>
        <p:spPr>
          <a:xfrm>
            <a:off x="2063552" y="1556792"/>
            <a:ext cx="357188" cy="357188"/>
          </a:xfrm>
          <a:prstGeom prst="rect">
            <a:avLst/>
          </a:prstGeom>
        </p:spPr>
      </p:pic>
      <p:pic>
        <p:nvPicPr>
          <p:cNvPr id="49" name="Inhaltsplatzhalter 5" descr="coment.png"/>
          <p:cNvPicPr>
            <a:picLocks noChangeAspect="1"/>
          </p:cNvPicPr>
          <p:nvPr/>
        </p:nvPicPr>
        <p:blipFill>
          <a:blip r:embed="rId3" cstate="print"/>
          <a:stretch>
            <a:fillRect/>
          </a:stretch>
        </p:blipFill>
        <p:spPr>
          <a:xfrm>
            <a:off x="6672064" y="2314302"/>
            <a:ext cx="357188" cy="357188"/>
          </a:xfrm>
          <a:prstGeom prst="rect">
            <a:avLst/>
          </a:prstGeom>
        </p:spPr>
      </p:pic>
      <p:pic>
        <p:nvPicPr>
          <p:cNvPr id="50" name="Inhaltsplatzhalter 5" descr="coment.png"/>
          <p:cNvPicPr>
            <a:picLocks noChangeAspect="1"/>
          </p:cNvPicPr>
          <p:nvPr/>
        </p:nvPicPr>
        <p:blipFill>
          <a:blip r:embed="rId4" cstate="print"/>
          <a:stretch>
            <a:fillRect/>
          </a:stretch>
        </p:blipFill>
        <p:spPr>
          <a:xfrm>
            <a:off x="6672064" y="2818358"/>
            <a:ext cx="357188" cy="357188"/>
          </a:xfrm>
          <a:prstGeom prst="rect">
            <a:avLst/>
          </a:prstGeom>
        </p:spPr>
      </p:pic>
      <p:pic>
        <p:nvPicPr>
          <p:cNvPr id="51" name="Inhaltsplatzhalter 5" descr="coment.png"/>
          <p:cNvPicPr>
            <a:picLocks noChangeAspect="1"/>
          </p:cNvPicPr>
          <p:nvPr/>
        </p:nvPicPr>
        <p:blipFill>
          <a:blip r:embed="rId5" cstate="print"/>
          <a:stretch>
            <a:fillRect/>
          </a:stretch>
        </p:blipFill>
        <p:spPr>
          <a:xfrm>
            <a:off x="6672064" y="3322414"/>
            <a:ext cx="357188" cy="357188"/>
          </a:xfrm>
          <a:prstGeom prst="rect">
            <a:avLst/>
          </a:prstGeom>
        </p:spPr>
      </p:pic>
      <p:pic>
        <p:nvPicPr>
          <p:cNvPr id="52" name="Inhaltsplatzhalter 5" descr="coment.png"/>
          <p:cNvPicPr>
            <a:picLocks noChangeAspect="1"/>
          </p:cNvPicPr>
          <p:nvPr/>
        </p:nvPicPr>
        <p:blipFill>
          <a:blip r:embed="rId2" cstate="print"/>
          <a:stretch>
            <a:fillRect/>
          </a:stretch>
        </p:blipFill>
        <p:spPr>
          <a:xfrm>
            <a:off x="6672064" y="3863900"/>
            <a:ext cx="357188" cy="357188"/>
          </a:xfrm>
          <a:prstGeom prst="rect">
            <a:avLst/>
          </a:prstGeom>
        </p:spPr>
      </p:pic>
      <p:pic>
        <p:nvPicPr>
          <p:cNvPr id="53" name="Inhaltsplatzhalter 5" descr="coment.png"/>
          <p:cNvPicPr>
            <a:picLocks noChangeAspect="1"/>
          </p:cNvPicPr>
          <p:nvPr/>
        </p:nvPicPr>
        <p:blipFill>
          <a:blip r:embed="rId6" cstate="print"/>
          <a:stretch>
            <a:fillRect/>
          </a:stretch>
        </p:blipFill>
        <p:spPr>
          <a:xfrm>
            <a:off x="7250980" y="2314302"/>
            <a:ext cx="357188" cy="357188"/>
          </a:xfrm>
          <a:prstGeom prst="rect">
            <a:avLst/>
          </a:prstGeom>
        </p:spPr>
      </p:pic>
      <p:pic>
        <p:nvPicPr>
          <p:cNvPr id="54" name="Inhaltsplatzhalter 5" descr="coment.png"/>
          <p:cNvPicPr>
            <a:picLocks noChangeAspect="1"/>
          </p:cNvPicPr>
          <p:nvPr/>
        </p:nvPicPr>
        <p:blipFill>
          <a:blip r:embed="rId7" cstate="print"/>
          <a:stretch>
            <a:fillRect/>
          </a:stretch>
        </p:blipFill>
        <p:spPr>
          <a:xfrm>
            <a:off x="7250980" y="3322414"/>
            <a:ext cx="357188" cy="357188"/>
          </a:xfrm>
          <a:prstGeom prst="rect">
            <a:avLst/>
          </a:prstGeom>
        </p:spPr>
      </p:pic>
      <p:pic>
        <p:nvPicPr>
          <p:cNvPr id="55" name="Inhaltsplatzhalter 5" descr="coment.png"/>
          <p:cNvPicPr>
            <a:picLocks noChangeAspect="1"/>
          </p:cNvPicPr>
          <p:nvPr/>
        </p:nvPicPr>
        <p:blipFill>
          <a:blip r:embed="rId8" cstate="print"/>
          <a:stretch>
            <a:fillRect/>
          </a:stretch>
        </p:blipFill>
        <p:spPr>
          <a:xfrm>
            <a:off x="7250980" y="2818358"/>
            <a:ext cx="357188" cy="357188"/>
          </a:xfrm>
          <a:prstGeom prst="rect">
            <a:avLst/>
          </a:prstGeom>
        </p:spPr>
      </p:pic>
      <p:pic>
        <p:nvPicPr>
          <p:cNvPr id="56" name="Inhaltsplatzhalter 5" descr="coment.png"/>
          <p:cNvPicPr>
            <a:picLocks noChangeAspect="1"/>
          </p:cNvPicPr>
          <p:nvPr/>
        </p:nvPicPr>
        <p:blipFill>
          <a:blip r:embed="rId9" cstate="print"/>
          <a:stretch>
            <a:fillRect/>
          </a:stretch>
        </p:blipFill>
        <p:spPr>
          <a:xfrm>
            <a:off x="7250980" y="3863900"/>
            <a:ext cx="357188" cy="357188"/>
          </a:xfrm>
          <a:prstGeom prst="rect">
            <a:avLst/>
          </a:prstGeom>
        </p:spPr>
      </p:pic>
      <p:pic>
        <p:nvPicPr>
          <p:cNvPr id="57" name="Inhaltsplatzhalter 5" descr="coment.png"/>
          <p:cNvPicPr>
            <a:picLocks noChangeAspect="1"/>
          </p:cNvPicPr>
          <p:nvPr/>
        </p:nvPicPr>
        <p:blipFill>
          <a:blip r:embed="rId10" cstate="print"/>
          <a:stretch>
            <a:fillRect/>
          </a:stretch>
        </p:blipFill>
        <p:spPr>
          <a:xfrm>
            <a:off x="7827044" y="1772816"/>
            <a:ext cx="357188" cy="357188"/>
          </a:xfrm>
          <a:prstGeom prst="rect">
            <a:avLst/>
          </a:prstGeom>
        </p:spPr>
      </p:pic>
      <p:pic>
        <p:nvPicPr>
          <p:cNvPr id="58" name="Inhaltsplatzhalter 5" descr="coment.png"/>
          <p:cNvPicPr>
            <a:picLocks noChangeAspect="1"/>
          </p:cNvPicPr>
          <p:nvPr/>
        </p:nvPicPr>
        <p:blipFill>
          <a:blip r:embed="rId11" cstate="print"/>
          <a:stretch>
            <a:fillRect/>
          </a:stretch>
        </p:blipFill>
        <p:spPr>
          <a:xfrm>
            <a:off x="7827044" y="2314302"/>
            <a:ext cx="357188" cy="357188"/>
          </a:xfrm>
          <a:prstGeom prst="rect">
            <a:avLst/>
          </a:prstGeom>
        </p:spPr>
      </p:pic>
      <p:pic>
        <p:nvPicPr>
          <p:cNvPr id="59" name="Inhaltsplatzhalter 5" descr="coment.png"/>
          <p:cNvPicPr>
            <a:picLocks noChangeAspect="1"/>
          </p:cNvPicPr>
          <p:nvPr/>
        </p:nvPicPr>
        <p:blipFill>
          <a:blip r:embed="rId12" cstate="print"/>
          <a:stretch>
            <a:fillRect/>
          </a:stretch>
        </p:blipFill>
        <p:spPr>
          <a:xfrm>
            <a:off x="7827044" y="2818358"/>
            <a:ext cx="357188" cy="357188"/>
          </a:xfrm>
          <a:prstGeom prst="rect">
            <a:avLst/>
          </a:prstGeom>
        </p:spPr>
      </p:pic>
      <p:pic>
        <p:nvPicPr>
          <p:cNvPr id="60" name="Inhaltsplatzhalter 5" descr="coment.png"/>
          <p:cNvPicPr>
            <a:picLocks noChangeAspect="1"/>
          </p:cNvPicPr>
          <p:nvPr/>
        </p:nvPicPr>
        <p:blipFill>
          <a:blip r:embed="rId13" cstate="print"/>
          <a:stretch>
            <a:fillRect/>
          </a:stretch>
        </p:blipFill>
        <p:spPr>
          <a:xfrm>
            <a:off x="7827044" y="3322414"/>
            <a:ext cx="357188" cy="357188"/>
          </a:xfrm>
          <a:prstGeom prst="rect">
            <a:avLst/>
          </a:prstGeom>
        </p:spPr>
      </p:pic>
      <p:pic>
        <p:nvPicPr>
          <p:cNvPr id="61" name="Inhaltsplatzhalter 5" descr="coment.png"/>
          <p:cNvPicPr>
            <a:picLocks noChangeAspect="1"/>
          </p:cNvPicPr>
          <p:nvPr/>
        </p:nvPicPr>
        <p:blipFill>
          <a:blip r:embed="rId14" cstate="print"/>
          <a:stretch>
            <a:fillRect/>
          </a:stretch>
        </p:blipFill>
        <p:spPr>
          <a:xfrm>
            <a:off x="7827044" y="3863900"/>
            <a:ext cx="357188" cy="357188"/>
          </a:xfrm>
          <a:prstGeom prst="rect">
            <a:avLst/>
          </a:prstGeom>
        </p:spPr>
      </p:pic>
      <p:pic>
        <p:nvPicPr>
          <p:cNvPr id="62" name="Inhaltsplatzhalter 5" descr="coment.png"/>
          <p:cNvPicPr>
            <a:picLocks noChangeAspect="1"/>
          </p:cNvPicPr>
          <p:nvPr/>
        </p:nvPicPr>
        <p:blipFill>
          <a:blip r:embed="rId15" cstate="print"/>
          <a:stretch>
            <a:fillRect/>
          </a:stretch>
        </p:blipFill>
        <p:spPr>
          <a:xfrm>
            <a:off x="8403108" y="2314302"/>
            <a:ext cx="357188" cy="357188"/>
          </a:xfrm>
          <a:prstGeom prst="rect">
            <a:avLst/>
          </a:prstGeom>
        </p:spPr>
      </p:pic>
      <p:pic>
        <p:nvPicPr>
          <p:cNvPr id="63" name="Inhaltsplatzhalter 5" descr="coment.png"/>
          <p:cNvPicPr>
            <a:picLocks noChangeAspect="1"/>
          </p:cNvPicPr>
          <p:nvPr/>
        </p:nvPicPr>
        <p:blipFill>
          <a:blip r:embed="rId16" cstate="print"/>
          <a:stretch>
            <a:fillRect/>
          </a:stretch>
        </p:blipFill>
        <p:spPr>
          <a:xfrm>
            <a:off x="8403108" y="1772816"/>
            <a:ext cx="357188" cy="357188"/>
          </a:xfrm>
          <a:prstGeom prst="rect">
            <a:avLst/>
          </a:prstGeom>
        </p:spPr>
      </p:pic>
      <p:pic>
        <p:nvPicPr>
          <p:cNvPr id="64" name="Inhaltsplatzhalter 5" descr="coment.png"/>
          <p:cNvPicPr>
            <a:picLocks noChangeAspect="1"/>
          </p:cNvPicPr>
          <p:nvPr/>
        </p:nvPicPr>
        <p:blipFill>
          <a:blip r:embed="rId17" cstate="print"/>
          <a:stretch>
            <a:fillRect/>
          </a:stretch>
        </p:blipFill>
        <p:spPr>
          <a:xfrm>
            <a:off x="7250980" y="1772816"/>
            <a:ext cx="357188" cy="357188"/>
          </a:xfrm>
          <a:prstGeom prst="rect">
            <a:avLst/>
          </a:prstGeom>
        </p:spPr>
      </p:pic>
      <p:pic>
        <p:nvPicPr>
          <p:cNvPr id="65" name="Inhaltsplatzhalter 5" descr="coment.png"/>
          <p:cNvPicPr>
            <a:picLocks noChangeAspect="1"/>
          </p:cNvPicPr>
          <p:nvPr/>
        </p:nvPicPr>
        <p:blipFill>
          <a:blip r:embed="rId18" cstate="print"/>
          <a:stretch>
            <a:fillRect/>
          </a:stretch>
        </p:blipFill>
        <p:spPr>
          <a:xfrm>
            <a:off x="8403108" y="2818358"/>
            <a:ext cx="357188" cy="357188"/>
          </a:xfrm>
          <a:prstGeom prst="rect">
            <a:avLst/>
          </a:prstGeom>
        </p:spPr>
      </p:pic>
      <p:pic>
        <p:nvPicPr>
          <p:cNvPr id="66" name="Inhaltsplatzhalter 5" descr="coment.png"/>
          <p:cNvPicPr>
            <a:picLocks noChangeAspect="1"/>
          </p:cNvPicPr>
          <p:nvPr/>
        </p:nvPicPr>
        <p:blipFill>
          <a:blip r:embed="rId19" cstate="print"/>
          <a:stretch>
            <a:fillRect/>
          </a:stretch>
        </p:blipFill>
        <p:spPr>
          <a:xfrm>
            <a:off x="8400256" y="3322414"/>
            <a:ext cx="357188" cy="357188"/>
          </a:xfrm>
          <a:prstGeom prst="rect">
            <a:avLst/>
          </a:prstGeom>
        </p:spPr>
      </p:pic>
      <p:pic>
        <p:nvPicPr>
          <p:cNvPr id="67" name="Inhaltsplatzhalter 5" descr="coment.png"/>
          <p:cNvPicPr>
            <a:picLocks noChangeAspect="1"/>
          </p:cNvPicPr>
          <p:nvPr/>
        </p:nvPicPr>
        <p:blipFill>
          <a:blip r:embed="rId20" cstate="print"/>
          <a:stretch>
            <a:fillRect/>
          </a:stretch>
        </p:blipFill>
        <p:spPr>
          <a:xfrm>
            <a:off x="8976320" y="2314302"/>
            <a:ext cx="357188" cy="357188"/>
          </a:xfrm>
          <a:prstGeom prst="rect">
            <a:avLst/>
          </a:prstGeom>
        </p:spPr>
      </p:pic>
      <p:pic>
        <p:nvPicPr>
          <p:cNvPr id="68" name="Inhaltsplatzhalter 5" descr="coment.png"/>
          <p:cNvPicPr>
            <a:picLocks noChangeAspect="1"/>
          </p:cNvPicPr>
          <p:nvPr/>
        </p:nvPicPr>
        <p:blipFill>
          <a:blip r:embed="rId21" cstate="print"/>
          <a:stretch>
            <a:fillRect/>
          </a:stretch>
        </p:blipFill>
        <p:spPr>
          <a:xfrm>
            <a:off x="8976320" y="1772816"/>
            <a:ext cx="357188" cy="357188"/>
          </a:xfrm>
          <a:prstGeom prst="rect">
            <a:avLst/>
          </a:prstGeom>
        </p:spPr>
      </p:pic>
      <p:pic>
        <p:nvPicPr>
          <p:cNvPr id="69" name="Inhaltsplatzhalter 5" descr="coment.png"/>
          <p:cNvPicPr>
            <a:picLocks noChangeAspect="1"/>
          </p:cNvPicPr>
          <p:nvPr/>
        </p:nvPicPr>
        <p:blipFill>
          <a:blip r:embed="rId22" cstate="print"/>
          <a:stretch>
            <a:fillRect/>
          </a:stretch>
        </p:blipFill>
        <p:spPr>
          <a:xfrm>
            <a:off x="8403108" y="3863900"/>
            <a:ext cx="357188" cy="357188"/>
          </a:xfrm>
          <a:prstGeom prst="rect">
            <a:avLst/>
          </a:prstGeom>
        </p:spPr>
      </p:pic>
      <p:pic>
        <p:nvPicPr>
          <p:cNvPr id="70" name="Inhaltsplatzhalter 5" descr="coment.png"/>
          <p:cNvPicPr>
            <a:picLocks noChangeAspect="1"/>
          </p:cNvPicPr>
          <p:nvPr/>
        </p:nvPicPr>
        <p:blipFill>
          <a:blip r:embed="rId23" cstate="print"/>
          <a:stretch>
            <a:fillRect/>
          </a:stretch>
        </p:blipFill>
        <p:spPr>
          <a:xfrm>
            <a:off x="8976320" y="3322414"/>
            <a:ext cx="357188" cy="357188"/>
          </a:xfrm>
          <a:prstGeom prst="rect">
            <a:avLst/>
          </a:prstGeom>
        </p:spPr>
      </p:pic>
      <p:pic>
        <p:nvPicPr>
          <p:cNvPr id="71" name="Inhaltsplatzhalter 5" descr="coment.png"/>
          <p:cNvPicPr>
            <a:picLocks noChangeAspect="1"/>
          </p:cNvPicPr>
          <p:nvPr/>
        </p:nvPicPr>
        <p:blipFill>
          <a:blip r:embed="rId24" cstate="print"/>
          <a:stretch>
            <a:fillRect/>
          </a:stretch>
        </p:blipFill>
        <p:spPr>
          <a:xfrm>
            <a:off x="8976320" y="2818358"/>
            <a:ext cx="357188" cy="357188"/>
          </a:xfrm>
          <a:prstGeom prst="rect">
            <a:avLst/>
          </a:prstGeom>
        </p:spPr>
      </p:pic>
      <p:pic>
        <p:nvPicPr>
          <p:cNvPr id="72" name="Inhaltsplatzhalter 5" descr="coment.png"/>
          <p:cNvPicPr>
            <a:picLocks noChangeAspect="1"/>
          </p:cNvPicPr>
          <p:nvPr/>
        </p:nvPicPr>
        <p:blipFill>
          <a:blip r:embed="rId25" cstate="print"/>
          <a:stretch>
            <a:fillRect/>
          </a:stretch>
        </p:blipFill>
        <p:spPr>
          <a:xfrm>
            <a:off x="8976320" y="3863900"/>
            <a:ext cx="357188" cy="357188"/>
          </a:xfrm>
          <a:prstGeom prst="rect">
            <a:avLst/>
          </a:prstGeom>
        </p:spPr>
      </p:pic>
      <p:pic>
        <p:nvPicPr>
          <p:cNvPr id="73" name="Inhaltsplatzhalter 5" descr="coment.png"/>
          <p:cNvPicPr>
            <a:picLocks noChangeAspect="1"/>
          </p:cNvPicPr>
          <p:nvPr/>
        </p:nvPicPr>
        <p:blipFill>
          <a:blip r:embed="rId26" cstate="print"/>
          <a:stretch>
            <a:fillRect/>
          </a:stretch>
        </p:blipFill>
        <p:spPr>
          <a:xfrm>
            <a:off x="9555236" y="2314302"/>
            <a:ext cx="357188" cy="357188"/>
          </a:xfrm>
          <a:prstGeom prst="rect">
            <a:avLst/>
          </a:prstGeom>
        </p:spPr>
      </p:pic>
      <p:pic>
        <p:nvPicPr>
          <p:cNvPr id="74" name="Inhaltsplatzhalter 5" descr="coment.png"/>
          <p:cNvPicPr>
            <a:picLocks noChangeAspect="1"/>
          </p:cNvPicPr>
          <p:nvPr/>
        </p:nvPicPr>
        <p:blipFill>
          <a:blip r:embed="rId27" cstate="print"/>
          <a:stretch>
            <a:fillRect/>
          </a:stretch>
        </p:blipFill>
        <p:spPr>
          <a:xfrm>
            <a:off x="9555236" y="1772816"/>
            <a:ext cx="357188" cy="357188"/>
          </a:xfrm>
          <a:prstGeom prst="rect">
            <a:avLst/>
          </a:prstGeom>
        </p:spPr>
      </p:pic>
      <p:pic>
        <p:nvPicPr>
          <p:cNvPr id="75" name="Inhaltsplatzhalter 5" descr="coment.png"/>
          <p:cNvPicPr>
            <a:picLocks noChangeAspect="1"/>
          </p:cNvPicPr>
          <p:nvPr/>
        </p:nvPicPr>
        <p:blipFill>
          <a:blip r:embed="rId28" cstate="print"/>
          <a:stretch>
            <a:fillRect/>
          </a:stretch>
        </p:blipFill>
        <p:spPr>
          <a:xfrm>
            <a:off x="9555236" y="3322414"/>
            <a:ext cx="357188" cy="357188"/>
          </a:xfrm>
          <a:prstGeom prst="rect">
            <a:avLst/>
          </a:prstGeom>
        </p:spPr>
      </p:pic>
      <p:pic>
        <p:nvPicPr>
          <p:cNvPr id="76" name="Inhaltsplatzhalter 5" descr="coment.png"/>
          <p:cNvPicPr>
            <a:picLocks noChangeAspect="1"/>
          </p:cNvPicPr>
          <p:nvPr/>
        </p:nvPicPr>
        <p:blipFill>
          <a:blip r:embed="rId29" cstate="print"/>
          <a:stretch>
            <a:fillRect/>
          </a:stretch>
        </p:blipFill>
        <p:spPr>
          <a:xfrm>
            <a:off x="9555236" y="2818358"/>
            <a:ext cx="357188" cy="357188"/>
          </a:xfrm>
          <a:prstGeom prst="rect">
            <a:avLst/>
          </a:prstGeom>
        </p:spPr>
      </p:pic>
      <p:pic>
        <p:nvPicPr>
          <p:cNvPr id="77" name="Inhaltsplatzhalter 5" descr="coment.png"/>
          <p:cNvPicPr>
            <a:picLocks noChangeAspect="1"/>
          </p:cNvPicPr>
          <p:nvPr/>
        </p:nvPicPr>
        <p:blipFill>
          <a:blip r:embed="rId30" cstate="print"/>
          <a:stretch>
            <a:fillRect/>
          </a:stretch>
        </p:blipFill>
        <p:spPr>
          <a:xfrm>
            <a:off x="6672064" y="1772816"/>
            <a:ext cx="357188" cy="357188"/>
          </a:xfrm>
          <a:prstGeom prst="rect">
            <a:avLst/>
          </a:prstGeom>
        </p:spPr>
      </p:pic>
      <p:pic>
        <p:nvPicPr>
          <p:cNvPr id="35" name="Inhaltsplatzhalter 5" descr="coment.png"/>
          <p:cNvPicPr>
            <a:picLocks noChangeAspect="1"/>
          </p:cNvPicPr>
          <p:nvPr/>
        </p:nvPicPr>
        <p:blipFill>
          <a:blip r:embed="rId31" cstate="print"/>
          <a:stretch>
            <a:fillRect/>
          </a:stretch>
        </p:blipFill>
        <p:spPr>
          <a:xfrm>
            <a:off x="9555236" y="3861575"/>
            <a:ext cx="357188" cy="357188"/>
          </a:xfrm>
          <a:prstGeom prst="rect">
            <a:avLst/>
          </a:prstGeom>
        </p:spPr>
      </p:pic>
      <p:pic>
        <p:nvPicPr>
          <p:cNvPr id="36" name="Inhaltsplatzhalter 5" descr="coment.png"/>
          <p:cNvPicPr>
            <a:picLocks noChangeAspect="1"/>
          </p:cNvPicPr>
          <p:nvPr/>
        </p:nvPicPr>
        <p:blipFill>
          <a:blip r:embed="rId32" cstate="print"/>
          <a:stretch>
            <a:fillRect/>
          </a:stretch>
        </p:blipFill>
        <p:spPr>
          <a:xfrm>
            <a:off x="6672064" y="4367429"/>
            <a:ext cx="357188" cy="357188"/>
          </a:xfrm>
          <a:prstGeom prst="rect">
            <a:avLst/>
          </a:prstGeom>
        </p:spPr>
      </p:pic>
      <p:pic>
        <p:nvPicPr>
          <p:cNvPr id="37" name="Inhaltsplatzhalter 5" descr="coment.png"/>
          <p:cNvPicPr>
            <a:picLocks noChangeAspect="1"/>
          </p:cNvPicPr>
          <p:nvPr/>
        </p:nvPicPr>
        <p:blipFill>
          <a:blip r:embed="rId33" cstate="print"/>
          <a:stretch>
            <a:fillRect/>
          </a:stretch>
        </p:blipFill>
        <p:spPr>
          <a:xfrm>
            <a:off x="7250980" y="4367429"/>
            <a:ext cx="357188" cy="357188"/>
          </a:xfrm>
          <a:prstGeom prst="rect">
            <a:avLst/>
          </a:prstGeom>
        </p:spPr>
      </p:pic>
      <p:pic>
        <p:nvPicPr>
          <p:cNvPr id="38" name="Inhaltsplatzhalter 5" descr="coment.png"/>
          <p:cNvPicPr>
            <a:picLocks noChangeAspect="1"/>
          </p:cNvPicPr>
          <p:nvPr/>
        </p:nvPicPr>
        <p:blipFill>
          <a:blip r:embed="rId34" cstate="print"/>
          <a:stretch>
            <a:fillRect/>
          </a:stretch>
        </p:blipFill>
        <p:spPr>
          <a:xfrm>
            <a:off x="7827044" y="4367429"/>
            <a:ext cx="357188" cy="357188"/>
          </a:xfrm>
          <a:prstGeom prst="rect">
            <a:avLst/>
          </a:prstGeom>
        </p:spPr>
      </p:pic>
      <p:pic>
        <p:nvPicPr>
          <p:cNvPr id="39" name="Inhaltsplatzhalter 5" descr="coment.png"/>
          <p:cNvPicPr>
            <a:picLocks noChangeAspect="1"/>
          </p:cNvPicPr>
          <p:nvPr/>
        </p:nvPicPr>
        <p:blipFill>
          <a:blip r:embed="rId35" cstate="print"/>
          <a:stretch>
            <a:fillRect/>
          </a:stretch>
        </p:blipFill>
        <p:spPr>
          <a:xfrm>
            <a:off x="8403108" y="4367429"/>
            <a:ext cx="357188" cy="357188"/>
          </a:xfrm>
          <a:prstGeom prst="rect">
            <a:avLst/>
          </a:prstGeom>
        </p:spPr>
      </p:pic>
      <p:pic>
        <p:nvPicPr>
          <p:cNvPr id="40" name="Inhaltsplatzhalter 5" descr="coment.png"/>
          <p:cNvPicPr>
            <a:picLocks noChangeAspect="1"/>
          </p:cNvPicPr>
          <p:nvPr/>
        </p:nvPicPr>
        <p:blipFill>
          <a:blip r:embed="rId36" cstate="print"/>
          <a:stretch>
            <a:fillRect/>
          </a:stretch>
        </p:blipFill>
        <p:spPr>
          <a:xfrm>
            <a:off x="8976320" y="4367956"/>
            <a:ext cx="357188" cy="357188"/>
          </a:xfrm>
          <a:prstGeom prst="rect">
            <a:avLst/>
          </a:prstGeom>
        </p:spPr>
      </p:pic>
      <p:pic>
        <p:nvPicPr>
          <p:cNvPr id="41" name="Inhaltsplatzhalter 5" descr="coment.png"/>
          <p:cNvPicPr>
            <a:picLocks noChangeAspect="1"/>
          </p:cNvPicPr>
          <p:nvPr/>
        </p:nvPicPr>
        <p:blipFill>
          <a:blip r:embed="rId37" cstate="print"/>
          <a:stretch>
            <a:fillRect/>
          </a:stretch>
        </p:blipFill>
        <p:spPr>
          <a:xfrm>
            <a:off x="9555236" y="4365631"/>
            <a:ext cx="357188" cy="357188"/>
          </a:xfrm>
          <a:prstGeom prst="rect">
            <a:avLst/>
          </a:prstGeom>
        </p:spPr>
      </p:pic>
    </p:spTree>
  </p:cSld>
  <p:clrMapOvr>
    <a:masterClrMapping/>
  </p:clrMapOvr>
  <p:transition>
    <p:fade/>
  </p:transition>
</p:sld>
</file>

<file path=ppt/theme/theme1.xml><?xml version="1.0" encoding="utf-8"?>
<a:theme xmlns:a="http://schemas.openxmlformats.org/drawingml/2006/main" name="LightsOn">
  <a:themeElements>
    <a:clrScheme name="Purple_Moving_Lights">
      <a:dk1>
        <a:srgbClr val="3C3C3C"/>
      </a:dk1>
      <a:lt1>
        <a:srgbClr val="64645A"/>
      </a:lt1>
      <a:dk2>
        <a:srgbClr val="FFFFF0"/>
      </a:dk2>
      <a:lt2>
        <a:srgbClr val="D2D2BE"/>
      </a:lt2>
      <a:accent1>
        <a:srgbClr val="781955"/>
      </a:accent1>
      <a:accent2>
        <a:srgbClr val="E696D2"/>
      </a:accent2>
      <a:accent3>
        <a:srgbClr val="1E4F56"/>
      </a:accent3>
      <a:accent4>
        <a:srgbClr val="647300"/>
      </a:accent4>
      <a:accent5>
        <a:srgbClr val="DCB4D2"/>
      </a:accent5>
      <a:accent6>
        <a:srgbClr val="005064"/>
      </a:accent6>
      <a:hlink>
        <a:srgbClr val="647300"/>
      </a:hlink>
      <a:folHlink>
        <a:srgbClr val="0A466E"/>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TM03457452[[fn=Celestial]]</Template>
  <TotalTime>1136</TotalTime>
  <Words>2347</Words>
  <Application>Microsoft Office PowerPoint</Application>
  <PresentationFormat>Widescreen</PresentationFormat>
  <Paragraphs>169</Paragraphs>
  <Slides>26</Slides>
  <Notes>23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(Headings)</vt:lpstr>
      <vt:lpstr>Wingdings</vt:lpstr>
      <vt:lpstr>LightsOn</vt:lpstr>
      <vt:lpstr>PowerPoint Presentation</vt:lpstr>
      <vt:lpstr>Unit 3: Participants and Research Ethics </vt:lpstr>
      <vt:lpstr>Unit 3: 1 Participants 6P’s of Research </vt:lpstr>
      <vt:lpstr>Unit 3: 1 Participants 6P’s of Research </vt:lpstr>
      <vt:lpstr>Unit III Participants 6P’s of Research - Participants </vt:lpstr>
      <vt:lpstr>Unit 3: 2 Participants The Law and Research  </vt:lpstr>
      <vt:lpstr>PowerPoint Presentation</vt:lpstr>
      <vt:lpstr>PowerPoint Presentation</vt:lpstr>
      <vt:lpstr>Unit 3.3 Rights of People Directly Involved  Some Terminologies</vt:lpstr>
      <vt:lpstr>Unit 3.3 Rights of People Directly Involved  Rights of the Participants</vt:lpstr>
      <vt:lpstr>Unit 3.3 Rights of People Directly Involved  Rights of the Participants</vt:lpstr>
      <vt:lpstr>Unit 3.3 Rights of People Directly Involved  Rights of the Participants</vt:lpstr>
      <vt:lpstr>Unit 3.3 Rights of People Directly Involved  Rights of the Participants</vt:lpstr>
      <vt:lpstr>Unit 3.3 Rights of People Directly Involved  Rights of the Participants</vt:lpstr>
      <vt:lpstr>Unit 3.3 Rights of People Directly Involved  Rights of the Participants</vt:lpstr>
      <vt:lpstr>Unit 3.4 Responsibilities of an Ethical Researcher Key Points</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Unit 3.4 Responsibilities of an Ethical Researcher The responsibilities of an ethical researcher </vt:lpstr>
      <vt:lpstr>Thanks for Listening...</vt:lpstr>
      <vt:lpstr>Bonus: Over 30 Project Icons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booboo</dc:creator>
  <cp:lastModifiedBy>Prem Bahadur KC</cp:lastModifiedBy>
  <cp:revision>279</cp:revision>
  <dcterms:created xsi:type="dcterms:W3CDTF">2011-04-28T14:24:50Z</dcterms:created>
  <dcterms:modified xsi:type="dcterms:W3CDTF">2025-12-28T06:07:03Z</dcterms:modified>
</cp:coreProperties>
</file>